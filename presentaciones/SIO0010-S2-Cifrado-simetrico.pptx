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2 DE 6 · 5 HORAS · BLOQUE 3: 2H15 · DESCANSO 30 MIN · BLOQUE 4: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CIFRADO SIMÉTRICO</a:t>
            </a:r>
          </a:p>
          <a:p>
            <a:pPr algn="l">
              <a:lnSpc>
                <a:spcPct val="105000"/>
              </a:lnSpc>
              <a:spcAft>
                <a:spcPts val="0"/>
              </a:spcAft>
            </a:pPr>
            <a:r>
              <a:rPr sz="4000" b="0">
                <a:solidFill>
                  <a:srgbClr val="000000"/>
                </a:solidFill>
                <a:latin typeface="Arial Black"/>
              </a:rPr>
              <a:t>Y SUS ERRORES</a:t>
            </a:r>
          </a:p>
          <a:p>
            <a:pPr algn="l">
              <a:lnSpc>
                <a:spcPct val="105000"/>
              </a:lnSpc>
              <a:spcAft>
                <a:spcPts val="0"/>
              </a:spcAft>
            </a:pPr>
            <a:r>
              <a:rPr sz="4000" b="0">
                <a:solidFill>
                  <a:srgbClr val="000000"/>
                </a:solidFill>
                <a:latin typeface="Arial Black"/>
              </a:rPr>
              <a:t>CLÁSICOS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«ESTÁ CIFRADO CON AES-256». ¿Y ESO QUÉ GARANTIZA EXACTAMENTE?</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Entrega del inventario y lo que el inventario reveló</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es la sesión más práctica del módulo. Al final van a poder mirar una línea de configuración y decir si el dato está protegido o solo parece estarlo.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3</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30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y presentación de la solución del inventario criptográfico</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 95</a:t>
            </a:r>
          </a:p>
        </p:txBody>
      </p:sp>
      <p:sp>
        <p:nvSpPr>
          <p:cNvPr id="23" name="TextBox 22"/>
          <p:cNvSpPr txBox="1"/>
          <p:nvPr/>
        </p:nvSpPr>
        <p:spPr>
          <a:xfrm>
            <a:off x="3505624" y="3191255"/>
            <a:ext cx="5992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DES a AES, los modos de operación, el oráculo de relleno y la demostración del escudo</a:t>
            </a:r>
          </a:p>
        </p:txBody>
      </p:sp>
      <p:sp>
        <p:nvSpPr>
          <p:cNvPr id="24" name="TextBox 23"/>
          <p:cNvSpPr txBox="1"/>
          <p:nvPr/>
        </p:nvSpPr>
        <p:spPr>
          <a:xfrm>
            <a:off x="9662893" y="3191255"/>
            <a:ext cx="17945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25" name="Rectangle 24"/>
          <p:cNvSpPr/>
          <p:nvPr/>
        </p:nvSpPr>
        <p:spPr>
          <a:xfrm>
            <a:off x="566928" y="36396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73111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73111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135</a:t>
            </a:r>
          </a:p>
        </p:txBody>
      </p:sp>
      <p:sp>
        <p:nvSpPr>
          <p:cNvPr id="28" name="TextBox 27"/>
          <p:cNvSpPr txBox="1"/>
          <p:nvPr/>
        </p:nvSpPr>
        <p:spPr>
          <a:xfrm>
            <a:off x="3505624" y="373111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cinco errores clásicos del cifrado simétrico</a:t>
            </a:r>
          </a:p>
        </p:txBody>
      </p:sp>
      <p:sp>
        <p:nvSpPr>
          <p:cNvPr id="29" name="TextBox 28"/>
          <p:cNvSpPr txBox="1"/>
          <p:nvPr/>
        </p:nvSpPr>
        <p:spPr>
          <a:xfrm>
            <a:off x="9662893" y="373111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87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409687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409687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409687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46263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4</a:t>
            </a:r>
          </a:p>
        </p:txBody>
      </p:sp>
      <p:sp>
        <p:nvSpPr>
          <p:cNvPr id="37" name="TextBox 36"/>
          <p:cNvSpPr txBox="1"/>
          <p:nvPr/>
        </p:nvSpPr>
        <p:spPr>
          <a:xfrm>
            <a:off x="2106245" y="446263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38" name="TextBox 37"/>
          <p:cNvSpPr txBox="1"/>
          <p:nvPr/>
        </p:nvSpPr>
        <p:spPr>
          <a:xfrm>
            <a:off x="3505624" y="446263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tres estados del dato, el cifrado en sobre y cómo buscar sobre datos cifrados</a:t>
            </a:r>
          </a:p>
        </p:txBody>
      </p:sp>
      <p:sp>
        <p:nvSpPr>
          <p:cNvPr id="39" name="TextBox 38"/>
          <p:cNvSpPr txBox="1"/>
          <p:nvPr/>
        </p:nvSpPr>
        <p:spPr>
          <a:xfrm>
            <a:off x="9662893" y="446263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82839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82839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100</a:t>
            </a:r>
          </a:p>
        </p:txBody>
      </p:sp>
      <p:sp>
        <p:nvSpPr>
          <p:cNvPr id="43" name="TextBox 42"/>
          <p:cNvSpPr txBox="1"/>
          <p:nvPr/>
        </p:nvSpPr>
        <p:spPr>
          <a:xfrm>
            <a:off x="3505624" y="482839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2: tres ejercicios y el ejercicio en Python</a:t>
            </a:r>
          </a:p>
        </p:txBody>
      </p:sp>
      <p:sp>
        <p:nvSpPr>
          <p:cNvPr id="44" name="TextBox 43"/>
          <p:cNvSpPr txBox="1"/>
          <p:nvPr/>
        </p:nvSpPr>
        <p:spPr>
          <a:xfrm>
            <a:off x="9662893" y="482839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19415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19415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 – 135</a:t>
            </a:r>
          </a:p>
        </p:txBody>
      </p:sp>
      <p:sp>
        <p:nvSpPr>
          <p:cNvPr id="48" name="TextBox 47"/>
          <p:cNvSpPr txBox="1"/>
          <p:nvPr/>
        </p:nvSpPr>
        <p:spPr>
          <a:xfrm>
            <a:off x="3505624" y="519415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Hallazgos H3 y H4 de Coopaburrá, y cierre</a:t>
            </a:r>
          </a:p>
        </p:txBody>
      </p:sp>
      <p:sp>
        <p:nvSpPr>
          <p:cNvPr id="49" name="TextBox 48"/>
          <p:cNvSpPr txBox="1"/>
          <p:nvPr/>
        </p:nvSpPr>
        <p:spPr>
          <a:xfrm>
            <a:off x="9662893" y="519415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50" name="Rectangle 49"/>
          <p:cNvSpPr/>
          <p:nvPr/>
        </p:nvSpPr>
        <p:spPr>
          <a:xfrm>
            <a:off x="566928" y="54684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5233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QUEDÓ DEL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y no son intercambiables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Coopaburrá implementó autenticidad cuando lo que el abogado necesitaba era no repudio.</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algoritmo se publica; la llave no. Kerckhoffs, 1883.</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2008 y la consola de 2010: el algoritmo perfecto y el sistema caído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Ochenta y ocho bits de sustitución caen en minutos, porque el ataque no prueba llaves.</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HOY AGREGAMOS LA QUINTA</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algoritmo correcto, con una llave correcta, puede seguir dejando los datos a la vista si el </a:t>
            </a:r>
            <a:r>
              <a:rPr sz="1150" b="1">
                <a:solidFill>
                  <a:srgbClr val="2A2A2A"/>
                </a:solidFill>
                <a:latin typeface="Arial"/>
              </a:rPr>
              <a:t>modo de operación</a:t>
            </a:r>
            <a:r>
              <a:rPr sz="1150" b="0">
                <a:solidFill>
                  <a:srgbClr val="2A2A2A"/>
                </a:solidFill>
                <a:latin typeface="Arial"/>
              </a:rPr>
              <a:t> está mal escogido. Es el error más frecuente del cifrado simétrico y el que vamos a ver en funcionamiento.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quedó el inventario que construyeron entre todos. Los ocho sistemas de la Parte 3 dan quince usos de criptografía: el portal solo aporta tres. Comparen con el que entregaron.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2" name="TextBox 11"/>
          <p:cNvSpPr txBox="1"/>
          <p:nvPr/>
        </p:nvSpPr>
        <p:spPr>
          <a:xfrm>
            <a:off x="3521746" y="2423159"/>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3" name="TextBox 12"/>
          <p:cNvSpPr txBox="1"/>
          <p:nvPr/>
        </p:nvSpPr>
        <p:spPr>
          <a:xfrm>
            <a:off x="8820041" y="2423159"/>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canal</a:t>
            </a:r>
          </a:p>
        </p:txBody>
      </p:sp>
      <p:sp>
        <p:nvSpPr>
          <p:cNvPr id="16" name="TextBox 15"/>
          <p:cNvSpPr txBox="1"/>
          <p:nvPr/>
        </p:nvSpPr>
        <p:spPr>
          <a:xfrm>
            <a:off x="3521746" y="282549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1.0–1.2, suites con RSA y 3DES</a:t>
            </a:r>
          </a:p>
        </p:txBody>
      </p:sp>
      <p:sp>
        <p:nvSpPr>
          <p:cNvPr id="17" name="TextBox 16"/>
          <p:cNvSpPr txBox="1"/>
          <p:nvPr/>
        </p:nvSpPr>
        <p:spPr>
          <a:xfrm>
            <a:off x="8820041" y="282549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contraseñas</a:t>
            </a:r>
          </a:p>
        </p:txBody>
      </p:sp>
      <p:sp>
        <p:nvSpPr>
          <p:cNvPr id="20" name="TextBox 19"/>
          <p:cNvSpPr txBox="1"/>
          <p:nvPr/>
        </p:nvSpPr>
        <p:spPr>
          <a:xfrm>
            <a:off x="3521746" y="319125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SHA-1 con sal fija (evidencia B)</a:t>
            </a:r>
          </a:p>
        </p:txBody>
      </p:sp>
      <p:sp>
        <p:nvSpPr>
          <p:cNvPr id="21" name="TextBox 20"/>
          <p:cNvSpPr txBox="1"/>
          <p:nvPr/>
        </p:nvSpPr>
        <p:spPr>
          <a:xfrm>
            <a:off x="8820041" y="319125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certificado</a:t>
            </a:r>
          </a:p>
        </p:txBody>
      </p:sp>
      <p:sp>
        <p:nvSpPr>
          <p:cNvPr id="24" name="TextBox 23"/>
          <p:cNvSpPr txBox="1"/>
          <p:nvPr/>
        </p:nvSpPr>
        <p:spPr>
          <a:xfrm>
            <a:off x="3521746" y="355701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 2048, SHA-256, de la CA interna</a:t>
            </a:r>
          </a:p>
        </p:txBody>
      </p:sp>
      <p:sp>
        <p:nvSpPr>
          <p:cNvPr id="25" name="TextBox 24"/>
          <p:cNvSpPr txBox="1"/>
          <p:nvPr/>
        </p:nvSpPr>
        <p:spPr>
          <a:xfrm>
            <a:off x="8820041" y="355701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Emisor no confiable</a:t>
            </a:r>
          </a:p>
        </p:txBody>
      </p:sp>
      <p:sp>
        <p:nvSpPr>
          <p:cNvPr id="26" name="Rectangle 25"/>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2277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Autoridad interna</a:t>
            </a:r>
          </a:p>
        </p:txBody>
      </p:sp>
      <p:sp>
        <p:nvSpPr>
          <p:cNvPr id="28" name="TextBox 27"/>
          <p:cNvSpPr txBox="1"/>
          <p:nvPr/>
        </p:nvSpPr>
        <p:spPr>
          <a:xfrm>
            <a:off x="3521746" y="392277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Emite y firma certificados</a:t>
            </a:r>
          </a:p>
        </p:txBody>
      </p:sp>
      <p:sp>
        <p:nvSpPr>
          <p:cNvPr id="29" name="TextBox 28"/>
          <p:cNvSpPr txBox="1"/>
          <p:nvPr/>
        </p:nvSpPr>
        <p:spPr>
          <a:xfrm>
            <a:off x="8820041" y="392277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en un escritorio</a:t>
            </a:r>
          </a:p>
        </p:txBody>
      </p:sp>
      <p:sp>
        <p:nvSpPr>
          <p:cNvPr id="30" name="Rectangle 29"/>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8853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firma de operaciones</a:t>
            </a:r>
          </a:p>
        </p:txBody>
      </p:sp>
      <p:sp>
        <p:nvSpPr>
          <p:cNvPr id="32" name="TextBox 31"/>
          <p:cNvSpPr txBox="1"/>
          <p:nvPr/>
        </p:nvSpPr>
        <p:spPr>
          <a:xfrm>
            <a:off x="3521746" y="428853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HMAC-SHA256, llave compartida</a:t>
            </a:r>
          </a:p>
        </p:txBody>
      </p:sp>
      <p:sp>
        <p:nvSpPr>
          <p:cNvPr id="33" name="TextBox 32"/>
          <p:cNvSpPr txBox="1"/>
          <p:nvPr/>
        </p:nvSpPr>
        <p:spPr>
          <a:xfrm>
            <a:off x="8820041" y="428853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no repudio</a:t>
            </a:r>
          </a:p>
        </p:txBody>
      </p:sp>
      <p:sp>
        <p:nvSpPr>
          <p:cNvPr id="34" name="Rectangle 33"/>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65429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canal al core</a:t>
            </a:r>
          </a:p>
        </p:txBody>
      </p:sp>
      <p:sp>
        <p:nvSpPr>
          <p:cNvPr id="36" name="TextBox 35"/>
          <p:cNvSpPr txBox="1"/>
          <p:nvPr/>
        </p:nvSpPr>
        <p:spPr>
          <a:xfrm>
            <a:off x="3521746" y="465429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HTTP en claro en el tramo interno (anexo)</a:t>
            </a:r>
          </a:p>
        </p:txBody>
      </p:sp>
      <p:sp>
        <p:nvSpPr>
          <p:cNvPr id="37" name="TextBox 36"/>
          <p:cNvSpPr txBox="1"/>
          <p:nvPr/>
        </p:nvSpPr>
        <p:spPr>
          <a:xfrm>
            <a:off x="8820041" y="465429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cifrar</a:t>
            </a:r>
          </a:p>
        </p:txBody>
      </p:sp>
      <p:sp>
        <p:nvSpPr>
          <p:cNvPr id="38" name="Rectangle 37"/>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502005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cifrado de disco</a:t>
            </a:r>
          </a:p>
        </p:txBody>
      </p:sp>
      <p:sp>
        <p:nvSpPr>
          <p:cNvPr id="40" name="TextBox 39"/>
          <p:cNvSpPr txBox="1"/>
          <p:nvPr/>
        </p:nvSpPr>
        <p:spPr>
          <a:xfrm>
            <a:off x="3521746" y="502005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AES-256-XTS (anexo)</a:t>
            </a:r>
          </a:p>
        </p:txBody>
      </p:sp>
      <p:sp>
        <p:nvSpPr>
          <p:cNvPr id="41" name="TextBox 40"/>
          <p:cNvSpPr txBox="1"/>
          <p:nvPr/>
        </p:nvSpPr>
        <p:spPr>
          <a:xfrm>
            <a:off x="8820041" y="502005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con el servidor apagado</a:t>
            </a:r>
          </a:p>
        </p:txBody>
      </p:sp>
      <p:sp>
        <p:nvSpPr>
          <p:cNvPr id="42" name="Rectangle 41"/>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38581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base en operación</a:t>
            </a:r>
          </a:p>
        </p:txBody>
      </p:sp>
      <p:sp>
        <p:nvSpPr>
          <p:cNvPr id="44" name="TextBox 43"/>
          <p:cNvSpPr txBox="1"/>
          <p:nvPr/>
        </p:nvSpPr>
        <p:spPr>
          <a:xfrm>
            <a:off x="3521746" y="538581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sin cifrado de campo</a:t>
            </a:r>
          </a:p>
        </p:txBody>
      </p:sp>
      <p:sp>
        <p:nvSpPr>
          <p:cNvPr id="45" name="TextBox 44"/>
          <p:cNvSpPr txBox="1"/>
          <p:nvPr/>
        </p:nvSpPr>
        <p:spPr>
          <a:xfrm>
            <a:off x="8820041" y="538581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a:t>
            </a:r>
          </a:p>
        </p:txBody>
      </p:sp>
      <p:sp>
        <p:nvSpPr>
          <p:cNvPr id="46" name="Rectangle 45"/>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1" name="TextBox 10"/>
          <p:cNvSpPr txBox="1"/>
          <p:nvPr/>
        </p:nvSpPr>
        <p:spPr>
          <a:xfrm>
            <a:off x="3521746" y="1673352"/>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2" name="TextBox 11"/>
          <p:cNvSpPr txBox="1"/>
          <p:nvPr/>
        </p:nvSpPr>
        <p:spPr>
          <a:xfrm>
            <a:off x="8820041" y="1673352"/>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Respaldos</a:t>
            </a:r>
          </a:p>
        </p:txBody>
      </p:sp>
      <p:sp>
        <p:nvSpPr>
          <p:cNvPr id="15" name="TextBox 14"/>
          <p:cNvSpPr txBox="1"/>
          <p:nvPr/>
        </p:nvSpPr>
        <p:spPr>
          <a:xfrm>
            <a:off x="3521746" y="207568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AES-256-CBC, llave junto al respaldo</a:t>
            </a:r>
          </a:p>
        </p:txBody>
      </p:sp>
      <p:sp>
        <p:nvSpPr>
          <p:cNvPr id="16" name="TextBox 15"/>
          <p:cNvSpPr txBox="1"/>
          <p:nvPr/>
        </p:nvSpPr>
        <p:spPr>
          <a:xfrm>
            <a:off x="8820041" y="207568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rotar</a:t>
            </a:r>
          </a:p>
        </p:txBody>
      </p:sp>
      <p:sp>
        <p:nvSpPr>
          <p:cNvPr id="17" name="Rectangle 16"/>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4414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Cajeros</a:t>
            </a:r>
          </a:p>
        </p:txBody>
      </p:sp>
      <p:sp>
        <p:nvSpPr>
          <p:cNvPr id="19" name="TextBox 18"/>
          <p:cNvSpPr txBox="1"/>
          <p:nvPr/>
        </p:nvSpPr>
        <p:spPr>
          <a:xfrm>
            <a:off x="3521746" y="24414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3DES doble longitud, carga manual (anexo)</a:t>
            </a:r>
          </a:p>
        </p:txBody>
      </p:sp>
      <p:sp>
        <p:nvSpPr>
          <p:cNvPr id="20" name="TextBox 19"/>
          <p:cNvSpPr txBox="1"/>
          <p:nvPr/>
        </p:nvSpPr>
        <p:spPr>
          <a:xfrm>
            <a:off x="8820041" y="24414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 · sin rotar</a:t>
            </a:r>
          </a:p>
        </p:txBody>
      </p:sp>
      <p:sp>
        <p:nvSpPr>
          <p:cNvPr id="21" name="Rectangle 20"/>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80720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Procesador de tarjetas</a:t>
            </a:r>
          </a:p>
        </p:txBody>
      </p:sp>
      <p:sp>
        <p:nvSpPr>
          <p:cNvPr id="23" name="TextBox 22"/>
          <p:cNvSpPr txBox="1"/>
          <p:nvPr/>
        </p:nvSpPr>
        <p:spPr>
          <a:xfrm>
            <a:off x="3521746" y="280720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1.3, AES-GCM, autenticación mutua</a:t>
            </a:r>
          </a:p>
        </p:txBody>
      </p:sp>
      <p:sp>
        <p:nvSpPr>
          <p:cNvPr id="24" name="TextBox 23"/>
          <p:cNvSpPr txBox="1"/>
          <p:nvPr/>
        </p:nvSpPr>
        <p:spPr>
          <a:xfrm>
            <a:off x="8820041" y="280720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Correcto</a:t>
            </a:r>
          </a:p>
        </p:txBody>
      </p:sp>
      <p:sp>
        <p:nvSpPr>
          <p:cNvPr id="25" name="Rectangle 24"/>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17296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firma de pagarés</a:t>
            </a:r>
          </a:p>
        </p:txBody>
      </p:sp>
      <p:sp>
        <p:nvSpPr>
          <p:cNvPr id="27" name="TextBox 26"/>
          <p:cNvSpPr txBox="1"/>
          <p:nvPr/>
        </p:nvSpPr>
        <p:spPr>
          <a:xfrm>
            <a:off x="3521746" y="317296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imagen escaneada</a:t>
            </a:r>
          </a:p>
        </p:txBody>
      </p:sp>
      <p:sp>
        <p:nvSpPr>
          <p:cNvPr id="28" name="TextBox 27"/>
          <p:cNvSpPr txBox="1"/>
          <p:nvPr/>
        </p:nvSpPr>
        <p:spPr>
          <a:xfrm>
            <a:off x="8820041" y="317296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 · hasta 2039</a:t>
            </a:r>
          </a:p>
        </p:txBody>
      </p:sp>
      <p:sp>
        <p:nvSpPr>
          <p:cNvPr id="29" name="Rectangle 28"/>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3872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documentos</a:t>
            </a:r>
          </a:p>
        </p:txBody>
      </p:sp>
      <p:sp>
        <p:nvSpPr>
          <p:cNvPr id="31" name="TextBox 30"/>
          <p:cNvSpPr txBox="1"/>
          <p:nvPr/>
        </p:nvSpPr>
        <p:spPr>
          <a:xfrm>
            <a:off x="3521746" y="353872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recurso de archivos</a:t>
            </a:r>
          </a:p>
        </p:txBody>
      </p:sp>
      <p:sp>
        <p:nvSpPr>
          <p:cNvPr id="32" name="TextBox 31"/>
          <p:cNvSpPr txBox="1"/>
          <p:nvPr/>
        </p:nvSpPr>
        <p:spPr>
          <a:xfrm>
            <a:off x="8820041" y="353872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cifrar en reposo</a:t>
            </a:r>
          </a:p>
        </p:txBody>
      </p:sp>
      <p:sp>
        <p:nvSpPr>
          <p:cNvPr id="33" name="Rectangle 32"/>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390448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Correo</a:t>
            </a:r>
          </a:p>
        </p:txBody>
      </p:sp>
      <p:sp>
        <p:nvSpPr>
          <p:cNvPr id="35" name="TextBox 34"/>
          <p:cNvSpPr txBox="1"/>
          <p:nvPr/>
        </p:nvSpPr>
        <p:spPr>
          <a:xfrm>
            <a:off x="3521746" y="390448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STARTTLS oportunista, sin DKIM ni DMARC</a:t>
            </a:r>
          </a:p>
        </p:txBody>
      </p:sp>
      <p:sp>
        <p:nvSpPr>
          <p:cNvPr id="36" name="TextBox 35"/>
          <p:cNvSpPr txBox="1"/>
          <p:nvPr/>
        </p:nvSpPr>
        <p:spPr>
          <a:xfrm>
            <a:off x="8820041" y="390448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Suplantable</a:t>
            </a:r>
          </a:p>
        </p:txBody>
      </p:sp>
      <p:sp>
        <p:nvSpPr>
          <p:cNvPr id="37" name="Rectangle 36"/>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2702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Directorio local</a:t>
            </a:r>
          </a:p>
        </p:txBody>
      </p:sp>
      <p:sp>
        <p:nvSpPr>
          <p:cNvPr id="39" name="TextBox 38"/>
          <p:cNvSpPr txBox="1"/>
          <p:nvPr/>
        </p:nvSpPr>
        <p:spPr>
          <a:xfrm>
            <a:off x="3521746" y="42702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NT hash (MD4 sin sal), LDAP 389</a:t>
            </a:r>
          </a:p>
        </p:txBody>
      </p:sp>
      <p:sp>
        <p:nvSpPr>
          <p:cNvPr id="40" name="TextBox 39"/>
          <p:cNvSpPr txBox="1"/>
          <p:nvPr/>
        </p:nvSpPr>
        <p:spPr>
          <a:xfrm>
            <a:off x="8820041" y="42702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En claro</a:t>
            </a:r>
          </a:p>
        </p:txBody>
      </p:sp>
      <p:sp>
        <p:nvSpPr>
          <p:cNvPr id="41" name="Rectangle 40"/>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5994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901184"/>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49194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CASI NADIE INCLUYÓ</a:t>
            </a:r>
          </a:p>
        </p:txBody>
      </p:sp>
      <p:sp>
        <p:nvSpPr>
          <p:cNvPr id="45" name="TextBox 44"/>
          <p:cNvSpPr txBox="1"/>
          <p:nvPr/>
        </p:nvSpPr>
        <p:spPr>
          <a:xfrm>
            <a:off x="804672" y="5157216"/>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correo y el directorio: no se sienten «criptográficos», y sin embargo ahí está el MD4, más débil aún que el SHA-1 del portal, y una contraseña que viaja en claro por LDAP en cada inicio de sesión.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EL INVENTARIO REVELÓ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Ninguna fila por separado lo dice; el conjunto sí. Esta lectura es lo que el comité necesita, y lo que ninguna casilla suelta muestra.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15</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USOS DE CRIPTOGRAFÍA</a:t>
            </a:r>
          </a:p>
          <a:p>
            <a:pPr algn="l">
              <a:lnSpc>
                <a:spcPct val="125000"/>
              </a:lnSpc>
              <a:spcAft>
                <a:spcPts val="0"/>
              </a:spcAft>
            </a:pPr>
            <a:r>
              <a:rPr sz="730" b="1" spc="130">
                <a:solidFill>
                  <a:srgbClr val="3A3A3A"/>
                </a:solidFill>
                <a:latin typeface="Consolas"/>
              </a:rPr>
              <a:t>EN LOS OCHO SISTEMAS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SOBRE ALGORITMO OBSOLETO</a:t>
            </a:r>
          </a:p>
          <a:p>
            <a:pPr algn="l">
              <a:lnSpc>
                <a:spcPct val="125000"/>
              </a:lnSpc>
              <a:spcAft>
                <a:spcPts val="0"/>
              </a:spcAft>
            </a:pPr>
            <a:r>
              <a:rPr sz="730" b="1" spc="130">
                <a:solidFill>
                  <a:srgbClr val="3A3A3A"/>
                </a:solidFill>
                <a:latin typeface="Consolas"/>
              </a:rPr>
              <a:t>SHA-1 · 3DES · MD4 · TLS 1.0</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10</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SIN RESPONSABLE</a:t>
            </a:r>
          </a:p>
          <a:p>
            <a:pPr algn="l">
              <a:lnSpc>
                <a:spcPct val="125000"/>
              </a:lnSpc>
              <a:spcAft>
                <a:spcPts val="0"/>
              </a:spcAft>
            </a:pPr>
            <a:r>
              <a:rPr sz="730" b="1" spc="130">
                <a:solidFill>
                  <a:srgbClr val="3A3A3A"/>
                </a:solidFill>
                <a:latin typeface="Consolas"/>
              </a:rPr>
              <a:t>DE LA LLAVE, CON NOMBRE</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 ROTADAS</a:t>
            </a:r>
          </a:p>
          <a:p>
            <a:pPr algn="l">
              <a:lnSpc>
                <a:spcPct val="125000"/>
              </a:lnSpc>
              <a:spcAft>
                <a:spcPts val="0"/>
              </a:spcAft>
            </a:pPr>
            <a:r>
              <a:rPr sz="730" b="1" spc="130">
                <a:solidFill>
                  <a:srgbClr val="3A3A3A"/>
                </a:solidFill>
                <a:latin typeface="Consolas"/>
              </a:rPr>
              <a:t>NUNCA, EN SIETE AÑOS</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93268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PATRÓN QUE HAY QUE NOMBRAR</a:t>
            </a:r>
          </a:p>
        </p:txBody>
      </p:sp>
      <p:sp>
        <p:nvSpPr>
          <p:cNvPr id="25" name="TextBox 24"/>
          <p:cNvSpPr txBox="1"/>
          <p:nvPr/>
        </p:nvSpPr>
        <p:spPr>
          <a:xfrm>
            <a:off x="804672" y="4069080"/>
            <a:ext cx="10780776" cy="65836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los cinco usos con algoritmo correcto, cuatro no fallan por el algoritmo sino por la llave: AES, HMAC-SHA256 y TLS 1.3 están bien elegidos, y aun así el respaldo, la firma y el certificado están comprometidos por dónde vive la llave y quién la tiene. </a:t>
            </a:r>
            <a:r>
              <a:rPr sz="1150" b="1">
                <a:solidFill>
                  <a:srgbClr val="2A2A2A"/>
                </a:solidFill>
                <a:latin typeface="Arial"/>
              </a:rPr>
              <a:t>La criptografía de Coopaburrá funciona sin que nadie la gobierne.</a:t>
            </a:r>
            <a:r>
              <a:rPr sz="1150" b="0">
                <a:solidFill>
                  <a:srgbClr val="2A2A2A"/>
                </a:solidFill>
                <a:latin typeface="Arial"/>
              </a:rPr>
              <a:t> Por eso el inventario es la entrega 1 y no la 6, y por eso «desconocido» y «ninguno» son respuestas, no vacíos.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REALIDAD</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EJERCICIO, EN UNA ORGANIZACIÓN REAL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tiene ocho sistemas; una organización real tiene cientos. El inventario se topa con estos muros. Ninguno es excusa para no hacerlo: cada uno tiene una salida.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45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MURO</a:t>
            </a:r>
          </a:p>
        </p:txBody>
      </p:sp>
      <p:sp>
        <p:nvSpPr>
          <p:cNvPr id="12" name="TextBox 11"/>
          <p:cNvSpPr txBox="1"/>
          <p:nvPr/>
        </p:nvSpPr>
        <p:spPr>
          <a:xfrm>
            <a:off x="3216075" y="2423159"/>
            <a:ext cx="82413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AFRONTA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2484555"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«Nadie sabe»</a:t>
            </a:r>
          </a:p>
        </p:txBody>
      </p:sp>
      <p:sp>
        <p:nvSpPr>
          <p:cNvPr id="15" name="TextBox 14"/>
          <p:cNvSpPr txBox="1"/>
          <p:nvPr/>
        </p:nvSpPr>
        <p:spPr>
          <a:xfrm>
            <a:off x="3216075" y="2825495"/>
            <a:ext cx="8241356"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lo montó ya no está y no hay documentación. No se inventa el dato: se marca «desconocido», se nombra a quién preguntar y se reconstruye leyendo configuraciones, tráfico y código. En el caso, la CA en el escritorio del ex contratista.</a:t>
            </a:r>
          </a:p>
        </p:txBody>
      </p:sp>
      <p:sp>
        <p:nvSpPr>
          <p:cNvPr id="16" name="Rectangle 15"/>
          <p:cNvSpPr/>
          <p:nvPr/>
        </p:nvSpPr>
        <p:spPr>
          <a:xfrm>
            <a:off x="566928" y="345698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48420"/>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Son cientos, no ocho</a:t>
            </a:r>
          </a:p>
        </p:txBody>
      </p:sp>
      <p:sp>
        <p:nvSpPr>
          <p:cNvPr id="18" name="TextBox 17"/>
          <p:cNvSpPr txBox="1"/>
          <p:nvPr/>
        </p:nvSpPr>
        <p:spPr>
          <a:xfrm>
            <a:off x="3216075" y="3548420"/>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hace a mano. Descubrimiento automático —escáneres de TLS, registros de transparencia de certificados, escaneo de secretos en el código— y se prioriza por la sensibilidad del dato, no por el sistema.</a:t>
            </a:r>
          </a:p>
        </p:txBody>
      </p:sp>
      <p:sp>
        <p:nvSpPr>
          <p:cNvPr id="19" name="Rectangle 18"/>
          <p:cNvSpPr/>
          <p:nvPr/>
        </p:nvSpPr>
        <p:spPr>
          <a:xfrm>
            <a:off x="566928" y="406048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151924"/>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Cajas negras de terceros</a:t>
            </a:r>
          </a:p>
        </p:txBody>
      </p:sp>
      <p:sp>
        <p:nvSpPr>
          <p:cNvPr id="21" name="TextBox 20"/>
          <p:cNvSpPr txBox="1"/>
          <p:nvPr/>
        </p:nvSpPr>
        <p:spPr>
          <a:xfrm>
            <a:off x="3216075" y="4151924"/>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proveedor no divulga cómo cifra. Se exige su certificación (PCI, SOC 2, ISO 27001) y se registra bajo responsabilidad compartida. En el caso, el procesador de tarjetas y el correo en la nube.</a:t>
            </a:r>
          </a:p>
        </p:txBody>
      </p:sp>
      <p:sp>
        <p:nvSpPr>
          <p:cNvPr id="22" name="Rectangle 21"/>
          <p:cNvSpPr/>
          <p:nvPr/>
        </p:nvSpPr>
        <p:spPr>
          <a:xfrm>
            <a:off x="566928" y="466398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755428"/>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Criptografía escondida</a:t>
            </a:r>
          </a:p>
        </p:txBody>
      </p:sp>
      <p:sp>
        <p:nvSpPr>
          <p:cNvPr id="24" name="TextBox 23"/>
          <p:cNvSpPr txBox="1"/>
          <p:nvPr/>
        </p:nvSpPr>
        <p:spPr>
          <a:xfrm>
            <a:off x="3216075" y="4755428"/>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incrustadas en el código, en librerías, en dispositivos. Casi nunca está donde dice el diagrama: se encuentra con análisis del código y de dependencias, no preguntando.</a:t>
            </a:r>
          </a:p>
        </p:txBody>
      </p:sp>
      <p:sp>
        <p:nvSpPr>
          <p:cNvPr id="25" name="Rectangle 24"/>
          <p:cNvSpPr/>
          <p:nvPr/>
        </p:nvSpPr>
        <p:spPr>
          <a:xfrm>
            <a:off x="566928" y="52674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358932"/>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inventario nace viejo</a:t>
            </a:r>
          </a:p>
        </p:txBody>
      </p:sp>
      <p:sp>
        <p:nvSpPr>
          <p:cNvPr id="27" name="TextBox 26"/>
          <p:cNvSpPr txBox="1"/>
          <p:nvPr/>
        </p:nvSpPr>
        <p:spPr>
          <a:xfrm>
            <a:off x="3216075" y="5358932"/>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Todo cambia al día siguiente. No es un documento, es un proceso vivo, con dueño y re-escaneo periódico, atado al control de cambios.</a:t>
            </a:r>
          </a:p>
        </p:txBody>
      </p:sp>
      <p:sp>
        <p:nvSpPr>
          <p:cNvPr id="28" name="Rectangle 27"/>
          <p:cNvSpPr/>
          <p:nvPr/>
        </p:nvSpPr>
        <p:spPr>
          <a:xfrm>
            <a:off x="566928" y="58709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92586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VUELVE VIABLE, Y POR QUÉ YA NO ES OPCIONAL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 que hace practicable el inventario a escala, y la razón por la que dejó de ser un lujo de las organizaciones grandes.</a:t>
            </a:r>
          </a:p>
        </p:txBody>
      </p:sp>
      <p:sp>
        <p:nvSpPr>
          <p:cNvPr id="10" name="Rectangle 9"/>
          <p:cNvSpPr/>
          <p:nvPr/>
        </p:nvSpPr>
        <p:spPr>
          <a:xfrm>
            <a:off x="566928"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DESCÚBRELO, NO LO ADIVINES</a:t>
            </a:r>
          </a:p>
        </p:txBody>
      </p:sp>
      <p:sp>
        <p:nvSpPr>
          <p:cNvPr id="12" name="TextBox 11"/>
          <p:cNvSpPr txBox="1"/>
          <p:nvPr/>
        </p:nvSpPr>
        <p:spPr>
          <a:xfrm>
            <a:off x="786384"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Escáneres de TLS, registros de transparencia de certificados y escaneo de secretos en el repositorio encuentran en horas lo que a mano tomaría meses. La entrevista confirma; no descubre.</a:t>
            </a:r>
          </a:p>
        </p:txBody>
      </p:sp>
      <p:sp>
        <p:nvSpPr>
          <p:cNvPr id="13" name="Rectangle 12"/>
          <p:cNvSpPr/>
          <p:nvPr/>
        </p:nvSpPr>
        <p:spPr>
          <a:xfrm>
            <a:off x="6268212"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PRIORIZA POR EL DATO</a:t>
            </a:r>
          </a:p>
        </p:txBody>
      </p:sp>
      <p:sp>
        <p:nvSpPr>
          <p:cNvPr id="15" name="TextBox 14"/>
          <p:cNvSpPr txBox="1"/>
          <p:nvPr/>
        </p:nvSpPr>
        <p:spPr>
          <a:xfrm>
            <a:off x="6487668"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Primero se clasifican los datos y se empieza por lo regulado: personales, tarjetas, salud. Querer inventariarlo todo a la vez es no terminar ninguno.</a:t>
            </a:r>
          </a:p>
        </p:txBody>
      </p:sp>
      <p:sp>
        <p:nvSpPr>
          <p:cNvPr id="16" name="Rectangle 15"/>
          <p:cNvSpPr/>
          <p:nvPr/>
        </p:nvSpPr>
        <p:spPr>
          <a:xfrm>
            <a:off x="566928"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HAZLO LEGIBLE POR MÁQUINA</a:t>
            </a:r>
          </a:p>
        </p:txBody>
      </p:sp>
      <p:sp>
        <p:nvSpPr>
          <p:cNvPr id="18" name="TextBox 17"/>
          <p:cNvSpPr txBox="1"/>
          <p:nvPr/>
        </p:nvSpPr>
        <p:spPr>
          <a:xfrm>
            <a:off x="786384"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inventario criptográfico en formato estándar —el CBOM de CycloneDX— se genera en el pipeline y se actualiza solo. Deja de ser una foto que envejece.</a:t>
            </a:r>
          </a:p>
        </p:txBody>
      </p:sp>
      <p:sp>
        <p:nvSpPr>
          <p:cNvPr id="19" name="Rectangle 18"/>
          <p:cNvSpPr/>
          <p:nvPr/>
        </p:nvSpPr>
        <p:spPr>
          <a:xfrm>
            <a:off x="6268212"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RAZÓN DE FONDO ES 2030</a:t>
            </a:r>
          </a:p>
        </p:txBody>
      </p:sp>
      <p:sp>
        <p:nvSpPr>
          <p:cNvPr id="21" name="TextBox 20"/>
          <p:cNvSpPr txBox="1"/>
          <p:nvPr/>
        </p:nvSpPr>
        <p:spPr>
          <a:xfrm>
            <a:off x="6487668"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migración post-cuántica obliga a saber dónde está cada algoritmo: no se puede migrar lo que no se ha encontrado. El inventario de hoy es el mapa de esa transición, que verán en la sesión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CIFRADO SIMÉTRICO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sola llave para cifrar y descifrar · AES y los modos de operación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LAS DOS COSAS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simétrico significa que la misma llave sirve para cifrar y para descifrar. Es rápido, maduro y es el que protege la inmensa mayoría de los datos del mundo. Su límite es de logística, no de matemáticas.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LO HACE INSUSTITUIBLE</a:t>
            </a:r>
          </a:p>
        </p:txBody>
      </p:sp>
      <p:sp>
        <p:nvSpPr>
          <p:cNvPr id="11" name="TextBox 10"/>
          <p:cNvSpPr txBox="1"/>
          <p:nvPr/>
        </p:nvSpPr>
        <p:spPr>
          <a:xfrm>
            <a:off x="566928"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entre cientos y miles de veces más rápido que el cifrado de llave pública.</a:t>
            </a:r>
          </a:p>
          <a:p>
            <a:pPr algn="l">
              <a:lnSpc>
                <a:spcPct val="128000"/>
              </a:lnSpc>
              <a:spcAft>
                <a:spcPts val="700"/>
              </a:spcAft>
            </a:pPr>
            <a:r>
              <a:rPr sz="1150" b="0">
                <a:solidFill>
                  <a:srgbClr val="000000"/>
                </a:solidFill>
                <a:latin typeface="Arial"/>
              </a:rPr>
              <a:t>Cifrar un disco de dos terabytes con llave pública sería inviable; con llave simétrica es rutina.</a:t>
            </a:r>
          </a:p>
          <a:p>
            <a:pPr algn="l">
              <a:lnSpc>
                <a:spcPct val="128000"/>
              </a:lnSpc>
              <a:spcAft>
                <a:spcPts val="700"/>
              </a:spcAft>
            </a:pPr>
            <a:r>
              <a:rPr sz="1150" b="0">
                <a:solidFill>
                  <a:srgbClr val="000000"/>
                </a:solidFill>
                <a:latin typeface="Arial"/>
              </a:rPr>
              <a:t>Por eso todo sistema real es híbrido: la llave pública transporta una llave simétrica, y esa hace el trabajo.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 QUE NO RESUELVE</a:t>
            </a:r>
          </a:p>
        </p:txBody>
      </p:sp>
      <p:sp>
        <p:nvSpPr>
          <p:cNvPr id="13" name="TextBox 12"/>
          <p:cNvSpPr txBox="1"/>
          <p:nvPr/>
        </p:nvSpPr>
        <p:spPr>
          <a:xfrm>
            <a:off x="6368796"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Las dos partes tienen que compartir la llave antes de poder hablar.</a:t>
            </a:r>
          </a:p>
          <a:p>
            <a:pPr algn="l">
              <a:lnSpc>
                <a:spcPct val="128000"/>
              </a:lnSpc>
              <a:spcAft>
                <a:spcPts val="700"/>
              </a:spcAft>
            </a:pPr>
            <a:r>
              <a:rPr sz="1150" b="0">
                <a:solidFill>
                  <a:srgbClr val="000000"/>
                </a:solidFill>
                <a:latin typeface="Arial"/>
              </a:rPr>
              <a:t>Si la comparten mal, todo lo demás sobra.</a:t>
            </a:r>
          </a:p>
          <a:p>
            <a:pPr algn="l">
              <a:lnSpc>
                <a:spcPct val="128000"/>
              </a:lnSpc>
              <a:spcAft>
                <a:spcPts val="700"/>
              </a:spcAft>
            </a:pPr>
            <a:r>
              <a:rPr sz="1150" b="0">
                <a:solidFill>
                  <a:srgbClr val="000000"/>
                </a:solidFill>
                <a:latin typeface="Arial"/>
              </a:rPr>
              <a:t>Y como ambas la tienen, ninguna puede probar ante un tercero qué hizo la otra: por eso el cifrado simétrico nunca da no repudio.</a:t>
            </a:r>
          </a:p>
        </p:txBody>
      </p:sp>
      <p:sp>
        <p:nvSpPr>
          <p:cNvPr id="14" name="Rectangle 13"/>
          <p:cNvSpPr/>
          <p:nvPr/>
        </p:nvSpPr>
        <p:spPr>
          <a:xfrm>
            <a:off x="6085332" y="2304287"/>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DES A AES: POR QUÉ HUBO QUE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 fue el estándar durante veinte años. Su algoritmo nunca se rompió de forma práctica: lo que se volvió insuficiente fue el tamaño de su llave. Es la mejor ilustración de que un estándar tiene fecha de caducidad.</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05146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AÑO</a:t>
            </a:r>
          </a:p>
        </p:txBody>
      </p:sp>
      <p:sp>
        <p:nvSpPr>
          <p:cNvPr id="12" name="TextBox 11"/>
          <p:cNvSpPr txBox="1"/>
          <p:nvPr/>
        </p:nvSpPr>
        <p:spPr>
          <a:xfrm>
            <a:off x="1782988"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HECHO</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LECCIÓN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1977</a:t>
            </a:r>
          </a:p>
        </p:txBody>
      </p:sp>
      <p:sp>
        <p:nvSpPr>
          <p:cNvPr id="16" name="TextBox 15"/>
          <p:cNvSpPr txBox="1"/>
          <p:nvPr/>
        </p:nvSpPr>
        <p:spPr>
          <a:xfrm>
            <a:off x="1782988" y="2825495"/>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 se adopta como estándar federal de Estados Unidos, con llave de 56 bits</a:t>
            </a:r>
          </a:p>
        </p:txBody>
      </p:sp>
      <p:sp>
        <p:nvSpPr>
          <p:cNvPr id="17" name="TextBox 16"/>
          <p:cNvSpPr txBox="1"/>
          <p:nvPr/>
        </p:nvSpPr>
        <p:spPr>
          <a:xfrm>
            <a:off x="797384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Suficiente para el cómputo de su época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1998</a:t>
            </a:r>
          </a:p>
        </p:txBody>
      </p:sp>
      <p:sp>
        <p:nvSpPr>
          <p:cNvPr id="20" name="TextBox 19"/>
          <p:cNvSpPr txBox="1"/>
          <p:nvPr/>
        </p:nvSpPr>
        <p:spPr>
          <a:xfrm>
            <a:off x="1782988" y="32461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máquina de 250.000 dólares de la EFF encuentra una llave DES en 56 horas</a:t>
            </a:r>
          </a:p>
        </p:txBody>
      </p:sp>
      <p:sp>
        <p:nvSpPr>
          <p:cNvPr id="21" name="TextBox 20"/>
          <p:cNvSpPr txBox="1"/>
          <p:nvPr/>
        </p:nvSpPr>
        <p:spPr>
          <a:xfrm>
            <a:off x="797384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límite era la llave, no el algoritmo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1999</a:t>
            </a:r>
          </a:p>
        </p:txBody>
      </p:sp>
      <p:sp>
        <p:nvSpPr>
          <p:cNvPr id="24" name="TextBox 23"/>
          <p:cNvSpPr txBox="1"/>
          <p:nvPr/>
        </p:nvSpPr>
        <p:spPr>
          <a:xfrm>
            <a:off x="1782988" y="36667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máquina, con miles de equipos en internet, lo logra en 22 horas</a:t>
            </a:r>
          </a:p>
        </p:txBody>
      </p:sp>
      <p:sp>
        <p:nvSpPr>
          <p:cNvPr id="25" name="TextBox 24"/>
          <p:cNvSpPr txBox="1"/>
          <p:nvPr/>
        </p:nvSpPr>
        <p:spPr>
          <a:xfrm>
            <a:off x="797384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costo del ataque solo baja con el tiempo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2001</a:t>
            </a:r>
          </a:p>
        </p:txBody>
      </p:sp>
      <p:sp>
        <p:nvSpPr>
          <p:cNvPr id="28" name="TextBox 27"/>
          <p:cNvSpPr txBox="1"/>
          <p:nvPr/>
        </p:nvSpPr>
        <p:spPr>
          <a:xfrm>
            <a:off x="1782988" y="40873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 reemplaza a DES tras un concurso público de cuatro años</a:t>
            </a:r>
          </a:p>
        </p:txBody>
      </p:sp>
      <p:sp>
        <p:nvSpPr>
          <p:cNvPr id="29" name="TextBox 28"/>
          <p:cNvSpPr txBox="1"/>
          <p:nvPr/>
        </p:nvSpPr>
        <p:spPr>
          <a:xfrm>
            <a:off x="7973842" y="408736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estándar se reemplaza antes de que caiga, no después</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2023</a:t>
            </a:r>
          </a:p>
        </p:txBody>
      </p:sp>
      <p:sp>
        <p:nvSpPr>
          <p:cNvPr id="32" name="TextBox 31"/>
          <p:cNvSpPr txBox="1"/>
          <p:nvPr/>
        </p:nvSpPr>
        <p:spPr>
          <a:xfrm>
            <a:off x="1782988" y="462722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NIST retira definitivamente el triple DES para cifrar</a:t>
            </a:r>
          </a:p>
        </p:txBody>
      </p:sp>
      <p:sp>
        <p:nvSpPr>
          <p:cNvPr id="33" name="TextBox 32"/>
          <p:cNvSpPr txBox="1"/>
          <p:nvPr/>
        </p:nvSpPr>
        <p:spPr>
          <a:xfrm>
            <a:off x="7973842" y="462722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Veintidós años de transición para sacar un algoritmo viejo</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LA SESIÓN 6</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Entre tener el reemplazo y retirar el algoritmo viejo pasaron veintidós años. </a:t>
            </a:r>
            <a:r>
              <a:rPr sz="1150" b="1">
                <a:solidFill>
                  <a:srgbClr val="2A2A2A"/>
                </a:solidFill>
                <a:latin typeface="Arial"/>
              </a:rPr>
              <a:t>Con RSA y las curvas elípticas frente a la computación cuántica el reloj ya corre</a:t>
            </a:r>
            <a:r>
              <a:rPr sz="1150" b="0">
                <a:solidFill>
                  <a:srgbClr val="2A2A2A"/>
                </a:solidFill>
                <a:latin typeface="Arial"/>
              </a:rPr>
              <a:t>, y el plazo que se discute es menor.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AES: QUÉ ES Y QUÉ NO 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Estándar de cifrado avanzado, adoptado en 2001 tras un concurso público internacional de cinco años. Es el ejemplo perfecto del principio de Kerckhoffs: su diseño es completamente público y lleva veinticinco años resistiendo el análisis de toda la comunidad.</a:t>
            </a:r>
          </a:p>
        </p:txBody>
      </p:sp>
      <p:sp>
        <p:nvSpPr>
          <p:cNvPr id="10" name="Rectangle 9"/>
          <p:cNvSpPr/>
          <p:nvPr/>
        </p:nvSpPr>
        <p:spPr>
          <a:xfrm>
            <a:off x="566928"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SÍ ES</a:t>
            </a:r>
          </a:p>
        </p:txBody>
      </p:sp>
      <p:sp>
        <p:nvSpPr>
          <p:cNvPr id="12" name="TextBox 11"/>
          <p:cNvSpPr txBox="1"/>
          <p:nvPr/>
        </p:nvSpPr>
        <p:spPr>
          <a:xfrm>
            <a:off x="786384"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cifrador de bloques: transforma bloques de exactamente 16 bytes con una llave de 128, 192 o 256 bits.</a:t>
            </a:r>
          </a:p>
          <a:p>
            <a:pPr algn="l">
              <a:lnSpc>
                <a:spcPct val="128000"/>
              </a:lnSpc>
              <a:spcAft>
                <a:spcPts val="700"/>
              </a:spcAft>
            </a:pPr>
            <a:r>
              <a:rPr sz="1150" b="0">
                <a:solidFill>
                  <a:srgbClr val="000000"/>
                </a:solidFill>
                <a:latin typeface="Arial"/>
              </a:rPr>
              <a:t>El estándar de facto mundial, con aceleración en el procesador de cualquier equipo moderno.</a:t>
            </a:r>
          </a:p>
          <a:p>
            <a:pPr algn="l">
              <a:lnSpc>
                <a:spcPct val="128000"/>
              </a:lnSpc>
              <a:spcAft>
                <a:spcPts val="700"/>
              </a:spcAft>
            </a:pPr>
            <a:r>
              <a:rPr sz="1150" b="0">
                <a:solidFill>
                  <a:srgbClr val="000000"/>
                </a:solidFill>
                <a:latin typeface="Arial"/>
              </a:rPr>
              <a:t>Sin ataque práctico conocido contra el algoritmo en sí.</a:t>
            </a:r>
          </a:p>
        </p:txBody>
      </p:sp>
      <p:sp>
        <p:nvSpPr>
          <p:cNvPr id="13" name="Rectangle 12"/>
          <p:cNvSpPr/>
          <p:nvPr/>
        </p:nvSpPr>
        <p:spPr>
          <a:xfrm>
            <a:off x="6268212"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NO ES</a:t>
            </a:r>
          </a:p>
        </p:txBody>
      </p:sp>
      <p:sp>
        <p:nvSpPr>
          <p:cNvPr id="15" name="TextBox 14"/>
          <p:cNvSpPr txBox="1"/>
          <p:nvPr/>
        </p:nvSpPr>
        <p:spPr>
          <a:xfrm>
            <a:off x="6487668"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es un sistema de cifrado completo: por sí solo únicamente sabe transformar 16 bytes.</a:t>
            </a:r>
          </a:p>
          <a:p>
            <a:pPr algn="l">
              <a:lnSpc>
                <a:spcPct val="128000"/>
              </a:lnSpc>
              <a:spcAft>
                <a:spcPts val="700"/>
              </a:spcAft>
            </a:pPr>
            <a:r>
              <a:rPr sz="1150" b="0">
                <a:solidFill>
                  <a:srgbClr val="000000"/>
                </a:solidFill>
                <a:latin typeface="Arial"/>
              </a:rPr>
              <a:t>No garantiza integridad ni autenticidad, salvo en los modos que lo añaden explícitamente.</a:t>
            </a:r>
          </a:p>
          <a:p>
            <a:pPr algn="l">
              <a:lnSpc>
                <a:spcPct val="128000"/>
              </a:lnSpc>
              <a:spcAft>
                <a:spcPts val="700"/>
              </a:spcAft>
            </a:pPr>
            <a:r>
              <a:rPr sz="1150" b="0">
                <a:solidFill>
                  <a:srgbClr val="000000"/>
                </a:solidFill>
                <a:latin typeface="Arial"/>
              </a:rPr>
              <a:t>«Cifrado con AES-256» no dice nada sobre la seguridad real si no se dice el modo y cómo se maneja la llave.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 LOS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de 16 bytes. Un archivo tiene millones. Alguien tiene que decidir cómo se encadenan esos bloques, y esa decisión —el modo de operación— importa más que el algoritmo.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PREGUNTA QUE RESUELVE EL MODO DE OPERACIÓN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archivo de 1 MB  =  65.536 bloques de 16 bytes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AES sabe cifrar UN bloque. ¿Qué se hace con los otros 65.535?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Opción A: cifrar cada uno por separado, igual             → modo ECB</a:t>
            </a:r>
          </a:p>
          <a:p>
            <a:pPr algn="l">
              <a:lnSpc>
                <a:spcPct val="130000"/>
              </a:lnSpc>
              <a:spcAft>
                <a:spcPts val="0"/>
              </a:spcAft>
            </a:pPr>
            <a:r>
              <a:rPr sz="950" b="0">
                <a:solidFill>
                  <a:srgbClr val="000000"/>
                </a:solidFill>
                <a:latin typeface="Consolas"/>
              </a:rPr>
              <a:t>  Opción B: encadenar cada bloque con el resultado anterior → modo CBC</a:t>
            </a:r>
          </a:p>
          <a:p>
            <a:pPr algn="l">
              <a:lnSpc>
                <a:spcPct val="130000"/>
              </a:lnSpc>
              <a:spcAft>
                <a:spcPts val="0"/>
              </a:spcAft>
            </a:pPr>
            <a:r>
              <a:rPr sz="950" b="0">
                <a:solidFill>
                  <a:srgbClr val="000000"/>
                </a:solidFill>
                <a:latin typeface="Consolas"/>
              </a:rPr>
              <a:t>  Opción C: cifrar un contador y combinarlo con el dato     → modo CTR</a:t>
            </a:r>
          </a:p>
          <a:p>
            <a:pPr algn="l">
              <a:lnSpc>
                <a:spcPct val="130000"/>
              </a:lnSpc>
              <a:spcAft>
                <a:spcPts val="0"/>
              </a:spcAft>
            </a:pPr>
            <a:r>
              <a:rPr sz="950" b="0">
                <a:solidFill>
                  <a:srgbClr val="000000"/>
                </a:solidFill>
                <a:latin typeface="Consolas"/>
              </a:rPr>
              <a:t>  Opción D: como C, y además calcular una etiqueta de       → modo GCM</a:t>
            </a:r>
          </a:p>
          <a:p>
            <a:pPr algn="l">
              <a:lnSpc>
                <a:spcPct val="130000"/>
              </a:lnSpc>
              <a:spcAft>
                <a:spcPts val="0"/>
              </a:spcAft>
            </a:pPr>
            <a:r>
              <a:rPr sz="950" b="0">
                <a:solidFill>
                  <a:srgbClr val="000000"/>
                </a:solidFill>
                <a:latin typeface="Consolas"/>
              </a:rPr>
              <a:t>            autenticación sobre todo el mensaje</a:t>
            </a:r>
          </a:p>
        </p:txBody>
      </p:sp>
      <p:sp>
        <p:nvSpPr>
          <p:cNvPr id="13" name="Rectangle 12"/>
          <p:cNvSpPr/>
          <p:nvPr/>
        </p:nvSpPr>
        <p:spPr>
          <a:xfrm>
            <a:off x="566928" y="4820716"/>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HAY QUE RECORDAR</a:t>
            </a:r>
          </a:p>
        </p:txBody>
      </p:sp>
      <p:sp>
        <p:nvSpPr>
          <p:cNvPr id="15" name="TextBox 14"/>
          <p:cNvSpPr txBox="1"/>
          <p:nvPr/>
        </p:nvSpPr>
        <p:spPr>
          <a:xfrm>
            <a:off x="804672" y="5076748"/>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lo elige el estándar; </a:t>
            </a:r>
            <a:r>
              <a:rPr sz="1150" b="1">
                <a:solidFill>
                  <a:srgbClr val="2A2A2A"/>
                </a:solidFill>
                <a:latin typeface="Arial"/>
              </a:rPr>
              <a:t>el modo lo elige quien programa</a:t>
            </a:r>
            <a:r>
              <a:rPr sz="1150" b="0">
                <a:solidFill>
                  <a:srgbClr val="2A2A2A"/>
                </a:solidFill>
                <a:latin typeface="Arial"/>
              </a:rPr>
              <a:t>. Y ahí es donde se pierde la seguridad en la práctica.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HACE AES CON ESOS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hace falta saber implementarlo, pero sí entender la idea, porque explica por qué es rápido y por qué resiste. AES aplica varias rondas de cuatro operaciones que mezclan y difunden.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380952"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a:t>
            </a:r>
          </a:p>
        </p:txBody>
      </p:sp>
      <p:sp>
        <p:nvSpPr>
          <p:cNvPr id="13" name="TextBox 12"/>
          <p:cNvSpPr txBox="1"/>
          <p:nvPr/>
        </p:nvSpPr>
        <p:spPr>
          <a:xfrm>
            <a:off x="7199985"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QUÉ SIRVE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Sustitución de bytes</a:t>
            </a:r>
          </a:p>
        </p:txBody>
      </p:sp>
      <p:sp>
        <p:nvSpPr>
          <p:cNvPr id="16" name="TextBox 15"/>
          <p:cNvSpPr txBox="1"/>
          <p:nvPr/>
        </p:nvSpPr>
        <p:spPr>
          <a:xfrm>
            <a:off x="3380952"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se reemplaza según una tabla fija y pública</a:t>
            </a:r>
          </a:p>
        </p:txBody>
      </p:sp>
      <p:sp>
        <p:nvSpPr>
          <p:cNvPr id="17" name="TextBox 16"/>
          <p:cNvSpPr txBox="1"/>
          <p:nvPr/>
        </p:nvSpPr>
        <p:spPr>
          <a:xfrm>
            <a:off x="7199985" y="2825495"/>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Introduce no linealidad: impide despejar el dato con álgebra sencilla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Desplazamiento de filas</a:t>
            </a:r>
          </a:p>
        </p:txBody>
      </p:sp>
      <p:sp>
        <p:nvSpPr>
          <p:cNvPr id="20" name="TextBox 19"/>
          <p:cNvSpPr txBox="1"/>
          <p:nvPr/>
        </p:nvSpPr>
        <p:spPr>
          <a:xfrm>
            <a:off x="3380952"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bytes del bloque cambian de posición</a:t>
            </a:r>
          </a:p>
        </p:txBody>
      </p:sp>
      <p:sp>
        <p:nvSpPr>
          <p:cNvPr id="21" name="TextBox 20"/>
          <p:cNvSpPr txBox="1"/>
          <p:nvPr/>
        </p:nvSpPr>
        <p:spPr>
          <a:xfrm>
            <a:off x="7199985" y="3365357"/>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un byte de entrada acaba influyendo en muchos de salida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 de columnas</a:t>
            </a:r>
          </a:p>
        </p:txBody>
      </p:sp>
      <p:sp>
        <p:nvSpPr>
          <p:cNvPr id="24" name="TextBox 23"/>
          <p:cNvSpPr txBox="1"/>
          <p:nvPr/>
        </p:nvSpPr>
        <p:spPr>
          <a:xfrm>
            <a:off x="3380952" y="3905219"/>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columna se combina consigo misma</a:t>
            </a:r>
          </a:p>
        </p:txBody>
      </p:sp>
      <p:sp>
        <p:nvSpPr>
          <p:cNvPr id="25" name="TextBox 24"/>
          <p:cNvSpPr txBox="1"/>
          <p:nvPr/>
        </p:nvSpPr>
        <p:spPr>
          <a:xfrm>
            <a:off x="7199985" y="3905219"/>
            <a:ext cx="425744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todavía más, dentro del bloque</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Suma de la llave de ronda</a:t>
            </a:r>
          </a:p>
        </p:txBody>
      </p:sp>
      <p:sp>
        <p:nvSpPr>
          <p:cNvPr id="28" name="TextBox 27"/>
          <p:cNvSpPr txBox="1"/>
          <p:nvPr/>
        </p:nvSpPr>
        <p:spPr>
          <a:xfrm>
            <a:off x="3380952"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combina el bloque con una llave derivada de la principal</a:t>
            </a:r>
          </a:p>
        </p:txBody>
      </p:sp>
      <p:sp>
        <p:nvSpPr>
          <p:cNvPr id="29" name="TextBox 28"/>
          <p:cNvSpPr txBox="1"/>
          <p:nvPr/>
        </p:nvSpPr>
        <p:spPr>
          <a:xfrm>
            <a:off x="7199985" y="436241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único que depende del secreto</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DATO QUE IMPORTA PARA LA PRÁCTICA</a:t>
            </a:r>
          </a:p>
        </p:txBody>
      </p:sp>
      <p:sp>
        <p:nvSpPr>
          <p:cNvPr id="34" name="TextBox 33"/>
          <p:cNvSpPr txBox="1"/>
          <p:nvPr/>
        </p:nvSpPr>
        <p:spPr>
          <a:xfrm>
            <a:off x="804672" y="542348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lo anterior es público y está en el estándar. Lo único secreto es la llave, y por eso cambiar un bit de la llave cambia por completo la salida. </a:t>
            </a:r>
            <a:r>
              <a:rPr sz="1150" b="1">
                <a:solidFill>
                  <a:srgbClr val="2A2A2A"/>
                </a:solidFill>
                <a:latin typeface="Arial"/>
              </a:rPr>
              <a:t>Diez, doce o catorce rondas según la longitud de llave.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128, 192 O 256: CUÁNDO IMPORTA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Pregunta frecuente, con una respuesta menos dramática de lo que la gente espera.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44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LONGITUD</a:t>
            </a:r>
          </a:p>
        </p:txBody>
      </p:sp>
      <p:sp>
        <p:nvSpPr>
          <p:cNvPr id="12" name="TextBox 11"/>
          <p:cNvSpPr txBox="1"/>
          <p:nvPr/>
        </p:nvSpPr>
        <p:spPr>
          <a:xfrm>
            <a:off x="2375943" y="2185415"/>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PARA AGOTARLA</a:t>
            </a:r>
          </a:p>
        </p:txBody>
      </p:sp>
      <p:sp>
        <p:nvSpPr>
          <p:cNvPr id="13" name="TextBox 12"/>
          <p:cNvSpPr txBox="1"/>
          <p:nvPr/>
        </p:nvSpPr>
        <p:spPr>
          <a:xfrm>
            <a:off x="5792973" y="2185415"/>
            <a:ext cx="56644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SE JUSTIFICA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AES-128</a:t>
            </a:r>
          </a:p>
        </p:txBody>
      </p:sp>
      <p:sp>
        <p:nvSpPr>
          <p:cNvPr id="16" name="TextBox 15"/>
          <p:cNvSpPr txBox="1"/>
          <p:nvPr/>
        </p:nvSpPr>
        <p:spPr>
          <a:xfrm>
            <a:off x="2375943" y="2587751"/>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3,4 × 10³⁸</a:t>
            </a:r>
          </a:p>
        </p:txBody>
      </p:sp>
      <p:sp>
        <p:nvSpPr>
          <p:cNvPr id="17" name="TextBox 16"/>
          <p:cNvSpPr txBox="1"/>
          <p:nvPr/>
        </p:nvSpPr>
        <p:spPr>
          <a:xfrm>
            <a:off x="5792973" y="2587751"/>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 Suficiente para la mayoría de los datos</a:t>
            </a:r>
          </a:p>
        </p:txBody>
      </p:sp>
      <p:sp>
        <p:nvSpPr>
          <p:cNvPr id="18" name="Rectangle 17"/>
          <p:cNvSpPr/>
          <p:nvPr/>
        </p:nvSpPr>
        <p:spPr>
          <a:xfrm>
            <a:off x="566928" y="29900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81527"/>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AES-192</a:t>
            </a:r>
          </a:p>
        </p:txBody>
      </p:sp>
      <p:sp>
        <p:nvSpPr>
          <p:cNvPr id="20" name="TextBox 19"/>
          <p:cNvSpPr txBox="1"/>
          <p:nvPr/>
        </p:nvSpPr>
        <p:spPr>
          <a:xfrm>
            <a:off x="2375943" y="3081527"/>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6,3 × 10⁵⁷</a:t>
            </a:r>
          </a:p>
        </p:txBody>
      </p:sp>
      <p:sp>
        <p:nvSpPr>
          <p:cNvPr id="21" name="TextBox 20"/>
          <p:cNvSpPr txBox="1"/>
          <p:nvPr/>
        </p:nvSpPr>
        <p:spPr>
          <a:xfrm>
            <a:off x="5792973" y="3081527"/>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usado. Existe sobre todo por requisitos normativos específicos</a:t>
            </a:r>
          </a:p>
        </p:txBody>
      </p:sp>
      <p:sp>
        <p:nvSpPr>
          <p:cNvPr id="22" name="Rectangle 21"/>
          <p:cNvSpPr/>
          <p:nvPr/>
        </p:nvSpPr>
        <p:spPr>
          <a:xfrm>
            <a:off x="566928" y="34838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75303"/>
            <a:ext cx="164442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AES-256</a:t>
            </a:r>
          </a:p>
        </p:txBody>
      </p:sp>
      <p:sp>
        <p:nvSpPr>
          <p:cNvPr id="24" name="TextBox 23"/>
          <p:cNvSpPr txBox="1"/>
          <p:nvPr/>
        </p:nvSpPr>
        <p:spPr>
          <a:xfrm>
            <a:off x="2375943" y="3575303"/>
            <a:ext cx="325243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1,2 × 10⁷⁷</a:t>
            </a:r>
          </a:p>
        </p:txBody>
      </p:sp>
      <p:sp>
        <p:nvSpPr>
          <p:cNvPr id="25" name="TextBox 24"/>
          <p:cNvSpPr txBox="1"/>
          <p:nvPr/>
        </p:nvSpPr>
        <p:spPr>
          <a:xfrm>
            <a:off x="5792973" y="3575303"/>
            <a:ext cx="56644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Datos de vida larga y entornos regulados. Es la elección por defecto cuando el costo no importa</a:t>
            </a:r>
          </a:p>
        </p:txBody>
      </p:sp>
      <p:sp>
        <p:nvSpPr>
          <p:cNvPr id="26" name="Rectangle 25"/>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07858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380341"/>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39862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RESPUESTA HONESTA</a:t>
            </a:r>
          </a:p>
        </p:txBody>
      </p:sp>
      <p:sp>
        <p:nvSpPr>
          <p:cNvPr id="30" name="TextBox 29"/>
          <p:cNvSpPr txBox="1"/>
          <p:nvPr/>
        </p:nvSpPr>
        <p:spPr>
          <a:xfrm>
            <a:off x="804672" y="4636373"/>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ha roto AES-128 ni está cerca. Subir a 256 es barato, así que se hace por prudencia y por norma, no porque 128 esté en riesgo. </a:t>
            </a:r>
            <a:r>
              <a:rPr sz="1150" b="1">
                <a:solidFill>
                  <a:srgbClr val="2A2A2A"/>
                </a:solidFill>
                <a:latin typeface="Arial"/>
              </a:rPr>
              <a:t>Discutir la longitud de llave mientras la llave está incrustada en el código es el tipo de conversación que le costó $71 millones a Coopaburrá.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CADA BLOQUE POR SU CUENTA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modo más simple: se parte el dato en bloques y se cifra cada uno con la misma llave, de forma independiente. Es rápido, se puede paralelizar y es la opción por defecto de muchas bibliotecas antiguas. Tiene un defecto que se ve a simple vista.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PROPIEDAD QUE LO ARRUINA</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Bloques iguales de entrada  →  bloques iguales de salida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«SALDO: 1000000»  →  A7F3...  ┐</a:t>
            </a:r>
          </a:p>
          <a:p>
            <a:pPr algn="l">
              <a:lnSpc>
                <a:spcPct val="130000"/>
              </a:lnSpc>
              <a:spcAft>
                <a:spcPts val="0"/>
              </a:spcAft>
            </a:pPr>
            <a:r>
              <a:rPr sz="950" b="0">
                <a:solidFill>
                  <a:srgbClr val="000000"/>
                </a:solidFill>
                <a:latin typeface="Consolas"/>
              </a:rPr>
              <a:t>  «SALDO: 1000000»  →  A7F3...  ├─ siempre el mismo resultado</a:t>
            </a:r>
          </a:p>
          <a:p>
            <a:pPr algn="l">
              <a:lnSpc>
                <a:spcPct val="130000"/>
              </a:lnSpc>
              <a:spcAft>
                <a:spcPts val="0"/>
              </a:spcAft>
            </a:pPr>
            <a:r>
              <a:rPr sz="950" b="0">
                <a:solidFill>
                  <a:srgbClr val="000000"/>
                </a:solidFill>
                <a:latin typeface="Consolas"/>
              </a:rPr>
              <a:t>  «SALDO: 1000000»  →  A7F3...  ┘</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oculta el contenido de cada bloque, pero </a:t>
            </a:r>
            <a:r>
              <a:rPr sz="1150" b="1">
                <a:solidFill>
                  <a:srgbClr val="2A2A2A"/>
                </a:solidFill>
                <a:latin typeface="Arial"/>
              </a:rPr>
              <a:t>no oculta la estructura del dato</a:t>
            </a:r>
            <a:r>
              <a:rPr sz="1150" b="0">
                <a:solidFill>
                  <a:srgbClr val="2A2A2A"/>
                </a:solidFill>
                <a:latin typeface="Arial"/>
              </a:rPr>
              <a:t>: los patrones del original sobreviven intactos en el texto cifrado. En la siguiente diapositiva lo vamos a ver con algo que todos reconocen.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ESCUDO DE LA INSTITUCIÓN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Tomamos el escudo de la IUE, lo guardamos como imagen y ciframos los píxeles con AES-256, conservando solo la cabecera del archivo para poder abrirlo. Llave de 256 bits generada al azar. A la izquierda el original; a la derecha, el mismo escudo cifrado en modo ECB.</a:t>
            </a:r>
          </a:p>
        </p:txBody>
      </p:sp>
      <p:pic>
        <p:nvPicPr>
          <p:cNvPr id="10" name="Picture 9" descr="01_original_web.png"/>
          <p:cNvPicPr>
            <a:picLocks noChangeAspect="1"/>
          </p:cNvPicPr>
          <p:nvPr/>
        </p:nvPicPr>
        <p:blipFill>
          <a:blip r:embed="rId3"/>
          <a:stretch>
            <a:fillRect/>
          </a:stretch>
        </p:blipFill>
        <p:spPr>
          <a:xfrm>
            <a:off x="1737360" y="2587751"/>
            <a:ext cx="2103120" cy="2103120"/>
          </a:xfrm>
          <a:prstGeom prst="rect">
            <a:avLst/>
          </a:prstGeom>
        </p:spPr>
      </p:pic>
      <p:sp>
        <p:nvSpPr>
          <p:cNvPr id="11" name="TextBox 10"/>
          <p:cNvSpPr txBox="1"/>
          <p:nvPr/>
        </p:nvSpPr>
        <p:spPr>
          <a:xfrm>
            <a:off x="173736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ORIGINAL
SIN CIFRAR</a:t>
            </a:r>
          </a:p>
        </p:txBody>
      </p:sp>
      <p:pic>
        <p:nvPicPr>
          <p:cNvPr id="12" name="Picture 11" descr="02_cifrado_ECB_web.png"/>
          <p:cNvPicPr>
            <a:picLocks noChangeAspect="1"/>
          </p:cNvPicPr>
          <p:nvPr/>
        </p:nvPicPr>
        <p:blipFill>
          <a:blip r:embed="rId4"/>
          <a:stretch>
            <a:fillRect/>
          </a:stretch>
        </p:blipFill>
        <p:spPr>
          <a:xfrm>
            <a:off x="4892040" y="2587751"/>
            <a:ext cx="2103120" cy="2103120"/>
          </a:xfrm>
          <a:prstGeom prst="rect">
            <a:avLst/>
          </a:prstGeom>
        </p:spPr>
      </p:pic>
      <p:sp>
        <p:nvSpPr>
          <p:cNvPr id="13" name="TextBox 12"/>
          <p:cNvSpPr txBox="1"/>
          <p:nvPr/>
        </p:nvSpPr>
        <p:spPr>
          <a:xfrm>
            <a:off x="489204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CIFRADO CON AES-256
EN MODO ECB</a:t>
            </a:r>
          </a:p>
        </p:txBody>
      </p:sp>
      <p:sp>
        <p:nvSpPr>
          <p:cNvPr id="14" name="TextBox 13"/>
          <p:cNvSpPr txBox="1"/>
          <p:nvPr/>
        </p:nvSpPr>
        <p:spPr>
          <a:xfrm>
            <a:off x="8092440" y="3090672"/>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Esto está cifrado con AES-256, el mismo algoritmo que protege secretos de Estado. Y el escudo se sigue reconociendo perfectamente.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ESCUDO, EL MISMO ALGORITMO, OTRO MODO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Idéntica imagen, idéntico AES-256, idéntica longitud de llave. Lo único que cambió fue el modo de operación: en vez de cifrar cada bloque por separado, cada bloque se encadena con el resultado del anterior.</a:t>
            </a:r>
          </a:p>
        </p:txBody>
      </p:sp>
      <p:pic>
        <p:nvPicPr>
          <p:cNvPr id="10" name="Picture 9" descr="02_cifrado_ECB_web.png"/>
          <p:cNvPicPr>
            <a:picLocks noChangeAspect="1"/>
          </p:cNvPicPr>
          <p:nvPr/>
        </p:nvPicPr>
        <p:blipFill>
          <a:blip r:embed="rId3"/>
          <a:stretch>
            <a:fillRect/>
          </a:stretch>
        </p:blipFill>
        <p:spPr>
          <a:xfrm>
            <a:off x="1737360" y="2350007"/>
            <a:ext cx="2103120" cy="2103120"/>
          </a:xfrm>
          <a:prstGeom prst="rect">
            <a:avLst/>
          </a:prstGeom>
        </p:spPr>
      </p:pic>
      <p:sp>
        <p:nvSpPr>
          <p:cNvPr id="11" name="TextBox 10"/>
          <p:cNvSpPr txBox="1"/>
          <p:nvPr/>
        </p:nvSpPr>
        <p:spPr>
          <a:xfrm>
            <a:off x="173736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ECB
CADA BLOQUE POR SEPARADO</a:t>
            </a:r>
          </a:p>
        </p:txBody>
      </p:sp>
      <p:pic>
        <p:nvPicPr>
          <p:cNvPr id="12" name="Picture 11" descr="03_cifrado_CBC_web.png"/>
          <p:cNvPicPr>
            <a:picLocks noChangeAspect="1"/>
          </p:cNvPicPr>
          <p:nvPr/>
        </p:nvPicPr>
        <p:blipFill>
          <a:blip r:embed="rId4"/>
          <a:stretch>
            <a:fillRect/>
          </a:stretch>
        </p:blipFill>
        <p:spPr>
          <a:xfrm>
            <a:off x="4892040" y="2350007"/>
            <a:ext cx="2103120" cy="2103120"/>
          </a:xfrm>
          <a:prstGeom prst="rect">
            <a:avLst/>
          </a:prstGeom>
        </p:spPr>
      </p:pic>
      <p:sp>
        <p:nvSpPr>
          <p:cNvPr id="13" name="TextBox 12"/>
          <p:cNvSpPr txBox="1"/>
          <p:nvPr/>
        </p:nvSpPr>
        <p:spPr>
          <a:xfrm>
            <a:off x="489204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CBC
BLOQUES ENCADENADOS</a:t>
            </a:r>
          </a:p>
        </p:txBody>
      </p:sp>
      <p:sp>
        <p:nvSpPr>
          <p:cNvPr id="14" name="TextBox 13"/>
          <p:cNvSpPr txBox="1"/>
          <p:nvPr/>
        </p:nvSpPr>
        <p:spPr>
          <a:xfrm>
            <a:off x="8092440" y="2852927"/>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La diferencia no está en el algoritmo ni en la llave. Está en una decisión de una línea de código que muchas veces se toma sin pensar.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EXPLICACIÓN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PASA ESO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escudo tiene grandes zonas de un solo color. Cada zona uniforme produce bloques de entrada idénticos, y en ECB los bloques idénticos producen salidas idénticas. El contorno del escudo queda dibujado por la frontera entre zonas.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SÍ OCULTA</a:t>
            </a:r>
          </a:p>
        </p:txBody>
      </p:sp>
      <p:sp>
        <p:nvSpPr>
          <p:cNvPr id="11" name="TextBox 10"/>
          <p:cNvSpPr txBox="1"/>
          <p:nvPr/>
        </p:nvSpPr>
        <p:spPr>
          <a:xfrm>
            <a:off x="566928"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valor concreto de cada píxel. Nadie puede saber que el naranja era exactamente ese naranja.</a:t>
            </a:r>
          </a:p>
          <a:p>
            <a:pPr algn="l">
              <a:lnSpc>
                <a:spcPct val="128000"/>
              </a:lnSpc>
              <a:spcAft>
                <a:spcPts val="700"/>
              </a:spcAft>
            </a:pPr>
            <a:r>
              <a:rPr sz="1150" b="0">
                <a:solidFill>
                  <a:srgbClr val="000000"/>
                </a:solidFill>
                <a:latin typeface="Arial"/>
              </a:rPr>
              <a:t>Cada bloque, tomado aislado, es indescifrable sin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NO OCULTA</a:t>
            </a:r>
          </a:p>
        </p:txBody>
      </p:sp>
      <p:sp>
        <p:nvSpPr>
          <p:cNvPr id="13" name="TextBox 12"/>
          <p:cNvSpPr txBox="1"/>
          <p:nvPr/>
        </p:nvSpPr>
        <p:spPr>
          <a:xfrm>
            <a:off x="6368796"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bloques se repiten y dónde. Es decir: la estructura, los patrones y la forma.</a:t>
            </a:r>
          </a:p>
          <a:p>
            <a:pPr algn="l">
              <a:lnSpc>
                <a:spcPct val="128000"/>
              </a:lnSpc>
              <a:spcAft>
                <a:spcPts val="700"/>
              </a:spcAft>
            </a:pPr>
            <a:r>
              <a:rPr sz="1150" b="0">
                <a:solidFill>
                  <a:srgbClr val="000000"/>
                </a:solidFill>
                <a:latin typeface="Arial"/>
              </a:rPr>
              <a:t>En una imagen se ve. En una base de datos también: todos los registros con el mismo saldo, la misma ciudad o el mismo estado se delatan solos.</a:t>
            </a:r>
          </a:p>
        </p:txBody>
      </p:sp>
      <p:sp>
        <p:nvSpPr>
          <p:cNvPr id="14" name="Rectangle 13"/>
          <p:cNvSpPr/>
          <p:nvPr/>
        </p:nvSpPr>
        <p:spPr>
          <a:xfrm>
            <a:off x="6085332" y="230428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434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616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DONDE ESTO IMPORTA DE VERDAD</a:t>
            </a:r>
          </a:p>
        </p:txBody>
      </p:sp>
      <p:sp>
        <p:nvSpPr>
          <p:cNvPr id="17" name="TextBox 16"/>
          <p:cNvSpPr txBox="1"/>
          <p:nvPr/>
        </p:nvSpPr>
        <p:spPr>
          <a:xfrm>
            <a:off x="804672" y="45994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en imágenes: casi nadie cifra imágenes con ECB. Importa en </a:t>
            </a:r>
            <a:r>
              <a:rPr sz="1150" b="1">
                <a:solidFill>
                  <a:srgbClr val="2A2A2A"/>
                </a:solidFill>
                <a:latin typeface="Arial"/>
              </a:rPr>
              <a:t>bases de datos cifradas campo por campo</a:t>
            </a:r>
            <a:r>
              <a:rPr sz="1150" b="0">
                <a:solidFill>
                  <a:srgbClr val="2A2A2A"/>
                </a:solidFill>
                <a:latin typeface="Arial"/>
              </a:rPr>
              <a:t>, donde permite contar cuántos registros comparten un valor y, con eso, deducir cuál 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CBC Y EL VECTOR DE INICIALIZACIÓN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Encadenamiento de bloques: antes de cifrar, cada bloque se combina con el texto cifrado del bloque anterior. El primero no tiene anterior, así que se le da un valor de arranque: el vector de inicialización.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9400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725526" y="2423159"/>
            <a:ext cx="39810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REGLA</a:t>
            </a:r>
          </a:p>
        </p:txBody>
      </p:sp>
      <p:sp>
        <p:nvSpPr>
          <p:cNvPr id="13" name="TextBox 12"/>
          <p:cNvSpPr txBox="1"/>
          <p:nvPr/>
        </p:nvSpPr>
        <p:spPr>
          <a:xfrm>
            <a:off x="7871187" y="2423159"/>
            <a:ext cx="35862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SE INCUMPLE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es público</a:t>
            </a:r>
          </a:p>
        </p:txBody>
      </p:sp>
      <p:sp>
        <p:nvSpPr>
          <p:cNvPr id="16" name="TextBox 15"/>
          <p:cNvSpPr txBox="1"/>
          <p:nvPr/>
        </p:nvSpPr>
        <p:spPr>
          <a:xfrm>
            <a:off x="3725526" y="2825495"/>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 junto al texto cifrado. No es secreto y no hace falta que lo sea</a:t>
            </a:r>
          </a:p>
        </p:txBody>
      </p:sp>
      <p:sp>
        <p:nvSpPr>
          <p:cNvPr id="17" name="TextBox 16"/>
          <p:cNvSpPr txBox="1"/>
          <p:nvPr/>
        </p:nvSpPr>
        <p:spPr>
          <a:xfrm>
            <a:off x="7871187" y="2825495"/>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correcto que se conozca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debe ser impredecible</a:t>
            </a:r>
          </a:p>
        </p:txBody>
      </p:sp>
      <p:sp>
        <p:nvSpPr>
          <p:cNvPr id="20" name="TextBox 19"/>
          <p:cNvSpPr txBox="1"/>
          <p:nvPr/>
        </p:nvSpPr>
        <p:spPr>
          <a:xfrm>
            <a:off x="3725526" y="3365357"/>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genera al azar para cada mensaje, con un generador criptográfico</a:t>
            </a:r>
          </a:p>
        </p:txBody>
      </p:sp>
      <p:sp>
        <p:nvSpPr>
          <p:cNvPr id="21" name="TextBox 20"/>
          <p:cNvSpPr txBox="1"/>
          <p:nvPr/>
        </p:nvSpPr>
        <p:spPr>
          <a:xfrm>
            <a:off x="7871187" y="3365357"/>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comprobar si adivinó el contenido de un mensaje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El vector nunca se repite con la misma llave</a:t>
            </a:r>
          </a:p>
        </p:txBody>
      </p:sp>
      <p:sp>
        <p:nvSpPr>
          <p:cNvPr id="24" name="TextBox 23"/>
          <p:cNvSpPr txBox="1"/>
          <p:nvPr/>
        </p:nvSpPr>
        <p:spPr>
          <a:xfrm>
            <a:off x="3725526" y="3905219"/>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cifrado, un vector nuevo</a:t>
            </a:r>
          </a:p>
        </p:txBody>
      </p:sp>
      <p:sp>
        <p:nvSpPr>
          <p:cNvPr id="25" name="TextBox 24"/>
          <p:cNvSpPr txBox="1"/>
          <p:nvPr/>
        </p:nvSpPr>
        <p:spPr>
          <a:xfrm>
            <a:off x="7871187" y="3905219"/>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iguales se delatan, y vuelve el problema del martes: la llave repetida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 no da integridad</a:t>
            </a:r>
          </a:p>
        </p:txBody>
      </p:sp>
      <p:sp>
        <p:nvSpPr>
          <p:cNvPr id="28" name="TextBox 27"/>
          <p:cNvSpPr txBox="1"/>
          <p:nvPr/>
        </p:nvSpPr>
        <p:spPr>
          <a:xfrm>
            <a:off x="3725526" y="4445081"/>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Detecta ruido, no manipulación deliberada</a:t>
            </a:r>
          </a:p>
        </p:txBody>
      </p:sp>
      <p:sp>
        <p:nvSpPr>
          <p:cNvPr id="29" name="TextBox 28"/>
          <p:cNvSpPr txBox="1"/>
          <p:nvPr/>
        </p:nvSpPr>
        <p:spPr>
          <a:xfrm>
            <a:off x="7871187" y="4445081"/>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alterar el texto cifrado para producir cambios controlados en el claro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RELLENO Y POR QUÉ EXISTE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completos de 16 bytes. Si el dato no es múltiplo exacto, hay que completarlo. Ese relleno parece un detalle administrativo y ha sido el origen de ataques muy serios.</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SOBRAN BYTES Y CÓMO SE COMPLETAN</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Mensaje de 29 bytes  →  dos bloques (32) y sobran 3 por llenar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 bloque 1: 16 bytes ][ bloque 2: 13 de dato + 3 de relleno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esquema habitual rellena con el número de bytes añadidos: 03 03 03</a:t>
            </a:r>
          </a:p>
          <a:p>
            <a:pPr algn="l">
              <a:lnSpc>
                <a:spcPct val="130000"/>
              </a:lnSpc>
              <a:spcAft>
                <a:spcPts val="0"/>
              </a:spcAft>
            </a:pPr>
            <a:r>
              <a:rPr sz="950" b="0">
                <a:solidFill>
                  <a:srgbClr val="000000"/>
                </a:solidFill>
                <a:latin typeface="Consolas"/>
              </a:rPr>
              <a:t>Al descifrar se lee el último byte y se quita esa cantidad.</a:t>
            </a:r>
          </a:p>
        </p:txBody>
      </p:sp>
      <p:sp>
        <p:nvSpPr>
          <p:cNvPr id="13" name="TextBox 12"/>
          <p:cNvSpPr txBox="1"/>
          <p:nvPr/>
        </p:nvSpPr>
        <p:spPr>
          <a:xfrm>
            <a:off x="566928"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a:t>
            </a:r>
          </a:p>
        </p:txBody>
      </p:sp>
      <p:sp>
        <p:nvSpPr>
          <p:cNvPr id="14" name="TextBox 13"/>
          <p:cNvSpPr txBox="1"/>
          <p:nvPr/>
        </p:nvSpPr>
        <p:spPr>
          <a:xfrm>
            <a:off x="566928"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 descifrar hay que verificar que el relleno sea válido.</a:t>
            </a:r>
          </a:p>
          <a:p>
            <a:pPr algn="l">
              <a:lnSpc>
                <a:spcPct val="128000"/>
              </a:lnSpc>
              <a:spcAft>
                <a:spcPts val="700"/>
              </a:spcAft>
            </a:pPr>
            <a:r>
              <a:rPr sz="1150" b="0">
                <a:solidFill>
                  <a:srgbClr val="000000"/>
                </a:solidFill>
                <a:latin typeface="Arial"/>
              </a:rPr>
              <a:t>Si el sistema responde distinto cuando el relleno es inválido, con otro mensaje de error o con otro tiempo de respuesta, esa diferencia revela información.</a:t>
            </a:r>
          </a:p>
        </p:txBody>
      </p:sp>
      <p:sp>
        <p:nvSpPr>
          <p:cNvPr id="15" name="TextBox 14"/>
          <p:cNvSpPr txBox="1"/>
          <p:nvPr/>
        </p:nvSpPr>
        <p:spPr>
          <a:xfrm>
            <a:off x="6368796"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ORÁCULO DE RELLENO</a:t>
            </a:r>
          </a:p>
        </p:txBody>
      </p:sp>
      <p:sp>
        <p:nvSpPr>
          <p:cNvPr id="16" name="TextBox 15"/>
          <p:cNvSpPr txBox="1"/>
          <p:nvPr/>
        </p:nvSpPr>
        <p:spPr>
          <a:xfrm>
            <a:off x="6368796"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esa diferencia observable, un atacante puede descifrar el mensaje byte por byte sin conocer la llave, enviando textos modificados y mirando la respuesta.</a:t>
            </a:r>
          </a:p>
          <a:p>
            <a:pPr algn="l">
              <a:lnSpc>
                <a:spcPct val="128000"/>
              </a:lnSpc>
              <a:spcAft>
                <a:spcPts val="700"/>
              </a:spcAft>
            </a:pPr>
            <a:r>
              <a:rPr sz="1150" b="0">
                <a:solidFill>
                  <a:srgbClr val="000000"/>
                </a:solidFill>
                <a:latin typeface="Arial"/>
              </a:rPr>
              <a:t>Es un ataque contra el sistema, no contra AES. Los modos autenticados lo eliminan de raíz.</a:t>
            </a:r>
          </a:p>
        </p:txBody>
      </p:sp>
      <p:sp>
        <p:nvSpPr>
          <p:cNvPr id="17" name="Rectangle 16"/>
          <p:cNvSpPr/>
          <p:nvPr/>
        </p:nvSpPr>
        <p:spPr>
          <a:xfrm>
            <a:off x="6085332" y="4195267"/>
            <a:ext cx="9144" cy="1691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ORÁCULO DE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relleno parece un detalle de formato. En 2002 Serge Vaudenay mostró que puede bastar para descifrar un mensaje completo sin conocer la llave, y el ataque ha reaparecido en productos reales durante veinte años.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UN SERVIDOR QUE DICE DEMASIADO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atacante intercepta un mensaje cifrado en CBC.</a:t>
            </a:r>
          </a:p>
          <a:p>
            <a:pPr algn="l">
              <a:lnSpc>
                <a:spcPct val="130000"/>
              </a:lnSpc>
              <a:spcAft>
                <a:spcPts val="0"/>
              </a:spcAft>
            </a:pPr>
            <a:r>
              <a:rPr sz="950" b="0">
                <a:solidFill>
                  <a:srgbClr val="000000"/>
                </a:solidFill>
                <a:latin typeface="Consolas"/>
              </a:rPr>
              <a:t>2. Lo altera ligeramente y lo reenvía al servidor.</a:t>
            </a:r>
          </a:p>
          <a:p>
            <a:pPr algn="l">
              <a:lnSpc>
                <a:spcPct val="130000"/>
              </a:lnSpc>
              <a:spcAft>
                <a:spcPts val="0"/>
              </a:spcAft>
            </a:pPr>
            <a:r>
              <a:rPr sz="950" b="0">
                <a:solidFill>
                  <a:srgbClr val="000000"/>
                </a:solidFill>
                <a:latin typeface="Consolas"/>
              </a:rPr>
              <a:t>3. El servidor responde distinto según el relleno sea válido o no:</a:t>
            </a:r>
          </a:p>
          <a:p>
            <a:pPr algn="l">
              <a:lnSpc>
                <a:spcPct val="130000"/>
              </a:lnSpc>
              <a:spcAft>
                <a:spcPts val="0"/>
              </a:spcAft>
            </a:pPr>
            <a:r>
              <a:rPr sz="950" b="0">
                <a:solidFill>
                  <a:srgbClr val="000000"/>
                </a:solidFill>
                <a:latin typeface="Consolas"/>
              </a:rPr>
              <a:t>        «relleno incorrecto»    frente a    «error de la aplicación»</a:t>
            </a:r>
          </a:p>
          <a:p>
            <a:pPr algn="l">
              <a:lnSpc>
                <a:spcPct val="130000"/>
              </a:lnSpc>
              <a:spcAft>
                <a:spcPts val="0"/>
              </a:spcAft>
            </a:pPr>
            <a:r>
              <a:rPr sz="950" b="0">
                <a:solidFill>
                  <a:srgbClr val="000000"/>
                </a:solidFill>
                <a:latin typeface="Consolas"/>
              </a:rPr>
              <a:t>4. Esa única diferencia, un bit de información por intento, basta.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unos 128 intentos por byte en promedio, el atacante recupera el texto</a:t>
            </a:r>
          </a:p>
          <a:p>
            <a:pPr algn="l">
              <a:lnSpc>
                <a:spcPct val="130000"/>
              </a:lnSpc>
              <a:spcAft>
                <a:spcPts val="0"/>
              </a:spcAft>
            </a:pPr>
            <a:r>
              <a:rPr sz="950" b="0">
                <a:solidFill>
                  <a:srgbClr val="000000"/>
                </a:solidFill>
                <a:latin typeface="Consolas"/>
              </a:rPr>
              <a:t>claro completo, byte a byte, sin haber tocado nunca la llave.</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CONDENA A CBC SIN AUTENTICAR</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servidor se convierte en un oráculo que responde preguntas sobre el texto claro: es el ataque de texto cifrado elegido de la sesión 1, en acción. </a:t>
            </a:r>
            <a:r>
              <a:rPr sz="1150" b="1">
                <a:solidFill>
                  <a:srgbClr val="2A2A2A"/>
                </a:solidFill>
                <a:latin typeface="Arial"/>
              </a:rPr>
              <a:t>Con un modo autenticado, el mensaje alterado se rechaza antes de mirar el relleno</a:t>
            </a:r>
            <a:r>
              <a:rPr sz="1150" b="0">
                <a:solidFill>
                  <a:srgbClr val="2A2A2A"/>
                </a:solidFill>
                <a:latin typeface="Arial"/>
              </a:rPr>
              <a:t> y el oráculo desaparece. POODLE, en 2014, fue una variante sobre el canal seguro.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CTR Y GCM: DE CIFRAR A CIFRAR CON GARANTÍA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CTR convierte el cifrador de bloques en un cifrador de flujo: cifra un contador y combina el resultado con el dato. GCM hace lo mismo y además calcula una etiqueta de autenticación sobre todo el mensaje. Esa etiqueta es la diferencia entre confidencialidad y protección.</a:t>
            </a:r>
          </a:p>
        </p:txBody>
      </p:sp>
      <p:sp>
        <p:nvSpPr>
          <p:cNvPr id="10" name="Rectangle 9"/>
          <p:cNvSpPr/>
          <p:nvPr/>
        </p:nvSpPr>
        <p:spPr>
          <a:xfrm>
            <a:off x="566928"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CTR</a:t>
            </a:r>
          </a:p>
        </p:txBody>
      </p:sp>
      <p:sp>
        <p:nvSpPr>
          <p:cNvPr id="12" name="TextBox 11"/>
          <p:cNvSpPr txBox="1"/>
          <p:nvPr/>
        </p:nvSpPr>
        <p:spPr>
          <a:xfrm>
            <a:off x="786384"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Rápido, paralelizable, no necesita relleno y permite acceso aleatorio al dato cifrado.</a:t>
            </a:r>
          </a:p>
          <a:p>
            <a:pPr algn="l">
              <a:lnSpc>
                <a:spcPct val="128000"/>
              </a:lnSpc>
              <a:spcAft>
                <a:spcPts val="700"/>
              </a:spcAft>
            </a:pPr>
            <a:r>
              <a:rPr sz="1150" b="0">
                <a:solidFill>
                  <a:srgbClr val="000000"/>
                </a:solidFill>
                <a:latin typeface="Arial"/>
              </a:rPr>
              <a:t>Da confidencialidad y nada más.</a:t>
            </a:r>
          </a:p>
          <a:p>
            <a:pPr algn="l">
              <a:lnSpc>
                <a:spcPct val="128000"/>
              </a:lnSpc>
              <a:spcAft>
                <a:spcPts val="700"/>
              </a:spcAft>
            </a:pPr>
            <a:r>
              <a:rPr sz="1150" b="0">
                <a:solidFill>
                  <a:srgbClr val="000000"/>
                </a:solidFill>
                <a:latin typeface="Arial"/>
              </a:rPr>
              <a:t>Comparte con CBC la regla de oro: el valor del contador nunca se puede repetir con la misma llave.</a:t>
            </a:r>
          </a:p>
        </p:txBody>
      </p:sp>
      <p:sp>
        <p:nvSpPr>
          <p:cNvPr id="13" name="Rectangle 12"/>
          <p:cNvSpPr/>
          <p:nvPr/>
        </p:nvSpPr>
        <p:spPr>
          <a:xfrm>
            <a:off x="6268212"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GCM · CIFRADO AUTENTICADO</a:t>
            </a:r>
          </a:p>
        </p:txBody>
      </p:sp>
      <p:sp>
        <p:nvSpPr>
          <p:cNvPr id="15" name="TextBox 14"/>
          <p:cNvSpPr txBox="1"/>
          <p:nvPr/>
        </p:nvSpPr>
        <p:spPr>
          <a:xfrm>
            <a:off x="6487668"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 confidencialidad e integridad en una sola operación, y permite autenticar datos que van en claro, como una cabecera.</a:t>
            </a:r>
          </a:p>
          <a:p>
            <a:pPr algn="l">
              <a:lnSpc>
                <a:spcPct val="128000"/>
              </a:lnSpc>
              <a:spcAft>
                <a:spcPts val="700"/>
              </a:spcAft>
            </a:pPr>
            <a:r>
              <a:rPr sz="1150" b="0">
                <a:solidFill>
                  <a:srgbClr val="000000"/>
                </a:solidFill>
                <a:latin typeface="Arial"/>
              </a:rPr>
              <a:t>Si alguien altera un solo bit del texto cifrado, el descifrado falla en vez de devolver basura.</a:t>
            </a:r>
          </a:p>
          <a:p>
            <a:pPr algn="l">
              <a:lnSpc>
                <a:spcPct val="128000"/>
              </a:lnSpc>
              <a:spcAft>
                <a:spcPts val="700"/>
              </a:spcAft>
            </a:pPr>
            <a:r>
              <a:rPr sz="1150" b="0">
                <a:solidFill>
                  <a:srgbClr val="000000"/>
                </a:solidFill>
                <a:latin typeface="Arial"/>
              </a:rPr>
              <a:t>Es el modo que hoy se debe usar por defecto, salvo que exista una razón documentada para otro.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GCM POR DENTRO: LA ETIQUETA Y LOS DATOS ASOCIADOS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qué produce GCM exactamente, porque de ahí salen dos preguntas de auditoría que casi nadie hace: qué pasa con la etiqueta y qué se autentica sin cifrar.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AUTENTICADO CON DATOS ASOCIADOS</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Entrada:  llave · vector único de 96 bits · texto claro · datos asociados</a:t>
            </a:r>
          </a:p>
          <a:p>
            <a:pPr algn="l">
              <a:lnSpc>
                <a:spcPct val="130000"/>
              </a:lnSpc>
              <a:spcAft>
                <a:spcPts val="0"/>
              </a:spcAft>
            </a:pPr>
            <a:r>
              <a:rPr sz="950" b="0">
                <a:solidFill>
                  <a:srgbClr val="000000"/>
                </a:solidFill>
                <a:latin typeface="Consolas"/>
              </a:rPr>
              <a:t>Salida:   texto cifrado  +  etiqueta de autenticación de 128 bits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se recalcula la etiqueta sobre el cifrado y los datos asociados.</a:t>
            </a:r>
          </a:p>
          <a:p>
            <a:pPr algn="l">
              <a:lnSpc>
                <a:spcPct val="130000"/>
              </a:lnSpc>
              <a:spcAft>
                <a:spcPts val="0"/>
              </a:spcAft>
            </a:pPr>
            <a:r>
              <a:rPr sz="950" b="0">
                <a:solidFill>
                  <a:srgbClr val="000000"/>
                </a:solidFill>
                <a:latin typeface="Consolas"/>
              </a:rPr>
              <a:t>Si no coincide no se entrega NADA: ni siquiera un texto claro parcial.</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DATOS ASOCIADOS</a:t>
            </a:r>
          </a:p>
        </p:txBody>
      </p:sp>
      <p:sp>
        <p:nvSpPr>
          <p:cNvPr id="14" name="TextBox 13"/>
          <p:cNvSpPr txBox="1"/>
          <p:nvPr/>
        </p:nvSpPr>
        <p:spPr>
          <a:xfrm>
            <a:off x="566928"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Datos que no necesitan ser secretos pero no pueden alterarse: el número de cuenta, la versión del registro, el identificador del asociado.</a:t>
            </a:r>
          </a:p>
          <a:p>
            <a:pPr algn="l">
              <a:lnSpc>
                <a:spcPct val="128000"/>
              </a:lnSpc>
              <a:spcAft>
                <a:spcPts val="700"/>
              </a:spcAft>
            </a:pPr>
            <a:r>
              <a:rPr sz="1150" b="0">
                <a:solidFill>
                  <a:srgbClr val="000000"/>
                </a:solidFill>
                <a:latin typeface="Arial"/>
              </a:rPr>
              <a:t>Viajan en claro, pero la etiqueta los cubre. Así se impide mover un saldo cifrado válido al registro de otro asociado.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DOS PREGUNTAS DE AUDITORÍA</a:t>
            </a:r>
          </a:p>
        </p:txBody>
      </p:sp>
      <p:sp>
        <p:nvSpPr>
          <p:cNvPr id="16" name="TextBox 15"/>
          <p:cNvSpPr txBox="1"/>
          <p:nvPr/>
        </p:nvSpPr>
        <p:spPr>
          <a:xfrm>
            <a:off x="6368796"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verifica la etiqueta antes de usar el dato, o se usa lo descifrado y se verifica después? Lo segundo es un error grave y frecuente.</a:t>
            </a:r>
          </a:p>
          <a:p>
            <a:pPr algn="l">
              <a:lnSpc>
                <a:spcPct val="128000"/>
              </a:lnSpc>
              <a:spcAft>
                <a:spcPts val="700"/>
              </a:spcAft>
            </a:pPr>
            <a:r>
              <a:rPr sz="1150" b="0">
                <a:solidFill>
                  <a:srgbClr val="000000"/>
                </a:solidFill>
                <a:latin typeface="Arial"/>
              </a:rPr>
              <a:t>¿Se recortó la etiqueta para ahorrar espacio? Por debajo de 96 bits la protección se debilita rápido.</a:t>
            </a:r>
          </a:p>
        </p:txBody>
      </p:sp>
      <p:sp>
        <p:nvSpPr>
          <p:cNvPr id="17" name="Rectangle 16"/>
          <p:cNvSpPr/>
          <p:nvPr/>
        </p:nvSpPr>
        <p:spPr>
          <a:xfrm>
            <a:off x="6085332" y="3986784"/>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ALTERNATIVA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CIFRADOS DE FLUJO MODERNOS: CHACHA20-POLY1305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no es la única opción moderna. En teléfonos y equipos sin aceleración por hardware manda otra construcción.</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AES-GCM</a:t>
            </a:r>
          </a:p>
        </p:txBody>
      </p:sp>
      <p:sp>
        <p:nvSpPr>
          <p:cNvPr id="13" name="TextBox 12"/>
          <p:cNvSpPr txBox="1"/>
          <p:nvPr/>
        </p:nvSpPr>
        <p:spPr>
          <a:xfrm>
            <a:off x="7642189"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CHACHA20-POLY1305</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Tipo</a:t>
            </a:r>
          </a:p>
        </p:txBody>
      </p:sp>
      <p:sp>
        <p:nvSpPr>
          <p:cNvPr id="16" name="TextBox 15"/>
          <p:cNvSpPr txBox="1"/>
          <p:nvPr/>
        </p:nvSpPr>
        <p:spPr>
          <a:xfrm>
            <a:off x="3441252"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bloque en modo contador, con autenticación</a:t>
            </a:r>
          </a:p>
        </p:txBody>
      </p:sp>
      <p:sp>
        <p:nvSpPr>
          <p:cNvPr id="17" name="TextBox 16"/>
          <p:cNvSpPr txBox="1"/>
          <p:nvPr/>
        </p:nvSpPr>
        <p:spPr>
          <a:xfrm>
            <a:off x="7642189" y="258775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flujo con autenticador integrado</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0" name="TextBox 19"/>
          <p:cNvSpPr txBox="1"/>
          <p:nvPr/>
        </p:nvSpPr>
        <p:spPr>
          <a:xfrm>
            <a:off x="3441252" y="300837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cuando el procesador tiene instrucciones para AES</a:t>
            </a:r>
          </a:p>
        </p:txBody>
      </p:sp>
      <p:sp>
        <p:nvSpPr>
          <p:cNvPr id="21" name="TextBox 20"/>
          <p:cNvSpPr txBox="1"/>
          <p:nvPr/>
        </p:nvSpPr>
        <p:spPr>
          <a:xfrm>
            <a:off x="7642189" y="300837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en software puro, sin hardware especial</a:t>
            </a:r>
          </a:p>
        </p:txBody>
      </p:sp>
      <p:sp>
        <p:nvSpPr>
          <p:cNvPr id="22" name="Rectangle 21"/>
          <p:cNvSpPr/>
          <p:nvPr/>
        </p:nvSpPr>
        <p:spPr>
          <a:xfrm>
            <a:off x="566928" y="34567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4823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Ataques de temporización</a:t>
            </a:r>
          </a:p>
        </p:txBody>
      </p:sp>
      <p:sp>
        <p:nvSpPr>
          <p:cNvPr id="24" name="TextBox 23"/>
          <p:cNvSpPr txBox="1"/>
          <p:nvPr/>
        </p:nvSpPr>
        <p:spPr>
          <a:xfrm>
            <a:off x="3441252" y="354823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hardware, la implementación puede filtrar información por tiempos</a:t>
            </a:r>
          </a:p>
        </p:txBody>
      </p:sp>
      <p:sp>
        <p:nvSpPr>
          <p:cNvPr id="25" name="TextBox 24"/>
          <p:cNvSpPr txBox="1"/>
          <p:nvPr/>
        </p:nvSpPr>
        <p:spPr>
          <a:xfrm>
            <a:off x="7642189" y="354823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Diseñado para ser de tiempo constante en software</a:t>
            </a:r>
          </a:p>
        </p:txBody>
      </p:sp>
      <p:sp>
        <p:nvSpPr>
          <p:cNvPr id="26" name="Rectangle 25"/>
          <p:cNvSpPr/>
          <p:nvPr/>
        </p:nvSpPr>
        <p:spPr>
          <a:xfrm>
            <a:off x="566928" y="39966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809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28" name="TextBox 27"/>
          <p:cNvSpPr txBox="1"/>
          <p:nvPr/>
        </p:nvSpPr>
        <p:spPr>
          <a:xfrm>
            <a:off x="3441252" y="408809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Servidores, discos y la mayoría de los protocolos</a:t>
            </a:r>
          </a:p>
        </p:txBody>
      </p:sp>
      <p:sp>
        <p:nvSpPr>
          <p:cNvPr id="29" name="TextBox 28"/>
          <p:cNvSpPr txBox="1"/>
          <p:nvPr/>
        </p:nvSpPr>
        <p:spPr>
          <a:xfrm>
            <a:off x="7642189" y="408809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seguro en teléfonos y redes privadas modernas, como WireGuard</a:t>
            </a:r>
          </a:p>
        </p:txBody>
      </p:sp>
      <p:sp>
        <p:nvSpPr>
          <p:cNvPr id="30" name="Rectangle 29"/>
          <p:cNvSpPr/>
          <p:nvPr/>
        </p:nvSpPr>
        <p:spPr>
          <a:xfrm>
            <a:off x="566928" y="453652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96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Regla del número único</a:t>
            </a:r>
          </a:p>
        </p:txBody>
      </p:sp>
      <p:sp>
        <p:nvSpPr>
          <p:cNvPr id="32" name="TextBox 31"/>
          <p:cNvSpPr txBox="1"/>
          <p:nvPr/>
        </p:nvSpPr>
        <p:spPr>
          <a:xfrm>
            <a:off x="3441252" y="462796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repetir el vector con la misma llave</a:t>
            </a:r>
          </a:p>
        </p:txBody>
      </p:sp>
      <p:sp>
        <p:nvSpPr>
          <p:cNvPr id="33" name="TextBox 32"/>
          <p:cNvSpPr txBox="1"/>
          <p:nvPr/>
        </p:nvSpPr>
        <p:spPr>
          <a:xfrm>
            <a:off x="7642189" y="462796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Exactamente la misma regla</a:t>
            </a:r>
          </a:p>
        </p:txBody>
      </p:sp>
      <p:sp>
        <p:nvSpPr>
          <p:cNvPr id="34" name="Rectangle 33"/>
          <p:cNvSpPr/>
          <p:nvPr/>
        </p:nvSpPr>
        <p:spPr>
          <a:xfrm>
            <a:off x="566928" y="49571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20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76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20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a:t>
            </a:r>
          </a:p>
        </p:txBody>
      </p:sp>
      <p:sp>
        <p:nvSpPr>
          <p:cNvPr id="38" name="TextBox 37"/>
          <p:cNvSpPr txBox="1"/>
          <p:nvPr/>
        </p:nvSpPr>
        <p:spPr>
          <a:xfrm>
            <a:off x="804672" y="556979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aparece ChaCha20-Poly1305 en una configuración, no es un hallazgo: es una elección correcta. </a:t>
            </a:r>
            <a:r>
              <a:rPr sz="1150" b="1">
                <a:solidFill>
                  <a:srgbClr val="2A2A2A"/>
                </a:solidFill>
                <a:latin typeface="Arial"/>
              </a:rPr>
              <a:t>Lo que sí es hallazgo es un cifrado de flujo sin autenticador</a:t>
            </a:r>
            <a:r>
              <a:rPr sz="1150" b="0">
                <a:solidFill>
                  <a:srgbClr val="2A2A2A"/>
                </a:solidFill>
                <a:latin typeface="Arial"/>
              </a:rPr>
              <a:t>, como RC4, que el canal seguro prohibió en 2015.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CUÁL USAR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94091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MODO</a:t>
            </a:r>
          </a:p>
        </p:txBody>
      </p:sp>
      <p:sp>
        <p:nvSpPr>
          <p:cNvPr id="11" name="TextBox 10"/>
          <p:cNvSpPr txBox="1"/>
          <p:nvPr/>
        </p:nvSpPr>
        <p:spPr>
          <a:xfrm>
            <a:off x="167243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CONFIDENCIALIDAD</a:t>
            </a:r>
          </a:p>
        </p:txBody>
      </p:sp>
      <p:sp>
        <p:nvSpPr>
          <p:cNvPr id="12" name="TextBox 11"/>
          <p:cNvSpPr txBox="1"/>
          <p:nvPr/>
        </p:nvSpPr>
        <p:spPr>
          <a:xfrm>
            <a:off x="4767864" y="1673352"/>
            <a:ext cx="13831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INTEGRIDAD</a:t>
            </a:r>
          </a:p>
        </p:txBody>
      </p:sp>
      <p:sp>
        <p:nvSpPr>
          <p:cNvPr id="13" name="TextBox 12"/>
          <p:cNvSpPr txBox="1"/>
          <p:nvPr/>
        </p:nvSpPr>
        <p:spPr>
          <a:xfrm>
            <a:off x="6315577" y="1673352"/>
            <a:ext cx="514185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ECB</a:t>
            </a:r>
          </a:p>
        </p:txBody>
      </p:sp>
      <p:sp>
        <p:nvSpPr>
          <p:cNvPr id="16" name="TextBox 15"/>
          <p:cNvSpPr txBox="1"/>
          <p:nvPr/>
        </p:nvSpPr>
        <p:spPr>
          <a:xfrm>
            <a:off x="1672437" y="2075688"/>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Parcial: filtra estructura</a:t>
            </a:r>
          </a:p>
        </p:txBody>
      </p:sp>
      <p:sp>
        <p:nvSpPr>
          <p:cNvPr id="17" name="TextBox 16"/>
          <p:cNvSpPr txBox="1"/>
          <p:nvPr/>
        </p:nvSpPr>
        <p:spPr>
          <a:xfrm>
            <a:off x="4767864" y="2075688"/>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18" name="TextBox 17"/>
          <p:cNvSpPr txBox="1"/>
          <p:nvPr/>
        </p:nvSpPr>
        <p:spPr>
          <a:xfrm>
            <a:off x="6315577" y="2075688"/>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No existe un caso legítimo en un sistema nuevo</a:t>
            </a:r>
          </a:p>
        </p:txBody>
      </p:sp>
      <p:sp>
        <p:nvSpPr>
          <p:cNvPr id="19" name="Rectangle 18"/>
          <p:cNvSpPr/>
          <p:nvPr/>
        </p:nvSpPr>
        <p:spPr>
          <a:xfrm>
            <a:off x="566928" y="2459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51176"/>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a:t>
            </a:r>
          </a:p>
        </p:txBody>
      </p:sp>
      <p:sp>
        <p:nvSpPr>
          <p:cNvPr id="21" name="TextBox 20"/>
          <p:cNvSpPr txBox="1"/>
          <p:nvPr/>
        </p:nvSpPr>
        <p:spPr>
          <a:xfrm>
            <a:off x="1672437" y="2551176"/>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vector correcto</a:t>
            </a:r>
          </a:p>
        </p:txBody>
      </p:sp>
      <p:sp>
        <p:nvSpPr>
          <p:cNvPr id="22" name="TextBox 21"/>
          <p:cNvSpPr txBox="1"/>
          <p:nvPr/>
        </p:nvSpPr>
        <p:spPr>
          <a:xfrm>
            <a:off x="4767864" y="2551176"/>
            <a:ext cx="138312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3" name="TextBox 22"/>
          <p:cNvSpPr txBox="1"/>
          <p:nvPr/>
        </p:nvSpPr>
        <p:spPr>
          <a:xfrm>
            <a:off x="6315577" y="2551176"/>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por compatibilidad con sistemas existentes, y siempre acompañado de un código de autenticación</a:t>
            </a:r>
          </a:p>
        </p:txBody>
      </p:sp>
      <p:sp>
        <p:nvSpPr>
          <p:cNvPr id="24" name="Rectangle 23"/>
          <p:cNvSpPr/>
          <p:nvPr/>
        </p:nvSpPr>
        <p:spPr>
          <a:xfrm>
            <a:off x="566928" y="29995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91037"/>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CTR</a:t>
            </a:r>
          </a:p>
        </p:txBody>
      </p:sp>
      <p:sp>
        <p:nvSpPr>
          <p:cNvPr id="26" name="TextBox 25"/>
          <p:cNvSpPr txBox="1"/>
          <p:nvPr/>
        </p:nvSpPr>
        <p:spPr>
          <a:xfrm>
            <a:off x="1672437" y="3091037"/>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contador único</a:t>
            </a:r>
          </a:p>
        </p:txBody>
      </p:sp>
      <p:sp>
        <p:nvSpPr>
          <p:cNvPr id="27" name="TextBox 26"/>
          <p:cNvSpPr txBox="1"/>
          <p:nvPr/>
        </p:nvSpPr>
        <p:spPr>
          <a:xfrm>
            <a:off x="4767864" y="3091037"/>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8" name="TextBox 27"/>
          <p:cNvSpPr txBox="1"/>
          <p:nvPr/>
        </p:nvSpPr>
        <p:spPr>
          <a:xfrm>
            <a:off x="6315577" y="3091037"/>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necesita acceso aleatorio y se añade autenticación aparte</a:t>
            </a:r>
          </a:p>
        </p:txBody>
      </p:sp>
      <p:sp>
        <p:nvSpPr>
          <p:cNvPr id="29" name="Rectangle 28"/>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66525"/>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GCM</a:t>
            </a:r>
          </a:p>
        </p:txBody>
      </p:sp>
      <p:sp>
        <p:nvSpPr>
          <p:cNvPr id="31" name="TextBox 30"/>
          <p:cNvSpPr txBox="1"/>
          <p:nvPr/>
        </p:nvSpPr>
        <p:spPr>
          <a:xfrm>
            <a:off x="1672437" y="356652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2" name="TextBox 31"/>
          <p:cNvSpPr txBox="1"/>
          <p:nvPr/>
        </p:nvSpPr>
        <p:spPr>
          <a:xfrm>
            <a:off x="4767864" y="3566525"/>
            <a:ext cx="138312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3" name="TextBox 32"/>
          <p:cNvSpPr txBox="1"/>
          <p:nvPr/>
        </p:nvSpPr>
        <p:spPr>
          <a:xfrm>
            <a:off x="6315577" y="3566525"/>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defecto. Es la respuesta correcta mientras no haya un motivo escrito para otra</a:t>
            </a:r>
          </a:p>
        </p:txBody>
      </p:sp>
      <p:sp>
        <p:nvSpPr>
          <p:cNvPr id="34" name="Rectangle 33"/>
          <p:cNvSpPr/>
          <p:nvPr/>
        </p:nvSpPr>
        <p:spPr>
          <a:xfrm>
            <a:off x="566928" y="40149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0698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71563"/>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3898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AUDITA ESTO EN UNA ORGANIZACIÓN</a:t>
            </a:r>
          </a:p>
        </p:txBody>
      </p:sp>
      <p:sp>
        <p:nvSpPr>
          <p:cNvPr id="38" name="TextBox 37"/>
          <p:cNvSpPr txBox="1"/>
          <p:nvPr/>
        </p:nvSpPr>
        <p:spPr>
          <a:xfrm>
            <a:off x="804672" y="4627595"/>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pregunta no es «¿está cifrado?». Son tres: </a:t>
            </a:r>
            <a:r>
              <a:rPr sz="1150" b="1">
                <a:solidFill>
                  <a:srgbClr val="2A2A2A"/>
                </a:solidFill>
                <a:latin typeface="Arial"/>
              </a:rPr>
              <a:t>qué algoritmo, qué modo y de dónde sale el vector de inicialización</a:t>
            </a:r>
            <a:r>
              <a:rPr sz="1150" b="0">
                <a:solidFill>
                  <a:srgbClr val="2A2A2A"/>
                </a:solidFill>
                <a:latin typeface="Arial"/>
              </a:rPr>
              <a:t>. Con esas tres respuestas se sabe si el dato está protegido o solo parece estarlo.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ERRORES QUE SE REPITEN</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Cinco formas de arruinar un cifrado correcto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ERROR 1</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REPETIR EL VECTOR O EL CONTADOR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mismo error del martes con otro disfraz. Si dos mensajes se cifran con la misma llave y el mismo vector, la protección desaparece parcialmente, y en modo CTR desaparece por completo.</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MISMO ERROR DEL CUADERNO DE UN SOLO USO, CON AES</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 modo CTR, con la misma llave y el mismo contador: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C1 = M1 XOR flujo        C2 = M2 XOR flujo</a:t>
            </a:r>
          </a:p>
          <a:p>
            <a:pPr algn="l">
              <a:lnSpc>
                <a:spcPct val="130000"/>
              </a:lnSpc>
              <a:spcAft>
                <a:spcPts val="0"/>
              </a:spcAft>
            </a:pPr>
            <a:r>
              <a:rPr sz="950" b="0">
                <a:solidFill>
                  <a:srgbClr val="000000"/>
                </a:solidFill>
                <a:latin typeface="Consolas"/>
              </a:rPr>
              <a:t>   C1 XOR C2 = M1 XOR M2    ← el flujo desaparece, la llave nunca se usó</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Quien tenga los dos textos cifrados obtiene una relación directa entre</a:t>
            </a:r>
          </a:p>
          <a:p>
            <a:pPr algn="l">
              <a:lnSpc>
                <a:spcPct val="130000"/>
              </a:lnSpc>
              <a:spcAft>
                <a:spcPts val="0"/>
              </a:spcAft>
            </a:pPr>
            <a:r>
              <a:rPr sz="950" b="0">
                <a:solidFill>
                  <a:srgbClr val="000000"/>
                </a:solidFill>
                <a:latin typeface="Consolas"/>
              </a:rPr>
              <a:t>los dos mensajes en claro, sin conocer jamás la llave.</a:t>
            </a:r>
          </a:p>
        </p:txBody>
      </p:sp>
      <p:sp>
        <p:nvSpPr>
          <p:cNvPr id="13" name="Rectangle 12"/>
          <p:cNvSpPr/>
          <p:nvPr/>
        </p:nvSpPr>
        <p:spPr>
          <a:xfrm>
            <a:off x="566928" y="440375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APARECE EN LA VIDA REAL</a:t>
            </a:r>
          </a:p>
        </p:txBody>
      </p:sp>
      <p:sp>
        <p:nvSpPr>
          <p:cNvPr id="15" name="TextBox 14"/>
          <p:cNvSpPr txBox="1"/>
          <p:nvPr/>
        </p:nvSpPr>
        <p:spPr>
          <a:xfrm>
            <a:off x="804672" y="465978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sistemas que generan el vector a partir del identificador del registro, de la fecha, o de un contador que se reinicia cuando el servicio se reinicia. Los tres son predecibles y los tres se repiten.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ERROR 2</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CIFRAR SIN AUTENTICAR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error más frecuente y el menos intuitivo: mucha gente supone que si un dato está cifrado, nadie puede modificarlo de forma útil. Es falso.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GENTE SUPONE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está cifrado y alguien lo altera, al descifrar sale basura y nos damos cuenta.»</a:t>
            </a:r>
          </a:p>
          <a:p>
            <a:pPr algn="l">
              <a:lnSpc>
                <a:spcPct val="128000"/>
              </a:lnSpc>
              <a:spcAft>
                <a:spcPts val="700"/>
              </a:spcAft>
            </a:pPr>
            <a:r>
              <a:rPr sz="1150" b="0">
                <a:solidFill>
                  <a:srgbClr val="000000"/>
                </a:solidFill>
                <a:latin typeface="Arial"/>
              </a:rPr>
              <a:t>En algunos modos sale basura. En otros, no: el atacante puede producir cambios controlados en el texto claro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REALMENTE PASA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modos de flujo como CTR, cambiar un bit del texto cifrado cambia exactamente ese bit del texto claro.</a:t>
            </a:r>
          </a:p>
          <a:p>
            <a:pPr algn="l">
              <a:lnSpc>
                <a:spcPct val="128000"/>
              </a:lnSpc>
              <a:spcAft>
                <a:spcPts val="700"/>
              </a:spcAft>
            </a:pPr>
            <a:r>
              <a:rPr sz="1150" b="0">
                <a:solidFill>
                  <a:srgbClr val="000000"/>
                </a:solidFill>
                <a:latin typeface="Arial"/>
              </a:rPr>
              <a:t>Si el atacante sabe dónde está el campo del monto, puede alterarlo sin descifrar nada.</a:t>
            </a:r>
          </a:p>
          <a:p>
            <a:pPr algn="l">
              <a:lnSpc>
                <a:spcPct val="128000"/>
              </a:lnSpc>
              <a:spcAft>
                <a:spcPts val="700"/>
              </a:spcAft>
            </a:pPr>
            <a:r>
              <a:rPr sz="1150" b="0">
                <a:solidFill>
                  <a:srgbClr val="000000"/>
                </a:solidFill>
                <a:latin typeface="Arial"/>
              </a:rPr>
              <a:t>La solución no es cifrar mejor: es añadir autenticación, o usar un modo que ya la traiga.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ALTERAR UN MONTO SIN CONOCER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el error 2 en un caso concreto: un registro de transferencia cifrado en modo CTR, sin autenticación, y un atacante que conoce el formato del registro pero no la llave.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MANIPULACIÓN CONTROLADA DE UN CIFRADO SIN AUTENTICAR</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VALOR=0000100000      (cien mil pesos)</a:t>
            </a:r>
          </a:p>
          <a:p>
            <a:pPr algn="l">
              <a:lnSpc>
                <a:spcPct val="130000"/>
              </a:lnSpc>
              <a:spcAft>
                <a:spcPts val="0"/>
              </a:spcAft>
            </a:pPr>
            <a:r>
              <a:rPr sz="950" b="0">
                <a:solidFill>
                  <a:srgbClr val="000000"/>
                </a:solidFill>
                <a:latin typeface="Consolas"/>
              </a:rPr>
              <a:t>Cifrado CTR:     cada byte del texto claro XOR un byte del flujo de la llave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atacante sabe que el séptimo byte es el primer dígito del monto.</a:t>
            </a:r>
          </a:p>
          <a:p>
            <a:pPr algn="l">
              <a:lnSpc>
                <a:spcPct val="130000"/>
              </a:lnSpc>
              <a:spcAft>
                <a:spcPts val="0"/>
              </a:spcAft>
            </a:pPr>
            <a:r>
              <a:rPr sz="950" b="0">
                <a:solidFill>
                  <a:srgbClr val="000000"/>
                </a:solidFill>
                <a:latin typeface="Consolas"/>
              </a:rPr>
              <a:t>Calcula  «0» XOR «9» = 0x09  y lo aplica sobre ese byte del CIFRADO.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VALOR=9000100000      (más de nueve mil millones)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No descifró nada. No conoce la llave. El descifrado no reporta ningún error.</a:t>
            </a:r>
          </a:p>
        </p:txBody>
      </p:sp>
      <p:sp>
        <p:nvSpPr>
          <p:cNvPr id="13" name="Rectangle 12"/>
          <p:cNvSpPr/>
          <p:nvPr/>
        </p:nvSpPr>
        <p:spPr>
          <a:xfrm>
            <a:off x="566928" y="4820716"/>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LO HABRÍA IMPEDIDO</a:t>
            </a:r>
          </a:p>
        </p:txBody>
      </p:sp>
      <p:sp>
        <p:nvSpPr>
          <p:cNvPr id="15" name="TextBox 14"/>
          <p:cNvSpPr txBox="1"/>
          <p:nvPr/>
        </p:nvSpPr>
        <p:spPr>
          <a:xfrm>
            <a:off x="804672" y="5076748"/>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GCM, cambiar un solo bit invalida la etiqueta y el registro se rechaza completo. </a:t>
            </a:r>
            <a:r>
              <a:rPr sz="1150" b="1">
                <a:solidFill>
                  <a:srgbClr val="2A2A2A"/>
                </a:solidFill>
                <a:latin typeface="Arial"/>
              </a:rPr>
              <a:t>Con CBC tampoco se evita</a:t>
            </a:r>
            <a:r>
              <a:rPr sz="1150" b="0">
                <a:solidFill>
                  <a:srgbClr val="2A2A2A"/>
                </a:solidFill>
                <a:latin typeface="Arial"/>
              </a:rPr>
              <a:t>: el ataque cambia un poco, pero existe. Por eso la respuesta es cifrado autenticado, no otro modo sin autenticar.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ERROR 3</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EN PRODUCCIÓN: EL CASO ADOBE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2013 se filtró una base de datos con unos 150 millones de registros de usuarios. Las contraseñas no estaban resumidas con una función de una vía: estaban </a:t>
            </a:r>
            <a:r>
              <a:rPr sz="1250" b="1">
                <a:solidFill>
                  <a:srgbClr val="2A2A2A"/>
                </a:solidFill>
                <a:latin typeface="Arial"/>
              </a:rPr>
              <a:t>cifradas</a:t>
            </a:r>
            <a:r>
              <a:rPr sz="1250" b="0">
                <a:solidFill>
                  <a:srgbClr val="2A2A2A"/>
                </a:solidFill>
                <a:latin typeface="Arial"/>
              </a:rPr>
              <a:t> con un algoritmo de bloques en modo ECB y una sola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usuarios con la misma contraseña tenían el mismo texto cifrado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exactamente la propiedad del escudo: bloques iguales producen salidas iguales</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pista de recuperación viajaba en claro</a:t>
            </a:r>
          </a:p>
        </p:txBody>
      </p:sp>
      <p:sp>
        <p:nvSpPr>
          <p:cNvPr id="18" name="TextBox 17"/>
          <p:cNvSpPr txBox="1"/>
          <p:nvPr/>
        </p:nvSpPr>
        <p:spPr>
          <a:xfrm>
            <a:off x="5652272" y="333755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registro incluía la pregunta de recuperación sin cifrar, junto al texto cifrado</a:t>
            </a:r>
          </a:p>
        </p:txBody>
      </p:sp>
      <p:sp>
        <p:nvSpPr>
          <p:cNvPr id="19" name="Rectangle 18"/>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77421"/>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 pudieron deducir contraseñas sin romper el cifrado</a:t>
            </a:r>
          </a:p>
        </p:txBody>
      </p:sp>
      <p:sp>
        <p:nvSpPr>
          <p:cNvPr id="21" name="TextBox 20"/>
          <p:cNvSpPr txBox="1"/>
          <p:nvPr/>
        </p:nvSpPr>
        <p:spPr>
          <a:xfrm>
            <a:off x="5652272" y="387742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Agrupando los textos cifrados repetidos y leyendo las pistas de todo el grupo, la contraseña se deducía por votación</a:t>
            </a:r>
          </a:p>
        </p:txBody>
      </p:sp>
      <p:sp>
        <p:nvSpPr>
          <p:cNvPr id="22" name="Rectangle 21"/>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682459"/>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EL CASO</a:t>
            </a:r>
          </a:p>
        </p:txBody>
      </p:sp>
      <p:sp>
        <p:nvSpPr>
          <p:cNvPr id="26" name="TextBox 25"/>
          <p:cNvSpPr txBox="1"/>
          <p:nvPr/>
        </p:nvSpPr>
        <p:spPr>
          <a:xfrm>
            <a:off x="804672" y="4938491"/>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rompió el algoritmo. La llave nunca se conoció. Y aun así millones de contraseñas quedaron expuestas, por el modo de operación y por haber cifrado algo que nunca debió cifrarse sino resumirse. Eso último lo vemos el martes, con el hallazgo H1 de Coopaburrá.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ERROR 4</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cuarto error no es de algoritmo ni de modo: es de diseño. Usar la misma llave para propósitos distintos convierte cualquier filtración parcial en una filtración total.</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SÍNTOMA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para todos los usuarios</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Comprometer un solo dispositivo compromete a los 142.000</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 la llave de la aplicación móvil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cifrar y para autenticar</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Interacciones entre los dos usos que pueden filtrar información</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todos los entornos</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pruebas, que circula libremente, abre producción</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verificar con la fábrica de software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que nunca cambia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daño de una filtración es retroactivo e ilimitado en el tiempo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desde 2023 y H6 desde 2019</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PRINCIPIO</a:t>
            </a:r>
          </a:p>
        </p:txBody>
      </p:sp>
      <p:sp>
        <p:nvSpPr>
          <p:cNvPr id="34" name="TextBox 33"/>
          <p:cNvSpPr txBox="1"/>
          <p:nvPr/>
        </p:nvSpPr>
        <p:spPr>
          <a:xfrm>
            <a:off x="804672" y="5506151"/>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un propósito, un ámbito y un periodo. Cuando alguna de esas cuatro cosas se comparte, la pregunta sobre qué pasa si la llave se filtra deja de tener una respuesta acotada.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ERROR 5</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LLAVE A LA VISTA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quinto error no es de criptografía sino de dónde termina la llave. En Coopaburrá aparece en tres lugares.</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2" name="TextBox 11"/>
          <p:cNvSpPr txBox="1"/>
          <p:nvPr/>
        </p:nvSpPr>
        <p:spPr>
          <a:xfrm>
            <a:off x="3551803" y="2185415"/>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GRAVE</a:t>
            </a:r>
          </a:p>
        </p:txBody>
      </p:sp>
      <p:sp>
        <p:nvSpPr>
          <p:cNvPr id="13" name="TextBox 12"/>
          <p:cNvSpPr txBox="1"/>
          <p:nvPr/>
        </p:nvSpPr>
        <p:spPr>
          <a:xfrm>
            <a:off x="7863291"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EL CASO</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Escrita en el código fuente</a:t>
            </a:r>
          </a:p>
        </p:txBody>
      </p:sp>
      <p:sp>
        <p:nvSpPr>
          <p:cNvPr id="16" name="TextBox 15"/>
          <p:cNvSpPr txBox="1"/>
          <p:nvPr/>
        </p:nvSpPr>
        <p:spPr>
          <a:xfrm>
            <a:off x="3551803" y="2587751"/>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en el repositorio para siempre, en cada copia</a:t>
            </a:r>
          </a:p>
        </p:txBody>
      </p:sp>
      <p:sp>
        <p:nvSpPr>
          <p:cNvPr id="17" name="TextBox 16"/>
          <p:cNvSpPr txBox="1"/>
          <p:nvPr/>
        </p:nvSpPr>
        <p:spPr>
          <a:xfrm>
            <a:off x="7863291" y="2587751"/>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sal constante de H1, visible para once personas</a:t>
            </a:r>
          </a:p>
        </p:txBody>
      </p:sp>
      <p:sp>
        <p:nvSpPr>
          <p:cNvPr id="18" name="Rectangle 17"/>
          <p:cNvSpPr/>
          <p:nvPr/>
        </p:nvSpPr>
        <p:spPr>
          <a:xfrm>
            <a:off x="566928" y="28986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90087"/>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la línea de comandos</a:t>
            </a:r>
          </a:p>
        </p:txBody>
      </p:sp>
      <p:sp>
        <p:nvSpPr>
          <p:cNvPr id="20" name="TextBox 19"/>
          <p:cNvSpPr txBox="1"/>
          <p:nvPr/>
        </p:nvSpPr>
        <p:spPr>
          <a:xfrm>
            <a:off x="3551803" y="2990087"/>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 cualquiera que liste los procesos mientras corre</a:t>
            </a:r>
          </a:p>
        </p:txBody>
      </p:sp>
      <p:sp>
        <p:nvSpPr>
          <p:cNvPr id="21" name="TextBox 20"/>
          <p:cNvSpPr txBox="1"/>
          <p:nvPr/>
        </p:nvSpPr>
        <p:spPr>
          <a:xfrm>
            <a:off x="7863291" y="2990087"/>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guion de respaldo, cada noche: evidencia C</a:t>
            </a:r>
          </a:p>
        </p:txBody>
      </p:sp>
      <p:sp>
        <p:nvSpPr>
          <p:cNvPr id="22" name="Rectangle 21"/>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92423"/>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un archivo junto al dato</a:t>
            </a:r>
          </a:p>
        </p:txBody>
      </p:sp>
      <p:sp>
        <p:nvSpPr>
          <p:cNvPr id="24" name="TextBox 23"/>
          <p:cNvSpPr txBox="1"/>
          <p:nvPr/>
        </p:nvSpPr>
        <p:spPr>
          <a:xfrm>
            <a:off x="3551803" y="3392423"/>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obtiene el dato obtiene la llave</a:t>
            </a:r>
          </a:p>
        </p:txBody>
      </p:sp>
      <p:sp>
        <p:nvSpPr>
          <p:cNvPr id="25" name="TextBox 24"/>
          <p:cNvSpPr txBox="1"/>
          <p:nvPr/>
        </p:nvSpPr>
        <p:spPr>
          <a:xfrm>
            <a:off x="7863291" y="3392423"/>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llave.txt, en el mismo directorio del respaldo</a:t>
            </a:r>
          </a:p>
        </p:txBody>
      </p:sp>
      <p:sp>
        <p:nvSpPr>
          <p:cNvPr id="26" name="Rectangle 25"/>
          <p:cNvSpPr/>
          <p:nvPr/>
        </p:nvSpPr>
        <p:spPr>
          <a:xfrm>
            <a:off x="566928" y="37033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794759"/>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variables de entorno o registros</a:t>
            </a:r>
          </a:p>
        </p:txBody>
      </p:sp>
      <p:sp>
        <p:nvSpPr>
          <p:cNvPr id="28" name="TextBox 27"/>
          <p:cNvSpPr txBox="1"/>
          <p:nvPr/>
        </p:nvSpPr>
        <p:spPr>
          <a:xfrm>
            <a:off x="3551803" y="3794759"/>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filtra en volcados de error y en monitoreo</a:t>
            </a:r>
          </a:p>
        </p:txBody>
      </p:sp>
      <p:sp>
        <p:nvSpPr>
          <p:cNvPr id="29" name="TextBox 28"/>
          <p:cNvSpPr txBox="1"/>
          <p:nvPr/>
        </p:nvSpPr>
        <p:spPr>
          <a:xfrm>
            <a:off x="7863291" y="3794759"/>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30" name="Rectangle 29"/>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096"/>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el paquete de una aplicación</a:t>
            </a:r>
          </a:p>
        </p:txBody>
      </p:sp>
      <p:sp>
        <p:nvSpPr>
          <p:cNvPr id="32" name="TextBox 31"/>
          <p:cNvSpPr txBox="1"/>
          <p:nvPr/>
        </p:nvSpPr>
        <p:spPr>
          <a:xfrm>
            <a:off x="3551803" y="4197096"/>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la extrae descompilando el paquete</a:t>
            </a:r>
          </a:p>
        </p:txBody>
      </p:sp>
      <p:sp>
        <p:nvSpPr>
          <p:cNvPr id="33" name="TextBox 32"/>
          <p:cNvSpPr txBox="1"/>
          <p:nvPr/>
        </p:nvSpPr>
        <p:spPr>
          <a:xfrm>
            <a:off x="7863291" y="4197096"/>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firma desde 2023: evidencia D</a:t>
            </a:r>
          </a:p>
        </p:txBody>
      </p:sp>
      <p:sp>
        <p:nvSpPr>
          <p:cNvPr id="34" name="Rectangle 33"/>
          <p:cNvSpPr/>
          <p:nvPr/>
        </p:nvSpPr>
        <p:spPr>
          <a:xfrm>
            <a:off x="566928" y="45079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628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4608"/>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8828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DEBE ESTAR</a:t>
            </a:r>
          </a:p>
        </p:txBody>
      </p:sp>
      <p:sp>
        <p:nvSpPr>
          <p:cNvPr id="38" name="TextBox 37"/>
          <p:cNvSpPr txBox="1"/>
          <p:nvPr/>
        </p:nvSpPr>
        <p:spPr>
          <a:xfrm>
            <a:off x="804672" y="5120640"/>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 servicio de gestión de llaves o en un módulo de hardware, al que el proceso se autentica para pedir que se cifre o descifre, </a:t>
            </a:r>
            <a:r>
              <a:rPr sz="1150" b="1">
                <a:solidFill>
                  <a:srgbClr val="2A2A2A"/>
                </a:solidFill>
                <a:latin typeface="Arial"/>
              </a:rPr>
              <a:t>sin que la llave llegue nunca a la memoria de la aplicación</a:t>
            </a:r>
            <a:r>
              <a:rPr sz="1150" b="0">
                <a:solidFill>
                  <a:srgbClr val="2A2A2A"/>
                </a:solidFill>
                <a:latin typeface="Arial"/>
              </a:rPr>
              <a:t>. La llave no se guarda: se pide. Es la sesión 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DEFENSA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MEJOR DEFENSA CONTRA LOS CINCO ERRORES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cinco errores tienen algo en común: son decisiones que alguien tomó mientras programaba. La defensa más efectiva no es capacitar mejor a cada programador, sino quitarle las decisiones.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LA LIBRERÍA</a:t>
            </a:r>
          </a:p>
        </p:txBody>
      </p:sp>
      <p:sp>
        <p:nvSpPr>
          <p:cNvPr id="12" name="TextBox 11"/>
          <p:cNvSpPr txBox="1"/>
          <p:nvPr/>
        </p:nvSpPr>
        <p:spPr>
          <a:xfrm>
            <a:off x="4767864"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DECIDE QUIEN PROGRAMA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ERRORES QUEDAN POSIBLES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Primitivas de bajo nivel</a:t>
            </a:r>
          </a:p>
        </p:txBody>
      </p:sp>
      <p:sp>
        <p:nvSpPr>
          <p:cNvPr id="16" name="TextBox 15"/>
          <p:cNvSpPr txBox="1"/>
          <p:nvPr/>
        </p:nvSpPr>
        <p:spPr>
          <a:xfrm>
            <a:off x="4767864"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el modo, el vector, el relleno y la autenticación</a:t>
            </a:r>
          </a:p>
        </p:txBody>
      </p:sp>
      <p:sp>
        <p:nvSpPr>
          <p:cNvPr id="17" name="TextBox 16"/>
          <p:cNvSpPr txBox="1"/>
          <p:nvPr/>
        </p:nvSpPr>
        <p:spPr>
          <a:xfrm>
            <a:off x="8968800" y="2825495"/>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Los cinco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036344"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autenticado · AES-GCM, ChaCha20-Poly1305</a:t>
            </a:r>
          </a:p>
        </p:txBody>
      </p:sp>
      <p:sp>
        <p:nvSpPr>
          <p:cNvPr id="20" name="TextBox 19"/>
          <p:cNvSpPr txBox="1"/>
          <p:nvPr/>
        </p:nvSpPr>
        <p:spPr>
          <a:xfrm>
            <a:off x="4767864" y="3365357"/>
            <a:ext cx="403634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vector y dónde guardar la etiqueta</a:t>
            </a:r>
          </a:p>
        </p:txBody>
      </p:sp>
      <p:sp>
        <p:nvSpPr>
          <p:cNvPr id="21" name="TextBox 20"/>
          <p:cNvSpPr txBox="1"/>
          <p:nvPr/>
        </p:nvSpPr>
        <p:spPr>
          <a:xfrm>
            <a:off x="8968800" y="3365357"/>
            <a:ext cx="248863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1 y el 5</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Recetas de alto nivel · Fernet, secretbox</a:t>
            </a:r>
          </a:p>
        </p:txBody>
      </p:sp>
      <p:sp>
        <p:nvSpPr>
          <p:cNvPr id="24" name="TextBox 23"/>
          <p:cNvSpPr txBox="1"/>
          <p:nvPr/>
        </p:nvSpPr>
        <p:spPr>
          <a:xfrm>
            <a:off x="4767864" y="387742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pasa la llave y el dato, y la librería resuelve el resto</a:t>
            </a:r>
          </a:p>
        </p:txBody>
      </p:sp>
      <p:sp>
        <p:nvSpPr>
          <p:cNvPr id="25" name="TextBox 24"/>
          <p:cNvSpPr txBox="1"/>
          <p:nvPr/>
        </p:nvSpPr>
        <p:spPr>
          <a:xfrm>
            <a:off x="8968800" y="3877421"/>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el 5: dónde vive la llave</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RECOMENDACIÓN PARA CUALQUIER EQUIPO DE DESARROLLO</a:t>
            </a:r>
          </a:p>
        </p:txBody>
      </p:sp>
      <p:sp>
        <p:nvSpPr>
          <p:cNvPr id="30" name="TextBox 29"/>
          <p:cNvSpPr txBox="1"/>
          <p:nvPr/>
        </p:nvSpPr>
        <p:spPr>
          <a:xfrm>
            <a:off x="804672" y="493849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Usar el nivel más alto que resuelva el problema. </a:t>
            </a:r>
            <a:r>
              <a:rPr sz="1150" b="1">
                <a:solidFill>
                  <a:srgbClr val="2A2A2A"/>
                </a:solidFill>
                <a:latin typeface="Arial"/>
              </a:rPr>
              <a:t>Cada decisión que la librería toma por el programador es un error que el programador ya no puede cometer.</a:t>
            </a:r>
            <a:r>
              <a:rPr sz="1150" b="0">
                <a:solidFill>
                  <a:srgbClr val="2A2A2A"/>
                </a:solidFill>
                <a:latin typeface="Arial"/>
              </a:rPr>
              <a:t> Es lo que van a comprobar en el ejercicio en Python.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TRES ESTADOS DEL DATO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4 · Reposo, tránsito y uso: qué protege cada cifrado y contra quién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UN DATO ESTÁ SIEMPRE EN UNO DE TRES ESTADOS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estado exige un mecanismo distinto, y proteger uno no protege los otros. Confundirlos es exactamente el hallazgo H3 del caso.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277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2008897"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a:t>
            </a:r>
          </a:p>
        </p:txBody>
      </p:sp>
      <p:sp>
        <p:nvSpPr>
          <p:cNvPr id="13" name="TextBox 12"/>
          <p:cNvSpPr txBox="1"/>
          <p:nvPr/>
        </p:nvSpPr>
        <p:spPr>
          <a:xfrm>
            <a:off x="4892835"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4" name="TextBox 13"/>
          <p:cNvSpPr txBox="1"/>
          <p:nvPr/>
        </p:nvSpPr>
        <p:spPr>
          <a:xfrm>
            <a:off x="7776773" y="2185415"/>
            <a:ext cx="36806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CONTRA QUIÉN PROTEGE</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reposo</a:t>
            </a:r>
          </a:p>
        </p:txBody>
      </p:sp>
      <p:sp>
        <p:nvSpPr>
          <p:cNvPr id="17" name="TextBox 16"/>
          <p:cNvSpPr txBox="1"/>
          <p:nvPr/>
        </p:nvSpPr>
        <p:spPr>
          <a:xfrm>
            <a:off x="2008897"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Almacenado en disco, respaldo o archivo</a:t>
            </a:r>
          </a:p>
        </p:txBody>
      </p:sp>
      <p:sp>
        <p:nvSpPr>
          <p:cNvPr id="18" name="TextBox 17"/>
          <p:cNvSpPr txBox="1"/>
          <p:nvPr/>
        </p:nvSpPr>
        <p:spPr>
          <a:xfrm>
            <a:off x="4892835"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de base de datos o de campo</a:t>
            </a:r>
          </a:p>
        </p:txBody>
      </p:sp>
      <p:sp>
        <p:nvSpPr>
          <p:cNvPr id="19" name="TextBox 18"/>
          <p:cNvSpPr txBox="1"/>
          <p:nvPr/>
        </p:nvSpPr>
        <p:spPr>
          <a:xfrm>
            <a:off x="7776773" y="2587751"/>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medio físico o acceda al archivo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277377"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tránsito</a:t>
            </a:r>
          </a:p>
        </p:txBody>
      </p:sp>
      <p:sp>
        <p:nvSpPr>
          <p:cNvPr id="22" name="TextBox 21"/>
          <p:cNvSpPr txBox="1"/>
          <p:nvPr/>
        </p:nvSpPr>
        <p:spPr>
          <a:xfrm>
            <a:off x="2008897"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Viajando por una red</a:t>
            </a:r>
          </a:p>
        </p:txBody>
      </p:sp>
      <p:sp>
        <p:nvSpPr>
          <p:cNvPr id="23" name="TextBox 22"/>
          <p:cNvSpPr txBox="1"/>
          <p:nvPr/>
        </p:nvSpPr>
        <p:spPr>
          <a:xfrm>
            <a:off x="4892835"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Protocolos de canal seguro</a:t>
            </a:r>
          </a:p>
        </p:txBody>
      </p:sp>
      <p:sp>
        <p:nvSpPr>
          <p:cNvPr id="24" name="TextBox 23"/>
          <p:cNvSpPr txBox="1"/>
          <p:nvPr/>
        </p:nvSpPr>
        <p:spPr>
          <a:xfrm>
            <a:off x="7776773" y="3127613"/>
            <a:ext cx="36806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intercepte la comunicación</a:t>
            </a:r>
          </a:p>
        </p:txBody>
      </p:sp>
      <p:sp>
        <p:nvSpPr>
          <p:cNvPr id="25" name="Rectangle 24"/>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21389"/>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uso</a:t>
            </a:r>
          </a:p>
        </p:txBody>
      </p:sp>
      <p:sp>
        <p:nvSpPr>
          <p:cNvPr id="27" name="TextBox 26"/>
          <p:cNvSpPr txBox="1"/>
          <p:nvPr/>
        </p:nvSpPr>
        <p:spPr>
          <a:xfrm>
            <a:off x="2008897"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Cargado en memoria mientras se procesa</a:t>
            </a:r>
          </a:p>
        </p:txBody>
      </p:sp>
      <p:sp>
        <p:nvSpPr>
          <p:cNvPr id="28" name="TextBox 27"/>
          <p:cNvSpPr txBox="1"/>
          <p:nvPr/>
        </p:nvSpPr>
        <p:spPr>
          <a:xfrm>
            <a:off x="4892835"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ejecución aislados; es el estado más difícil</a:t>
            </a:r>
          </a:p>
        </p:txBody>
      </p:sp>
      <p:sp>
        <p:nvSpPr>
          <p:cNvPr id="29" name="TextBox 28"/>
          <p:cNvSpPr txBox="1"/>
          <p:nvPr/>
        </p:nvSpPr>
        <p:spPr>
          <a:xfrm>
            <a:off x="7776773" y="3621389"/>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acceso privilegiado al sistema en ejecución</a:t>
            </a:r>
          </a:p>
        </p:txBody>
      </p:sp>
      <p:sp>
        <p:nvSpPr>
          <p:cNvPr id="30" name="Rectangle 29"/>
          <p:cNvSpPr/>
          <p:nvPr/>
        </p:nvSpPr>
        <p:spPr>
          <a:xfrm>
            <a:off x="566928" y="40698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246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2642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447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MÁS CARO DEL SECTOR</a:t>
            </a:r>
          </a:p>
        </p:txBody>
      </p:sp>
      <p:sp>
        <p:nvSpPr>
          <p:cNvPr id="34" name="TextBox 33"/>
          <p:cNvSpPr txBox="1"/>
          <p:nvPr/>
        </p:nvSpPr>
        <p:spPr>
          <a:xfrm>
            <a:off x="804672" y="468245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«Tenemos cifrado de disco» suele presentarse como si resolviera los tres estados. Resuelve uno, y solo parcialmente: </a:t>
            </a:r>
            <a:r>
              <a:rPr sz="1150" b="1">
                <a:solidFill>
                  <a:srgbClr val="2A2A2A"/>
                </a:solidFill>
                <a:latin typeface="Arial"/>
              </a:rPr>
              <a:t>el disco cifrado únicamente protege mientras el servidor está apagado</a:t>
            </a:r>
            <a:r>
              <a:rPr sz="1150" b="0">
                <a:solidFill>
                  <a:srgbClr val="2A2A2A"/>
                </a:solidFill>
                <a:latin typeface="Arial"/>
              </a:rPr>
              <a:t>. Encendido, el sistema descifra de forma transparente para cualquiera que consulte.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HALLAZGO H3 A LA LUZ DE ESTO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declaró el dato «protegido» en 2019 porque tenía cifrado de disco completo. Con lo que ya sabemos, veamos qué protege realmente y qué 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AMENAZA</a:t>
            </a:r>
          </a:p>
        </p:txBody>
      </p:sp>
      <p:sp>
        <p:nvSpPr>
          <p:cNvPr id="12" name="TextBox 11"/>
          <p:cNvSpPr txBox="1"/>
          <p:nvPr/>
        </p:nvSpPr>
        <p:spPr>
          <a:xfrm>
            <a:off x="4988966"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CIFRADO DE DISCO LA DETIENE?</a:t>
            </a:r>
          </a:p>
        </p:txBody>
      </p:sp>
      <p:sp>
        <p:nvSpPr>
          <p:cNvPr id="13" name="TextBox 12"/>
          <p:cNvSpPr txBox="1"/>
          <p:nvPr/>
        </p:nvSpPr>
        <p:spPr>
          <a:xfrm>
            <a:off x="7863291"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HARÍA FALTA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Robo físico de un servidor apagado</a:t>
            </a:r>
          </a:p>
        </p:txBody>
      </p:sp>
      <p:sp>
        <p:nvSpPr>
          <p:cNvPr id="16" name="TextBox 15"/>
          <p:cNvSpPr txBox="1"/>
          <p:nvPr/>
        </p:nvSpPr>
        <p:spPr>
          <a:xfrm>
            <a:off x="4988966"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17" name="TextBox 16"/>
          <p:cNvSpPr txBox="1"/>
          <p:nvPr/>
        </p:nvSpPr>
        <p:spPr>
          <a:xfrm>
            <a:off x="7863291" y="282549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Aquí el control funciona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disco dado de baja sin borrar</a:t>
            </a:r>
          </a:p>
        </p:txBody>
      </p:sp>
      <p:sp>
        <p:nvSpPr>
          <p:cNvPr id="20" name="TextBox 19"/>
          <p:cNvSpPr txBox="1"/>
          <p:nvPr/>
        </p:nvSpPr>
        <p:spPr>
          <a:xfrm>
            <a:off x="4988966"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21" name="TextBox 20"/>
          <p:cNvSpPr txBox="1"/>
          <p:nvPr/>
        </p:nvSpPr>
        <p:spPr>
          <a:xfrm>
            <a:off x="7863291" y="3246119"/>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si la llave se destruye</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de un empleado con acceso de lectura</a:t>
            </a:r>
          </a:p>
        </p:txBody>
      </p:sp>
      <p:sp>
        <p:nvSpPr>
          <p:cNvPr id="24" name="TextBox 23"/>
          <p:cNvSpPr txBox="1"/>
          <p:nvPr/>
        </p:nvSpPr>
        <p:spPr>
          <a:xfrm>
            <a:off x="4988966" y="3666743"/>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5" name="TextBox 24"/>
          <p:cNvSpPr txBox="1"/>
          <p:nvPr/>
        </p:nvSpPr>
        <p:spPr>
          <a:xfrm>
            <a:off x="7863291" y="36667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enmascaramiento y registro de consultas</a:t>
            </a:r>
          </a:p>
        </p:txBody>
      </p:sp>
      <p:sp>
        <p:nvSpPr>
          <p:cNvPr id="26" name="Rectangle 25"/>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0660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falla en el portal que devuelva datos</a:t>
            </a:r>
          </a:p>
        </p:txBody>
      </p:sp>
      <p:sp>
        <p:nvSpPr>
          <p:cNvPr id="28" name="TextBox 27"/>
          <p:cNvSpPr txBox="1"/>
          <p:nvPr/>
        </p:nvSpPr>
        <p:spPr>
          <a:xfrm>
            <a:off x="4988966" y="420660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9" name="TextBox 28"/>
          <p:cNvSpPr txBox="1"/>
          <p:nvPr/>
        </p:nvSpPr>
        <p:spPr>
          <a:xfrm>
            <a:off x="7863291" y="420660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y control en la aplicación</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Copia de la base hecha por el proveedor del core</a:t>
            </a:r>
          </a:p>
        </p:txBody>
      </p:sp>
      <p:sp>
        <p:nvSpPr>
          <p:cNvPr id="32" name="TextBox 31"/>
          <p:cNvSpPr txBox="1"/>
          <p:nvPr/>
        </p:nvSpPr>
        <p:spPr>
          <a:xfrm>
            <a:off x="4988966" y="462722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7863291" y="462722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con llave que el proveedor no tenga</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EL INFORME</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Once personas tienen acceso de lectura a la base. ¿Cuántas necesitan ver la cédula y el saldo para hacer su trabajo? </a:t>
            </a:r>
            <a:r>
              <a:rPr sz="1150" b="1">
                <a:solidFill>
                  <a:srgbClr val="2A2A2A"/>
                </a:solidFill>
                <a:latin typeface="Arial"/>
              </a:rPr>
              <a:t>Esa pregunta vale más que cualquier recomendación de algoritmo.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DISCO POR DENTRO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cómo funciona para entender con precisión qué protege. La llave vive en un lugar muy concreto mientras el servidor está encendido.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1" name="TextBox 10"/>
          <p:cNvSpPr txBox="1"/>
          <p:nvPr/>
        </p:nvSpPr>
        <p:spPr>
          <a:xfrm>
            <a:off x="566928"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Cada sector del disco se cifra con AES en modo XTS, pensado para que el cifrado ocupe lo mismo que el dato y cada sector se escriba por separado.</a:t>
            </a:r>
          </a:p>
          <a:p>
            <a:pPr algn="l">
              <a:lnSpc>
                <a:spcPct val="128000"/>
              </a:lnSpc>
              <a:spcAft>
                <a:spcPts val="700"/>
              </a:spcAft>
            </a:pPr>
            <a:r>
              <a:rPr sz="1150" b="0">
                <a:solidFill>
                  <a:srgbClr val="000000"/>
                </a:solidFill>
                <a:latin typeface="Arial"/>
              </a:rPr>
              <a:t>Al encender, la llave se desbloquea con una contraseña, un chip del equipo o un servidor de llaves, y queda cargada en memoria.</a:t>
            </a:r>
          </a:p>
          <a:p>
            <a:pPr algn="l">
              <a:lnSpc>
                <a:spcPct val="128000"/>
              </a:lnSpc>
              <a:spcAft>
                <a:spcPts val="700"/>
              </a:spcAft>
            </a:pPr>
            <a:r>
              <a:rPr sz="1150" b="0">
                <a:solidFill>
                  <a:srgbClr val="000000"/>
                </a:solidFill>
                <a:latin typeface="Arial"/>
              </a:rPr>
              <a:t>Desde ese momento el sistema descifra de forma transparente todo lo que cualquiera lea.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IMPLICA</a:t>
            </a:r>
          </a:p>
        </p:txBody>
      </p:sp>
      <p:sp>
        <p:nvSpPr>
          <p:cNvPr id="13" name="TextBox 12"/>
          <p:cNvSpPr txBox="1"/>
          <p:nvPr/>
        </p:nvSpPr>
        <p:spPr>
          <a:xfrm>
            <a:off x="6368796"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hay control de quién lee: el disco no distingue a un administrador de un atacante con sesión en el servidor.</a:t>
            </a:r>
          </a:p>
          <a:p>
            <a:pPr algn="l">
              <a:lnSpc>
                <a:spcPct val="128000"/>
              </a:lnSpc>
              <a:spcAft>
                <a:spcPts val="700"/>
              </a:spcAft>
            </a:pPr>
            <a:r>
              <a:rPr sz="1150" b="0">
                <a:solidFill>
                  <a:srgbClr val="000000"/>
                </a:solidFill>
                <a:latin typeface="Arial"/>
              </a:rPr>
              <a:t>XTS no autentica: una alteración del disco no se detecta, solo produce datos corruptos.</a:t>
            </a:r>
          </a:p>
          <a:p>
            <a:pPr algn="l">
              <a:lnSpc>
                <a:spcPct val="128000"/>
              </a:lnSpc>
              <a:spcAft>
                <a:spcPts val="700"/>
              </a:spcAft>
            </a:pPr>
            <a:r>
              <a:rPr sz="1150" b="0">
                <a:solidFill>
                  <a:srgbClr val="000000"/>
                </a:solidFill>
                <a:latin typeface="Arial"/>
              </a:rPr>
              <a:t>La llave en memoria se puede extraer de un equipo encendido o recién apagado: está documentado desde 2008.</a:t>
            </a:r>
          </a:p>
        </p:txBody>
      </p:sp>
      <p:sp>
        <p:nvSpPr>
          <p:cNvPr id="14" name="Rectangle 13"/>
          <p:cNvSpPr/>
          <p:nvPr/>
        </p:nvSpPr>
        <p:spPr>
          <a:xfrm>
            <a:off x="6085332" y="2304287"/>
            <a:ext cx="9144" cy="21945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7548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7731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 DE H3</a:t>
            </a:r>
          </a:p>
        </p:txBody>
      </p:sp>
      <p:sp>
        <p:nvSpPr>
          <p:cNvPr id="17" name="TextBox 16"/>
          <p:cNvSpPr txBox="1"/>
          <p:nvPr/>
        </p:nvSpPr>
        <p:spPr>
          <a:xfrm>
            <a:off x="804672" y="50109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de disco de Coopaburrá es un control contra el robo del medio físico, y funciona para eso. </a:t>
            </a:r>
            <a:r>
              <a:rPr sz="1150" b="1">
                <a:solidFill>
                  <a:srgbClr val="2A2A2A"/>
                </a:solidFill>
                <a:latin typeface="Arial"/>
              </a:rPr>
              <a:t>No es un control de acceso a los datos</a:t>
            </a:r>
            <a:r>
              <a:rPr sz="1150" b="0">
                <a:solidFill>
                  <a:srgbClr val="2A2A2A"/>
                </a:solidFill>
                <a:latin typeface="Arial"/>
              </a:rPr>
              <a:t>, y el informe de 2019 lo presentó como si lo fuera.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OPCIONES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TRES FORMAS DE CIFRAR UNA BASE DE DATOS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recomendación para el hallazgo H3 va a ser una de estas tres, y la diferencia entre ellas es quién puede ver el dato en claro.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32529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3056814" y="2185415"/>
            <a:ext cx="34208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642251" y="2185415"/>
            <a:ext cx="3819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VE EL DATO EN CLARO</a:t>
            </a:r>
          </a:p>
        </p:txBody>
      </p:sp>
      <p:sp>
        <p:nvSpPr>
          <p:cNvPr id="14" name="TextBox 13"/>
          <p:cNvSpPr txBox="1"/>
          <p:nvPr/>
        </p:nvSpPr>
        <p:spPr>
          <a:xfrm>
            <a:off x="10626069" y="2185415"/>
            <a:ext cx="83136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COSTO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transparente</a:t>
            </a:r>
          </a:p>
        </p:txBody>
      </p:sp>
      <p:sp>
        <p:nvSpPr>
          <p:cNvPr id="17" name="TextBox 16"/>
          <p:cNvSpPr txBox="1"/>
          <p:nvPr/>
        </p:nvSpPr>
        <p:spPr>
          <a:xfrm>
            <a:off x="3056814" y="2587751"/>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los archivos. La aplicación no se entera</a:t>
            </a:r>
          </a:p>
        </p:txBody>
      </p:sp>
      <p:sp>
        <p:nvSpPr>
          <p:cNvPr id="18" name="TextBox 17"/>
          <p:cNvSpPr txBox="1"/>
          <p:nvPr/>
        </p:nvSpPr>
        <p:spPr>
          <a:xfrm>
            <a:off x="6642251" y="2587751"/>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consulte la base, incluido el administrador y el proveedor</a:t>
            </a:r>
          </a:p>
        </p:txBody>
      </p:sp>
      <p:sp>
        <p:nvSpPr>
          <p:cNvPr id="19" name="TextBox 18"/>
          <p:cNvSpPr txBox="1"/>
          <p:nvPr/>
        </p:nvSpPr>
        <p:spPr>
          <a:xfrm>
            <a:off x="10626069" y="2587751"/>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Bajo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por columna</a:t>
            </a:r>
          </a:p>
        </p:txBody>
      </p:sp>
      <p:sp>
        <p:nvSpPr>
          <p:cNvPr id="22" name="TextBox 21"/>
          <p:cNvSpPr txBox="1"/>
          <p:nvPr/>
        </p:nvSpPr>
        <p:spPr>
          <a:xfrm>
            <a:off x="3056814" y="3127613"/>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solo ciertos campos con llaves separadas</a:t>
            </a:r>
          </a:p>
        </p:txBody>
      </p:sp>
      <p:sp>
        <p:nvSpPr>
          <p:cNvPr id="23" name="TextBox 22"/>
          <p:cNvSpPr txBox="1"/>
          <p:nvPr/>
        </p:nvSpPr>
        <p:spPr>
          <a:xfrm>
            <a:off x="6642251" y="3127613"/>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permiso sobre esa llave, no todo el que consulte</a:t>
            </a:r>
          </a:p>
        </p:txBody>
      </p:sp>
      <p:sp>
        <p:nvSpPr>
          <p:cNvPr id="24" name="TextBox 23"/>
          <p:cNvSpPr txBox="1"/>
          <p:nvPr/>
        </p:nvSpPr>
        <p:spPr>
          <a:xfrm>
            <a:off x="10626069" y="3127613"/>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Medio</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Cifrado en la aplicación</a:t>
            </a:r>
          </a:p>
        </p:txBody>
      </p:sp>
      <p:sp>
        <p:nvSpPr>
          <p:cNvPr id="27" name="TextBox 26"/>
          <p:cNvSpPr txBox="1"/>
          <p:nvPr/>
        </p:nvSpPr>
        <p:spPr>
          <a:xfrm>
            <a:off x="3056814" y="3667475"/>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llega ya cifrado al motor; la llave nunca está en la base</a:t>
            </a:r>
          </a:p>
        </p:txBody>
      </p:sp>
      <p:sp>
        <p:nvSpPr>
          <p:cNvPr id="28" name="TextBox 27"/>
          <p:cNvSpPr txBox="1"/>
          <p:nvPr/>
        </p:nvSpPr>
        <p:spPr>
          <a:xfrm>
            <a:off x="6642251" y="3667475"/>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la aplicación. Ni el administrador ni el proveedor</a:t>
            </a:r>
          </a:p>
        </p:txBody>
      </p:sp>
      <p:sp>
        <p:nvSpPr>
          <p:cNvPr id="29" name="TextBox 28"/>
          <p:cNvSpPr txBox="1"/>
          <p:nvPr/>
        </p:nvSpPr>
        <p:spPr>
          <a:xfrm>
            <a:off x="10626069" y="3667475"/>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Alto</a:t>
            </a:r>
          </a:p>
        </p:txBody>
      </p:sp>
      <p:sp>
        <p:nvSpPr>
          <p:cNvPr id="30" name="Rectangle 29"/>
          <p:cNvSpPr/>
          <p:nvPr/>
        </p:nvSpPr>
        <p:spPr>
          <a:xfrm>
            <a:off x="566928" y="41158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7076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72513"/>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9080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RESTRICCIÓN DEL CASO</a:t>
            </a:r>
          </a:p>
        </p:txBody>
      </p:sp>
      <p:sp>
        <p:nvSpPr>
          <p:cNvPr id="34" name="TextBox 33"/>
          <p:cNvSpPr txBox="1"/>
          <p:nvPr/>
        </p:nvSpPr>
        <p:spPr>
          <a:xfrm>
            <a:off x="804672" y="4728545"/>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contrato con el proveedor del core dice que </a:t>
            </a:r>
            <a:r>
              <a:rPr sz="1150" b="1">
                <a:solidFill>
                  <a:srgbClr val="2A2A2A"/>
                </a:solidFill>
                <a:latin typeface="Arial"/>
              </a:rPr>
              <a:t>cualquier cambio en el esquema de datos se cotiza aparte y requiere su aprobación</a:t>
            </a:r>
            <a:r>
              <a:rPr sz="1150" b="0">
                <a:solidFill>
                  <a:srgbClr val="2A2A2A"/>
                </a:solidFill>
                <a:latin typeface="Arial"/>
              </a:rPr>
              <a:t>. Eso encarece las dos últimas opciones y hay que decirlo en la recomendación.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PATRÓN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CIFRADO EN SOBRE: UNA LLAVE PARA EL DATO, OTRA PARA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patrón que usa toda la industria para cifrar grandes volúmenes, y el que resuelve a la vez la rotación y la custodia. Aparece en cada servicio de llaves y en cada módulo de hardware.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EN SOBRE · ENVELOPE ENCRYPTION</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Para cifrar un registro:</a:t>
            </a:r>
          </a:p>
          <a:p>
            <a:pPr algn="l">
              <a:lnSpc>
                <a:spcPct val="130000"/>
              </a:lnSpc>
              <a:spcAft>
                <a:spcPts val="0"/>
              </a:spcAft>
            </a:pPr>
            <a:r>
              <a:rPr sz="950" b="0">
                <a:solidFill>
                  <a:srgbClr val="000000"/>
                </a:solidFill>
                <a:latin typeface="Consolas"/>
              </a:rPr>
              <a:t>  1. Se genera una llave de datos nueva, al azar                     (DEK)</a:t>
            </a:r>
          </a:p>
          <a:p>
            <a:pPr algn="l">
              <a:lnSpc>
                <a:spcPct val="130000"/>
              </a:lnSpc>
              <a:spcAft>
                <a:spcPts val="0"/>
              </a:spcAft>
            </a:pPr>
            <a:r>
              <a:rPr sz="950" b="0">
                <a:solidFill>
                  <a:srgbClr val="000000"/>
                </a:solidFill>
                <a:latin typeface="Consolas"/>
              </a:rPr>
              <a:t>  2. Se cifra el registro con esa llave, en modo autenticado</a:t>
            </a:r>
          </a:p>
          <a:p>
            <a:pPr algn="l">
              <a:lnSpc>
                <a:spcPct val="130000"/>
              </a:lnSpc>
              <a:spcAft>
                <a:spcPts val="0"/>
              </a:spcAft>
            </a:pPr>
            <a:r>
              <a:rPr sz="950" b="0">
                <a:solidFill>
                  <a:srgbClr val="000000"/>
                </a:solidFill>
                <a:latin typeface="Consolas"/>
              </a:rPr>
              <a:t>  3. Se cifra la llave de datos con la llave maestra                 (KEK)</a:t>
            </a:r>
          </a:p>
          <a:p>
            <a:pPr algn="l">
              <a:lnSpc>
                <a:spcPct val="130000"/>
              </a:lnSpc>
              <a:spcAft>
                <a:spcPts val="0"/>
              </a:spcAft>
            </a:pPr>
            <a:r>
              <a:rPr sz="950" b="0">
                <a:solidFill>
                  <a:srgbClr val="000000"/>
                </a:solidFill>
                <a:latin typeface="Consolas"/>
              </a:rPr>
              <a:t>  4. Se guarda, junto al registro, la llave de datos YA CIFRADA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llave maestra nunca sale del módulo de hardware ni del servicio de llaves.</a:t>
            </a:r>
          </a:p>
          <a:p>
            <a:pPr algn="l">
              <a:lnSpc>
                <a:spcPct val="130000"/>
              </a:lnSpc>
              <a:spcAft>
                <a:spcPts val="0"/>
              </a:spcAft>
            </a:pPr>
            <a:r>
              <a:rPr sz="950" b="0">
                <a:solidFill>
                  <a:srgbClr val="000000"/>
                </a:solidFill>
                <a:latin typeface="Consolas"/>
              </a:rPr>
              <a:t>Rotarla significa volver a cifrar llaves pequeñas, no 2,3 TB de datos.</a:t>
            </a:r>
          </a:p>
        </p:txBody>
      </p:sp>
      <p:sp>
        <p:nvSpPr>
          <p:cNvPr id="13" name="Rectangle 12"/>
          <p:cNvSpPr/>
          <p:nvPr/>
        </p:nvSpPr>
        <p:spPr>
          <a:xfrm>
            <a:off x="566928" y="46122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RESUELVE LO QUE PARECÍA IMPOSIBLE</a:t>
            </a:r>
          </a:p>
        </p:txBody>
      </p:sp>
      <p:sp>
        <p:nvSpPr>
          <p:cNvPr id="15" name="TextBox 14"/>
          <p:cNvSpPr txBox="1"/>
          <p:nvPr/>
        </p:nvSpPr>
        <p:spPr>
          <a:xfrm>
            <a:off x="804672" y="48682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que importa vive en un solo lugar protegido, y las miles de llaves de datos pueden estar al lado del dato porque están cifradas. </a:t>
            </a:r>
            <a:r>
              <a:rPr sz="1150" b="1">
                <a:solidFill>
                  <a:srgbClr val="2A2A2A"/>
                </a:solidFill>
                <a:latin typeface="Arial"/>
              </a:rPr>
              <a:t>Es la respuesta al problema de rotación de la diapositiva siguiente</a:t>
            </a:r>
            <a:r>
              <a:rPr sz="1150" b="0">
                <a:solidFill>
                  <a:srgbClr val="2A2A2A"/>
                </a:solidFill>
                <a:latin typeface="Arial"/>
              </a:rPr>
              <a:t> y la base de la jerarquía de llaves de la sesión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CONSULTA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BUSCA SOBRE UN DATO CIFRADO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problema práctico que tumba más proyectos de cifrado de campo. Si cada cifrado de la misma cédula es distinto, ¿cómo se encuentra a un asociado por su cédula?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TÉCNICA</a:t>
            </a:r>
          </a:p>
        </p:txBody>
      </p:sp>
      <p:sp>
        <p:nvSpPr>
          <p:cNvPr id="12" name="TextBox 11"/>
          <p:cNvSpPr txBox="1"/>
          <p:nvPr/>
        </p:nvSpPr>
        <p:spPr>
          <a:xfrm>
            <a:off x="3662354"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PERMITE BUSCAR</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con vector aleatorio</a:t>
            </a:r>
          </a:p>
        </p:txBody>
      </p:sp>
      <p:sp>
        <p:nvSpPr>
          <p:cNvPr id="16" name="TextBox 15"/>
          <p:cNvSpPr txBox="1"/>
          <p:nvPr/>
        </p:nvSpPr>
        <p:spPr>
          <a:xfrm>
            <a:off x="3662354"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permite: cada cifrado de la misma cédula es distinto</a:t>
            </a:r>
          </a:p>
        </p:txBody>
      </p:sp>
      <p:sp>
        <p:nvSpPr>
          <p:cNvPr id="17" name="TextBox 16"/>
          <p:cNvSpPr txBox="1"/>
          <p:nvPr/>
        </p:nvSpPr>
        <p:spPr>
          <a:xfrm>
            <a:off x="7973842" y="2825495"/>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lo más seguro y lo menos útil para consultar</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determinista</a:t>
            </a:r>
          </a:p>
        </p:txBody>
      </p:sp>
      <p:sp>
        <p:nvSpPr>
          <p:cNvPr id="20" name="TextBox 19"/>
          <p:cNvSpPr txBox="1"/>
          <p:nvPr/>
        </p:nvSpPr>
        <p:spPr>
          <a:xfrm>
            <a:off x="3662354"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cédula produce siempre el mismo cifrado</a:t>
            </a:r>
          </a:p>
        </p:txBody>
      </p:sp>
      <p:sp>
        <p:nvSpPr>
          <p:cNvPr id="21" name="TextBox 20"/>
          <p:cNvSpPr txBox="1"/>
          <p:nvPr/>
        </p:nvSpPr>
        <p:spPr>
          <a:xfrm>
            <a:off x="7973842" y="336535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registros comparten valor: el problema del escudo, en pequeño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Índice ciego</a:t>
            </a:r>
          </a:p>
        </p:txBody>
      </p:sp>
      <p:sp>
        <p:nvSpPr>
          <p:cNvPr id="24" name="TextBox 23"/>
          <p:cNvSpPr txBox="1"/>
          <p:nvPr/>
        </p:nvSpPr>
        <p:spPr>
          <a:xfrm>
            <a:off x="3662354"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guarda aparte un HMAC de la cédula con otra llave, y se busca por él</a:t>
            </a:r>
          </a:p>
        </p:txBody>
      </p:sp>
      <p:sp>
        <p:nvSpPr>
          <p:cNvPr id="25" name="TextBox 24"/>
          <p:cNvSpPr txBox="1"/>
          <p:nvPr/>
        </p:nvSpPr>
        <p:spPr>
          <a:xfrm>
            <a:off x="7973842" y="390521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Igualdad, y solo a quien tenga la llave del índice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Tokenización</a:t>
            </a:r>
          </a:p>
        </p:txBody>
      </p:sp>
      <p:sp>
        <p:nvSpPr>
          <p:cNvPr id="28" name="TextBox 27"/>
          <p:cNvSpPr txBox="1"/>
          <p:nvPr/>
        </p:nvSpPr>
        <p:spPr>
          <a:xfrm>
            <a:off x="3662354"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se reemplaza por un sustituto sin relación matemática con él</a:t>
            </a:r>
          </a:p>
        </p:txBody>
      </p:sp>
      <p:sp>
        <p:nvSpPr>
          <p:cNvPr id="29" name="TextBox 28"/>
          <p:cNvSpPr txBox="1"/>
          <p:nvPr/>
        </p:nvSpPr>
        <p:spPr>
          <a:xfrm>
            <a:off x="7973842" y="4445081"/>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del dato original. Se ve en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DECISIÓN PARA EL HALLAZGO H3</a:t>
            </a:r>
          </a:p>
        </p:txBody>
      </p:sp>
      <p:sp>
        <p:nvSpPr>
          <p:cNvPr id="34" name="TextBox 33"/>
          <p:cNvSpPr txBox="1"/>
          <p:nvPr/>
        </p:nvSpPr>
        <p:spPr>
          <a:xfrm>
            <a:off x="804672" y="550615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cédula de los 142.000 asociados se consulta todo el día. </a:t>
            </a:r>
            <a:r>
              <a:rPr sz="1150" b="1">
                <a:solidFill>
                  <a:srgbClr val="2A2A2A"/>
                </a:solidFill>
                <a:latin typeface="Arial"/>
              </a:rPr>
              <a:t>Cifrarla sin prever cómo se va a buscar es la forma más rápida de que el proyecto se cancele por rendimiento.</a:t>
            </a:r>
            <a:r>
              <a:rPr sz="1150" b="0">
                <a:solidFill>
                  <a:srgbClr val="2A2A2A"/>
                </a:solidFill>
                <a:latin typeface="Arial"/>
              </a:rPr>
              <a:t> La entrega 2 tiene que decir qué técnica y por qué.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FRONTERA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DATOS EN USO: EL ESTADO MÁS DIFÍCIL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procesar un dato hay que descifrarlo, y en ese instante está en claro en la memoria. Dos tecnologías atacan ese problema, y conviene conocerlas para evaluar lo que prometen los proveedores.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ENTORNOS DE EJECUCIÓN CONFIABLES</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procesador cifra la memoria de un proceso o de una máquina virtual completa, de modo que ni el administrador del servidor ni el de la nube pueden leerla.</a:t>
            </a:r>
          </a:p>
          <a:p>
            <a:pPr algn="l">
              <a:lnSpc>
                <a:spcPct val="128000"/>
              </a:lnSpc>
              <a:spcAft>
                <a:spcPts val="700"/>
              </a:spcAft>
            </a:pPr>
            <a:r>
              <a:rPr sz="1150" b="0">
                <a:solidFill>
                  <a:srgbClr val="000000"/>
                </a:solidFill>
                <a:latin typeface="Arial"/>
              </a:rPr>
              <a:t>Incluyen atestación: una prueba firmada de qué código corre dentro.</a:t>
            </a:r>
          </a:p>
          <a:p>
            <a:pPr algn="l">
              <a:lnSpc>
                <a:spcPct val="128000"/>
              </a:lnSpc>
              <a:spcAft>
                <a:spcPts val="700"/>
              </a:spcAft>
            </a:pPr>
            <a:r>
              <a:rPr sz="1150" b="0">
                <a:solidFill>
                  <a:srgbClr val="000000"/>
                </a:solidFill>
                <a:latin typeface="Arial"/>
              </a:rPr>
              <a:t>Maduros y disponibles hoy en los principales proveedores de nube.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CIFRADO HOMOMÓRFICO</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Permite operar sobre datos cifrados sin descifrarlos nunca: sumar saldos cifrados y obtener la suma cifrada.</a:t>
            </a:r>
          </a:p>
          <a:p>
            <a:pPr algn="l">
              <a:lnSpc>
                <a:spcPct val="128000"/>
              </a:lnSpc>
              <a:spcAft>
                <a:spcPts val="700"/>
              </a:spcAft>
            </a:pPr>
            <a:r>
              <a:rPr sz="1150" b="0">
                <a:solidFill>
                  <a:srgbClr val="000000"/>
                </a:solidFill>
                <a:latin typeface="Arial"/>
              </a:rPr>
              <a:t>Existe y funciona desde 2009, pero es órdenes de magnitud más lento que operar en claro.</a:t>
            </a:r>
          </a:p>
          <a:p>
            <a:pPr algn="l">
              <a:lnSpc>
                <a:spcPct val="128000"/>
              </a:lnSpc>
              <a:spcAft>
                <a:spcPts val="700"/>
              </a:spcAft>
            </a:pPr>
            <a:r>
              <a:rPr sz="1150" b="0">
                <a:solidFill>
                  <a:srgbClr val="000000"/>
                </a:solidFill>
                <a:latin typeface="Arial"/>
              </a:rPr>
              <a:t>Útil en casos específicos de analítica. No es una solución general todavía.</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SIGNIFICA PARA EL CASO</a:t>
            </a:r>
          </a:p>
        </p:txBody>
      </p:sp>
      <p:sp>
        <p:nvSpPr>
          <p:cNvPr id="17" name="TextBox 16"/>
          <p:cNvSpPr txBox="1"/>
          <p:nvPr/>
        </p:nvSpPr>
        <p:spPr>
          <a:xfrm>
            <a:off x="804672" y="478231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dos es prioridad para Coopaburrá: su problema está en el dato en reposo y en quién consulta. </a:t>
            </a:r>
            <a:r>
              <a:rPr sz="1150" b="1">
                <a:solidFill>
                  <a:srgbClr val="2A2A2A"/>
                </a:solidFill>
                <a:latin typeface="Arial"/>
              </a:rPr>
              <a:t>Pero si un proveedor ofrece «cifrado en todo momento», ya saben qué preguntar</a:t>
            </a:r>
            <a:r>
              <a:rPr sz="1150" b="0">
                <a:solidFill>
                  <a:srgbClr val="2A2A2A"/>
                </a:solidFill>
                <a:latin typeface="Arial"/>
              </a:rPr>
              <a:t>: con qué tecnología, y qué pasa con el dato mientras se procesa.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OTRO LADO: PERDER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Cifrar bien introduce un riesgo nuevo que casi nadie evalúa. Si la llave se pierde, el dato se pierde, y eso es un problema de disponibilidad, que ustedes ya trabajaron en continuidad.</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PIERDE LA LLAVE</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dato cifrado es indistinguible de ruido. No hay soporte técnico ni proveedor que lo recupere.</a:t>
            </a:r>
          </a:p>
          <a:p>
            <a:pPr algn="l">
              <a:lnSpc>
                <a:spcPct val="128000"/>
              </a:lnSpc>
              <a:spcAft>
                <a:spcPts val="700"/>
              </a:spcAft>
            </a:pPr>
            <a:r>
              <a:rPr sz="1150" b="0">
                <a:solidFill>
                  <a:srgbClr val="000000"/>
                </a:solidFill>
                <a:latin typeface="Arial"/>
              </a:rPr>
              <a:t>Para 142.000 asociados y 2,3 TB, eso no es un incidente: es el fin de la operación.</a:t>
            </a:r>
          </a:p>
          <a:p>
            <a:pPr algn="l">
              <a:lnSpc>
                <a:spcPct val="128000"/>
              </a:lnSpc>
              <a:spcAft>
                <a:spcPts val="700"/>
              </a:spcAft>
            </a:pPr>
            <a:r>
              <a:rPr sz="1150" b="0">
                <a:solidFill>
                  <a:srgbClr val="000000"/>
                </a:solidFill>
                <a:latin typeface="Arial"/>
              </a:rPr>
              <a:t>Un respaldo cifrado cuya llave se perdió es un archivo inútil que ocupa espacio.</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MANEJA</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Custodia con al menos dos personas y doble control, de modo que ninguna pueda actuar sola ni perder la única copia.</a:t>
            </a:r>
          </a:p>
          <a:p>
            <a:pPr algn="l">
              <a:lnSpc>
                <a:spcPct val="128000"/>
              </a:lnSpc>
              <a:spcAft>
                <a:spcPts val="700"/>
              </a:spcAft>
            </a:pPr>
            <a:r>
              <a:rPr sz="1150" b="0">
                <a:solidFill>
                  <a:srgbClr val="000000"/>
                </a:solidFill>
                <a:latin typeface="Arial"/>
              </a:rPr>
              <a:t>Copia de resguardo de la llave, guardada en un lugar distinto al dato que protege.</a:t>
            </a:r>
          </a:p>
          <a:p>
            <a:pPr algn="l">
              <a:lnSpc>
                <a:spcPct val="128000"/>
              </a:lnSpc>
              <a:spcAft>
                <a:spcPts val="700"/>
              </a:spcAft>
            </a:pPr>
            <a:r>
              <a:rPr sz="1150" b="0">
                <a:solidFill>
                  <a:srgbClr val="000000"/>
                </a:solidFill>
                <a:latin typeface="Arial"/>
              </a:rPr>
              <a:t>Procedimiento de recuperación probado, no solo documentado.</a:t>
            </a:r>
          </a:p>
        </p:txBody>
      </p:sp>
      <p:sp>
        <p:nvSpPr>
          <p:cNvPr id="16" name="Rectangle 15"/>
          <p:cNvSpPr/>
          <p:nvPr/>
        </p:nvSpPr>
        <p:spPr>
          <a:xfrm>
            <a:off x="566928" y="449884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171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IRONÍA DEL HALLAZGO H4</a:t>
            </a:r>
          </a:p>
        </p:txBody>
      </p:sp>
      <p:sp>
        <p:nvSpPr>
          <p:cNvPr id="18" name="TextBox 17"/>
          <p:cNvSpPr txBox="1"/>
          <p:nvPr/>
        </p:nvSpPr>
        <p:spPr>
          <a:xfrm>
            <a:off x="804672" y="475487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 llave junto al respaldo, lo cual anula la protección. Pero guardarla lejos sin un procedimiento de custodia produce el riesgo contrario: perderla y quedarse sin respaldos. </a:t>
            </a:r>
            <a:r>
              <a:rPr sz="1150" b="1">
                <a:solidFill>
                  <a:srgbClr val="2A2A2A"/>
                </a:solidFill>
                <a:latin typeface="Arial"/>
              </a:rPr>
              <a:t>La respuesta correcta no es esconder la llave: es administrarla.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RESPALDO CIFRADO BIEN HECHO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todo lo de hoy ya se puede describir cómo debería ser el respaldo de Coopaburrá. Es, en la práctica, el esqueleto de la recomendación para H4 en la entrega 2.</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de datos nueva por cada respaldo, generada al azar</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derivada de una contraseña con la opción que usa la evidencia C.</a:t>
            </a:r>
          </a:p>
        </p:txBody>
      </p:sp>
      <p:sp>
        <p:nvSpPr>
          <p:cNvPr id="13" name="TextBox 12"/>
          <p:cNvSpPr txBox="1"/>
          <p:nvPr/>
        </p:nvSpPr>
        <p:spPr>
          <a:xfrm>
            <a:off x="566928" y="304495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632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Cifrado autenticado del archivo completo</a:t>
            </a:r>
          </a:p>
        </p:txBody>
      </p:sp>
      <p:sp>
        <p:nvSpPr>
          <p:cNvPr id="15" name="TextBox 14"/>
          <p:cNvSpPr txBox="1"/>
          <p:nvPr/>
        </p:nvSpPr>
        <p:spPr>
          <a:xfrm>
            <a:off x="1280160" y="330098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una alteración en la bodega de Sabaneta se detecte al restaurar, y no después.</a:t>
            </a:r>
          </a:p>
        </p:txBody>
      </p:sp>
      <p:sp>
        <p:nvSpPr>
          <p:cNvPr id="16" name="TextBox 15"/>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de datos, envuelta por una llave maestra que vive en un servicio de llaves</a:t>
            </a:r>
          </a:p>
        </p:txBody>
      </p:sp>
      <p:sp>
        <p:nvSpPr>
          <p:cNvPr id="18" name="TextBox 17"/>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archivo lleva su llave de datos cifrada; la maestra nunca sale del servicio.</a:t>
            </a:r>
          </a:p>
        </p:txBody>
      </p:sp>
      <p:sp>
        <p:nvSpPr>
          <p:cNvPr id="19" name="TextBox 18"/>
          <p:cNvSpPr txBox="1"/>
          <p:nvPr/>
        </p:nvSpPr>
        <p:spPr>
          <a:xfrm>
            <a:off x="566928" y="443484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531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Restaurar exige una autorización registrada</a:t>
            </a:r>
          </a:p>
        </p:txBody>
      </p:sp>
      <p:sp>
        <p:nvSpPr>
          <p:cNvPr id="21" name="TextBox 20"/>
          <p:cNvSpPr txBox="1"/>
          <p:nvPr/>
        </p:nvSpPr>
        <p:spPr>
          <a:xfrm>
            <a:off x="1280160" y="46908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Quien opera el respaldo no puede descifrarlo solo: separación de funciones.</a:t>
            </a:r>
          </a:p>
        </p:txBody>
      </p:sp>
      <p:sp>
        <p:nvSpPr>
          <p:cNvPr id="22" name="TextBox 21"/>
          <p:cNvSpPr txBox="1"/>
          <p:nvPr/>
        </p:nvSpPr>
        <p:spPr>
          <a:xfrm>
            <a:off x="566928" y="5129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148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Prueba de restauración periódica y documentada</a:t>
            </a:r>
          </a:p>
        </p:txBody>
      </p:sp>
      <p:sp>
        <p:nvSpPr>
          <p:cNvPr id="24" name="TextBox 23"/>
          <p:cNvSpPr txBox="1"/>
          <p:nvPr/>
        </p:nvSpPr>
        <p:spPr>
          <a:xfrm>
            <a:off x="1280160" y="53858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 respaldo que nunca se ha restaurado no es un respaldo: es una esperanza.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SIGNIFICA ROTAR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Rotar suena trivial hasta que se calcula. Es una de las decisiones donde el costo operativo determina el diseño, y por eso conviene pensarlo antes de cifrar, no después.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COOPABURRÁ</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dato hay que volver a cifrar</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2,3 TB en el core, más el histórico de respaldos</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ventana de cuatro horas los domingos, no cabe en una sola noche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puede rotar sin descifrar todo</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si se diseñó con cifrado en sobre: una llave de datos protegida por otra llave</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Rotar la llave externa es inmediato; rotar la interna obliga a volver a cifrar</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pasa con lo ya archivado</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contratos de hipoteca deben seguir legibles veinte años</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conservar las llaves antiguas de forma segura, no destruirlas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autoriza y quién ejecuta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 nadie. No hay custodios ni procedimiento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parte de la política de gestión de llaves de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2</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Modos, la línea de respaldo de Coopaburrá y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CLAVE PARA EL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QUÉ HACE REALMENTE LA OPCIÓN -k</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Necesario para el ejercicio 3. Las herramientas ofrecen dos formas de darles una llave, y no son lo mismo aunque se parezcan en la línea de comandos.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297894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RECIBE</a:t>
            </a:r>
          </a:p>
        </p:txBody>
      </p:sp>
      <p:sp>
        <p:nvSpPr>
          <p:cNvPr id="13" name="TextBox 12"/>
          <p:cNvSpPr txBox="1"/>
          <p:nvPr/>
        </p:nvSpPr>
        <p:spPr>
          <a:xfrm>
            <a:off x="6596980" y="2423159"/>
            <a:ext cx="486045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 CON ESO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-K  mayúscula</a:t>
            </a:r>
          </a:p>
        </p:txBody>
      </p:sp>
      <p:sp>
        <p:nvSpPr>
          <p:cNvPr id="16" name="TextBox 15"/>
          <p:cNvSpPr txBox="1"/>
          <p:nvPr/>
        </p:nvSpPr>
        <p:spPr>
          <a:xfrm>
            <a:off x="2978948" y="2825495"/>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 hexadecimal, exactamente los bits que se van a usar</a:t>
            </a:r>
          </a:p>
        </p:txBody>
      </p:sp>
      <p:sp>
        <p:nvSpPr>
          <p:cNvPr id="17" name="TextBox 16"/>
          <p:cNvSpPr txBox="1"/>
          <p:nvPr/>
        </p:nvSpPr>
        <p:spPr>
          <a:xfrm>
            <a:off x="6596980" y="2825495"/>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usa tal cual. Es lo correcto cuando ya se tiene una llave generada al azar</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-k  minúscula</a:t>
            </a:r>
          </a:p>
        </p:txBody>
      </p:sp>
      <p:sp>
        <p:nvSpPr>
          <p:cNvPr id="20" name="TextBox 19"/>
          <p:cNvSpPr txBox="1"/>
          <p:nvPr/>
        </p:nvSpPr>
        <p:spPr>
          <a:xfrm>
            <a:off x="2978948" y="3392423"/>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contraseña de texto</a:t>
            </a:r>
          </a:p>
        </p:txBody>
      </p:sp>
      <p:sp>
        <p:nvSpPr>
          <p:cNvPr id="21" name="TextBox 20"/>
          <p:cNvSpPr txBox="1"/>
          <p:nvPr/>
        </p:nvSpPr>
        <p:spPr>
          <a:xfrm>
            <a:off x="6596980" y="3392423"/>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pasa por una función de derivación para producir la llave. La calidad depende de esa función y de sus parámetros</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IMPORTA EN EL CASO</a:t>
            </a:r>
          </a:p>
        </p:txBody>
      </p:sp>
      <p:sp>
        <p:nvSpPr>
          <p:cNvPr id="25" name="TextBox 24"/>
          <p:cNvSpPr txBox="1"/>
          <p:nvPr/>
        </p:nvSpPr>
        <p:spPr>
          <a:xfrm>
            <a:off x="566928"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script de Coopaburrá usa la minúscula con el contenido de un archivo.</a:t>
            </a:r>
          </a:p>
          <a:p>
            <a:pPr algn="l">
              <a:lnSpc>
                <a:spcPct val="128000"/>
              </a:lnSpc>
              <a:spcAft>
                <a:spcPts val="700"/>
              </a:spcAft>
            </a:pPr>
            <a:r>
              <a:rPr sz="1150" b="0">
                <a:solidFill>
                  <a:srgbClr val="000000"/>
                </a:solidFill>
                <a:latin typeface="Arial"/>
              </a:rPr>
              <a:t>Es decir: trata una llave que ya era aleatoria como si fuera una contraseña, y la degrada al pasarla por una derivación pensada para otra cosa.</a:t>
            </a:r>
          </a:p>
        </p:txBody>
      </p:sp>
      <p:sp>
        <p:nvSpPr>
          <p:cNvPr id="26" name="TextBox 25"/>
          <p:cNvSpPr txBox="1"/>
          <p:nvPr/>
        </p:nvSpPr>
        <p:spPr>
          <a:xfrm>
            <a:off x="6368796"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SEGUNDA TRAMPA</a:t>
            </a:r>
          </a:p>
        </p:txBody>
      </p:sp>
      <p:sp>
        <p:nvSpPr>
          <p:cNvPr id="27" name="TextBox 26"/>
          <p:cNvSpPr txBox="1"/>
          <p:nvPr/>
        </p:nvSpPr>
        <p:spPr>
          <a:xfrm>
            <a:off x="6368796"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 que se escribe en la línea de comandos queda visible para cualquier usuario que liste los procesos mientras el respaldo corre.</a:t>
            </a:r>
          </a:p>
          <a:p>
            <a:pPr algn="l">
              <a:lnSpc>
                <a:spcPct val="128000"/>
              </a:lnSpc>
              <a:spcAft>
                <a:spcPts val="700"/>
              </a:spcAft>
            </a:pPr>
            <a:r>
              <a:rPr sz="1150" b="0">
                <a:solidFill>
                  <a:srgbClr val="000000"/>
                </a:solidFill>
                <a:latin typeface="Arial"/>
              </a:rPr>
              <a:t>La llave no solo está en un archivo: también se asoma cada noche entre las 11:40 y las 2:15.</a:t>
            </a:r>
          </a:p>
        </p:txBody>
      </p:sp>
      <p:sp>
        <p:nvSpPr>
          <p:cNvPr id="28" name="Rectangle 27"/>
          <p:cNvSpPr/>
          <p:nvPr/>
        </p:nvSpPr>
        <p:spPr>
          <a:xfrm>
            <a:off x="6085332" y="4224527"/>
            <a:ext cx="9144"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Reproducir el escudo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Tomen una imagen con zonas de color uniforme, cífrenla en ECB y en CBC conservando la cabecera, y comparen. Entreguen las dos imágenes y la explicación de la diferencia.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Detectar la manipulación</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Cifren un texto en CTR y en GCM. Alteren un byte del texto cifrado en ambos casos e intenten descifrar. Documenten qué pasa en cada modo y por qué.</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Auditar a Coopaburrá</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Analicen la línea real del script de respaldo del caso, evidencia C. Tiene tres problemas distintos y solo uno es evidente. Encuéntrenlos y propongan la línea corregida.</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 Y CÓMO SE CALIFICA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Se evalúa el análisis, no el resultado: un ejercicio que funcionó sin explicación del porqué vale la mitad que uno que falló con un diagnóstico correcto.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Suficiente para empezar. Lo demás está en la guía de laboratorio que se les entrega.</a:t>
            </a:r>
          </a:p>
        </p:txBody>
      </p:sp>
      <p:sp>
        <p:nvSpPr>
          <p:cNvPr id="10" name="Rectangle 9"/>
          <p:cNvSpPr/>
          <p:nvPr/>
        </p:nvSpPr>
        <p:spPr>
          <a:xfrm>
            <a:off x="566928" y="2066543"/>
            <a:ext cx="11055096" cy="35112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PUNTO DE PARTIDA</a:t>
            </a:r>
          </a:p>
        </p:txBody>
      </p:sp>
      <p:sp>
        <p:nvSpPr>
          <p:cNvPr id="12" name="TextBox 11"/>
          <p:cNvSpPr txBox="1"/>
          <p:nvPr/>
        </p:nvSpPr>
        <p:spPr>
          <a:xfrm>
            <a:off x="768096" y="2395727"/>
            <a:ext cx="10652760" cy="30906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Ejercicio 1 — separar la cabecera y cifrar solo los píxeles (BMP de muestra: escudo-plano.bmp)</a:t>
            </a:r>
          </a:p>
          <a:p>
            <a:pPr algn="l">
              <a:lnSpc>
                <a:spcPct val="130000"/>
              </a:lnSpc>
              <a:spcAft>
                <a:spcPts val="0"/>
              </a:spcAft>
            </a:pPr>
            <a:r>
              <a:rPr sz="950" b="0">
                <a:solidFill>
                  <a:srgbClr val="000000"/>
                </a:solidFill>
                <a:latin typeface="Consolas"/>
              </a:rPr>
              <a:t>head -c 54 escudo-plano.bmp &gt; cab.bin        # la cabecera del BMP son 54 bytes</a:t>
            </a:r>
          </a:p>
          <a:p>
            <a:pPr algn="l">
              <a:lnSpc>
                <a:spcPct val="130000"/>
              </a:lnSpc>
              <a:spcAft>
                <a:spcPts val="0"/>
              </a:spcAft>
            </a:pPr>
            <a:r>
              <a:rPr sz="950" b="0">
                <a:solidFill>
                  <a:srgbClr val="000000"/>
                </a:solidFill>
                <a:latin typeface="Consolas"/>
              </a:rPr>
              <a:t>tail -c +55 escudo-plano.bmp &gt; pix.bin       # el resto son los píxeles</a:t>
            </a:r>
          </a:p>
          <a:p>
            <a:pPr algn="l">
              <a:lnSpc>
                <a:spcPct val="130000"/>
              </a:lnSpc>
              <a:spcAft>
                <a:spcPts val="0"/>
              </a:spcAft>
            </a:pPr>
            <a:r>
              <a:rPr sz="950" b="0">
                <a:solidFill>
                  <a:srgbClr val="000000"/>
                </a:solidFill>
                <a:latin typeface="Consolas"/>
              </a:rPr>
              <a:t>openssl enc -aes-256-ecb -in pix.bin -out ecb.bin -K &lt;llave_hex&gt; -nopad</a:t>
            </a:r>
          </a:p>
          <a:p>
            <a:pPr algn="l">
              <a:lnSpc>
                <a:spcPct val="130000"/>
              </a:lnSpc>
              <a:spcAft>
                <a:spcPts val="0"/>
              </a:spcAft>
            </a:pPr>
            <a:r>
              <a:rPr sz="950" b="0">
                <a:solidFill>
                  <a:srgbClr val="000000"/>
                </a:solidFill>
                <a:latin typeface="Consolas"/>
              </a:rPr>
              <a:t>openssl enc -aes-256-cbc -in pix.bin -out cbc.bin -K &lt;llave_hex&gt; -iv &lt;vi_hex&gt; -nopad</a:t>
            </a:r>
          </a:p>
          <a:p>
            <a:pPr algn="l">
              <a:lnSpc>
                <a:spcPct val="130000"/>
              </a:lnSpc>
              <a:spcAft>
                <a:spcPts val="0"/>
              </a:spcAft>
            </a:pPr>
            <a:r>
              <a:rPr sz="950" b="0">
                <a:solidFill>
                  <a:srgbClr val="000000"/>
                </a:solidFill>
                <a:latin typeface="Consolas"/>
              </a:rPr>
              <a:t>cat cab.bin ecb.bin &gt; escudo-ecb.bmp         # unir cabecera + píxeles para poder abrirlo</a:t>
            </a:r>
          </a:p>
          <a:p>
            <a:pPr algn="l">
              <a:lnSpc>
                <a:spcPct val="130000"/>
              </a:lnSpc>
              <a:spcAft>
                <a:spcPts val="0"/>
              </a:spcAft>
            </a:pPr>
            <a:r>
              <a:rPr sz="950" b="0">
                <a:solidFill>
                  <a:srgbClr val="000000"/>
                </a:solidFill>
                <a:latin typeface="Consolas"/>
              </a:rPr>
              <a:t>cat cab.bin cbc.bin &gt; escudo-cbc.bmp</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 cifrado autenticado frente a cifrado a secas</a:t>
            </a:r>
          </a:p>
          <a:p>
            <a:pPr algn="l">
              <a:lnSpc>
                <a:spcPct val="130000"/>
              </a:lnSpc>
              <a:spcAft>
                <a:spcPts val="0"/>
              </a:spcAft>
            </a:pPr>
            <a:r>
              <a:rPr sz="950" b="0">
                <a:solidFill>
                  <a:srgbClr val="000000"/>
                </a:solidFill>
                <a:latin typeface="Consolas"/>
              </a:rPr>
              <a:t>openssl enc -aes-256-ctr -in datos.txt -out datos.ctr -K &lt;llave_hex&gt; -iv &lt;vi_hex&gt;</a:t>
            </a:r>
          </a:p>
          <a:p>
            <a:pPr algn="l">
              <a:lnSpc>
                <a:spcPct val="130000"/>
              </a:lnSpc>
              <a:spcAft>
                <a:spcPts val="0"/>
              </a:spcAft>
            </a:pPr>
            <a:r>
              <a:rPr sz="950" b="0">
                <a:solidFill>
                  <a:srgbClr val="000000"/>
                </a:solidFill>
                <a:latin typeface="Consolas"/>
              </a:rPr>
              <a:t>#   (para GCM usen la biblioteca del lenguaje: la línea de comandos no lo expone bien)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Generación de llave y vector, como el martes</a:t>
            </a:r>
          </a:p>
          <a:p>
            <a:pPr algn="l">
              <a:lnSpc>
                <a:spcPct val="130000"/>
              </a:lnSpc>
              <a:spcAft>
                <a:spcPts val="0"/>
              </a:spcAft>
            </a:pPr>
            <a:r>
              <a:rPr sz="950" b="0">
                <a:solidFill>
                  <a:srgbClr val="000000"/>
                </a:solidFill>
                <a:latin typeface="Consolas"/>
              </a:rPr>
              <a:t>openssl rand -hex 32     # llave de 256 bits</a:t>
            </a:r>
          </a:p>
          <a:p>
            <a:pPr algn="l">
              <a:lnSpc>
                <a:spcPct val="130000"/>
              </a:lnSpc>
              <a:spcAft>
                <a:spcPts val="0"/>
              </a:spcAft>
            </a:pPr>
            <a:r>
              <a:rPr sz="950" b="0">
                <a:solidFill>
                  <a:srgbClr val="000000"/>
                </a:solidFill>
                <a:latin typeface="Consolas"/>
              </a:rPr>
              <a:t>openssl rand -hex 16     # vector de inicialización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2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2 hecho con la librería cryptography, que es la de referencia en Python: cifrado autenticado, alteración de un byte y verificación de la etiqueta.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PYTHON 3 + CRYPTOGRAPHY</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pip install cryptography</a:t>
            </a:r>
          </a:p>
          <a:p>
            <a:pPr algn="l">
              <a:lnSpc>
                <a:spcPct val="130000"/>
              </a:lnSpc>
              <a:spcAft>
                <a:spcPts val="0"/>
              </a:spcAft>
            </a:pPr>
            <a:r>
              <a:rPr sz="950" b="0">
                <a:solidFill>
                  <a:srgbClr val="000000"/>
                </a:solidFill>
                <a:latin typeface="Consolas"/>
              </a:rPr>
              <a:t>import os</a:t>
            </a:r>
          </a:p>
          <a:p>
            <a:pPr algn="l">
              <a:lnSpc>
                <a:spcPct val="130000"/>
              </a:lnSpc>
              <a:spcAft>
                <a:spcPts val="0"/>
              </a:spcAft>
            </a:pPr>
            <a:r>
              <a:rPr sz="950" b="0">
                <a:solidFill>
                  <a:srgbClr val="000000"/>
                </a:solidFill>
                <a:latin typeface="Consolas"/>
              </a:rPr>
              <a:t>from cryptography.hazmat.primitives.ciphers.aead import AESGCM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llave = AESGCM.generate_key(bit_length=256)</a:t>
            </a:r>
          </a:p>
          <a:p>
            <a:pPr algn="l">
              <a:lnSpc>
                <a:spcPct val="130000"/>
              </a:lnSpc>
              <a:spcAft>
                <a:spcPts val="0"/>
              </a:spcAft>
            </a:pPr>
            <a:r>
              <a:rPr sz="950" b="0">
                <a:solidFill>
                  <a:srgbClr val="000000"/>
                </a:solidFill>
                <a:latin typeface="Consolas"/>
              </a:rPr>
              <a:t>nonce = os.urandom(12)                           # 96 bits, distinto cada vez</a:t>
            </a:r>
          </a:p>
          <a:p>
            <a:pPr algn="l">
              <a:lnSpc>
                <a:spcPct val="130000"/>
              </a:lnSpc>
              <a:spcAft>
                <a:spcPts val="0"/>
              </a:spcAft>
            </a:pPr>
            <a:r>
              <a:rPr sz="950" b="0">
                <a:solidFill>
                  <a:srgbClr val="000000"/>
                </a:solidFill>
                <a:latin typeface="Consolas"/>
              </a:rPr>
              <a:t>c = AESGCM(llave).encrypt(nonce, b"VALOR=0000100000", b"cuenta=4471")</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alterado = bytearray(c); alterado[6] ^= 0x09      # el ataque del error 2</a:t>
            </a:r>
          </a:p>
          <a:p>
            <a:pPr algn="l">
              <a:lnSpc>
                <a:spcPct val="130000"/>
              </a:lnSpc>
              <a:spcAft>
                <a:spcPts val="0"/>
              </a:spcAft>
            </a:pPr>
            <a:r>
              <a:rPr sz="950" b="0">
                <a:solidFill>
                  <a:srgbClr val="000000"/>
                </a:solidFill>
                <a:latin typeface="Consolas"/>
              </a:rPr>
              <a:t>AESGCM(llave).decrypt(nonce, bytes(alterado), b"cuenta=4471")   # → InvalidTag</a:t>
            </a:r>
          </a:p>
        </p:txBody>
      </p:sp>
      <p:sp>
        <p:nvSpPr>
          <p:cNvPr id="13" name="Rectangle 12"/>
          <p:cNvSpPr/>
          <p:nvPr/>
        </p:nvSpPr>
        <p:spPr>
          <a:xfrm>
            <a:off x="566928" y="502920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8523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Repitan el ataque con AES en modo CTR, sin etiqueta: el descifrado entrega «VALOR=9000100000» sin quejarse. </a:t>
            </a:r>
            <a:r>
              <a:rPr sz="1150" b="1">
                <a:solidFill>
                  <a:srgbClr val="2A2A2A"/>
                </a:solidFill>
                <a:latin typeface="Arial"/>
              </a:rPr>
              <a:t>La diferencia entre las dos salidas es la diferencia entre cifrar y proteger.</a:t>
            </a:r>
            <a:r>
              <a:rPr sz="1150" b="0">
                <a:solidFill>
                  <a:srgbClr val="2A2A2A"/>
                </a:solidFill>
                <a:latin typeface="Arial"/>
              </a:rPr>
              <a:t> Y respondan: ¿qué pasaría si el nonce se repitiera en dos registros?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VAN A AUDITAR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Evidencia C del expediente. Es la línea real del programador de tareas de Coopaburrá, la que produce el respaldo diario que viaja a Sabaneta los viernes.</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C · SCRIPT DE RESPALDO DE COOPABURRÁ</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openssl enc -aes-256-cbc -in respaldo_diario.sql -out respaldo_diario.enc \</a:t>
            </a:r>
          </a:p>
          <a:p>
            <a:pPr algn="l">
              <a:lnSpc>
                <a:spcPct val="130000"/>
              </a:lnSpc>
              <a:spcAft>
                <a:spcPts val="0"/>
              </a:spcAft>
            </a:pPr>
            <a:r>
              <a:rPr sz="950" b="0">
                <a:solidFill>
                  <a:srgbClr val="000000"/>
                </a:solidFill>
                <a:latin typeface="Consolas"/>
              </a:rPr>
              <a:t>  -k $(cat /opt/backup/llave.txt)</a:t>
            </a:r>
          </a:p>
        </p:txBody>
      </p:sp>
      <p:sp>
        <p:nvSpPr>
          <p:cNvPr id="13" name="Rectangle 12"/>
          <p:cNvSpPr/>
          <p:nvPr/>
        </p:nvSpPr>
        <p:spPr>
          <a:xfrm>
            <a:off x="566928"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1 · LO EVIDENTE</a:t>
            </a:r>
          </a:p>
        </p:txBody>
      </p:sp>
      <p:sp>
        <p:nvSpPr>
          <p:cNvPr id="15" name="TextBox 14"/>
          <p:cNvSpPr txBox="1"/>
          <p:nvPr/>
        </p:nvSpPr>
        <p:spPr>
          <a:xfrm>
            <a:off x="786384"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¿Dónde está la llave y quién puede leerla? ¿Y qué viaja en el disco que sale de la sede?</a:t>
            </a:r>
          </a:p>
        </p:txBody>
      </p:sp>
      <p:sp>
        <p:nvSpPr>
          <p:cNvPr id="16" name="Rectangle 15"/>
          <p:cNvSpPr/>
          <p:nvPr/>
        </p:nvSpPr>
        <p:spPr>
          <a:xfrm>
            <a:off x="6268212"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2 · LO QUE ESTÁ EN LA OPCIÓN</a:t>
            </a:r>
          </a:p>
        </p:txBody>
      </p:sp>
      <p:sp>
        <p:nvSpPr>
          <p:cNvPr id="18" name="TextBox 17"/>
          <p:cNvSpPr txBox="1"/>
          <p:nvPr/>
        </p:nvSpPr>
        <p:spPr>
          <a:xfrm>
            <a:off x="6487668"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opción usada no es la misma que recibe una llave binaria. Averigüen qué hace exactamente con lo que se le pasa, y qué se deriva de ahí.</a:t>
            </a:r>
          </a:p>
        </p:txBody>
      </p:sp>
      <p:sp>
        <p:nvSpPr>
          <p:cNvPr id="19" name="Rectangle 18"/>
          <p:cNvSpPr/>
          <p:nvPr/>
        </p:nvSpPr>
        <p:spPr>
          <a:xfrm>
            <a:off x="566928" y="4778654"/>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79694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PISTA 3 · LO QUE NO ESTÁ</a:t>
            </a:r>
          </a:p>
        </p:txBody>
      </p:sp>
      <p:sp>
        <p:nvSpPr>
          <p:cNvPr id="21" name="TextBox 20"/>
          <p:cNvSpPr txBox="1"/>
          <p:nvPr/>
        </p:nvSpPr>
        <p:spPr>
          <a:xfrm>
            <a:off x="804672" y="5034686"/>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el modo elegido con la tabla «Cuál usar y cuándo». Si mañana alguien altera el archivo de respaldo en la bodega, ¿la cooperativa se daría cuenta al restaurarlo?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HERRAMIENTA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LISTA PARA AUDITAR CUALQUIER CIFRADO SIMÉTRICO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Consérvenla. Sirve para el informe de Coopaburrá y para el resto de su vida profesional: son las preguntas que hay que hacer frente a cualquier sistema que diga estar cifrado.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algoritmo y qué longitud de llave</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la respuesta es «cifrado» a secas, ahí ya hay un hallazgo.</a:t>
            </a:r>
          </a:p>
        </p:txBody>
      </p:sp>
      <p:sp>
        <p:nvSpPr>
          <p:cNvPr id="13" name="TextBox 12"/>
          <p:cNvSpPr txBox="1"/>
          <p:nvPr/>
        </p:nvSpPr>
        <p:spPr>
          <a:xfrm>
            <a:off x="566928" y="297179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99008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modo de operación</a:t>
            </a:r>
          </a:p>
        </p:txBody>
      </p:sp>
      <p:sp>
        <p:nvSpPr>
          <p:cNvPr id="15" name="TextBox 14"/>
          <p:cNvSpPr txBox="1"/>
          <p:nvPr/>
        </p:nvSpPr>
        <p:spPr>
          <a:xfrm>
            <a:off x="1280160" y="322783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si es CBC o CTR, dónde está la autenticación que les falta.</a:t>
            </a:r>
          </a:p>
        </p:txBody>
      </p:sp>
      <p:sp>
        <p:nvSpPr>
          <p:cNvPr id="16" name="TextBox 15"/>
          <p:cNvSpPr txBox="1"/>
          <p:nvPr/>
        </p:nvSpPr>
        <p:spPr>
          <a:xfrm>
            <a:off x="566928" y="363931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65759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el vector o el contador, y si se repite alguna vez</a:t>
            </a:r>
          </a:p>
        </p:txBody>
      </p:sp>
      <p:sp>
        <p:nvSpPr>
          <p:cNvPr id="18" name="TextBox 17"/>
          <p:cNvSpPr txBox="1"/>
          <p:nvPr/>
        </p:nvSpPr>
        <p:spPr>
          <a:xfrm>
            <a:off x="1280160" y="389534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Debe venir de un generador criptográfico y ser distinto en cada operación.</a:t>
            </a:r>
          </a:p>
        </p:txBody>
      </p:sp>
      <p:sp>
        <p:nvSpPr>
          <p:cNvPr id="19" name="TextBox 18"/>
          <p:cNvSpPr txBox="1"/>
          <p:nvPr/>
        </p:nvSpPr>
        <p:spPr>
          <a:xfrm>
            <a:off x="566928" y="430682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la llave y quién la conoce</a:t>
            </a:r>
          </a:p>
        </p:txBody>
      </p:sp>
      <p:sp>
        <p:nvSpPr>
          <p:cNvPr id="21" name="TextBox 20"/>
          <p:cNvSpPr txBox="1"/>
          <p:nvPr/>
        </p:nvSpPr>
        <p:spPr>
          <a:xfrm>
            <a:off x="1280160" y="456285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Generada al azar o derivada de una contraseña. Cuántas personas y sistemas la tienen.</a:t>
            </a:r>
          </a:p>
        </p:txBody>
      </p:sp>
      <p:sp>
        <p:nvSpPr>
          <p:cNvPr id="22" name="TextBox 21"/>
          <p:cNvSpPr txBox="1"/>
          <p:nvPr/>
        </p:nvSpPr>
        <p:spPr>
          <a:xfrm>
            <a:off x="566928" y="497433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499262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Dónde vive la llave y quién responde por ella</a:t>
            </a:r>
          </a:p>
        </p:txBody>
      </p:sp>
      <p:sp>
        <p:nvSpPr>
          <p:cNvPr id="24" name="TextBox 23"/>
          <p:cNvSpPr txBox="1"/>
          <p:nvPr/>
        </p:nvSpPr>
        <p:spPr>
          <a:xfrm>
            <a:off x="1280160" y="523036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junto al dato que protege. Con nombre y cargo del custodio.</a:t>
            </a:r>
          </a:p>
        </p:txBody>
      </p:sp>
      <p:sp>
        <p:nvSpPr>
          <p:cNvPr id="25" name="TextBox 24"/>
          <p:cNvSpPr txBox="1"/>
          <p:nvPr/>
        </p:nvSpPr>
        <p:spPr>
          <a:xfrm>
            <a:off x="566928" y="5641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06</a:t>
            </a:r>
          </a:p>
        </p:txBody>
      </p:sp>
      <p:sp>
        <p:nvSpPr>
          <p:cNvPr id="26" name="TextBox 25"/>
          <p:cNvSpPr txBox="1"/>
          <p:nvPr/>
        </p:nvSpPr>
        <p:spPr>
          <a:xfrm>
            <a:off x="1280160" y="5660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cuánto se rota y qué pasa si se pierde</a:t>
            </a:r>
          </a:p>
        </p:txBody>
      </p:sp>
      <p:sp>
        <p:nvSpPr>
          <p:cNvPr id="27" name="TextBox 26"/>
          <p:cNvSpPr txBox="1"/>
          <p:nvPr/>
        </p:nvSpPr>
        <p:spPr>
          <a:xfrm>
            <a:off x="1280160" y="5897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no hay respuesta, hay dos hallazgos más.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modo de operación importa más que el algoritmo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AES-256 en ECB deja ver el escudo. El mismo AES-256 en CBC no deja ver nada.</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no es proteger</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sin integridad permite manipulación controlada. Por eso GCM es la respuesta por defecto.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Nunca se repite un vector ni un contador</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error del martes con otro nombre, y en modo de flujo anula el cifrado por completo.</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cifrado de disco protege un solo escenario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servidor apagado. Encendido, los once que consultan la base ven todo en claro.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Para auditar basta con tres preguntas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Qué algoritmo, qué modo, de dónde sale el vector. Con eso se sabe si el dato está protegido o solo lo parece.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SEGUNDA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3: análisis de la protección de datos en reposo y en respaldos, hallazgos H3 y H4.</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 DEL ENTREGABLE</a:t>
            </a:r>
          </a:p>
        </p:txBody>
      </p:sp>
      <p:sp>
        <p:nvSpPr>
          <p:cNvPr id="12" name="TextBox 11"/>
          <p:cNvSpPr txBox="1"/>
          <p:nvPr/>
        </p:nvSpPr>
        <p:spPr>
          <a:xfrm>
            <a:off x="4767864" y="2185415"/>
            <a:ext cx="66895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protege hoy cada mecanismo</a:t>
            </a:r>
          </a:p>
        </p:txBody>
      </p:sp>
      <p:sp>
        <p:nvSpPr>
          <p:cNvPr id="15" name="TextBox 14"/>
          <p:cNvSpPr txBox="1"/>
          <p:nvPr/>
        </p:nvSpPr>
        <p:spPr>
          <a:xfrm>
            <a:off x="4767864" y="2587751"/>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el cifrado de disco y para el de respaldos: contra qué amenaza sirve y contra cuál no, con la tabla «Hallazgo H3 a la luz de esto» como modelo</a:t>
            </a:r>
          </a:p>
        </p:txBody>
      </p:sp>
      <p:sp>
        <p:nvSpPr>
          <p:cNvPr id="16" name="Rectangle 15"/>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27613"/>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tres problemas de la evidencia C</a:t>
            </a:r>
          </a:p>
        </p:txBody>
      </p:sp>
      <p:sp>
        <p:nvSpPr>
          <p:cNvPr id="18" name="TextBox 17"/>
          <p:cNvSpPr txBox="1"/>
          <p:nvPr/>
        </p:nvSpPr>
        <p:spPr>
          <a:xfrm>
            <a:off x="4767864" y="3127613"/>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Identificados, explicados y con la línea corregida</a:t>
            </a:r>
          </a:p>
        </p:txBody>
      </p:sp>
      <p:sp>
        <p:nvSpPr>
          <p:cNvPr id="19" name="Rectangle 18"/>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21389"/>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datos exigen cifrado de campo</a:t>
            </a:r>
          </a:p>
        </p:txBody>
      </p:sp>
      <p:sp>
        <p:nvSpPr>
          <p:cNvPr id="21" name="TextBox 20"/>
          <p:cNvSpPr txBox="1"/>
          <p:nvPr/>
        </p:nvSpPr>
        <p:spPr>
          <a:xfrm>
            <a:off x="4767864" y="3621389"/>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Cuáles de los datos de los 142.000 asociados, y por qué esos y no todos</a:t>
            </a:r>
          </a:p>
        </p:txBody>
      </p:sp>
      <p:sp>
        <p:nvSpPr>
          <p:cNvPr id="22" name="Rectangle 21"/>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1516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cuesta y qué implica</a:t>
            </a:r>
          </a:p>
        </p:txBody>
      </p:sp>
      <p:sp>
        <p:nvSpPr>
          <p:cNvPr id="24" name="TextBox 23"/>
          <p:cNvSpPr txBox="1"/>
          <p:nvPr/>
        </p:nvSpPr>
        <p:spPr>
          <a:xfrm>
            <a:off x="4767864" y="4115165"/>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contrato del core no permite cambiar el esquema sin cotización. Eso condiciona la recomendación y hay que decirlo</a:t>
            </a:r>
          </a:p>
        </p:txBody>
      </p:sp>
      <p:sp>
        <p:nvSpPr>
          <p:cNvPr id="25" name="Rectangle 24"/>
          <p:cNvSpPr/>
          <p:nvPr/>
        </p:nvSpPr>
        <p:spPr>
          <a:xfrm>
            <a:off x="566928" y="45635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61845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2 E INFORME</a:t>
            </a:r>
          </a:p>
          <a:p>
            <a:pPr algn="l">
              <a:lnSpc>
                <a:spcPct val="125000"/>
              </a:lnSpc>
              <a:spcAft>
                <a:spcPts val="0"/>
              </a:spcAft>
            </a:pPr>
            <a:r>
              <a:rPr sz="730" b="1" spc="130">
                <a:solidFill>
                  <a:srgbClr val="3A3A3A"/>
                </a:solidFill>
                <a:latin typeface="Consolas"/>
              </a:rPr>
              <a:t>DEL LABORATORIO 2</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800-38D</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GCM and GMAC, secciones 5 y 8: qué garantiza el modo y la regla de unicidad del vector.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El capítulo de funciones resumen y sus aplicaciones: las tres propiedades y la construcción encadenada.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OWASP</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Password Storage Cheat Sheet, completa: cómo se guardan hoy las contraseñas. Una hora. Es la base del bloque 6.</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3</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asume sabido qué es una función resumen y qué propiedades promete: la sesión arranca en por qué MD5 y SHA-1 murieron. Las 8 horas de elaboración son la entrega 2 (6 h, en equipo) y el informe del laboratorio (2 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3: funciones resumen, autenticación de mensajes y contraseñas. Es la sesión que resuelve los dos hallazgos que hicieron posible el fraude.</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RESÚMENES Y AUTENTICACIÓN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una función resumen y por qué MD5 y SHA-1 quedaron fuera.</a:t>
            </a:r>
          </a:p>
          <a:p>
            <a:pPr algn="l">
              <a:lnSpc>
                <a:spcPct val="128000"/>
              </a:lnSpc>
              <a:spcAft>
                <a:spcPts val="700"/>
              </a:spcAft>
            </a:pPr>
            <a:r>
              <a:rPr sz="1150" b="0">
                <a:solidFill>
                  <a:srgbClr val="000000"/>
                </a:solidFill>
                <a:latin typeface="Arial"/>
              </a:rPr>
              <a:t>La diferencia entre integridad y autenticidad, con el código de autenticación de mensajes.</a:t>
            </a:r>
          </a:p>
          <a:p>
            <a:pPr algn="l">
              <a:lnSpc>
                <a:spcPct val="128000"/>
              </a:lnSpc>
              <a:spcAft>
                <a:spcPts val="700"/>
              </a:spcAft>
            </a:pPr>
            <a:r>
              <a:rPr sz="1150" b="0">
                <a:solidFill>
                  <a:srgbClr val="000000"/>
                </a:solidFill>
                <a:latin typeface="Arial"/>
              </a:rPr>
              <a:t>Por qué HMAC-SHA256, que es correcto, no le sirvió a Coopaburrá.</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CONTRASEÑAS Y LABORATORIO</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 qué una contraseña nunca se cifra ni se resume a secas: se deriva con factor de trabajo.</a:t>
            </a:r>
          </a:p>
          <a:p>
            <a:pPr algn="l">
              <a:lnSpc>
                <a:spcPct val="128000"/>
              </a:lnSpc>
              <a:spcAft>
                <a:spcPts val="700"/>
              </a:spcAft>
            </a:pPr>
            <a:r>
              <a:rPr sz="1150" b="0">
                <a:solidFill>
                  <a:srgbClr val="000000"/>
                </a:solidFill>
                <a:latin typeface="Arial"/>
              </a:rPr>
              <a:t>Laboratorio: atacar la muestra de la tabla de usuarios del caso, evidencia B, y medir cuánto cambia con una función de derivación moderna.</a:t>
            </a:r>
          </a:p>
          <a:p>
            <a:pPr algn="l">
              <a:lnSpc>
                <a:spcPct val="128000"/>
              </a:lnSpc>
              <a:spcAft>
                <a:spcPts val="700"/>
              </a:spcAft>
            </a:pPr>
            <a:r>
              <a:rPr sz="1150" b="0">
                <a:solidFill>
                  <a:srgbClr val="000000"/>
                </a:solidFill>
                <a:latin typeface="Arial"/>
              </a:rPr>
              <a:t>Primera evaluación de conocimiento del módulo.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de bloque de 128 bits,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Su versión triple se retiró en 2023.</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CFB / OFB / CTR</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Cipher Feedback, Output Feedback, Counter — Modos de NIST SP 800-38A.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GCM / GMAC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Galois/Counter Mode — Modo de cifrado autenticado. GMAC es su variante que solo autentica, sin cifrar.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Debe ser único con cada llave; en GCM se le llama también nonce.</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DEK / KEK</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Key / Key Encryption Key — Llave de datos y llave que cifra llaves, en el cifrado en sobre.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EFF</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Frontier Foundation — Organización civil estadounidense que construyó en 1998 la máquina que rompió DES.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Normas federales de procesamiento de información de Estados Unidos, del NIST.</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53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59</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IUE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Institución Universitaria de Envigado. Su escudo es la imagen de la demostración de ECB.</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MB / TB</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Megabyte / Terabyte — Un millón y un billón de bytes. El core de Coopaburrá ocupa 2,3 TB.</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 / SHA-1</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Secure Hash Algorithm 1 — Funciones resumen rotas por colisiones. Sesión 3.</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El instituto de normas de Estados Unidos y su serie técnica.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POODLE</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Padding Oracle On Downgraded Legacy Encryption — Ataque de oráculo de relleno de 2014 contra SSL 3.0.</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RC4</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Cipher 4 — Cifrado de flujo de 1987 sin autenticación, prohibido en el canal seguro desde 2015.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Sesión 4.</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convierte un cambio en el cifrado en el mismo cambio en el texto claro.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EUROCRYPT / LNCS</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Conferencia europea anual de criptografía / Lecture Notes in Computer Science, la serie donde se publican sus actas.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XTS</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XEX-based Tweaked-codebook mode with ciphertext Stealing — Modo de AES para discos. Cifra por sector y no autentica.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54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60</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197-upd1: Advanced Encryption Standard (AES).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Estructura del algoritmo, rondas y tamaños de llave</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 Methods and techniques.</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Modos ECB, CBC, CFB, OFB y CTR</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(2007).</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800-38D: Recommendation for block cipher modes of operation: Galois/Counter Mode (GCM) and GMAC.</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Secciones 5 y 8 · lectura previa de la sesión 3</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800-131A Rev. 2: Transitioning the use of cryptographic algorithms and key lengths.</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del triple DES a partir de 2023</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Vaudenay, S. (2002).</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Security flaws induced by CBC padding. EUROCRYPT 2002, LNCS 2332, 534–545.</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ataque de oráculo de relleno</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Nir, Y. y Langley, A. (2018).</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8439: ChaCha20 and Poly1305 for IETF protocols. IETF.</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alternativa a AES en software</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Cifrado de llave privada, modos y cifrado autenticado</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y los RFC de la IETF son de acceso libre. Los libros y artículos se consultan en las bases de datos de la Institución;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