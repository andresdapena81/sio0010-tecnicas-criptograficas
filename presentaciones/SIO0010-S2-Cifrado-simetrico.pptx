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1.png"/>
          <p:cNvPicPr>
            <a:picLocks noChangeAspect="1"/>
          </p:cNvPicPr>
          <p:nvPr/>
        </p:nvPicPr>
        <p:blipFill>
          <a:blip r:embed="rId2"/>
          <a:stretch>
            <a:fillRect/>
          </a:stretch>
        </p:blipFill>
        <p:spPr>
          <a:xfrm>
            <a:off x="566928" y="502920"/>
            <a:ext cx="1417320" cy="612648"/>
          </a:xfrm>
          <a:prstGeom prst="rect">
            <a:avLst/>
          </a:prstGeom>
        </p:spPr>
      </p:pic>
      <p:sp>
        <p:nvSpPr>
          <p:cNvPr id="3" name="Rectangle 2"/>
          <p:cNvSpPr/>
          <p:nvPr/>
        </p:nvSpPr>
        <p:spPr>
          <a:xfrm>
            <a:off x="566928" y="1783080"/>
            <a:ext cx="11055096"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75104"/>
            <a:ext cx="11055096" cy="237744"/>
          </a:xfrm>
          <a:prstGeom prst="rect">
            <a:avLst/>
          </a:prstGeom>
          <a:noFill/>
        </p:spPr>
        <p:txBody>
          <a:bodyPr wrap="square" lIns="0" rIns="0" tIns="0" bIns="0">
            <a:spAutoFit/>
          </a:bodyPr>
          <a:lstStyle/>
          <a:p>
            <a:pPr algn="l">
              <a:spcAft>
                <a:spcPts val="0"/>
              </a:spcAft>
            </a:pPr>
            <a:r>
              <a:rPr sz="850" b="1" spc="220">
                <a:solidFill>
                  <a:srgbClr val="5C5C5C"/>
                </a:solidFill>
                <a:latin typeface="Consolas"/>
              </a:rPr>
              <a:t>SESIÓN 2 DE 6 · 5 HORAS · BLOQUE 3: 2H15 · DESCANSO 30 MIN · BLOQUE 4: 2H15</a:t>
            </a:r>
          </a:p>
        </p:txBody>
      </p:sp>
      <p:sp>
        <p:nvSpPr>
          <p:cNvPr id="5" name="TextBox 4"/>
          <p:cNvSpPr txBox="1"/>
          <p:nvPr/>
        </p:nvSpPr>
        <p:spPr>
          <a:xfrm>
            <a:off x="566928" y="2286000"/>
            <a:ext cx="9601200" cy="2148840"/>
          </a:xfrm>
          <a:prstGeom prst="rect">
            <a:avLst/>
          </a:prstGeom>
          <a:noFill/>
        </p:spPr>
        <p:txBody>
          <a:bodyPr wrap="square" lIns="0" rIns="0" tIns="0" bIns="0">
            <a:spAutoFit/>
          </a:bodyPr>
          <a:lstStyle/>
          <a:p>
            <a:pPr algn="l">
              <a:lnSpc>
                <a:spcPct val="105000"/>
              </a:lnSpc>
              <a:spcAft>
                <a:spcPts val="0"/>
              </a:spcAft>
            </a:pPr>
            <a:r>
              <a:rPr sz="4000" b="0">
                <a:solidFill>
                  <a:srgbClr val="000000"/>
                </a:solidFill>
                <a:latin typeface="Arial Black"/>
              </a:rPr>
              <a:t>CIFRADO SIMÉTRICO</a:t>
            </a:r>
          </a:p>
          <a:p>
            <a:pPr algn="l">
              <a:lnSpc>
                <a:spcPct val="105000"/>
              </a:lnSpc>
              <a:spcAft>
                <a:spcPts val="0"/>
              </a:spcAft>
            </a:pPr>
            <a:r>
              <a:rPr sz="4000" b="0">
                <a:solidFill>
                  <a:srgbClr val="000000"/>
                </a:solidFill>
                <a:latin typeface="Arial Black"/>
              </a:rPr>
              <a:t>Y SUS ERRORES</a:t>
            </a:r>
          </a:p>
          <a:p>
            <a:pPr algn="l">
              <a:lnSpc>
                <a:spcPct val="105000"/>
              </a:lnSpc>
              <a:spcAft>
                <a:spcPts val="0"/>
              </a:spcAft>
            </a:pPr>
            <a:r>
              <a:rPr sz="4000" b="0">
                <a:solidFill>
                  <a:srgbClr val="000000"/>
                </a:solidFill>
                <a:latin typeface="Arial Black"/>
              </a:rPr>
              <a:t>CLÁSICOS</a:t>
            </a:r>
          </a:p>
        </p:txBody>
      </p:sp>
      <p:sp>
        <p:nvSpPr>
          <p:cNvPr id="6" name="Rectangle 5"/>
          <p:cNvSpPr/>
          <p:nvPr/>
        </p:nvSpPr>
        <p:spPr>
          <a:xfrm>
            <a:off x="566928" y="4590288"/>
            <a:ext cx="1554480" cy="5486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10424160" cy="365760"/>
          </a:xfrm>
          <a:prstGeom prst="rect">
            <a:avLst/>
          </a:prstGeom>
          <a:noFill/>
        </p:spPr>
        <p:txBody>
          <a:bodyPr wrap="square" lIns="0" rIns="0" tIns="0" bIns="0">
            <a:spAutoFit/>
          </a:bodyPr>
          <a:lstStyle/>
          <a:p>
            <a:pPr algn="l">
              <a:spcAft>
                <a:spcPts val="0"/>
              </a:spcAft>
            </a:pPr>
            <a:r>
              <a:rPr sz="1400" b="1">
                <a:solidFill>
                  <a:srgbClr val="000000"/>
                </a:solidFill>
                <a:latin typeface="Arial"/>
              </a:rPr>
              <a:t>«ESTÁ CIFRADO CON AES-256». ¿Y ESO QUÉ GARANTIZA EXACTAMENTE?</a:t>
            </a:r>
          </a:p>
        </p:txBody>
      </p:sp>
      <p:sp>
        <p:nvSpPr>
          <p:cNvPr id="8" name="TextBox 7"/>
          <p:cNvSpPr txBox="1"/>
          <p:nvPr/>
        </p:nvSpPr>
        <p:spPr>
          <a:xfrm>
            <a:off x="566928" y="5285232"/>
            <a:ext cx="10424160" cy="502920"/>
          </a:xfrm>
          <a:prstGeom prst="rect">
            <a:avLst/>
          </a:prstGeom>
          <a:noFill/>
        </p:spPr>
        <p:txBody>
          <a:bodyPr wrap="square" lIns="0" rIns="0" tIns="0" bIns="0">
            <a:spAutoFit/>
          </a:bodyPr>
          <a:lstStyle/>
          <a:p>
            <a:pPr algn="l">
              <a:lnSpc>
                <a:spcPct val="125000"/>
              </a:lnSpc>
              <a:spcAft>
                <a:spcPts val="0"/>
              </a:spcAft>
            </a:pPr>
            <a:r>
              <a:rPr sz="1100" b="0">
                <a:solidFill>
                  <a:srgbClr val="5C5C5C"/>
                </a:solidFill>
                <a:latin typeface="Arial"/>
              </a:rPr>
              <a:t>SIO0010 · Técnicas Criptográficas · Especialización en Seguridad de la Información de las Organizaciones · Facultad de Ingeniería · Institución Universitaria de Envigado</a:t>
            </a:r>
          </a:p>
        </p:txBody>
      </p:sp>
      <p:sp>
        <p:nvSpPr>
          <p:cNvPr id="9" name="Rectangle 8"/>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1.png"/>
          <p:cNvPicPr>
            <a:picLocks noChangeAspect="1"/>
          </p:cNvPicPr>
          <p:nvPr/>
        </p:nvPicPr>
        <p:blipFill>
          <a:blip r:embed="rId2"/>
          <a:stretch>
            <a:fillRect/>
          </a:stretch>
        </p:blipFill>
        <p:spPr>
          <a:xfrm>
            <a:off x="566928" y="6336792"/>
            <a:ext cx="566928" cy="246888"/>
          </a:xfrm>
          <a:prstGeom prst="rect">
            <a:avLst/>
          </a:prstGeom>
        </p:spPr>
      </p:pic>
      <p:sp>
        <p:nvSpPr>
          <p:cNvPr id="11" name="TextBox 10"/>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12" name="TextBox 11"/>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01</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DONDE QUEDAMOS</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Entrega del inventario y lo que el inventario reveló</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01  AGENDA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AGENDA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Hoy es la sesión más práctica del módulo. Al final van a poder mirar una línea de configuración y decir si el dato está protegido o solo parece estarlo.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3747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BLOQUE</a:t>
            </a:r>
          </a:p>
        </p:txBody>
      </p:sp>
      <p:sp>
        <p:nvSpPr>
          <p:cNvPr id="12" name="TextBox 11"/>
          <p:cNvSpPr txBox="1"/>
          <p:nvPr/>
        </p:nvSpPr>
        <p:spPr>
          <a:xfrm>
            <a:off x="2106245" y="2423159"/>
            <a:ext cx="12347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MINUTOS</a:t>
            </a:r>
          </a:p>
        </p:txBody>
      </p:sp>
      <p:sp>
        <p:nvSpPr>
          <p:cNvPr id="13" name="TextBox 12"/>
          <p:cNvSpPr txBox="1"/>
          <p:nvPr/>
        </p:nvSpPr>
        <p:spPr>
          <a:xfrm>
            <a:off x="3505624" y="2423159"/>
            <a:ext cx="5992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CONTENIDO</a:t>
            </a:r>
          </a:p>
        </p:txBody>
      </p:sp>
      <p:sp>
        <p:nvSpPr>
          <p:cNvPr id="14" name="TextBox 13"/>
          <p:cNvSpPr txBox="1"/>
          <p:nvPr/>
        </p:nvSpPr>
        <p:spPr>
          <a:xfrm>
            <a:off x="9662893" y="2423159"/>
            <a:ext cx="17945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MODALIDAD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3</a:t>
            </a:r>
          </a:p>
        </p:txBody>
      </p:sp>
      <p:sp>
        <p:nvSpPr>
          <p:cNvPr id="17" name="TextBox 16"/>
          <p:cNvSpPr txBox="1"/>
          <p:nvPr/>
        </p:nvSpPr>
        <p:spPr>
          <a:xfrm>
            <a:off x="2106245" y="282549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30</a:t>
            </a:r>
          </a:p>
        </p:txBody>
      </p:sp>
      <p:sp>
        <p:nvSpPr>
          <p:cNvPr id="18" name="TextBox 17"/>
          <p:cNvSpPr txBox="1"/>
          <p:nvPr/>
        </p:nvSpPr>
        <p:spPr>
          <a:xfrm>
            <a:off x="3505624" y="282549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Entrega y revisión cruzada del inventario criptográfico</a:t>
            </a:r>
          </a:p>
        </p:txBody>
      </p:sp>
      <p:sp>
        <p:nvSpPr>
          <p:cNvPr id="19" name="TextBox 18"/>
          <p:cNvSpPr txBox="1"/>
          <p:nvPr/>
        </p:nvSpPr>
        <p:spPr>
          <a:xfrm>
            <a:off x="9662893" y="282549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137472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2" name="TextBox 21"/>
          <p:cNvSpPr txBox="1"/>
          <p:nvPr/>
        </p:nvSpPr>
        <p:spPr>
          <a:xfrm>
            <a:off x="2106245" y="3191255"/>
            <a:ext cx="12347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 – 95</a:t>
            </a:r>
          </a:p>
        </p:txBody>
      </p:sp>
      <p:sp>
        <p:nvSpPr>
          <p:cNvPr id="23" name="TextBox 22"/>
          <p:cNvSpPr txBox="1"/>
          <p:nvPr/>
        </p:nvSpPr>
        <p:spPr>
          <a:xfrm>
            <a:off x="3505624" y="3191255"/>
            <a:ext cx="599267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 DES a AES, los modos de operación, el oráculo de relleno y la demostración del escudo</a:t>
            </a:r>
          </a:p>
        </p:txBody>
      </p:sp>
      <p:sp>
        <p:nvSpPr>
          <p:cNvPr id="24" name="TextBox 23"/>
          <p:cNvSpPr txBox="1"/>
          <p:nvPr/>
        </p:nvSpPr>
        <p:spPr>
          <a:xfrm>
            <a:off x="9662893" y="3191255"/>
            <a:ext cx="17945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 y demostración</a:t>
            </a:r>
          </a:p>
        </p:txBody>
      </p:sp>
      <p:sp>
        <p:nvSpPr>
          <p:cNvPr id="25" name="Rectangle 24"/>
          <p:cNvSpPr/>
          <p:nvPr/>
        </p:nvSpPr>
        <p:spPr>
          <a:xfrm>
            <a:off x="566928" y="363967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731117"/>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7" name="TextBox 26"/>
          <p:cNvSpPr txBox="1"/>
          <p:nvPr/>
        </p:nvSpPr>
        <p:spPr>
          <a:xfrm>
            <a:off x="2106245" y="3731117"/>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95 – 135</a:t>
            </a:r>
          </a:p>
        </p:txBody>
      </p:sp>
      <p:sp>
        <p:nvSpPr>
          <p:cNvPr id="28" name="TextBox 27"/>
          <p:cNvSpPr txBox="1"/>
          <p:nvPr/>
        </p:nvSpPr>
        <p:spPr>
          <a:xfrm>
            <a:off x="3505624" y="3731117"/>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cinco errores clásicos del cifrado simétrico</a:t>
            </a:r>
          </a:p>
        </p:txBody>
      </p:sp>
      <p:sp>
        <p:nvSpPr>
          <p:cNvPr id="29" name="TextBox 28"/>
          <p:cNvSpPr txBox="1"/>
          <p:nvPr/>
        </p:nvSpPr>
        <p:spPr>
          <a:xfrm>
            <a:off x="9662893" y="3731117"/>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30" name="Rectangle 29"/>
          <p:cNvSpPr/>
          <p:nvPr/>
        </p:nvSpPr>
        <p:spPr>
          <a:xfrm>
            <a:off x="566928" y="400543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096877"/>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Descanso</a:t>
            </a:r>
          </a:p>
        </p:txBody>
      </p:sp>
      <p:sp>
        <p:nvSpPr>
          <p:cNvPr id="32" name="TextBox 31"/>
          <p:cNvSpPr txBox="1"/>
          <p:nvPr/>
        </p:nvSpPr>
        <p:spPr>
          <a:xfrm>
            <a:off x="2106245" y="4096877"/>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a:t>
            </a:r>
          </a:p>
        </p:txBody>
      </p:sp>
      <p:sp>
        <p:nvSpPr>
          <p:cNvPr id="33" name="TextBox 32"/>
          <p:cNvSpPr txBox="1"/>
          <p:nvPr/>
        </p:nvSpPr>
        <p:spPr>
          <a:xfrm>
            <a:off x="3505624" y="4096877"/>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4" name="TextBox 33"/>
          <p:cNvSpPr txBox="1"/>
          <p:nvPr/>
        </p:nvSpPr>
        <p:spPr>
          <a:xfrm>
            <a:off x="9662893" y="4096877"/>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5" name="Rectangle 34"/>
          <p:cNvSpPr/>
          <p:nvPr/>
        </p:nvSpPr>
        <p:spPr>
          <a:xfrm>
            <a:off x="566928" y="43711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462637"/>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4</a:t>
            </a:r>
          </a:p>
        </p:txBody>
      </p:sp>
      <p:sp>
        <p:nvSpPr>
          <p:cNvPr id="37" name="TextBox 36"/>
          <p:cNvSpPr txBox="1"/>
          <p:nvPr/>
        </p:nvSpPr>
        <p:spPr>
          <a:xfrm>
            <a:off x="2106245" y="4462637"/>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45</a:t>
            </a:r>
          </a:p>
        </p:txBody>
      </p:sp>
      <p:sp>
        <p:nvSpPr>
          <p:cNvPr id="38" name="TextBox 37"/>
          <p:cNvSpPr txBox="1"/>
          <p:nvPr/>
        </p:nvSpPr>
        <p:spPr>
          <a:xfrm>
            <a:off x="3505624" y="4462637"/>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tres estados del dato, el cifrado en sobre y cómo buscar sobre datos cifrados</a:t>
            </a:r>
          </a:p>
        </p:txBody>
      </p:sp>
      <p:sp>
        <p:nvSpPr>
          <p:cNvPr id="39" name="TextBox 38"/>
          <p:cNvSpPr txBox="1"/>
          <p:nvPr/>
        </p:nvSpPr>
        <p:spPr>
          <a:xfrm>
            <a:off x="9662893" y="4462637"/>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40" name="Rectangle 39"/>
          <p:cNvSpPr/>
          <p:nvPr/>
        </p:nvSpPr>
        <p:spPr>
          <a:xfrm>
            <a:off x="566928" y="473695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828397"/>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2" name="TextBox 41"/>
          <p:cNvSpPr txBox="1"/>
          <p:nvPr/>
        </p:nvSpPr>
        <p:spPr>
          <a:xfrm>
            <a:off x="2106245" y="4828397"/>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45 – 100</a:t>
            </a:r>
          </a:p>
        </p:txBody>
      </p:sp>
      <p:sp>
        <p:nvSpPr>
          <p:cNvPr id="43" name="TextBox 42"/>
          <p:cNvSpPr txBox="1"/>
          <p:nvPr/>
        </p:nvSpPr>
        <p:spPr>
          <a:xfrm>
            <a:off x="3505624" y="4828397"/>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 2: tres ejercicios y el ejercicio en Python</a:t>
            </a:r>
          </a:p>
        </p:txBody>
      </p:sp>
      <p:sp>
        <p:nvSpPr>
          <p:cNvPr id="44" name="TextBox 43"/>
          <p:cNvSpPr txBox="1"/>
          <p:nvPr/>
        </p:nvSpPr>
        <p:spPr>
          <a:xfrm>
            <a:off x="9662893" y="4828397"/>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a:t>
            </a:r>
          </a:p>
        </p:txBody>
      </p:sp>
      <p:sp>
        <p:nvSpPr>
          <p:cNvPr id="45" name="Rectangle 44"/>
          <p:cNvSpPr/>
          <p:nvPr/>
        </p:nvSpPr>
        <p:spPr>
          <a:xfrm>
            <a:off x="566928" y="51027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194157"/>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7" name="TextBox 46"/>
          <p:cNvSpPr txBox="1"/>
          <p:nvPr/>
        </p:nvSpPr>
        <p:spPr>
          <a:xfrm>
            <a:off x="2106245" y="5194157"/>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100 – 135</a:t>
            </a:r>
          </a:p>
        </p:txBody>
      </p:sp>
      <p:sp>
        <p:nvSpPr>
          <p:cNvPr id="48" name="TextBox 47"/>
          <p:cNvSpPr txBox="1"/>
          <p:nvPr/>
        </p:nvSpPr>
        <p:spPr>
          <a:xfrm>
            <a:off x="3505624" y="5194157"/>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Hallazgos H3 y H4 de Coopaburrá, y cierre</a:t>
            </a:r>
          </a:p>
        </p:txBody>
      </p:sp>
      <p:sp>
        <p:nvSpPr>
          <p:cNvPr id="49" name="TextBox 48"/>
          <p:cNvSpPr txBox="1"/>
          <p:nvPr/>
        </p:nvSpPr>
        <p:spPr>
          <a:xfrm>
            <a:off x="9662893" y="5194157"/>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 y magistral</a:t>
            </a:r>
          </a:p>
        </p:txBody>
      </p:sp>
      <p:sp>
        <p:nvSpPr>
          <p:cNvPr id="50" name="Rectangle 49"/>
          <p:cNvSpPr/>
          <p:nvPr/>
        </p:nvSpPr>
        <p:spPr>
          <a:xfrm>
            <a:off x="566928" y="546847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66928" y="552334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02  REPASO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QUEDÓ DEL MARTES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04</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criptografía presta cuatro servicios y no son intercambiables</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Coopaburrá implementó autenticidad cuando lo que el abogado necesitaba era no repudio.</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seguridad vive en la llave</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algoritmo se publica; la llave no. Kerckhoffs, 1883.</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Una llave sin entropía no es una llave</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Debian 2008 y la consola de 2010: el algoritmo perfecto y el sistema caído igual.</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 espacio de llaves grande no basta</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Ochenta y ocho bits de sustitución caen en minutos, porque el ataque no prueba llaves.</a:t>
            </a:r>
          </a:p>
        </p:txBody>
      </p:sp>
      <p:sp>
        <p:nvSpPr>
          <p:cNvPr id="21" name="Rectangle 20"/>
          <p:cNvSpPr/>
          <p:nvPr/>
        </p:nvSpPr>
        <p:spPr>
          <a:xfrm>
            <a:off x="566928" y="5074920"/>
            <a:ext cx="45720" cy="86868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0932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HOY AGREGAMOS LA QUINTA</a:t>
            </a:r>
          </a:p>
        </p:txBody>
      </p:sp>
      <p:sp>
        <p:nvSpPr>
          <p:cNvPr id="23" name="TextBox 22"/>
          <p:cNvSpPr txBox="1"/>
          <p:nvPr/>
        </p:nvSpPr>
        <p:spPr>
          <a:xfrm>
            <a:off x="804672" y="5330952"/>
            <a:ext cx="10780776" cy="59435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algoritmo correcto, con una llave correcta, puede seguir dejando los datos a la vista si el </a:t>
            </a:r>
            <a:r>
              <a:rPr sz="1150" b="1">
                <a:solidFill>
                  <a:srgbClr val="2A2A2A"/>
                </a:solidFill>
                <a:latin typeface="Arial"/>
              </a:rPr>
              <a:t>modo de operación</a:t>
            </a:r>
            <a:r>
              <a:rPr sz="1150" b="0">
                <a:solidFill>
                  <a:srgbClr val="2A2A2A"/>
                </a:solidFill>
                <a:latin typeface="Arial"/>
              </a:rPr>
              <a:t> está mal escogido. Es el error más frecuente del cifrado simétrico y el que vamos a ver en funcionamiento.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03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REVISIÓN CRUZADA DEL INVENTARIO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Treinta minutos. Cada equipo intercambia su inventario con otro equipo y lo revisa con esta lista. No se trata de corregir: se trata de encontrar lo que el otro equipo vio y ustedes no.</a:t>
            </a:r>
          </a:p>
        </p:txBody>
      </p:sp>
      <p:sp>
        <p:nvSpPr>
          <p:cNvPr id="10" name="TextBox 9"/>
          <p:cNvSpPr txBox="1"/>
          <p:nvPr/>
        </p:nvSpPr>
        <p:spPr>
          <a:xfrm>
            <a:off x="566928" y="230428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2257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¿Aparecen los ocho sistemas de la Parte 3 del caso?</a:t>
            </a:r>
          </a:p>
        </p:txBody>
      </p:sp>
      <p:sp>
        <p:nvSpPr>
          <p:cNvPr id="12" name="TextBox 11"/>
          <p:cNvSpPr txBox="1"/>
          <p:nvPr/>
        </p:nvSpPr>
        <p:spPr>
          <a:xfrm>
            <a:off x="1280160" y="256032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Core, portal, aplicación, cajeros, procesador, gestor documental, respaldos, y correo y directorio. Si falta alguno, ¿por qué?</a:t>
            </a:r>
          </a:p>
        </p:txBody>
      </p:sp>
      <p:sp>
        <p:nvSpPr>
          <p:cNvPr id="13" name="TextBox 12"/>
          <p:cNvSpPr txBox="1"/>
          <p:nvPr/>
        </p:nvSpPr>
        <p:spPr>
          <a:xfrm>
            <a:off x="566928" y="301752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3580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¿Cada entrada dice cuál de los cuatro servicios pretende dar?</a:t>
            </a:r>
          </a:p>
        </p:txBody>
      </p:sp>
      <p:sp>
        <p:nvSpPr>
          <p:cNvPr id="15" name="TextBox 14"/>
          <p:cNvSpPr txBox="1"/>
          <p:nvPr/>
        </p:nvSpPr>
        <p:spPr>
          <a:xfrm>
            <a:off x="1280160" y="327355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la columna que más se olvida y la que conecta con la sesión del martes.</a:t>
            </a:r>
          </a:p>
        </p:txBody>
      </p:sp>
      <p:sp>
        <p:nvSpPr>
          <p:cNvPr id="16" name="TextBox 15"/>
          <p:cNvSpPr txBox="1"/>
          <p:nvPr/>
        </p:nvSpPr>
        <p:spPr>
          <a:xfrm>
            <a:off x="566928" y="37307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4903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¿Las casillas desconocidas están marcadas como desconocidas?</a:t>
            </a:r>
          </a:p>
        </p:txBody>
      </p:sp>
      <p:sp>
        <p:nvSpPr>
          <p:cNvPr id="18" name="TextBox 17"/>
          <p:cNvSpPr txBox="1"/>
          <p:nvPr/>
        </p:nvSpPr>
        <p:spPr>
          <a:xfrm>
            <a:off x="1280160" y="39867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O están en blanco, que es distinto y peor: en blanco parece que no aplica.</a:t>
            </a:r>
          </a:p>
        </p:txBody>
      </p:sp>
      <p:sp>
        <p:nvSpPr>
          <p:cNvPr id="19" name="TextBox 18"/>
          <p:cNvSpPr txBox="1"/>
          <p:nvPr/>
        </p:nvSpPr>
        <p:spPr>
          <a:xfrm>
            <a:off x="566928" y="444398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46227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¿Cada llave tiene un responsable con nombre y cargo?</a:t>
            </a:r>
          </a:p>
        </p:txBody>
      </p:sp>
      <p:sp>
        <p:nvSpPr>
          <p:cNvPr id="21" name="TextBox 20"/>
          <p:cNvSpPr txBox="1"/>
          <p:nvPr/>
        </p:nvSpPr>
        <p:spPr>
          <a:xfrm>
            <a:off x="1280160" y="470001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 la Parte 2 del caso. «Infraestructura» no es un responsable: es un área.</a:t>
            </a:r>
          </a:p>
        </p:txBody>
      </p:sp>
      <p:sp>
        <p:nvSpPr>
          <p:cNvPr id="22" name="Rectangle 21"/>
          <p:cNvSpPr/>
          <p:nvPr/>
        </p:nvSpPr>
        <p:spPr>
          <a:xfrm>
            <a:off x="566928" y="5340096"/>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35838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SUELE FALTAR</a:t>
            </a:r>
          </a:p>
        </p:txBody>
      </p:sp>
      <p:sp>
        <p:nvSpPr>
          <p:cNvPr id="24" name="TextBox 23"/>
          <p:cNvSpPr txBox="1"/>
          <p:nvPr/>
        </p:nvSpPr>
        <p:spPr>
          <a:xfrm>
            <a:off x="804672" y="5596128"/>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correo institucional y el directorio de usuarios. Casi nadie los incluye porque no se sienten «criptográficos», y sin embargo ahí hay certificados, contraseñas y llaves de sesión.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02</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CIFRADO SIMÉTRICO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Una sola llave para cifrar y descifrar · AES y los modos de operación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04  FUNDAMENTO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UNA SOLA LLAVE PARA LAS DOS COSAS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Cifrado simétrico significa que la misma llave sirve para cifrar y para descifrar. Es rápido, maduro y es el que protege la inmensa mayoría de los datos del mundo. Su límite es de logística, no de matemáticas.</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LO HACE INSUSTITUIBLE</a:t>
            </a:r>
          </a:p>
        </p:txBody>
      </p:sp>
      <p:sp>
        <p:nvSpPr>
          <p:cNvPr id="11" name="TextBox 10"/>
          <p:cNvSpPr txBox="1"/>
          <p:nvPr/>
        </p:nvSpPr>
        <p:spPr>
          <a:xfrm>
            <a:off x="566928" y="2578607"/>
            <a:ext cx="5253228" cy="17830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Es entre cientos y miles de veces más rápido que el cifrado de llave pública.</a:t>
            </a:r>
          </a:p>
          <a:p>
            <a:pPr algn="l">
              <a:lnSpc>
                <a:spcPct val="128000"/>
              </a:lnSpc>
              <a:spcAft>
                <a:spcPts val="700"/>
              </a:spcAft>
            </a:pPr>
            <a:r>
              <a:rPr sz="1150" b="0">
                <a:solidFill>
                  <a:srgbClr val="000000"/>
                </a:solidFill>
                <a:latin typeface="Arial"/>
              </a:rPr>
              <a:t>Cifrar un disco de dos terabytes con llave pública sería inviable; con llave simétrica es rutina.</a:t>
            </a:r>
          </a:p>
          <a:p>
            <a:pPr algn="l">
              <a:lnSpc>
                <a:spcPct val="128000"/>
              </a:lnSpc>
              <a:spcAft>
                <a:spcPts val="700"/>
              </a:spcAft>
            </a:pPr>
            <a:r>
              <a:rPr sz="1150" b="0">
                <a:solidFill>
                  <a:srgbClr val="000000"/>
                </a:solidFill>
                <a:latin typeface="Arial"/>
              </a:rPr>
              <a:t>Por eso todo sistema real es híbrido: la llave pública transporta una llave simétrica, y esa hace el trabajo.</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PROBLEMA QUE NO RESUELVE</a:t>
            </a:r>
          </a:p>
        </p:txBody>
      </p:sp>
      <p:sp>
        <p:nvSpPr>
          <p:cNvPr id="13" name="TextBox 12"/>
          <p:cNvSpPr txBox="1"/>
          <p:nvPr/>
        </p:nvSpPr>
        <p:spPr>
          <a:xfrm>
            <a:off x="6368796" y="2578607"/>
            <a:ext cx="5253228" cy="17830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Las dos partes tienen que compartir la llave antes de poder hablar.</a:t>
            </a:r>
          </a:p>
          <a:p>
            <a:pPr algn="l">
              <a:lnSpc>
                <a:spcPct val="128000"/>
              </a:lnSpc>
              <a:spcAft>
                <a:spcPts val="700"/>
              </a:spcAft>
            </a:pPr>
            <a:r>
              <a:rPr sz="1150" b="0">
                <a:solidFill>
                  <a:srgbClr val="000000"/>
                </a:solidFill>
                <a:latin typeface="Arial"/>
              </a:rPr>
              <a:t>Si la comparten mal, todo lo demás sobra.</a:t>
            </a:r>
          </a:p>
          <a:p>
            <a:pPr algn="l">
              <a:lnSpc>
                <a:spcPct val="128000"/>
              </a:lnSpc>
              <a:spcAft>
                <a:spcPts val="700"/>
              </a:spcAft>
            </a:pPr>
            <a:r>
              <a:rPr sz="1150" b="0">
                <a:solidFill>
                  <a:srgbClr val="000000"/>
                </a:solidFill>
                <a:latin typeface="Arial"/>
              </a:rPr>
              <a:t>Y como ambas la tienen, ninguna puede probar ante un tercero qué hizo la otra: por eso el cifrado simétrico nunca da no repudio.</a:t>
            </a:r>
          </a:p>
        </p:txBody>
      </p:sp>
      <p:sp>
        <p:nvSpPr>
          <p:cNvPr id="14" name="Rectangle 13"/>
          <p:cNvSpPr/>
          <p:nvPr/>
        </p:nvSpPr>
        <p:spPr>
          <a:xfrm>
            <a:off x="6085332" y="2304287"/>
            <a:ext cx="9144" cy="2057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05  HISTORIA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DE DES A AES: POR QUÉ HUBO QUE CAMBIAR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DES fue el estándar durante veinte años. Su algoritmo nunca se rompió de forma práctica: lo que se volvió insuficiente fue el tamaño de su llave. Es la mejor ilustración de que un estándar tiene fecha de caducidad.</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05146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AÑO</a:t>
            </a:r>
          </a:p>
        </p:txBody>
      </p:sp>
      <p:sp>
        <p:nvSpPr>
          <p:cNvPr id="12" name="TextBox 11"/>
          <p:cNvSpPr txBox="1"/>
          <p:nvPr/>
        </p:nvSpPr>
        <p:spPr>
          <a:xfrm>
            <a:off x="1782988" y="2423159"/>
            <a:ext cx="602626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HECHO</a:t>
            </a:r>
          </a:p>
        </p:txBody>
      </p:sp>
      <p:sp>
        <p:nvSpPr>
          <p:cNvPr id="13" name="TextBox 12"/>
          <p:cNvSpPr txBox="1"/>
          <p:nvPr/>
        </p:nvSpPr>
        <p:spPr>
          <a:xfrm>
            <a:off x="7973842" y="2423159"/>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LECCIÓN</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1051468"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1977</a:t>
            </a:r>
          </a:p>
        </p:txBody>
      </p:sp>
      <p:sp>
        <p:nvSpPr>
          <p:cNvPr id="16" name="TextBox 15"/>
          <p:cNvSpPr txBox="1"/>
          <p:nvPr/>
        </p:nvSpPr>
        <p:spPr>
          <a:xfrm>
            <a:off x="1782988" y="2825495"/>
            <a:ext cx="602626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DES se adopta como estándar federal de Estados Unidos, con llave de 56 bits</a:t>
            </a:r>
          </a:p>
        </p:txBody>
      </p:sp>
      <p:sp>
        <p:nvSpPr>
          <p:cNvPr id="17" name="TextBox 16"/>
          <p:cNvSpPr txBox="1"/>
          <p:nvPr/>
        </p:nvSpPr>
        <p:spPr>
          <a:xfrm>
            <a:off x="7973842" y="2825495"/>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Suficiente para el cómputo de su época</a:t>
            </a:r>
          </a:p>
        </p:txBody>
      </p:sp>
      <p:sp>
        <p:nvSpPr>
          <p:cNvPr id="18" name="Rectangle 17"/>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46119"/>
            <a:ext cx="1051468"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1998</a:t>
            </a:r>
          </a:p>
        </p:txBody>
      </p:sp>
      <p:sp>
        <p:nvSpPr>
          <p:cNvPr id="20" name="TextBox 19"/>
          <p:cNvSpPr txBox="1"/>
          <p:nvPr/>
        </p:nvSpPr>
        <p:spPr>
          <a:xfrm>
            <a:off x="1782988" y="3246119"/>
            <a:ext cx="602626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máquina de 250.000 dólares de la EFF encuentra una llave DES en 56 horas</a:t>
            </a:r>
          </a:p>
        </p:txBody>
      </p:sp>
      <p:sp>
        <p:nvSpPr>
          <p:cNvPr id="21" name="TextBox 20"/>
          <p:cNvSpPr txBox="1"/>
          <p:nvPr/>
        </p:nvSpPr>
        <p:spPr>
          <a:xfrm>
            <a:off x="7973842" y="3246119"/>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límite era la llave, no el algoritmo</a:t>
            </a:r>
          </a:p>
        </p:txBody>
      </p:sp>
      <p:sp>
        <p:nvSpPr>
          <p:cNvPr id="22" name="Rectangle 21"/>
          <p:cNvSpPr/>
          <p:nvPr/>
        </p:nvSpPr>
        <p:spPr>
          <a:xfrm>
            <a:off x="566928" y="35753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6743"/>
            <a:ext cx="1051468"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1999</a:t>
            </a:r>
          </a:p>
        </p:txBody>
      </p:sp>
      <p:sp>
        <p:nvSpPr>
          <p:cNvPr id="24" name="TextBox 23"/>
          <p:cNvSpPr txBox="1"/>
          <p:nvPr/>
        </p:nvSpPr>
        <p:spPr>
          <a:xfrm>
            <a:off x="1782988" y="3666743"/>
            <a:ext cx="602626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misma máquina, con miles de equipos en internet, lo logra en 22 horas</a:t>
            </a:r>
          </a:p>
        </p:txBody>
      </p:sp>
      <p:sp>
        <p:nvSpPr>
          <p:cNvPr id="25" name="TextBox 24"/>
          <p:cNvSpPr txBox="1"/>
          <p:nvPr/>
        </p:nvSpPr>
        <p:spPr>
          <a:xfrm>
            <a:off x="7973842" y="3666743"/>
            <a:ext cx="348358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costo del ataque solo baja con el tiempo</a:t>
            </a:r>
          </a:p>
        </p:txBody>
      </p:sp>
      <p:sp>
        <p:nvSpPr>
          <p:cNvPr id="26" name="Rectangle 25"/>
          <p:cNvSpPr/>
          <p:nvPr/>
        </p:nvSpPr>
        <p:spPr>
          <a:xfrm>
            <a:off x="566928" y="39959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7367"/>
            <a:ext cx="1051468"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2001</a:t>
            </a:r>
          </a:p>
        </p:txBody>
      </p:sp>
      <p:sp>
        <p:nvSpPr>
          <p:cNvPr id="28" name="TextBox 27"/>
          <p:cNvSpPr txBox="1"/>
          <p:nvPr/>
        </p:nvSpPr>
        <p:spPr>
          <a:xfrm>
            <a:off x="1782988" y="4087367"/>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AES reemplaza a DES tras un concurso público de cuatro años</a:t>
            </a:r>
          </a:p>
        </p:txBody>
      </p:sp>
      <p:sp>
        <p:nvSpPr>
          <p:cNvPr id="29" name="TextBox 28"/>
          <p:cNvSpPr txBox="1"/>
          <p:nvPr/>
        </p:nvSpPr>
        <p:spPr>
          <a:xfrm>
            <a:off x="7973842" y="4087367"/>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estándar se reemplaza antes de que caiga, no después</a:t>
            </a:r>
          </a:p>
        </p:txBody>
      </p:sp>
      <p:sp>
        <p:nvSpPr>
          <p:cNvPr id="30" name="Rectangle 29"/>
          <p:cNvSpPr/>
          <p:nvPr/>
        </p:nvSpPr>
        <p:spPr>
          <a:xfrm>
            <a:off x="566928" y="45357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27229"/>
            <a:ext cx="1051468"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2023</a:t>
            </a:r>
          </a:p>
        </p:txBody>
      </p:sp>
      <p:sp>
        <p:nvSpPr>
          <p:cNvPr id="32" name="TextBox 31"/>
          <p:cNvSpPr txBox="1"/>
          <p:nvPr/>
        </p:nvSpPr>
        <p:spPr>
          <a:xfrm>
            <a:off x="1782988" y="4627229"/>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NIST retira definitivamente el triple DES para cifrar</a:t>
            </a:r>
          </a:p>
        </p:txBody>
      </p:sp>
      <p:sp>
        <p:nvSpPr>
          <p:cNvPr id="33" name="TextBox 32"/>
          <p:cNvSpPr txBox="1"/>
          <p:nvPr/>
        </p:nvSpPr>
        <p:spPr>
          <a:xfrm>
            <a:off x="7973842" y="4627229"/>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Veintidós años de transición para sacar un algoritmo viejo</a:t>
            </a:r>
          </a:p>
        </p:txBody>
      </p:sp>
      <p:sp>
        <p:nvSpPr>
          <p:cNvPr id="34" name="Rectangle 33"/>
          <p:cNvSpPr/>
          <p:nvPr/>
        </p:nvSpPr>
        <p:spPr>
          <a:xfrm>
            <a:off x="566928" y="50756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13051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432267"/>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450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PARA LA SESIÓN 6</a:t>
            </a:r>
          </a:p>
        </p:txBody>
      </p:sp>
      <p:sp>
        <p:nvSpPr>
          <p:cNvPr id="38" name="TextBox 37"/>
          <p:cNvSpPr txBox="1"/>
          <p:nvPr/>
        </p:nvSpPr>
        <p:spPr>
          <a:xfrm>
            <a:off x="804672" y="5688299"/>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Entre tener el reemplazo y retirar el algoritmo viejo pasaron veintidós años. </a:t>
            </a:r>
            <a:r>
              <a:rPr sz="1150" b="1">
                <a:solidFill>
                  <a:srgbClr val="2A2A2A"/>
                </a:solidFill>
                <a:latin typeface="Arial"/>
              </a:rPr>
              <a:t>Con RSA y las curvas elípticas frente a la computación cuántica el reloj ya corre</a:t>
            </a:r>
            <a:r>
              <a:rPr sz="1150" b="0">
                <a:solidFill>
                  <a:srgbClr val="2A2A2A"/>
                </a:solidFill>
                <a:latin typeface="Arial"/>
              </a:rPr>
              <a:t>, y el plazo que se discute es menor.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06  ALGORITMO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AES: QUÉ ES Y QUÉ NO 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Estándar de cifrado avanzado, adoptado en 2001 tras un concurso público internacional de cinco años. Es el ejemplo perfecto del principio de Kerckhoffs: su diseño es completamente público y lleva veinticinco años resistiendo el análisis de toda la comunidad.</a:t>
            </a:r>
          </a:p>
        </p:txBody>
      </p:sp>
      <p:sp>
        <p:nvSpPr>
          <p:cNvPr id="10" name="Rectangle 9"/>
          <p:cNvSpPr/>
          <p:nvPr/>
        </p:nvSpPr>
        <p:spPr>
          <a:xfrm>
            <a:off x="566928" y="2304287"/>
            <a:ext cx="5353812" cy="178308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AES SÍ ES</a:t>
            </a:r>
          </a:p>
        </p:txBody>
      </p:sp>
      <p:sp>
        <p:nvSpPr>
          <p:cNvPr id="12" name="TextBox 11"/>
          <p:cNvSpPr txBox="1"/>
          <p:nvPr/>
        </p:nvSpPr>
        <p:spPr>
          <a:xfrm>
            <a:off x="786384" y="2633471"/>
            <a:ext cx="4914900"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cifrador de bloques: transforma bloques de exactamente 16 bytes con una llave de 128, 192 o 256 bits.</a:t>
            </a:r>
          </a:p>
          <a:p>
            <a:pPr algn="l">
              <a:lnSpc>
                <a:spcPct val="128000"/>
              </a:lnSpc>
              <a:spcAft>
                <a:spcPts val="700"/>
              </a:spcAft>
            </a:pPr>
            <a:r>
              <a:rPr sz="1150" b="0">
                <a:solidFill>
                  <a:srgbClr val="000000"/>
                </a:solidFill>
                <a:latin typeface="Arial"/>
              </a:rPr>
              <a:t>El estándar de facto mundial, con aceleración en el procesador de cualquier equipo moderno.</a:t>
            </a:r>
          </a:p>
          <a:p>
            <a:pPr algn="l">
              <a:lnSpc>
                <a:spcPct val="128000"/>
              </a:lnSpc>
              <a:spcAft>
                <a:spcPts val="700"/>
              </a:spcAft>
            </a:pPr>
            <a:r>
              <a:rPr sz="1150" b="0">
                <a:solidFill>
                  <a:srgbClr val="000000"/>
                </a:solidFill>
                <a:latin typeface="Arial"/>
              </a:rPr>
              <a:t>Sin ataque práctico conocido contra el algoritmo en sí.</a:t>
            </a:r>
          </a:p>
        </p:txBody>
      </p:sp>
      <p:sp>
        <p:nvSpPr>
          <p:cNvPr id="13" name="Rectangle 12"/>
          <p:cNvSpPr/>
          <p:nvPr/>
        </p:nvSpPr>
        <p:spPr>
          <a:xfrm>
            <a:off x="6268212" y="2304287"/>
            <a:ext cx="5353812" cy="178308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AES NO ES</a:t>
            </a:r>
          </a:p>
        </p:txBody>
      </p:sp>
      <p:sp>
        <p:nvSpPr>
          <p:cNvPr id="15" name="TextBox 14"/>
          <p:cNvSpPr txBox="1"/>
          <p:nvPr/>
        </p:nvSpPr>
        <p:spPr>
          <a:xfrm>
            <a:off x="6487668" y="2633471"/>
            <a:ext cx="4914900"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No es un sistema de cifrado completo: por sí solo únicamente sabe transformar 16 bytes.</a:t>
            </a:r>
          </a:p>
          <a:p>
            <a:pPr algn="l">
              <a:lnSpc>
                <a:spcPct val="128000"/>
              </a:lnSpc>
              <a:spcAft>
                <a:spcPts val="700"/>
              </a:spcAft>
            </a:pPr>
            <a:r>
              <a:rPr sz="1150" b="0">
                <a:solidFill>
                  <a:srgbClr val="000000"/>
                </a:solidFill>
                <a:latin typeface="Arial"/>
              </a:rPr>
              <a:t>No garantiza integridad ni autenticidad, salvo en los modos que lo añaden explícitamente.</a:t>
            </a:r>
          </a:p>
          <a:p>
            <a:pPr algn="l">
              <a:lnSpc>
                <a:spcPct val="128000"/>
              </a:lnSpc>
              <a:spcAft>
                <a:spcPts val="700"/>
              </a:spcAft>
            </a:pPr>
            <a:r>
              <a:rPr sz="1150" b="0">
                <a:solidFill>
                  <a:srgbClr val="000000"/>
                </a:solidFill>
                <a:latin typeface="Arial"/>
              </a:rPr>
              <a:t>«Cifrado con AES-256» no dice nada sobre la seguridad real si no se dice el modo y cómo se maneja la llave.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07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PROBLEMA DE LOS DIECISÉIS BYTES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AES cifra bloques de 16 bytes. Un archivo tiene millones. Alguien tiene que decidir cómo se encadenan esos bloques, y esa decisión —el modo de operación— importa más que el algoritmo.</a:t>
            </a:r>
          </a:p>
        </p:txBody>
      </p:sp>
      <p:sp>
        <p:nvSpPr>
          <p:cNvPr id="10" name="Rectangle 9"/>
          <p:cNvSpPr/>
          <p:nvPr/>
        </p:nvSpPr>
        <p:spPr>
          <a:xfrm>
            <a:off x="566928" y="2304287"/>
            <a:ext cx="11055096" cy="22603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PREGUNTA QUE RESUELVE EL MODO DE OPERACIÓN</a:t>
            </a:r>
          </a:p>
        </p:txBody>
      </p:sp>
      <p:sp>
        <p:nvSpPr>
          <p:cNvPr id="12" name="TextBox 11"/>
          <p:cNvSpPr txBox="1"/>
          <p:nvPr/>
        </p:nvSpPr>
        <p:spPr>
          <a:xfrm>
            <a:off x="768096" y="2633471"/>
            <a:ext cx="10652760" cy="183977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Un archivo de 1 MB  =  65.536 bloques de 16 bytes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AES sabe cifrar UN bloque. ¿Qué se hace con los otros 65.535?</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Opción A: cifrar cada uno por separado, igual             → modo ECB</a:t>
            </a:r>
          </a:p>
          <a:p>
            <a:pPr algn="l">
              <a:lnSpc>
                <a:spcPct val="130000"/>
              </a:lnSpc>
              <a:spcAft>
                <a:spcPts val="0"/>
              </a:spcAft>
            </a:pPr>
            <a:r>
              <a:rPr sz="950" b="0">
                <a:solidFill>
                  <a:srgbClr val="000000"/>
                </a:solidFill>
                <a:latin typeface="Consolas"/>
              </a:rPr>
              <a:t>  Opción B: encadenar cada bloque con el resultado anterior → modo CBC</a:t>
            </a:r>
          </a:p>
          <a:p>
            <a:pPr algn="l">
              <a:lnSpc>
                <a:spcPct val="130000"/>
              </a:lnSpc>
              <a:spcAft>
                <a:spcPts val="0"/>
              </a:spcAft>
            </a:pPr>
            <a:r>
              <a:rPr sz="950" b="0">
                <a:solidFill>
                  <a:srgbClr val="000000"/>
                </a:solidFill>
                <a:latin typeface="Consolas"/>
              </a:rPr>
              <a:t>  Opción C: cifrar un contador y combinarlo con el dato     → modo CTR</a:t>
            </a:r>
          </a:p>
          <a:p>
            <a:pPr algn="l">
              <a:lnSpc>
                <a:spcPct val="130000"/>
              </a:lnSpc>
              <a:spcAft>
                <a:spcPts val="0"/>
              </a:spcAft>
            </a:pPr>
            <a:r>
              <a:rPr sz="950" b="0">
                <a:solidFill>
                  <a:srgbClr val="000000"/>
                </a:solidFill>
                <a:latin typeface="Consolas"/>
              </a:rPr>
              <a:t>  Opción D: como C, y además calcular una etiqueta de       → modo GCM</a:t>
            </a:r>
          </a:p>
          <a:p>
            <a:pPr algn="l">
              <a:lnSpc>
                <a:spcPct val="130000"/>
              </a:lnSpc>
              <a:spcAft>
                <a:spcPts val="0"/>
              </a:spcAft>
            </a:pPr>
            <a:r>
              <a:rPr sz="950" b="0">
                <a:solidFill>
                  <a:srgbClr val="000000"/>
                </a:solidFill>
                <a:latin typeface="Consolas"/>
              </a:rPr>
              <a:t>            autenticación sobre todo el mensaje</a:t>
            </a:r>
          </a:p>
        </p:txBody>
      </p:sp>
      <p:sp>
        <p:nvSpPr>
          <p:cNvPr id="13" name="Rectangle 12"/>
          <p:cNvSpPr/>
          <p:nvPr/>
        </p:nvSpPr>
        <p:spPr>
          <a:xfrm>
            <a:off x="566928" y="4820716"/>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3900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FRASE QUE HAY QUE RECORDAR</a:t>
            </a:r>
          </a:p>
        </p:txBody>
      </p:sp>
      <p:sp>
        <p:nvSpPr>
          <p:cNvPr id="15" name="TextBox 14"/>
          <p:cNvSpPr txBox="1"/>
          <p:nvPr/>
        </p:nvSpPr>
        <p:spPr>
          <a:xfrm>
            <a:off x="804672" y="5076748"/>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algoritmo lo elige el estándar; </a:t>
            </a:r>
            <a:r>
              <a:rPr sz="1150" b="1">
                <a:solidFill>
                  <a:srgbClr val="2A2A2A"/>
                </a:solidFill>
                <a:latin typeface="Arial"/>
              </a:rPr>
              <a:t>el modo lo elige quien programa</a:t>
            </a:r>
            <a:r>
              <a:rPr sz="1150" b="0">
                <a:solidFill>
                  <a:srgbClr val="2A2A2A"/>
                </a:solidFill>
                <a:latin typeface="Arial"/>
              </a:rPr>
              <a:t>. Y ahí es donde se pierde la seguridad en la práctica.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08  DETALLE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QUÉ HACE AES CON ESOS DIECISÉIS BYTES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hace falta saber implementarlo, pero sí entender la idea, porque explica por qué es rápido y por qué resiste. AES aplica varias rondas de cuatro operaciones que mezclan y difunden.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6494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OPERACIÓN</a:t>
            </a:r>
          </a:p>
        </p:txBody>
      </p:sp>
      <p:sp>
        <p:nvSpPr>
          <p:cNvPr id="12" name="TextBox 11"/>
          <p:cNvSpPr txBox="1"/>
          <p:nvPr/>
        </p:nvSpPr>
        <p:spPr>
          <a:xfrm>
            <a:off x="3380952"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HACE</a:t>
            </a:r>
          </a:p>
        </p:txBody>
      </p:sp>
      <p:sp>
        <p:nvSpPr>
          <p:cNvPr id="13" name="TextBox 12"/>
          <p:cNvSpPr txBox="1"/>
          <p:nvPr/>
        </p:nvSpPr>
        <p:spPr>
          <a:xfrm>
            <a:off x="7199985"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PARA QUÉ SIRVE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Sustitución de bytes</a:t>
            </a:r>
          </a:p>
        </p:txBody>
      </p:sp>
      <p:sp>
        <p:nvSpPr>
          <p:cNvPr id="16" name="TextBox 15"/>
          <p:cNvSpPr txBox="1"/>
          <p:nvPr/>
        </p:nvSpPr>
        <p:spPr>
          <a:xfrm>
            <a:off x="3380952"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byte se reemplaza según una tabla fija y pública</a:t>
            </a:r>
          </a:p>
        </p:txBody>
      </p:sp>
      <p:sp>
        <p:nvSpPr>
          <p:cNvPr id="17" name="TextBox 16"/>
          <p:cNvSpPr txBox="1"/>
          <p:nvPr/>
        </p:nvSpPr>
        <p:spPr>
          <a:xfrm>
            <a:off x="7199985" y="2825495"/>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Introduce no linealidad: impide despejar el dato con álgebra sencilla</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Desplazamiento de filas</a:t>
            </a:r>
          </a:p>
        </p:txBody>
      </p:sp>
      <p:sp>
        <p:nvSpPr>
          <p:cNvPr id="20" name="TextBox 19"/>
          <p:cNvSpPr txBox="1"/>
          <p:nvPr/>
        </p:nvSpPr>
        <p:spPr>
          <a:xfrm>
            <a:off x="3380952" y="33653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bytes del bloque cambian de posición</a:t>
            </a:r>
          </a:p>
        </p:txBody>
      </p:sp>
      <p:sp>
        <p:nvSpPr>
          <p:cNvPr id="21" name="TextBox 20"/>
          <p:cNvSpPr txBox="1"/>
          <p:nvPr/>
        </p:nvSpPr>
        <p:spPr>
          <a:xfrm>
            <a:off x="7199985" y="3365357"/>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Difunde: un byte de entrada acaba influyendo en muchos de salida</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649432"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Mezcla de columnas</a:t>
            </a:r>
          </a:p>
        </p:txBody>
      </p:sp>
      <p:sp>
        <p:nvSpPr>
          <p:cNvPr id="24" name="TextBox 23"/>
          <p:cNvSpPr txBox="1"/>
          <p:nvPr/>
        </p:nvSpPr>
        <p:spPr>
          <a:xfrm>
            <a:off x="3380952" y="3905219"/>
            <a:ext cx="3654441"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columna se combina consigo misma</a:t>
            </a:r>
          </a:p>
        </p:txBody>
      </p:sp>
      <p:sp>
        <p:nvSpPr>
          <p:cNvPr id="25" name="TextBox 24"/>
          <p:cNvSpPr txBox="1"/>
          <p:nvPr/>
        </p:nvSpPr>
        <p:spPr>
          <a:xfrm>
            <a:off x="7199985" y="3905219"/>
            <a:ext cx="425744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Difunde todavía más, dentro del bloque</a:t>
            </a:r>
          </a:p>
        </p:txBody>
      </p:sp>
      <p:sp>
        <p:nvSpPr>
          <p:cNvPr id="26" name="Rectangle 25"/>
          <p:cNvSpPr/>
          <p:nvPr/>
        </p:nvSpPr>
        <p:spPr>
          <a:xfrm>
            <a:off x="566928" y="42709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62419"/>
            <a:ext cx="26494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Suma de la llave de ronda</a:t>
            </a:r>
          </a:p>
        </p:txBody>
      </p:sp>
      <p:sp>
        <p:nvSpPr>
          <p:cNvPr id="28" name="TextBox 27"/>
          <p:cNvSpPr txBox="1"/>
          <p:nvPr/>
        </p:nvSpPr>
        <p:spPr>
          <a:xfrm>
            <a:off x="3380952" y="43624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combina el bloque con una llave derivada de la principal</a:t>
            </a:r>
          </a:p>
        </p:txBody>
      </p:sp>
      <p:sp>
        <p:nvSpPr>
          <p:cNvPr id="29" name="TextBox 28"/>
          <p:cNvSpPr txBox="1"/>
          <p:nvPr/>
        </p:nvSpPr>
        <p:spPr>
          <a:xfrm>
            <a:off x="7199985" y="4362419"/>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lo único que depende del secreto</a:t>
            </a:r>
          </a:p>
        </p:txBody>
      </p:sp>
      <p:sp>
        <p:nvSpPr>
          <p:cNvPr id="30" name="Rectangle 29"/>
          <p:cNvSpPr/>
          <p:nvPr/>
        </p:nvSpPr>
        <p:spPr>
          <a:xfrm>
            <a:off x="566928" y="48108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86570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167457"/>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18574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DATO QUE IMPORTA PARA LA PRÁCTICA</a:t>
            </a:r>
          </a:p>
        </p:txBody>
      </p:sp>
      <p:sp>
        <p:nvSpPr>
          <p:cNvPr id="34" name="TextBox 33"/>
          <p:cNvSpPr txBox="1"/>
          <p:nvPr/>
        </p:nvSpPr>
        <p:spPr>
          <a:xfrm>
            <a:off x="804672" y="5423489"/>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Todo lo anterior es público y está en el estándar. Lo único secreto es la llave, y por eso cambiar un bit de la llave cambia por completo la salida. </a:t>
            </a:r>
            <a:r>
              <a:rPr sz="1150" b="1">
                <a:solidFill>
                  <a:srgbClr val="2A2A2A"/>
                </a:solidFill>
                <a:latin typeface="Arial"/>
              </a:rPr>
              <a:t>Diez, doce o catorce rondas según la longitud de llave.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09  DECISIÓN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128, 192 O 256: CUÁNDO IMPORTA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12</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Pregunta frecuente, con una respuesta menos dramática de lo que la gente espera.</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164442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LONGITUD</a:t>
            </a:r>
          </a:p>
        </p:txBody>
      </p:sp>
      <p:sp>
        <p:nvSpPr>
          <p:cNvPr id="12" name="TextBox 11"/>
          <p:cNvSpPr txBox="1"/>
          <p:nvPr/>
        </p:nvSpPr>
        <p:spPr>
          <a:xfrm>
            <a:off x="2375943" y="2185415"/>
            <a:ext cx="325243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INTENTOS PARA AGOTARLA</a:t>
            </a:r>
          </a:p>
        </p:txBody>
      </p:sp>
      <p:sp>
        <p:nvSpPr>
          <p:cNvPr id="13" name="TextBox 12"/>
          <p:cNvSpPr txBox="1"/>
          <p:nvPr/>
        </p:nvSpPr>
        <p:spPr>
          <a:xfrm>
            <a:off x="5792973" y="2185415"/>
            <a:ext cx="566445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CUÁNDO SE JUSTIFICA</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1644423"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AES-128</a:t>
            </a:r>
          </a:p>
        </p:txBody>
      </p:sp>
      <p:sp>
        <p:nvSpPr>
          <p:cNvPr id="16" name="TextBox 15"/>
          <p:cNvSpPr txBox="1"/>
          <p:nvPr/>
        </p:nvSpPr>
        <p:spPr>
          <a:xfrm>
            <a:off x="2375943" y="2587751"/>
            <a:ext cx="3252437"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Del orden de 3,4 × 10³⁸</a:t>
            </a:r>
          </a:p>
        </p:txBody>
      </p:sp>
      <p:sp>
        <p:nvSpPr>
          <p:cNvPr id="17" name="TextBox 16"/>
          <p:cNvSpPr txBox="1"/>
          <p:nvPr/>
        </p:nvSpPr>
        <p:spPr>
          <a:xfrm>
            <a:off x="5792973" y="2587751"/>
            <a:ext cx="5664458"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Inalcanzable con tecnología clásica. Suficiente para la mayoría de los datos</a:t>
            </a:r>
          </a:p>
        </p:txBody>
      </p:sp>
      <p:sp>
        <p:nvSpPr>
          <p:cNvPr id="18" name="Rectangle 17"/>
          <p:cNvSpPr/>
          <p:nvPr/>
        </p:nvSpPr>
        <p:spPr>
          <a:xfrm>
            <a:off x="566928" y="299008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81527"/>
            <a:ext cx="1644423"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AES-192</a:t>
            </a:r>
          </a:p>
        </p:txBody>
      </p:sp>
      <p:sp>
        <p:nvSpPr>
          <p:cNvPr id="20" name="TextBox 19"/>
          <p:cNvSpPr txBox="1"/>
          <p:nvPr/>
        </p:nvSpPr>
        <p:spPr>
          <a:xfrm>
            <a:off x="2375943" y="3081527"/>
            <a:ext cx="3252437"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Del orden de 6,3 × 10⁵⁷</a:t>
            </a:r>
          </a:p>
        </p:txBody>
      </p:sp>
      <p:sp>
        <p:nvSpPr>
          <p:cNvPr id="21" name="TextBox 20"/>
          <p:cNvSpPr txBox="1"/>
          <p:nvPr/>
        </p:nvSpPr>
        <p:spPr>
          <a:xfrm>
            <a:off x="5792973" y="3081527"/>
            <a:ext cx="5664458"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Poco usado. Existe sobre todo por requisitos normativos específicos</a:t>
            </a:r>
          </a:p>
        </p:txBody>
      </p:sp>
      <p:sp>
        <p:nvSpPr>
          <p:cNvPr id="22" name="Rectangle 21"/>
          <p:cNvSpPr/>
          <p:nvPr/>
        </p:nvSpPr>
        <p:spPr>
          <a:xfrm>
            <a:off x="566928" y="34838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75303"/>
            <a:ext cx="1644423"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AES-256</a:t>
            </a:r>
          </a:p>
        </p:txBody>
      </p:sp>
      <p:sp>
        <p:nvSpPr>
          <p:cNvPr id="24" name="TextBox 23"/>
          <p:cNvSpPr txBox="1"/>
          <p:nvPr/>
        </p:nvSpPr>
        <p:spPr>
          <a:xfrm>
            <a:off x="2375943" y="3575303"/>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Del orden de 1,2 × 10⁷⁷</a:t>
            </a:r>
          </a:p>
        </p:txBody>
      </p:sp>
      <p:sp>
        <p:nvSpPr>
          <p:cNvPr id="25" name="TextBox 24"/>
          <p:cNvSpPr txBox="1"/>
          <p:nvPr/>
        </p:nvSpPr>
        <p:spPr>
          <a:xfrm>
            <a:off x="5792973" y="3575303"/>
            <a:ext cx="566445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Datos de vida larga y entornos regulados. Es la elección por defecto cuando el costo no importa</a:t>
            </a:r>
          </a:p>
        </p:txBody>
      </p:sp>
      <p:sp>
        <p:nvSpPr>
          <p:cNvPr id="26" name="Rectangle 25"/>
          <p:cNvSpPr/>
          <p:nvPr/>
        </p:nvSpPr>
        <p:spPr>
          <a:xfrm>
            <a:off x="566928" y="402372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07858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380341"/>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39862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RESPUESTA HONESTA</a:t>
            </a:r>
          </a:p>
        </p:txBody>
      </p:sp>
      <p:sp>
        <p:nvSpPr>
          <p:cNvPr id="30" name="TextBox 29"/>
          <p:cNvSpPr txBox="1"/>
          <p:nvPr/>
        </p:nvSpPr>
        <p:spPr>
          <a:xfrm>
            <a:off x="804672" y="4636373"/>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Nadie ha roto AES-128 ni está cerca. Subir a 256 es barato, así que se hace por prudencia y por norma, no porque 128 esté en riesgo. </a:t>
            </a:r>
            <a:r>
              <a:rPr sz="1150" b="1">
                <a:solidFill>
                  <a:srgbClr val="2A2A2A"/>
                </a:solidFill>
                <a:latin typeface="Arial"/>
              </a:rPr>
              <a:t>Discutir la longitud de llave mientras la llave está incrustada en el código es el tipo de conversación que le costó $71 millones a Coopaburrá.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10  MODO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ECB: CADA BLOQUE POR SU CUENTA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modo más simple: se parte el dato en bloques y se cifra cada uno con la misma llave, de forma independiente. Es rápido, se puede paralelizar y es la opción por defecto de muchas bibliotecas antiguas. Tiene un defecto que se ve a simple vista.</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PROPIEDAD QUE LO ARRUINA</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Bloques iguales de entrada  →  bloques iguales de salida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«SALDO: 1000000»  →  A7F3...  ┐</a:t>
            </a:r>
          </a:p>
          <a:p>
            <a:pPr algn="l">
              <a:lnSpc>
                <a:spcPct val="130000"/>
              </a:lnSpc>
              <a:spcAft>
                <a:spcPts val="0"/>
              </a:spcAft>
            </a:pPr>
            <a:r>
              <a:rPr sz="950" b="0">
                <a:solidFill>
                  <a:srgbClr val="000000"/>
                </a:solidFill>
                <a:latin typeface="Consolas"/>
              </a:rPr>
              <a:t>  «SALDO: 1000000»  →  A7F3...  ├─ siempre el mismo resultado</a:t>
            </a:r>
          </a:p>
          <a:p>
            <a:pPr algn="l">
              <a:lnSpc>
                <a:spcPct val="130000"/>
              </a:lnSpc>
              <a:spcAft>
                <a:spcPts val="0"/>
              </a:spcAft>
            </a:pPr>
            <a:r>
              <a:rPr sz="950" b="0">
                <a:solidFill>
                  <a:srgbClr val="000000"/>
                </a:solidFill>
                <a:latin typeface="Consolas"/>
              </a:rPr>
              <a:t>  «SALDO: 1000000»  →  A7F3...  ┘</a:t>
            </a:r>
          </a:p>
        </p:txBody>
      </p:sp>
      <p:sp>
        <p:nvSpPr>
          <p:cNvPr id="13" name="Rectangle 12"/>
          <p:cNvSpPr/>
          <p:nvPr/>
        </p:nvSpPr>
        <p:spPr>
          <a:xfrm>
            <a:off x="566928" y="3986784"/>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0507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CONSECUENCIA</a:t>
            </a:r>
          </a:p>
        </p:txBody>
      </p:sp>
      <p:sp>
        <p:nvSpPr>
          <p:cNvPr id="15" name="TextBox 14"/>
          <p:cNvSpPr txBox="1"/>
          <p:nvPr/>
        </p:nvSpPr>
        <p:spPr>
          <a:xfrm>
            <a:off x="804672" y="4242816"/>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cifrado oculta el contenido de cada bloque, pero </a:t>
            </a:r>
            <a:r>
              <a:rPr sz="1150" b="1">
                <a:solidFill>
                  <a:srgbClr val="2A2A2A"/>
                </a:solidFill>
                <a:latin typeface="Arial"/>
              </a:rPr>
              <a:t>no oculta la estructura del dato</a:t>
            </a:r>
            <a:r>
              <a:rPr sz="1150" b="0">
                <a:solidFill>
                  <a:srgbClr val="2A2A2A"/>
                </a:solidFill>
                <a:latin typeface="Arial"/>
              </a:rPr>
              <a:t>: los patrones del original sobreviven intactos en el texto cifrado. En la siguiente diapositiva lo vamos a ver con algo que todos reconocen.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11  DEMOSTRACIÓN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ESCUDO DE LA INSTITUCIÓN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14</a:t>
            </a:r>
          </a:p>
        </p:txBody>
      </p:sp>
      <p:sp>
        <p:nvSpPr>
          <p:cNvPr id="9" name="TextBox 8"/>
          <p:cNvSpPr txBox="1"/>
          <p:nvPr/>
        </p:nvSpPr>
        <p:spPr>
          <a:xfrm>
            <a:off x="566928" y="1554480"/>
            <a:ext cx="11055096" cy="713232"/>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Tomamos el escudo de la IUE, lo guardamos como imagen y ciframos los píxeles con AES-256, conservando solo la cabecera del archivo para poder abrirlo. Llave de 256 bits generada al azar. A la izquierda el original; a la derecha, el mismo escudo cifrado en modo ECB.</a:t>
            </a:r>
          </a:p>
        </p:txBody>
      </p:sp>
      <p:pic>
        <p:nvPicPr>
          <p:cNvPr id="10" name="Picture 9" descr="01_original_web.png"/>
          <p:cNvPicPr>
            <a:picLocks noChangeAspect="1"/>
          </p:cNvPicPr>
          <p:nvPr/>
        </p:nvPicPr>
        <p:blipFill>
          <a:blip r:embed="rId3"/>
          <a:stretch>
            <a:fillRect/>
          </a:stretch>
        </p:blipFill>
        <p:spPr>
          <a:xfrm>
            <a:off x="1737360" y="2587751"/>
            <a:ext cx="2103120" cy="2103120"/>
          </a:xfrm>
          <a:prstGeom prst="rect">
            <a:avLst/>
          </a:prstGeom>
        </p:spPr>
      </p:pic>
      <p:sp>
        <p:nvSpPr>
          <p:cNvPr id="11" name="TextBox 10"/>
          <p:cNvSpPr txBox="1"/>
          <p:nvPr/>
        </p:nvSpPr>
        <p:spPr>
          <a:xfrm>
            <a:off x="1737360" y="4782311"/>
            <a:ext cx="2103120" cy="402336"/>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ORIGINAL
SIN CIFRAR</a:t>
            </a:r>
          </a:p>
        </p:txBody>
      </p:sp>
      <p:pic>
        <p:nvPicPr>
          <p:cNvPr id="12" name="Picture 11" descr="02_cifrado_ECB_web.png"/>
          <p:cNvPicPr>
            <a:picLocks noChangeAspect="1"/>
          </p:cNvPicPr>
          <p:nvPr/>
        </p:nvPicPr>
        <p:blipFill>
          <a:blip r:embed="rId4"/>
          <a:stretch>
            <a:fillRect/>
          </a:stretch>
        </p:blipFill>
        <p:spPr>
          <a:xfrm>
            <a:off x="4892040" y="2587751"/>
            <a:ext cx="2103120" cy="2103120"/>
          </a:xfrm>
          <a:prstGeom prst="rect">
            <a:avLst/>
          </a:prstGeom>
        </p:spPr>
      </p:pic>
      <p:sp>
        <p:nvSpPr>
          <p:cNvPr id="13" name="TextBox 12"/>
          <p:cNvSpPr txBox="1"/>
          <p:nvPr/>
        </p:nvSpPr>
        <p:spPr>
          <a:xfrm>
            <a:off x="4892040" y="4782311"/>
            <a:ext cx="2103120" cy="402336"/>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CIFRADO CON AES-256
EN MODO ECB</a:t>
            </a:r>
          </a:p>
        </p:txBody>
      </p:sp>
      <p:sp>
        <p:nvSpPr>
          <p:cNvPr id="14" name="TextBox 13"/>
          <p:cNvSpPr txBox="1"/>
          <p:nvPr/>
        </p:nvSpPr>
        <p:spPr>
          <a:xfrm>
            <a:off x="8092440" y="3090672"/>
            <a:ext cx="3474720" cy="1280160"/>
          </a:xfrm>
          <a:prstGeom prst="rect">
            <a:avLst/>
          </a:prstGeom>
          <a:noFill/>
        </p:spPr>
        <p:txBody>
          <a:bodyPr wrap="square" lIns="0" rIns="0" tIns="0" bIns="0">
            <a:spAutoFit/>
          </a:bodyPr>
          <a:lstStyle/>
          <a:p>
            <a:pPr algn="l">
              <a:lnSpc>
                <a:spcPct val="132000"/>
              </a:lnSpc>
              <a:spcAft>
                <a:spcPts val="0"/>
              </a:spcAft>
            </a:pPr>
            <a:r>
              <a:rPr sz="1200" b="1">
                <a:solidFill>
                  <a:srgbClr val="000000"/>
                </a:solidFill>
                <a:latin typeface="Arial"/>
              </a:rPr>
              <a:t>Esto está cifrado con AES-256, el mismo algoritmo que protege secretos de Estado. Y el escudo se sigue reconociendo perfectamente.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12  DEMOSTRACIÓN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EL MISMO ESCUDO, EL MISMO ALGORITMO, OTRO MODO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Idéntica imagen, idéntico AES-256, idéntica longitud de llave. Lo único que cambió fue el modo de operación: en vez de cifrar cada bloque por separado, cada bloque se encadena con el resultado del anterior.</a:t>
            </a:r>
          </a:p>
        </p:txBody>
      </p:sp>
      <p:pic>
        <p:nvPicPr>
          <p:cNvPr id="10" name="Picture 9" descr="02_cifrado_ECB_web.png"/>
          <p:cNvPicPr>
            <a:picLocks noChangeAspect="1"/>
          </p:cNvPicPr>
          <p:nvPr/>
        </p:nvPicPr>
        <p:blipFill>
          <a:blip r:embed="rId3"/>
          <a:stretch>
            <a:fillRect/>
          </a:stretch>
        </p:blipFill>
        <p:spPr>
          <a:xfrm>
            <a:off x="1737360" y="2350007"/>
            <a:ext cx="2103120" cy="2103120"/>
          </a:xfrm>
          <a:prstGeom prst="rect">
            <a:avLst/>
          </a:prstGeom>
        </p:spPr>
      </p:pic>
      <p:sp>
        <p:nvSpPr>
          <p:cNvPr id="11" name="TextBox 10"/>
          <p:cNvSpPr txBox="1"/>
          <p:nvPr/>
        </p:nvSpPr>
        <p:spPr>
          <a:xfrm>
            <a:off x="1737360" y="4544567"/>
            <a:ext cx="2103120" cy="402336"/>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MODO ECB
CADA BLOQUE POR SEPARADO</a:t>
            </a:r>
          </a:p>
        </p:txBody>
      </p:sp>
      <p:pic>
        <p:nvPicPr>
          <p:cNvPr id="12" name="Picture 11" descr="03_cifrado_CBC_web.png"/>
          <p:cNvPicPr>
            <a:picLocks noChangeAspect="1"/>
          </p:cNvPicPr>
          <p:nvPr/>
        </p:nvPicPr>
        <p:blipFill>
          <a:blip r:embed="rId4"/>
          <a:stretch>
            <a:fillRect/>
          </a:stretch>
        </p:blipFill>
        <p:spPr>
          <a:xfrm>
            <a:off x="4892040" y="2350007"/>
            <a:ext cx="2103120" cy="2103120"/>
          </a:xfrm>
          <a:prstGeom prst="rect">
            <a:avLst/>
          </a:prstGeom>
        </p:spPr>
      </p:pic>
      <p:sp>
        <p:nvSpPr>
          <p:cNvPr id="13" name="TextBox 12"/>
          <p:cNvSpPr txBox="1"/>
          <p:nvPr/>
        </p:nvSpPr>
        <p:spPr>
          <a:xfrm>
            <a:off x="4892040" y="4544567"/>
            <a:ext cx="2103120" cy="402336"/>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MODO CBC
BLOQUES ENCADENADOS</a:t>
            </a:r>
          </a:p>
        </p:txBody>
      </p:sp>
      <p:sp>
        <p:nvSpPr>
          <p:cNvPr id="14" name="TextBox 13"/>
          <p:cNvSpPr txBox="1"/>
          <p:nvPr/>
        </p:nvSpPr>
        <p:spPr>
          <a:xfrm>
            <a:off x="8092440" y="2852927"/>
            <a:ext cx="3474720" cy="1280160"/>
          </a:xfrm>
          <a:prstGeom prst="rect">
            <a:avLst/>
          </a:prstGeom>
          <a:noFill/>
        </p:spPr>
        <p:txBody>
          <a:bodyPr wrap="square" lIns="0" rIns="0" tIns="0" bIns="0">
            <a:spAutoFit/>
          </a:bodyPr>
          <a:lstStyle/>
          <a:p>
            <a:pPr algn="l">
              <a:lnSpc>
                <a:spcPct val="132000"/>
              </a:lnSpc>
              <a:spcAft>
                <a:spcPts val="0"/>
              </a:spcAft>
            </a:pPr>
            <a:r>
              <a:rPr sz="1200" b="1">
                <a:solidFill>
                  <a:srgbClr val="000000"/>
                </a:solidFill>
                <a:latin typeface="Arial"/>
              </a:rPr>
              <a:t>La diferencia no está en el algoritmo ni en la llave. Está en una decisión de una línea de código que muchas veces se toma sin pensar.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13  EXPLICACIÓN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POR QUÉ PASA ESO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escudo tiene grandes zonas de un solo color. Cada zona uniforme produce bloques de entrada idénticos, y en ECB los bloques idénticos producen salidas idénticas. El contorno del escudo queda dibujado por la frontera entre zonas.</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ECB SÍ OCULTA</a:t>
            </a:r>
          </a:p>
        </p:txBody>
      </p:sp>
      <p:sp>
        <p:nvSpPr>
          <p:cNvPr id="11" name="TextBox 10"/>
          <p:cNvSpPr txBox="1"/>
          <p:nvPr/>
        </p:nvSpPr>
        <p:spPr>
          <a:xfrm>
            <a:off x="566928" y="2578607"/>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valor concreto de cada píxel. Nadie puede saber que el naranja era exactamente ese naranja.</a:t>
            </a:r>
          </a:p>
          <a:p>
            <a:pPr algn="l">
              <a:lnSpc>
                <a:spcPct val="128000"/>
              </a:lnSpc>
              <a:spcAft>
                <a:spcPts val="700"/>
              </a:spcAft>
            </a:pPr>
            <a:r>
              <a:rPr sz="1150" b="0">
                <a:solidFill>
                  <a:srgbClr val="000000"/>
                </a:solidFill>
                <a:latin typeface="Arial"/>
              </a:rPr>
              <a:t>Cada bloque, tomado aislado, es indescifrable sin la llave.</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ECB NO OCULTA</a:t>
            </a:r>
          </a:p>
        </p:txBody>
      </p:sp>
      <p:sp>
        <p:nvSpPr>
          <p:cNvPr id="13" name="TextBox 12"/>
          <p:cNvSpPr txBox="1"/>
          <p:nvPr/>
        </p:nvSpPr>
        <p:spPr>
          <a:xfrm>
            <a:off x="6368796" y="2578607"/>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Qué bloques se repiten y dónde. Es decir: la estructura, los patrones y la forma.</a:t>
            </a:r>
          </a:p>
          <a:p>
            <a:pPr algn="l">
              <a:lnSpc>
                <a:spcPct val="128000"/>
              </a:lnSpc>
              <a:spcAft>
                <a:spcPts val="700"/>
              </a:spcAft>
            </a:pPr>
            <a:r>
              <a:rPr sz="1150" b="0">
                <a:solidFill>
                  <a:srgbClr val="000000"/>
                </a:solidFill>
                <a:latin typeface="Arial"/>
              </a:rPr>
              <a:t>En una imagen se ve. En una base de datos también: todos los registros con el mismo saldo, la misma ciudad o el mismo estado se delatan solos.</a:t>
            </a:r>
          </a:p>
        </p:txBody>
      </p:sp>
      <p:sp>
        <p:nvSpPr>
          <p:cNvPr id="14" name="Rectangle 13"/>
          <p:cNvSpPr/>
          <p:nvPr/>
        </p:nvSpPr>
        <p:spPr>
          <a:xfrm>
            <a:off x="6085332" y="2304287"/>
            <a:ext cx="9144" cy="17830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343400"/>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3616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DONDE ESTO IMPORTA DE VERDAD</a:t>
            </a:r>
          </a:p>
        </p:txBody>
      </p:sp>
      <p:sp>
        <p:nvSpPr>
          <p:cNvPr id="17" name="TextBox 16"/>
          <p:cNvSpPr txBox="1"/>
          <p:nvPr/>
        </p:nvSpPr>
        <p:spPr>
          <a:xfrm>
            <a:off x="804672" y="4599432"/>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No en imágenes: casi nadie cifra imágenes con ECB. Importa en </a:t>
            </a:r>
            <a:r>
              <a:rPr sz="1150" b="1">
                <a:solidFill>
                  <a:srgbClr val="2A2A2A"/>
                </a:solidFill>
                <a:latin typeface="Arial"/>
              </a:rPr>
              <a:t>bases de datos cifradas campo por campo</a:t>
            </a:r>
            <a:r>
              <a:rPr sz="1150" b="0">
                <a:solidFill>
                  <a:srgbClr val="2A2A2A"/>
                </a:solidFill>
                <a:latin typeface="Arial"/>
              </a:rPr>
              <a:t>, donde permite contar cuántos registros comparten un valor y, con eso, deducir cuál 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14  MODO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CBC Y EL VECTOR DE INICIALIZACIÓN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Encadenamiento de bloques: antes de cifrar, cada bloque se combina con el texto cifrado del bloque anterior. El primero no tiene anterior, así que se le da un valor de arranque: el vector de inicialización.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99400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ASPECTO</a:t>
            </a:r>
          </a:p>
        </p:txBody>
      </p:sp>
      <p:sp>
        <p:nvSpPr>
          <p:cNvPr id="12" name="TextBox 11"/>
          <p:cNvSpPr txBox="1"/>
          <p:nvPr/>
        </p:nvSpPr>
        <p:spPr>
          <a:xfrm>
            <a:off x="3725526" y="2423159"/>
            <a:ext cx="398106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REGLA</a:t>
            </a:r>
          </a:p>
        </p:txBody>
      </p:sp>
      <p:sp>
        <p:nvSpPr>
          <p:cNvPr id="13" name="TextBox 12"/>
          <p:cNvSpPr txBox="1"/>
          <p:nvPr/>
        </p:nvSpPr>
        <p:spPr>
          <a:xfrm>
            <a:off x="7871187" y="2423159"/>
            <a:ext cx="35862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 SE INCUMPLE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99400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vector es público</a:t>
            </a:r>
          </a:p>
        </p:txBody>
      </p:sp>
      <p:sp>
        <p:nvSpPr>
          <p:cNvPr id="16" name="TextBox 15"/>
          <p:cNvSpPr txBox="1"/>
          <p:nvPr/>
        </p:nvSpPr>
        <p:spPr>
          <a:xfrm>
            <a:off x="3725526" y="2825495"/>
            <a:ext cx="39810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Viaja junto al texto cifrado. No es secreto y no hace falta que lo sea</a:t>
            </a:r>
          </a:p>
        </p:txBody>
      </p:sp>
      <p:sp>
        <p:nvSpPr>
          <p:cNvPr id="17" name="TextBox 16"/>
          <p:cNvSpPr txBox="1"/>
          <p:nvPr/>
        </p:nvSpPr>
        <p:spPr>
          <a:xfrm>
            <a:off x="7871187" y="2825495"/>
            <a:ext cx="35862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es correcto que se conozca</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99400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vector debe ser impredecible</a:t>
            </a:r>
          </a:p>
        </p:txBody>
      </p:sp>
      <p:sp>
        <p:nvSpPr>
          <p:cNvPr id="20" name="TextBox 19"/>
          <p:cNvSpPr txBox="1"/>
          <p:nvPr/>
        </p:nvSpPr>
        <p:spPr>
          <a:xfrm>
            <a:off x="3725526" y="3365357"/>
            <a:ext cx="39810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genera al azar para cada mensaje, con un generador criptográfico</a:t>
            </a:r>
          </a:p>
        </p:txBody>
      </p:sp>
      <p:sp>
        <p:nvSpPr>
          <p:cNvPr id="21" name="TextBox 20"/>
          <p:cNvSpPr txBox="1"/>
          <p:nvPr/>
        </p:nvSpPr>
        <p:spPr>
          <a:xfrm>
            <a:off x="7871187" y="3365357"/>
            <a:ext cx="35862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atacante puede comprobar si adivinó el contenido de un mensaje</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994006"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El vector nunca se repite con la misma llave</a:t>
            </a:r>
          </a:p>
        </p:txBody>
      </p:sp>
      <p:sp>
        <p:nvSpPr>
          <p:cNvPr id="24" name="TextBox 23"/>
          <p:cNvSpPr txBox="1"/>
          <p:nvPr/>
        </p:nvSpPr>
        <p:spPr>
          <a:xfrm>
            <a:off x="3725526" y="3905219"/>
            <a:ext cx="39810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cifrado, un vector nuevo</a:t>
            </a:r>
          </a:p>
        </p:txBody>
      </p:sp>
      <p:sp>
        <p:nvSpPr>
          <p:cNvPr id="25" name="TextBox 24"/>
          <p:cNvSpPr txBox="1"/>
          <p:nvPr/>
        </p:nvSpPr>
        <p:spPr>
          <a:xfrm>
            <a:off x="7871187" y="3905219"/>
            <a:ext cx="35862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Dos mensajes iguales se delatan, y vuelve el problema del martes: la llave repetida</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299400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CBC no da integridad</a:t>
            </a:r>
          </a:p>
        </p:txBody>
      </p:sp>
      <p:sp>
        <p:nvSpPr>
          <p:cNvPr id="28" name="TextBox 27"/>
          <p:cNvSpPr txBox="1"/>
          <p:nvPr/>
        </p:nvSpPr>
        <p:spPr>
          <a:xfrm>
            <a:off x="3725526" y="4445081"/>
            <a:ext cx="398106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Detecta ruido, no manipulación deliberada</a:t>
            </a:r>
          </a:p>
        </p:txBody>
      </p:sp>
      <p:sp>
        <p:nvSpPr>
          <p:cNvPr id="29" name="TextBox 28"/>
          <p:cNvSpPr txBox="1"/>
          <p:nvPr/>
        </p:nvSpPr>
        <p:spPr>
          <a:xfrm>
            <a:off x="7871187" y="4445081"/>
            <a:ext cx="35862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atacante puede alterar el texto cifrado para producir cambios controlados en el claro</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15  DETALLE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RELLENO Y POR QUÉ EXISTE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AES cifra bloques completos de 16 bytes. Si el dato no es múltiplo exacto, hay que completarlo. Ese relleno parece un detalle administrativo y ha sido el origen de ataques muy serios.</a:t>
            </a:r>
          </a:p>
        </p:txBody>
      </p:sp>
      <p:sp>
        <p:nvSpPr>
          <p:cNvPr id="10" name="Rectangle 9"/>
          <p:cNvSpPr/>
          <p:nvPr/>
        </p:nvSpPr>
        <p:spPr>
          <a:xfrm>
            <a:off x="566928" y="2304287"/>
            <a:ext cx="11055096" cy="163494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POR QUÉ SOBRAN BYTES Y CÓMO SE COMPLETAN</a:t>
            </a:r>
          </a:p>
        </p:txBody>
      </p:sp>
      <p:sp>
        <p:nvSpPr>
          <p:cNvPr id="12" name="TextBox 11"/>
          <p:cNvSpPr txBox="1"/>
          <p:nvPr/>
        </p:nvSpPr>
        <p:spPr>
          <a:xfrm>
            <a:off x="768096" y="2633471"/>
            <a:ext cx="10652760" cy="121432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Mensaje de 29 bytes  →  dos bloques (32) y sobran 3 por llenar</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 bloque 1: 16 bytes ][ bloque 2: 13 de dato + 3 de relleno ]</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El esquema habitual rellena con el número de bytes añadidos: 03 03 03</a:t>
            </a:r>
          </a:p>
          <a:p>
            <a:pPr algn="l">
              <a:lnSpc>
                <a:spcPct val="130000"/>
              </a:lnSpc>
              <a:spcAft>
                <a:spcPts val="0"/>
              </a:spcAft>
            </a:pPr>
            <a:r>
              <a:rPr sz="950" b="0">
                <a:solidFill>
                  <a:srgbClr val="000000"/>
                </a:solidFill>
                <a:latin typeface="Consolas"/>
              </a:rPr>
              <a:t>Al descifrar se lee el último byte y se quita esa cantidad.</a:t>
            </a:r>
          </a:p>
        </p:txBody>
      </p:sp>
      <p:sp>
        <p:nvSpPr>
          <p:cNvPr id="13" name="TextBox 12"/>
          <p:cNvSpPr txBox="1"/>
          <p:nvPr/>
        </p:nvSpPr>
        <p:spPr>
          <a:xfrm>
            <a:off x="566928" y="419526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PROBLEMA</a:t>
            </a:r>
          </a:p>
        </p:txBody>
      </p:sp>
      <p:sp>
        <p:nvSpPr>
          <p:cNvPr id="14" name="TextBox 13"/>
          <p:cNvSpPr txBox="1"/>
          <p:nvPr/>
        </p:nvSpPr>
        <p:spPr>
          <a:xfrm>
            <a:off x="566928" y="4469587"/>
            <a:ext cx="5253228" cy="14173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Al descifrar hay que verificar que el relleno sea válido.</a:t>
            </a:r>
          </a:p>
          <a:p>
            <a:pPr algn="l">
              <a:lnSpc>
                <a:spcPct val="128000"/>
              </a:lnSpc>
              <a:spcAft>
                <a:spcPts val="700"/>
              </a:spcAft>
            </a:pPr>
            <a:r>
              <a:rPr sz="1150" b="0">
                <a:solidFill>
                  <a:srgbClr val="000000"/>
                </a:solidFill>
                <a:latin typeface="Arial"/>
              </a:rPr>
              <a:t>Si el sistema responde distinto cuando el relleno es inválido, con otro mensaje de error o con otro tiempo de respuesta, esa diferencia revela información.</a:t>
            </a:r>
          </a:p>
        </p:txBody>
      </p:sp>
      <p:sp>
        <p:nvSpPr>
          <p:cNvPr id="15" name="TextBox 14"/>
          <p:cNvSpPr txBox="1"/>
          <p:nvPr/>
        </p:nvSpPr>
        <p:spPr>
          <a:xfrm>
            <a:off x="6368796" y="419526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ORÁCULO DE RELLENO</a:t>
            </a:r>
          </a:p>
        </p:txBody>
      </p:sp>
      <p:sp>
        <p:nvSpPr>
          <p:cNvPr id="16" name="TextBox 15"/>
          <p:cNvSpPr txBox="1"/>
          <p:nvPr/>
        </p:nvSpPr>
        <p:spPr>
          <a:xfrm>
            <a:off x="6368796" y="4469587"/>
            <a:ext cx="5253228" cy="14173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Con esa diferencia observable, un atacante puede descifrar el mensaje byte por byte sin conocer la llave, enviando textos modificados y mirando la respuesta.</a:t>
            </a:r>
          </a:p>
          <a:p>
            <a:pPr algn="l">
              <a:lnSpc>
                <a:spcPct val="128000"/>
              </a:lnSpc>
              <a:spcAft>
                <a:spcPts val="700"/>
              </a:spcAft>
            </a:pPr>
            <a:r>
              <a:rPr sz="1150" b="0">
                <a:solidFill>
                  <a:srgbClr val="000000"/>
                </a:solidFill>
                <a:latin typeface="Arial"/>
              </a:rPr>
              <a:t>Es un ataque contra el sistema, no contra AES. Los modos autenticados lo eliminan de raíz.</a:t>
            </a:r>
          </a:p>
        </p:txBody>
      </p:sp>
      <p:sp>
        <p:nvSpPr>
          <p:cNvPr id="17" name="Rectangle 16"/>
          <p:cNvSpPr/>
          <p:nvPr/>
        </p:nvSpPr>
        <p:spPr>
          <a:xfrm>
            <a:off x="6085332" y="4195267"/>
            <a:ext cx="9144" cy="1691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16  ATAQUE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ORÁCULO DE RELLENO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relleno parece un detalle de formato. En 2002 Serge Vaudenay mostró que puede bastar para descifrar un mensaje completo sin conocer la llave, y el ataque ha reaparecido en productos reales durante veinte años.</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UN SERVIDOR QUE DICE DEMASIADO</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1. El atacante intercepta un mensaje cifrado en CBC.</a:t>
            </a:r>
          </a:p>
          <a:p>
            <a:pPr algn="l">
              <a:lnSpc>
                <a:spcPct val="130000"/>
              </a:lnSpc>
              <a:spcAft>
                <a:spcPts val="0"/>
              </a:spcAft>
            </a:pPr>
            <a:r>
              <a:rPr sz="950" b="0">
                <a:solidFill>
                  <a:srgbClr val="000000"/>
                </a:solidFill>
                <a:latin typeface="Consolas"/>
              </a:rPr>
              <a:t>2. Lo altera ligeramente y lo reenvía al servidor.</a:t>
            </a:r>
          </a:p>
          <a:p>
            <a:pPr algn="l">
              <a:lnSpc>
                <a:spcPct val="130000"/>
              </a:lnSpc>
              <a:spcAft>
                <a:spcPts val="0"/>
              </a:spcAft>
            </a:pPr>
            <a:r>
              <a:rPr sz="950" b="0">
                <a:solidFill>
                  <a:srgbClr val="000000"/>
                </a:solidFill>
                <a:latin typeface="Consolas"/>
              </a:rPr>
              <a:t>3. El servidor responde distinto según el relleno sea válido o no:</a:t>
            </a:r>
          </a:p>
          <a:p>
            <a:pPr algn="l">
              <a:lnSpc>
                <a:spcPct val="130000"/>
              </a:lnSpc>
              <a:spcAft>
                <a:spcPts val="0"/>
              </a:spcAft>
            </a:pPr>
            <a:r>
              <a:rPr sz="950" b="0">
                <a:solidFill>
                  <a:srgbClr val="000000"/>
                </a:solidFill>
                <a:latin typeface="Consolas"/>
              </a:rPr>
              <a:t>        «relleno incorrecto»    frente a    «error de la aplicación»</a:t>
            </a:r>
          </a:p>
          <a:p>
            <a:pPr algn="l">
              <a:lnSpc>
                <a:spcPct val="130000"/>
              </a:lnSpc>
              <a:spcAft>
                <a:spcPts val="0"/>
              </a:spcAft>
            </a:pPr>
            <a:r>
              <a:rPr sz="950" b="0">
                <a:solidFill>
                  <a:srgbClr val="000000"/>
                </a:solidFill>
                <a:latin typeface="Consolas"/>
              </a:rPr>
              <a:t>4. Esa única diferencia, un bit de información por intento, basta.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Con unos 128 intentos por byte en promedio, el atacante recupera el texto</a:t>
            </a:r>
          </a:p>
          <a:p>
            <a:pPr algn="l">
              <a:lnSpc>
                <a:spcPct val="130000"/>
              </a:lnSpc>
              <a:spcAft>
                <a:spcPts val="0"/>
              </a:spcAft>
            </a:pPr>
            <a:r>
              <a:rPr sz="950" b="0">
                <a:solidFill>
                  <a:srgbClr val="000000"/>
                </a:solidFill>
                <a:latin typeface="Consolas"/>
              </a:rPr>
              <a:t>claro completo, byte a byte, sin haber tocado nunca la llave.</a:t>
            </a:r>
          </a:p>
        </p:txBody>
      </p:sp>
      <p:sp>
        <p:nvSpPr>
          <p:cNvPr id="13" name="Rectangle 12"/>
          <p:cNvSpPr/>
          <p:nvPr/>
        </p:nvSpPr>
        <p:spPr>
          <a:xfrm>
            <a:off x="566928" y="4612233"/>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ESTO CONDENA A CBC SIN AUTENTICAR</a:t>
            </a:r>
          </a:p>
        </p:txBody>
      </p:sp>
      <p:sp>
        <p:nvSpPr>
          <p:cNvPr id="15" name="TextBox 14"/>
          <p:cNvSpPr txBox="1"/>
          <p:nvPr/>
        </p:nvSpPr>
        <p:spPr>
          <a:xfrm>
            <a:off x="804672" y="4868265"/>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servidor se convierte en un oráculo que responde preguntas sobre el texto claro: es el ataque de texto cifrado elegido de la sesión 1, en acción. </a:t>
            </a:r>
            <a:r>
              <a:rPr sz="1150" b="1">
                <a:solidFill>
                  <a:srgbClr val="2A2A2A"/>
                </a:solidFill>
                <a:latin typeface="Arial"/>
              </a:rPr>
              <a:t>Con un modo autenticado, el mensaje alterado se rechaza antes de mirar el relleno</a:t>
            </a:r>
            <a:r>
              <a:rPr sz="1150" b="0">
                <a:solidFill>
                  <a:srgbClr val="2A2A2A"/>
                </a:solidFill>
                <a:latin typeface="Arial"/>
              </a:rPr>
              <a:t> y el oráculo desaparece. POODLE, en 2014, fue una variante sobre el canal seguro.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17  MODO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CTR Y GCM: DE CIFRAR A CIFRAR CON GARANTÍA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20</a:t>
            </a:r>
          </a:p>
        </p:txBody>
      </p:sp>
      <p:sp>
        <p:nvSpPr>
          <p:cNvPr id="9" name="TextBox 8"/>
          <p:cNvSpPr txBox="1"/>
          <p:nvPr/>
        </p:nvSpPr>
        <p:spPr>
          <a:xfrm>
            <a:off x="566928" y="1554480"/>
            <a:ext cx="11055096" cy="713232"/>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CTR convierte el cifrador de bloques en un cifrador de flujo: cifra un contador y combina el resultado con el dato. GCM hace lo mismo y además calcula una etiqueta de autenticación sobre todo el mensaje. Esa etiqueta es la diferencia entre confidencialidad y protección.</a:t>
            </a:r>
          </a:p>
        </p:txBody>
      </p:sp>
      <p:sp>
        <p:nvSpPr>
          <p:cNvPr id="10" name="Rectangle 9"/>
          <p:cNvSpPr/>
          <p:nvPr/>
        </p:nvSpPr>
        <p:spPr>
          <a:xfrm>
            <a:off x="566928" y="2542032"/>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65176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MODO CTR</a:t>
            </a:r>
          </a:p>
        </p:txBody>
      </p:sp>
      <p:sp>
        <p:nvSpPr>
          <p:cNvPr id="12" name="TextBox 11"/>
          <p:cNvSpPr txBox="1"/>
          <p:nvPr/>
        </p:nvSpPr>
        <p:spPr>
          <a:xfrm>
            <a:off x="786384" y="2871215"/>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Rápido, paralelizable, no necesita relleno y permite acceso aleatorio al dato cifrado.</a:t>
            </a:r>
          </a:p>
          <a:p>
            <a:pPr algn="l">
              <a:lnSpc>
                <a:spcPct val="128000"/>
              </a:lnSpc>
              <a:spcAft>
                <a:spcPts val="700"/>
              </a:spcAft>
            </a:pPr>
            <a:r>
              <a:rPr sz="1150" b="0">
                <a:solidFill>
                  <a:srgbClr val="000000"/>
                </a:solidFill>
                <a:latin typeface="Arial"/>
              </a:rPr>
              <a:t>Da confidencialidad y nada más.</a:t>
            </a:r>
          </a:p>
          <a:p>
            <a:pPr algn="l">
              <a:lnSpc>
                <a:spcPct val="128000"/>
              </a:lnSpc>
              <a:spcAft>
                <a:spcPts val="700"/>
              </a:spcAft>
            </a:pPr>
            <a:r>
              <a:rPr sz="1150" b="0">
                <a:solidFill>
                  <a:srgbClr val="000000"/>
                </a:solidFill>
                <a:latin typeface="Arial"/>
              </a:rPr>
              <a:t>Comparte con CBC la regla de oro: el valor del contador nunca se puede repetir con la misma llave.</a:t>
            </a:r>
          </a:p>
        </p:txBody>
      </p:sp>
      <p:sp>
        <p:nvSpPr>
          <p:cNvPr id="13" name="Rectangle 12"/>
          <p:cNvSpPr/>
          <p:nvPr/>
        </p:nvSpPr>
        <p:spPr>
          <a:xfrm>
            <a:off x="6268212" y="2542032"/>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65176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MODO GCM · CIFRADO AUTENTICADO</a:t>
            </a:r>
          </a:p>
        </p:txBody>
      </p:sp>
      <p:sp>
        <p:nvSpPr>
          <p:cNvPr id="15" name="TextBox 14"/>
          <p:cNvSpPr txBox="1"/>
          <p:nvPr/>
        </p:nvSpPr>
        <p:spPr>
          <a:xfrm>
            <a:off x="6487668" y="2871215"/>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Da confidencialidad e integridad en una sola operación, y permite autenticar datos que van en claro, como una cabecera.</a:t>
            </a:r>
          </a:p>
          <a:p>
            <a:pPr algn="l">
              <a:lnSpc>
                <a:spcPct val="128000"/>
              </a:lnSpc>
              <a:spcAft>
                <a:spcPts val="700"/>
              </a:spcAft>
            </a:pPr>
            <a:r>
              <a:rPr sz="1150" b="0">
                <a:solidFill>
                  <a:srgbClr val="000000"/>
                </a:solidFill>
                <a:latin typeface="Arial"/>
              </a:rPr>
              <a:t>Si alguien altera un solo bit del texto cifrado, el descifrado falla en vez de devolver basura.</a:t>
            </a:r>
          </a:p>
          <a:p>
            <a:pPr algn="l">
              <a:lnSpc>
                <a:spcPct val="128000"/>
              </a:lnSpc>
              <a:spcAft>
                <a:spcPts val="700"/>
              </a:spcAft>
            </a:pPr>
            <a:r>
              <a:rPr sz="1150" b="0">
                <a:solidFill>
                  <a:srgbClr val="000000"/>
                </a:solidFill>
                <a:latin typeface="Arial"/>
              </a:rPr>
              <a:t>Es el modo que hoy se debe usar por defecto, salvo que exista una razón documentada para otro.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18  DETALLE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GCM POR DENTRO: LA ETIQUETA Y LOS DATOS ASOCIADOS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Vale la pena ver qué produce GCM exactamente, porque de ahí salen dos preguntas de auditoría que casi nadie hace: qué pasa con la etiqueta y qué se autentica sin cifrar.</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CIFRADO AUTENTICADO CON DATOS ASOCIADOS</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Entrada:  llave · vector único de 96 bits · texto claro · datos asociados</a:t>
            </a:r>
          </a:p>
          <a:p>
            <a:pPr algn="l">
              <a:lnSpc>
                <a:spcPct val="130000"/>
              </a:lnSpc>
              <a:spcAft>
                <a:spcPts val="0"/>
              </a:spcAft>
            </a:pPr>
            <a:r>
              <a:rPr sz="950" b="0">
                <a:solidFill>
                  <a:srgbClr val="000000"/>
                </a:solidFill>
                <a:latin typeface="Consolas"/>
              </a:rPr>
              <a:t>Salida:   texto cifrado  +  etiqueta de autenticación de 128 bits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Al descifrar se recalcula la etiqueta sobre el cifrado y los datos asociados.</a:t>
            </a:r>
          </a:p>
          <a:p>
            <a:pPr algn="l">
              <a:lnSpc>
                <a:spcPct val="130000"/>
              </a:lnSpc>
              <a:spcAft>
                <a:spcPts val="0"/>
              </a:spcAft>
            </a:pPr>
            <a:r>
              <a:rPr sz="950" b="0">
                <a:solidFill>
                  <a:srgbClr val="000000"/>
                </a:solidFill>
                <a:latin typeface="Consolas"/>
              </a:rPr>
              <a:t>Si no coincide no se entrega NADA: ni siquiera un texto claro parcial.</a:t>
            </a:r>
          </a:p>
        </p:txBody>
      </p:sp>
      <p:sp>
        <p:nvSpPr>
          <p:cNvPr id="13" name="TextBox 12"/>
          <p:cNvSpPr txBox="1"/>
          <p:nvPr/>
        </p:nvSpPr>
        <p:spPr>
          <a:xfrm>
            <a:off x="566928"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LOS DATOS ASOCIADOS</a:t>
            </a:r>
          </a:p>
        </p:txBody>
      </p:sp>
      <p:sp>
        <p:nvSpPr>
          <p:cNvPr id="14" name="TextBox 13"/>
          <p:cNvSpPr txBox="1"/>
          <p:nvPr/>
        </p:nvSpPr>
        <p:spPr>
          <a:xfrm>
            <a:off x="566928" y="4261104"/>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Datos que no necesitan ser secretos pero no pueden alterarse: el número de cuenta, la versión del registro, el identificador del asociado.</a:t>
            </a:r>
          </a:p>
          <a:p>
            <a:pPr algn="l">
              <a:lnSpc>
                <a:spcPct val="128000"/>
              </a:lnSpc>
              <a:spcAft>
                <a:spcPts val="700"/>
              </a:spcAft>
            </a:pPr>
            <a:r>
              <a:rPr sz="1150" b="0">
                <a:solidFill>
                  <a:srgbClr val="000000"/>
                </a:solidFill>
                <a:latin typeface="Arial"/>
              </a:rPr>
              <a:t>Viajan en claro, pero la etiqueta los cubre. Así se impide mover un saldo cifrado válido al registro de otro asociado.</a:t>
            </a:r>
          </a:p>
        </p:txBody>
      </p:sp>
      <p:sp>
        <p:nvSpPr>
          <p:cNvPr id="15" name="TextBox 14"/>
          <p:cNvSpPr txBox="1"/>
          <p:nvPr/>
        </p:nvSpPr>
        <p:spPr>
          <a:xfrm>
            <a:off x="6368796"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LAS DOS PREGUNTAS DE AUDITORÍA</a:t>
            </a:r>
          </a:p>
        </p:txBody>
      </p:sp>
      <p:sp>
        <p:nvSpPr>
          <p:cNvPr id="16" name="TextBox 15"/>
          <p:cNvSpPr txBox="1"/>
          <p:nvPr/>
        </p:nvSpPr>
        <p:spPr>
          <a:xfrm>
            <a:off x="6368796" y="4261104"/>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¿Se verifica la etiqueta antes de usar el dato, o se usa lo descifrado y se verifica después? Lo segundo es un error grave y frecuente.</a:t>
            </a:r>
          </a:p>
          <a:p>
            <a:pPr algn="l">
              <a:lnSpc>
                <a:spcPct val="128000"/>
              </a:lnSpc>
              <a:spcAft>
                <a:spcPts val="700"/>
              </a:spcAft>
            </a:pPr>
            <a:r>
              <a:rPr sz="1150" b="0">
                <a:solidFill>
                  <a:srgbClr val="000000"/>
                </a:solidFill>
                <a:latin typeface="Arial"/>
              </a:rPr>
              <a:t>¿Se recortó la etiqueta para ahorrar espacio? Por debajo de 96 bits la protección se debilita rápido.</a:t>
            </a:r>
          </a:p>
        </p:txBody>
      </p:sp>
      <p:sp>
        <p:nvSpPr>
          <p:cNvPr id="17" name="Rectangle 16"/>
          <p:cNvSpPr/>
          <p:nvPr/>
        </p:nvSpPr>
        <p:spPr>
          <a:xfrm>
            <a:off x="6085332" y="3986784"/>
            <a:ext cx="9144" cy="17830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19  ALTERNATIVA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CIFRADOS DE FLUJO MODERNOS: CHACHA20-POLY1305</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22</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AES no es la única opción moderna. En teléfonos y equipos sin aceleración por hardware manda otra construcción.</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2" name="TextBox 11"/>
          <p:cNvSpPr txBox="1"/>
          <p:nvPr/>
        </p:nvSpPr>
        <p:spPr>
          <a:xfrm>
            <a:off x="3441252" y="2185415"/>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AES-GCM</a:t>
            </a:r>
          </a:p>
        </p:txBody>
      </p:sp>
      <p:sp>
        <p:nvSpPr>
          <p:cNvPr id="13" name="TextBox 12"/>
          <p:cNvSpPr txBox="1"/>
          <p:nvPr/>
        </p:nvSpPr>
        <p:spPr>
          <a:xfrm>
            <a:off x="7642189" y="2185415"/>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CHACHA20-POLY1305</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Tipo</a:t>
            </a:r>
          </a:p>
        </p:txBody>
      </p:sp>
      <p:sp>
        <p:nvSpPr>
          <p:cNvPr id="16" name="TextBox 15"/>
          <p:cNvSpPr txBox="1"/>
          <p:nvPr/>
        </p:nvSpPr>
        <p:spPr>
          <a:xfrm>
            <a:off x="3441252" y="2587751"/>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bloque en modo contador, con autenticación</a:t>
            </a:r>
          </a:p>
        </p:txBody>
      </p:sp>
      <p:sp>
        <p:nvSpPr>
          <p:cNvPr id="17" name="TextBox 16"/>
          <p:cNvSpPr txBox="1"/>
          <p:nvPr/>
        </p:nvSpPr>
        <p:spPr>
          <a:xfrm>
            <a:off x="7642189" y="2587751"/>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flujo con autenticador integrado</a:t>
            </a:r>
          </a:p>
        </p:txBody>
      </p:sp>
      <p:sp>
        <p:nvSpPr>
          <p:cNvPr id="18" name="Rectangle 17"/>
          <p:cNvSpPr/>
          <p:nvPr/>
        </p:nvSpPr>
        <p:spPr>
          <a:xfrm>
            <a:off x="566928" y="29169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0837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Rendimiento</a:t>
            </a:r>
          </a:p>
        </p:txBody>
      </p:sp>
      <p:sp>
        <p:nvSpPr>
          <p:cNvPr id="20" name="TextBox 19"/>
          <p:cNvSpPr txBox="1"/>
          <p:nvPr/>
        </p:nvSpPr>
        <p:spPr>
          <a:xfrm>
            <a:off x="3441252" y="300837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Muy alto cuando el procesador tiene instrucciones para AES</a:t>
            </a:r>
          </a:p>
        </p:txBody>
      </p:sp>
      <p:sp>
        <p:nvSpPr>
          <p:cNvPr id="21" name="TextBox 20"/>
          <p:cNvSpPr txBox="1"/>
          <p:nvPr/>
        </p:nvSpPr>
        <p:spPr>
          <a:xfrm>
            <a:off x="7642189" y="300837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Muy alto en software puro, sin hardware especial</a:t>
            </a:r>
          </a:p>
        </p:txBody>
      </p:sp>
      <p:sp>
        <p:nvSpPr>
          <p:cNvPr id="22" name="Rectangle 21"/>
          <p:cNvSpPr/>
          <p:nvPr/>
        </p:nvSpPr>
        <p:spPr>
          <a:xfrm>
            <a:off x="566928" y="34567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8237"/>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Ataques de temporización</a:t>
            </a:r>
          </a:p>
        </p:txBody>
      </p:sp>
      <p:sp>
        <p:nvSpPr>
          <p:cNvPr id="24" name="TextBox 23"/>
          <p:cNvSpPr txBox="1"/>
          <p:nvPr/>
        </p:nvSpPr>
        <p:spPr>
          <a:xfrm>
            <a:off x="3441252" y="3548237"/>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Sin hardware, la implementación puede filtrar información por tiempos</a:t>
            </a:r>
          </a:p>
        </p:txBody>
      </p:sp>
      <p:sp>
        <p:nvSpPr>
          <p:cNvPr id="25" name="TextBox 24"/>
          <p:cNvSpPr txBox="1"/>
          <p:nvPr/>
        </p:nvSpPr>
        <p:spPr>
          <a:xfrm>
            <a:off x="7642189" y="3548237"/>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Diseñado para ser de tiempo constante en software</a:t>
            </a:r>
          </a:p>
        </p:txBody>
      </p:sp>
      <p:sp>
        <p:nvSpPr>
          <p:cNvPr id="26" name="Rectangle 25"/>
          <p:cNvSpPr/>
          <p:nvPr/>
        </p:nvSpPr>
        <p:spPr>
          <a:xfrm>
            <a:off x="566928" y="39966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8099"/>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aparece</a:t>
            </a:r>
          </a:p>
        </p:txBody>
      </p:sp>
      <p:sp>
        <p:nvSpPr>
          <p:cNvPr id="28" name="TextBox 27"/>
          <p:cNvSpPr txBox="1"/>
          <p:nvPr/>
        </p:nvSpPr>
        <p:spPr>
          <a:xfrm>
            <a:off x="3441252" y="4088099"/>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Servidores, discos y la mayoría de los protocolos</a:t>
            </a:r>
          </a:p>
        </p:txBody>
      </p:sp>
      <p:sp>
        <p:nvSpPr>
          <p:cNvPr id="29" name="TextBox 28"/>
          <p:cNvSpPr txBox="1"/>
          <p:nvPr/>
        </p:nvSpPr>
        <p:spPr>
          <a:xfrm>
            <a:off x="7642189" y="4088099"/>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Canal seguro en teléfonos y redes privadas modernas, como WireGuard</a:t>
            </a:r>
          </a:p>
        </p:txBody>
      </p:sp>
      <p:sp>
        <p:nvSpPr>
          <p:cNvPr id="30" name="Rectangle 29"/>
          <p:cNvSpPr/>
          <p:nvPr/>
        </p:nvSpPr>
        <p:spPr>
          <a:xfrm>
            <a:off x="566928" y="453652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27961"/>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Regla del número único</a:t>
            </a:r>
          </a:p>
        </p:txBody>
      </p:sp>
      <p:sp>
        <p:nvSpPr>
          <p:cNvPr id="32" name="TextBox 31"/>
          <p:cNvSpPr txBox="1"/>
          <p:nvPr/>
        </p:nvSpPr>
        <p:spPr>
          <a:xfrm>
            <a:off x="3441252" y="4627961"/>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Nunca repetir el vector con la misma llave</a:t>
            </a:r>
          </a:p>
        </p:txBody>
      </p:sp>
      <p:sp>
        <p:nvSpPr>
          <p:cNvPr id="33" name="TextBox 32"/>
          <p:cNvSpPr txBox="1"/>
          <p:nvPr/>
        </p:nvSpPr>
        <p:spPr>
          <a:xfrm>
            <a:off x="7642189" y="4627961"/>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Exactamente la misma regla</a:t>
            </a:r>
          </a:p>
        </p:txBody>
      </p:sp>
      <p:sp>
        <p:nvSpPr>
          <p:cNvPr id="34" name="Rectangle 33"/>
          <p:cNvSpPr/>
          <p:nvPr/>
        </p:nvSpPr>
        <p:spPr>
          <a:xfrm>
            <a:off x="566928" y="495714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01200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313761"/>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33204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EL INVENTARIO</a:t>
            </a:r>
          </a:p>
        </p:txBody>
      </p:sp>
      <p:sp>
        <p:nvSpPr>
          <p:cNvPr id="38" name="TextBox 37"/>
          <p:cNvSpPr txBox="1"/>
          <p:nvPr/>
        </p:nvSpPr>
        <p:spPr>
          <a:xfrm>
            <a:off x="804672" y="5569793"/>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aparece ChaCha20-Poly1305 en una configuración, no es un hallazgo: es una elección correcta. </a:t>
            </a:r>
            <a:r>
              <a:rPr sz="1150" b="1">
                <a:solidFill>
                  <a:srgbClr val="2A2A2A"/>
                </a:solidFill>
                <a:latin typeface="Arial"/>
              </a:rPr>
              <a:t>Lo que sí es hallazgo es un cifrado de flujo sin autenticador</a:t>
            </a:r>
            <a:r>
              <a:rPr sz="1150" b="0">
                <a:solidFill>
                  <a:srgbClr val="2A2A2A"/>
                </a:solidFill>
                <a:latin typeface="Arial"/>
              </a:rPr>
              <a:t>, como RC4, que el canal seguro prohibió en 2015.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20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CUÁL USAR Y CUÁNDO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23</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94091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MODO</a:t>
            </a:r>
          </a:p>
        </p:txBody>
      </p:sp>
      <p:sp>
        <p:nvSpPr>
          <p:cNvPr id="11" name="TextBox 10"/>
          <p:cNvSpPr txBox="1"/>
          <p:nvPr/>
        </p:nvSpPr>
        <p:spPr>
          <a:xfrm>
            <a:off x="1672437" y="1673352"/>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CONFIDENCIALIDAD</a:t>
            </a:r>
          </a:p>
        </p:txBody>
      </p:sp>
      <p:sp>
        <p:nvSpPr>
          <p:cNvPr id="12" name="TextBox 11"/>
          <p:cNvSpPr txBox="1"/>
          <p:nvPr/>
        </p:nvSpPr>
        <p:spPr>
          <a:xfrm>
            <a:off x="4767864" y="1673352"/>
            <a:ext cx="138312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INTEGRIDAD</a:t>
            </a:r>
          </a:p>
        </p:txBody>
      </p:sp>
      <p:sp>
        <p:nvSpPr>
          <p:cNvPr id="13" name="TextBox 12"/>
          <p:cNvSpPr txBox="1"/>
          <p:nvPr/>
        </p:nvSpPr>
        <p:spPr>
          <a:xfrm>
            <a:off x="6315577" y="1673352"/>
            <a:ext cx="514185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CUÁNDO USARLO</a:t>
            </a:r>
          </a:p>
        </p:txBody>
      </p:sp>
      <p:sp>
        <p:nvSpPr>
          <p:cNvPr id="14" name="Rectangle 13"/>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075688"/>
            <a:ext cx="940917"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ECB</a:t>
            </a:r>
          </a:p>
        </p:txBody>
      </p:sp>
      <p:sp>
        <p:nvSpPr>
          <p:cNvPr id="16" name="TextBox 15"/>
          <p:cNvSpPr txBox="1"/>
          <p:nvPr/>
        </p:nvSpPr>
        <p:spPr>
          <a:xfrm>
            <a:off x="1672437" y="2075688"/>
            <a:ext cx="2930834"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Parcial: filtra estructura</a:t>
            </a:r>
          </a:p>
        </p:txBody>
      </p:sp>
      <p:sp>
        <p:nvSpPr>
          <p:cNvPr id="17" name="TextBox 16"/>
          <p:cNvSpPr txBox="1"/>
          <p:nvPr/>
        </p:nvSpPr>
        <p:spPr>
          <a:xfrm>
            <a:off x="4767864" y="2075688"/>
            <a:ext cx="1383121" cy="420624"/>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a:t>
            </a:r>
          </a:p>
        </p:txBody>
      </p:sp>
      <p:sp>
        <p:nvSpPr>
          <p:cNvPr id="18" name="TextBox 17"/>
          <p:cNvSpPr txBox="1"/>
          <p:nvPr/>
        </p:nvSpPr>
        <p:spPr>
          <a:xfrm>
            <a:off x="6315577" y="2075688"/>
            <a:ext cx="5141854"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Nunca. No existe un caso legítimo en un sistema nuevo</a:t>
            </a:r>
          </a:p>
        </p:txBody>
      </p:sp>
      <p:sp>
        <p:nvSpPr>
          <p:cNvPr id="19" name="Rectangle 18"/>
          <p:cNvSpPr/>
          <p:nvPr/>
        </p:nvSpPr>
        <p:spPr>
          <a:xfrm>
            <a:off x="566928" y="245973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551176"/>
            <a:ext cx="94091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CBC</a:t>
            </a:r>
          </a:p>
        </p:txBody>
      </p:sp>
      <p:sp>
        <p:nvSpPr>
          <p:cNvPr id="21" name="TextBox 20"/>
          <p:cNvSpPr txBox="1"/>
          <p:nvPr/>
        </p:nvSpPr>
        <p:spPr>
          <a:xfrm>
            <a:off x="1672437" y="2551176"/>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con vector correcto</a:t>
            </a:r>
          </a:p>
        </p:txBody>
      </p:sp>
      <p:sp>
        <p:nvSpPr>
          <p:cNvPr id="22" name="TextBox 21"/>
          <p:cNvSpPr txBox="1"/>
          <p:nvPr/>
        </p:nvSpPr>
        <p:spPr>
          <a:xfrm>
            <a:off x="4767864" y="2551176"/>
            <a:ext cx="1383121" cy="484997"/>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a:t>
            </a:r>
          </a:p>
        </p:txBody>
      </p:sp>
      <p:sp>
        <p:nvSpPr>
          <p:cNvPr id="23" name="TextBox 22"/>
          <p:cNvSpPr txBox="1"/>
          <p:nvPr/>
        </p:nvSpPr>
        <p:spPr>
          <a:xfrm>
            <a:off x="6315577" y="2551176"/>
            <a:ext cx="514185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por compatibilidad con sistemas existentes, y siempre acompañado de un código de autenticación</a:t>
            </a:r>
          </a:p>
        </p:txBody>
      </p:sp>
      <p:sp>
        <p:nvSpPr>
          <p:cNvPr id="24" name="Rectangle 23"/>
          <p:cNvSpPr/>
          <p:nvPr/>
        </p:nvSpPr>
        <p:spPr>
          <a:xfrm>
            <a:off x="566928" y="29995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091037"/>
            <a:ext cx="940917"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CTR</a:t>
            </a:r>
          </a:p>
        </p:txBody>
      </p:sp>
      <p:sp>
        <p:nvSpPr>
          <p:cNvPr id="26" name="TextBox 25"/>
          <p:cNvSpPr txBox="1"/>
          <p:nvPr/>
        </p:nvSpPr>
        <p:spPr>
          <a:xfrm>
            <a:off x="1672437" y="3091037"/>
            <a:ext cx="2930834"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con contador único</a:t>
            </a:r>
          </a:p>
        </p:txBody>
      </p:sp>
      <p:sp>
        <p:nvSpPr>
          <p:cNvPr id="27" name="TextBox 26"/>
          <p:cNvSpPr txBox="1"/>
          <p:nvPr/>
        </p:nvSpPr>
        <p:spPr>
          <a:xfrm>
            <a:off x="4767864" y="3091037"/>
            <a:ext cx="1383121" cy="420624"/>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a:t>
            </a:r>
          </a:p>
        </p:txBody>
      </p:sp>
      <p:sp>
        <p:nvSpPr>
          <p:cNvPr id="28" name="TextBox 27"/>
          <p:cNvSpPr txBox="1"/>
          <p:nvPr/>
        </p:nvSpPr>
        <p:spPr>
          <a:xfrm>
            <a:off x="6315577" y="3091037"/>
            <a:ext cx="5141854"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Cuando se necesita acceso aleatorio y se añade autenticación aparte</a:t>
            </a:r>
          </a:p>
        </p:txBody>
      </p:sp>
      <p:sp>
        <p:nvSpPr>
          <p:cNvPr id="29" name="Rectangle 28"/>
          <p:cNvSpPr/>
          <p:nvPr/>
        </p:nvSpPr>
        <p:spPr>
          <a:xfrm>
            <a:off x="566928" y="34750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566525"/>
            <a:ext cx="94091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GCM</a:t>
            </a:r>
          </a:p>
        </p:txBody>
      </p:sp>
      <p:sp>
        <p:nvSpPr>
          <p:cNvPr id="31" name="TextBox 30"/>
          <p:cNvSpPr txBox="1"/>
          <p:nvPr/>
        </p:nvSpPr>
        <p:spPr>
          <a:xfrm>
            <a:off x="1672437" y="3566525"/>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Sí</a:t>
            </a:r>
          </a:p>
        </p:txBody>
      </p:sp>
      <p:sp>
        <p:nvSpPr>
          <p:cNvPr id="32" name="TextBox 31"/>
          <p:cNvSpPr txBox="1"/>
          <p:nvPr/>
        </p:nvSpPr>
        <p:spPr>
          <a:xfrm>
            <a:off x="4767864" y="3566525"/>
            <a:ext cx="138312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Sí</a:t>
            </a:r>
          </a:p>
        </p:txBody>
      </p:sp>
      <p:sp>
        <p:nvSpPr>
          <p:cNvPr id="33" name="TextBox 32"/>
          <p:cNvSpPr txBox="1"/>
          <p:nvPr/>
        </p:nvSpPr>
        <p:spPr>
          <a:xfrm>
            <a:off x="6315577" y="3566525"/>
            <a:ext cx="514185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defecto. Es la respuesta correcta mientras no haya un motivo escrito para otra</a:t>
            </a:r>
          </a:p>
        </p:txBody>
      </p:sp>
      <p:sp>
        <p:nvSpPr>
          <p:cNvPr id="34" name="Rectangle 33"/>
          <p:cNvSpPr/>
          <p:nvPr/>
        </p:nvSpPr>
        <p:spPr>
          <a:xfrm>
            <a:off x="566928" y="40149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06981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371563"/>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38985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CÓMO SE AUDITA ESTO EN UNA ORGANIZACIÓN</a:t>
            </a:r>
          </a:p>
        </p:txBody>
      </p:sp>
      <p:sp>
        <p:nvSpPr>
          <p:cNvPr id="38" name="TextBox 37"/>
          <p:cNvSpPr txBox="1"/>
          <p:nvPr/>
        </p:nvSpPr>
        <p:spPr>
          <a:xfrm>
            <a:off x="804672" y="4627595"/>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pregunta no es «¿está cifrado?». Son tres: </a:t>
            </a:r>
            <a:r>
              <a:rPr sz="1150" b="1">
                <a:solidFill>
                  <a:srgbClr val="2A2A2A"/>
                </a:solidFill>
                <a:latin typeface="Arial"/>
              </a:rPr>
              <a:t>qué algoritmo, qué modo y de dónde sale el vector de inicialización</a:t>
            </a:r>
            <a:r>
              <a:rPr sz="1150" b="0">
                <a:solidFill>
                  <a:srgbClr val="2A2A2A"/>
                </a:solidFill>
                <a:latin typeface="Arial"/>
              </a:rPr>
              <a:t>. Con esas tres respuestas se sabe si el dato está protegido o solo parece estarlo.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03</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LOS ERRORES QUE SE REPITEN</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Cinco formas de arruinar un cifrado correcto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21  ERROR 1</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REPETIR EL VECTOR O EL CONTADOR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el mismo error del martes con otro disfraz. Si dos mensajes se cifran con la misma llave y el mismo vector, la protección desaparece parcialmente, y en modo CTR desaparece por completo.</a:t>
            </a:r>
          </a:p>
        </p:txBody>
      </p:sp>
      <p:sp>
        <p:nvSpPr>
          <p:cNvPr id="10" name="Rectangle 9"/>
          <p:cNvSpPr/>
          <p:nvPr/>
        </p:nvSpPr>
        <p:spPr>
          <a:xfrm>
            <a:off x="566928" y="2304287"/>
            <a:ext cx="11055096" cy="184343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EL MISMO ERROR DEL CUADERNO DE UN SOLO USO, CON AES</a:t>
            </a:r>
          </a:p>
        </p:txBody>
      </p:sp>
      <p:sp>
        <p:nvSpPr>
          <p:cNvPr id="12" name="TextBox 11"/>
          <p:cNvSpPr txBox="1"/>
          <p:nvPr/>
        </p:nvSpPr>
        <p:spPr>
          <a:xfrm>
            <a:off x="768096" y="2633471"/>
            <a:ext cx="10652760" cy="142280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En modo CTR, con la misma llave y el mismo contador:</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C1 = M1 XOR flujo        C2 = M2 XOR flujo</a:t>
            </a:r>
          </a:p>
          <a:p>
            <a:pPr algn="l">
              <a:lnSpc>
                <a:spcPct val="130000"/>
              </a:lnSpc>
              <a:spcAft>
                <a:spcPts val="0"/>
              </a:spcAft>
            </a:pPr>
            <a:r>
              <a:rPr sz="950" b="0">
                <a:solidFill>
                  <a:srgbClr val="000000"/>
                </a:solidFill>
                <a:latin typeface="Consolas"/>
              </a:rPr>
              <a:t>   C1 XOR C2 = M1 XOR M2    ← el flujo desaparece, la llave nunca se usó</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Quien tenga los dos textos cifrados obtiene una relación directa entre</a:t>
            </a:r>
          </a:p>
          <a:p>
            <a:pPr algn="l">
              <a:lnSpc>
                <a:spcPct val="130000"/>
              </a:lnSpc>
              <a:spcAft>
                <a:spcPts val="0"/>
              </a:spcAft>
            </a:pPr>
            <a:r>
              <a:rPr sz="950" b="0">
                <a:solidFill>
                  <a:srgbClr val="000000"/>
                </a:solidFill>
                <a:latin typeface="Consolas"/>
              </a:rPr>
              <a:t>los dos mensajes en claro, sin conocer jamás la llave.</a:t>
            </a:r>
          </a:p>
        </p:txBody>
      </p:sp>
      <p:sp>
        <p:nvSpPr>
          <p:cNvPr id="13" name="Rectangle 12"/>
          <p:cNvSpPr/>
          <p:nvPr/>
        </p:nvSpPr>
        <p:spPr>
          <a:xfrm>
            <a:off x="566928" y="440375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42203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DÓNDE APARECE EN LA VIDA REAL</a:t>
            </a:r>
          </a:p>
        </p:txBody>
      </p:sp>
      <p:sp>
        <p:nvSpPr>
          <p:cNvPr id="15" name="TextBox 14"/>
          <p:cNvSpPr txBox="1"/>
          <p:nvPr/>
        </p:nvSpPr>
        <p:spPr>
          <a:xfrm>
            <a:off x="804672" y="465978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sistemas que generan el vector a partir del identificador del registro, de la fecha, o de un contador que se reinicia cuando el servicio se reinicia. Los tres son predecibles y los tres se repiten.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22  ERROR 2</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CIFRAR SIN AUTENTICAR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segundo error más frecuente y el menos intuitivo: mucha gente supone que si un dato está cifrado, nadie puede modificarlo de forma útil. Es falso.</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LA GENTE SUPONE</a:t>
            </a:r>
          </a:p>
        </p:txBody>
      </p:sp>
      <p:sp>
        <p:nvSpPr>
          <p:cNvPr id="11" name="TextBox 10"/>
          <p:cNvSpPr txBox="1"/>
          <p:nvPr/>
        </p:nvSpPr>
        <p:spPr>
          <a:xfrm>
            <a:off x="566928"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«Si está cifrado y alguien lo altera, al descifrar sale basura y nos damos cuenta.»</a:t>
            </a:r>
          </a:p>
          <a:p>
            <a:pPr algn="l">
              <a:lnSpc>
                <a:spcPct val="128000"/>
              </a:lnSpc>
              <a:spcAft>
                <a:spcPts val="700"/>
              </a:spcAft>
            </a:pPr>
            <a:r>
              <a:rPr sz="1150" b="0">
                <a:solidFill>
                  <a:srgbClr val="000000"/>
                </a:solidFill>
                <a:latin typeface="Arial"/>
              </a:rPr>
              <a:t>En algunos modos sale basura. En otros, no: el atacante puede producir cambios controlados en el texto claro sin conocer la llave.</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REALMENTE PASA</a:t>
            </a:r>
          </a:p>
        </p:txBody>
      </p:sp>
      <p:sp>
        <p:nvSpPr>
          <p:cNvPr id="13" name="TextBox 12"/>
          <p:cNvSpPr txBox="1"/>
          <p:nvPr/>
        </p:nvSpPr>
        <p:spPr>
          <a:xfrm>
            <a:off x="6368796"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En modos de flujo como CTR, cambiar un bit del texto cifrado cambia exactamente ese bit del texto claro.</a:t>
            </a:r>
          </a:p>
          <a:p>
            <a:pPr algn="l">
              <a:lnSpc>
                <a:spcPct val="128000"/>
              </a:lnSpc>
              <a:spcAft>
                <a:spcPts val="700"/>
              </a:spcAft>
            </a:pPr>
            <a:r>
              <a:rPr sz="1150" b="0">
                <a:solidFill>
                  <a:srgbClr val="000000"/>
                </a:solidFill>
                <a:latin typeface="Arial"/>
              </a:rPr>
              <a:t>Si el atacante sabe dónde está el campo del monto, puede alterarlo sin descifrar nada.</a:t>
            </a:r>
          </a:p>
          <a:p>
            <a:pPr algn="l">
              <a:lnSpc>
                <a:spcPct val="128000"/>
              </a:lnSpc>
              <a:spcAft>
                <a:spcPts val="700"/>
              </a:spcAft>
            </a:pPr>
            <a:r>
              <a:rPr sz="1150" b="0">
                <a:solidFill>
                  <a:srgbClr val="000000"/>
                </a:solidFill>
                <a:latin typeface="Arial"/>
              </a:rPr>
              <a:t>La solución no es cifrar mejor: es añadir autenticación, o usar un modo que ya la traiga.</a:t>
            </a:r>
          </a:p>
        </p:txBody>
      </p:sp>
      <p:sp>
        <p:nvSpPr>
          <p:cNvPr id="14" name="Rectangle 13"/>
          <p:cNvSpPr/>
          <p:nvPr/>
        </p:nvSpPr>
        <p:spPr>
          <a:xfrm>
            <a:off x="6085332" y="2304287"/>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23  DEMOSTRACIÓN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ALTERAR UN MONTO SIN CONOCER LA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Así se ve el error 2 en un caso concreto: un registro de transferencia cifrado en modo CTR, sin autenticación, y un atacante que conoce el formato del registro pero no la llave.</a:t>
            </a:r>
          </a:p>
        </p:txBody>
      </p:sp>
      <p:sp>
        <p:nvSpPr>
          <p:cNvPr id="10" name="Rectangle 9"/>
          <p:cNvSpPr/>
          <p:nvPr/>
        </p:nvSpPr>
        <p:spPr>
          <a:xfrm>
            <a:off x="566928" y="2304287"/>
            <a:ext cx="11055096" cy="22603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MANIPULACIÓN CONTROLADA DE UN CIFRADO SIN AUTENTICAR</a:t>
            </a:r>
          </a:p>
        </p:txBody>
      </p:sp>
      <p:sp>
        <p:nvSpPr>
          <p:cNvPr id="12" name="TextBox 11"/>
          <p:cNvSpPr txBox="1"/>
          <p:nvPr/>
        </p:nvSpPr>
        <p:spPr>
          <a:xfrm>
            <a:off x="768096" y="2633471"/>
            <a:ext cx="10652760" cy="183977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Texto claro:     VALOR=0000100000      (cien mil pesos)</a:t>
            </a:r>
          </a:p>
          <a:p>
            <a:pPr algn="l">
              <a:lnSpc>
                <a:spcPct val="130000"/>
              </a:lnSpc>
              <a:spcAft>
                <a:spcPts val="0"/>
              </a:spcAft>
            </a:pPr>
            <a:r>
              <a:rPr sz="950" b="0">
                <a:solidFill>
                  <a:srgbClr val="000000"/>
                </a:solidFill>
                <a:latin typeface="Consolas"/>
              </a:rPr>
              <a:t>Cifrado CTR:     cada byte del texto claro XOR un byte del flujo de la llave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El atacante sabe que el séptimo byte es el primer dígito del monto.</a:t>
            </a:r>
          </a:p>
          <a:p>
            <a:pPr algn="l">
              <a:lnSpc>
                <a:spcPct val="130000"/>
              </a:lnSpc>
              <a:spcAft>
                <a:spcPts val="0"/>
              </a:spcAft>
            </a:pPr>
            <a:r>
              <a:rPr sz="950" b="0">
                <a:solidFill>
                  <a:srgbClr val="000000"/>
                </a:solidFill>
                <a:latin typeface="Consolas"/>
              </a:rPr>
              <a:t>Calcula  «0» XOR «9» = 0x09  y lo aplica sobre ese byte del CIFRADO.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Al descifrar:    VALOR=9000100000      (más de nueve mil millones)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No descifró nada. No conoce la llave. El descifrado no reporta ningún error.</a:t>
            </a:r>
          </a:p>
        </p:txBody>
      </p:sp>
      <p:sp>
        <p:nvSpPr>
          <p:cNvPr id="13" name="Rectangle 12"/>
          <p:cNvSpPr/>
          <p:nvPr/>
        </p:nvSpPr>
        <p:spPr>
          <a:xfrm>
            <a:off x="566928" y="4820716"/>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3900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LO HABRÍA IMPEDIDO</a:t>
            </a:r>
          </a:p>
        </p:txBody>
      </p:sp>
      <p:sp>
        <p:nvSpPr>
          <p:cNvPr id="15" name="TextBox 14"/>
          <p:cNvSpPr txBox="1"/>
          <p:nvPr/>
        </p:nvSpPr>
        <p:spPr>
          <a:xfrm>
            <a:off x="804672" y="5076748"/>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GCM, cambiar un solo bit invalida la etiqueta y el registro se rechaza completo. </a:t>
            </a:r>
            <a:r>
              <a:rPr sz="1150" b="1">
                <a:solidFill>
                  <a:srgbClr val="2A2A2A"/>
                </a:solidFill>
                <a:latin typeface="Arial"/>
              </a:rPr>
              <a:t>Con CBC tampoco se evita</a:t>
            </a:r>
            <a:r>
              <a:rPr sz="1150" b="0">
                <a:solidFill>
                  <a:srgbClr val="2A2A2A"/>
                </a:solidFill>
                <a:latin typeface="Arial"/>
              </a:rPr>
              <a:t>: el ataque cambia un poco, pero existe. Por eso la respuesta es cifrado autenticado, no otro modo sin autenticar.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24  ERROR 3</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ECB EN PRODUCCIÓN: EL CASO ADOBE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 2013 se filtró una base de datos con unos 150 millones de registros de usuarios. Las contraseñas no estaban resumidas con una función de una vía: estaban </a:t>
            </a:r>
            <a:r>
              <a:rPr sz="1250" b="1">
                <a:solidFill>
                  <a:srgbClr val="2A2A2A"/>
                </a:solidFill>
                <a:latin typeface="Arial"/>
              </a:rPr>
              <a:t>cifradas</a:t>
            </a:r>
            <a:r>
              <a:rPr sz="1250" b="0">
                <a:solidFill>
                  <a:srgbClr val="2A2A2A"/>
                </a:solidFill>
                <a:latin typeface="Arial"/>
              </a:rPr>
              <a:t> con un algoritmo de bloques en modo ECB y una sola llave.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CONSECUENCIA</a:t>
            </a:r>
          </a:p>
        </p:txBody>
      </p:sp>
      <p:sp>
        <p:nvSpPr>
          <p:cNvPr id="12" name="TextBox 11"/>
          <p:cNvSpPr txBox="1"/>
          <p:nvPr/>
        </p:nvSpPr>
        <p:spPr>
          <a:xfrm>
            <a:off x="5652272"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4920752"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Dos usuarios con la misma contraseña tenían el mismo texto cifrado</a:t>
            </a:r>
          </a:p>
        </p:txBody>
      </p:sp>
      <p:sp>
        <p:nvSpPr>
          <p:cNvPr id="15" name="TextBox 14"/>
          <p:cNvSpPr txBox="1"/>
          <p:nvPr/>
        </p:nvSpPr>
        <p:spPr>
          <a:xfrm>
            <a:off x="5652272" y="2825495"/>
            <a:ext cx="5805159"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exactamente la propiedad del escudo: bloques iguales producen salidas iguales</a:t>
            </a:r>
          </a:p>
        </p:txBody>
      </p:sp>
      <p:sp>
        <p:nvSpPr>
          <p:cNvPr id="16" name="Rectangle 15"/>
          <p:cNvSpPr/>
          <p:nvPr/>
        </p:nvSpPr>
        <p:spPr>
          <a:xfrm>
            <a:off x="566928" y="324611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37559"/>
            <a:ext cx="492075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pista de recuperación viajaba en claro</a:t>
            </a:r>
          </a:p>
        </p:txBody>
      </p:sp>
      <p:sp>
        <p:nvSpPr>
          <p:cNvPr id="18" name="TextBox 17"/>
          <p:cNvSpPr txBox="1"/>
          <p:nvPr/>
        </p:nvSpPr>
        <p:spPr>
          <a:xfrm>
            <a:off x="5652272" y="3337559"/>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registro incluía la pregunta de recuperación sin cifrar, junto al texto cifrado</a:t>
            </a:r>
          </a:p>
        </p:txBody>
      </p:sp>
      <p:sp>
        <p:nvSpPr>
          <p:cNvPr id="19" name="Rectangle 18"/>
          <p:cNvSpPr/>
          <p:nvPr/>
        </p:nvSpPr>
        <p:spPr>
          <a:xfrm>
            <a:off x="566928" y="37859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877421"/>
            <a:ext cx="492075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Se pudieron deducir contraseñas sin romper el cifrado</a:t>
            </a:r>
          </a:p>
        </p:txBody>
      </p:sp>
      <p:sp>
        <p:nvSpPr>
          <p:cNvPr id="21" name="TextBox 20"/>
          <p:cNvSpPr txBox="1"/>
          <p:nvPr/>
        </p:nvSpPr>
        <p:spPr>
          <a:xfrm>
            <a:off x="5652272" y="3877421"/>
            <a:ext cx="580515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Agrupando los textos cifrados repetidos y leyendo las pistas de todo el grupo, la contraseña se deducía por votación</a:t>
            </a:r>
          </a:p>
        </p:txBody>
      </p:sp>
      <p:sp>
        <p:nvSpPr>
          <p:cNvPr id="22" name="Rectangle 21"/>
          <p:cNvSpPr/>
          <p:nvPr/>
        </p:nvSpPr>
        <p:spPr>
          <a:xfrm>
            <a:off x="566928" y="43258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38070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682459"/>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70074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PARA EL CASO</a:t>
            </a:r>
          </a:p>
        </p:txBody>
      </p:sp>
      <p:sp>
        <p:nvSpPr>
          <p:cNvPr id="26" name="TextBox 25"/>
          <p:cNvSpPr txBox="1"/>
          <p:nvPr/>
        </p:nvSpPr>
        <p:spPr>
          <a:xfrm>
            <a:off x="804672" y="4938491"/>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Nadie rompió el algoritmo. La llave nunca se conoció. Y aun así millones de contraseñas quedaron expuestas, por el modo de operación y por haber cifrado algo que nunca debió cifrarse sino resumirse. Eso último lo vemos el martes, con el hallazgo H1 de Coopaburrá.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25  ERROR 4</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UNA SOLA LLAVE PARA TODO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cuarto error no es de algoritmo ni de modo: es de diseño. Usar la misma llave para propósitos distintos convierte cualquier filtración parcial en una filtración total.</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25243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SÍNTOMA</a:t>
            </a:r>
          </a:p>
        </p:txBody>
      </p:sp>
      <p:sp>
        <p:nvSpPr>
          <p:cNvPr id="12" name="TextBox 11"/>
          <p:cNvSpPr txBox="1"/>
          <p:nvPr/>
        </p:nvSpPr>
        <p:spPr>
          <a:xfrm>
            <a:off x="3983957"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CONSECUENCIA</a:t>
            </a:r>
          </a:p>
        </p:txBody>
      </p:sp>
      <p:sp>
        <p:nvSpPr>
          <p:cNvPr id="13" name="TextBox 12"/>
          <p:cNvSpPr txBox="1"/>
          <p:nvPr/>
        </p:nvSpPr>
        <p:spPr>
          <a:xfrm>
            <a:off x="7802990"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APARECE EN EL CASO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Una llave para todos los usuarios</a:t>
            </a:r>
          </a:p>
        </p:txBody>
      </p:sp>
      <p:sp>
        <p:nvSpPr>
          <p:cNvPr id="16" name="TextBox 15"/>
          <p:cNvSpPr txBox="1"/>
          <p:nvPr/>
        </p:nvSpPr>
        <p:spPr>
          <a:xfrm>
            <a:off x="3983957"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Comprometer un solo dispositivo compromete a los 142.000</a:t>
            </a:r>
          </a:p>
        </p:txBody>
      </p:sp>
      <p:sp>
        <p:nvSpPr>
          <p:cNvPr id="17" name="TextBox 16"/>
          <p:cNvSpPr txBox="1"/>
          <p:nvPr/>
        </p:nvSpPr>
        <p:spPr>
          <a:xfrm>
            <a:off x="7802990"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H2 · la llave de la aplicación móvil</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Una llave para cifrar y para autenticar</a:t>
            </a:r>
          </a:p>
        </p:txBody>
      </p:sp>
      <p:sp>
        <p:nvSpPr>
          <p:cNvPr id="20" name="TextBox 19"/>
          <p:cNvSpPr txBox="1"/>
          <p:nvPr/>
        </p:nvSpPr>
        <p:spPr>
          <a:xfrm>
            <a:off x="3983957" y="33653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Interacciones entre los dos usos que pueden filtrar información</a:t>
            </a:r>
          </a:p>
        </p:txBody>
      </p:sp>
      <p:sp>
        <p:nvSpPr>
          <p:cNvPr id="21" name="TextBox 20"/>
          <p:cNvSpPr txBox="1"/>
          <p:nvPr/>
        </p:nvSpPr>
        <p:spPr>
          <a:xfrm>
            <a:off x="7802990" y="33653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documentado; hay que preguntarlo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Una llave para todos los entornos</a:t>
            </a:r>
          </a:p>
        </p:txBody>
      </p:sp>
      <p:sp>
        <p:nvSpPr>
          <p:cNvPr id="24" name="TextBox 23"/>
          <p:cNvSpPr txBox="1"/>
          <p:nvPr/>
        </p:nvSpPr>
        <p:spPr>
          <a:xfrm>
            <a:off x="3983957" y="39052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de pruebas, que circula libremente, abre producción</a:t>
            </a:r>
          </a:p>
        </p:txBody>
      </p:sp>
      <p:sp>
        <p:nvSpPr>
          <p:cNvPr id="25" name="TextBox 24"/>
          <p:cNvSpPr txBox="1"/>
          <p:nvPr/>
        </p:nvSpPr>
        <p:spPr>
          <a:xfrm>
            <a:off x="7802990" y="39052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verificar con la fábrica de software</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Una llave que nunca cambia</a:t>
            </a:r>
          </a:p>
        </p:txBody>
      </p:sp>
      <p:sp>
        <p:nvSpPr>
          <p:cNvPr id="28" name="TextBox 27"/>
          <p:cNvSpPr txBox="1"/>
          <p:nvPr/>
        </p:nvSpPr>
        <p:spPr>
          <a:xfrm>
            <a:off x="3983957" y="4445081"/>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daño de una filtración es retroactivo e ilimitado en el tiempo</a:t>
            </a:r>
          </a:p>
        </p:txBody>
      </p:sp>
      <p:sp>
        <p:nvSpPr>
          <p:cNvPr id="29" name="TextBox 28"/>
          <p:cNvSpPr txBox="1"/>
          <p:nvPr/>
        </p:nvSpPr>
        <p:spPr>
          <a:xfrm>
            <a:off x="7802990" y="4445081"/>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H2 desde 2023 y H6 desde 2019</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PRINCIPIO</a:t>
            </a:r>
          </a:p>
        </p:txBody>
      </p:sp>
      <p:sp>
        <p:nvSpPr>
          <p:cNvPr id="34" name="TextBox 33"/>
          <p:cNvSpPr txBox="1"/>
          <p:nvPr/>
        </p:nvSpPr>
        <p:spPr>
          <a:xfrm>
            <a:off x="804672" y="5506151"/>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llave, un propósito, un ámbito y un periodo. Cuando alguna de esas cuatro cosas se comparte, la pregunta sobre qué pasa si la llave se filtra deja de tener una respuesta acotada.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26  ERROR 5</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LLAVE A LA VISTA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30</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quinto error no es de criptografía sino de dónde termina la llave. En Coopaburrá aparece en tres lugares.</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82028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APARECE</a:t>
            </a:r>
          </a:p>
        </p:txBody>
      </p:sp>
      <p:sp>
        <p:nvSpPr>
          <p:cNvPr id="12" name="TextBox 11"/>
          <p:cNvSpPr txBox="1"/>
          <p:nvPr/>
        </p:nvSpPr>
        <p:spPr>
          <a:xfrm>
            <a:off x="3551803" y="2185415"/>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ES GRAVE</a:t>
            </a:r>
          </a:p>
        </p:txBody>
      </p:sp>
      <p:sp>
        <p:nvSpPr>
          <p:cNvPr id="13" name="TextBox 12"/>
          <p:cNvSpPr txBox="1"/>
          <p:nvPr/>
        </p:nvSpPr>
        <p:spPr>
          <a:xfrm>
            <a:off x="7863291" y="2185415"/>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 EL CASO</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2820283"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Escrita en el código fuente</a:t>
            </a:r>
          </a:p>
        </p:txBody>
      </p:sp>
      <p:sp>
        <p:nvSpPr>
          <p:cNvPr id="16" name="TextBox 15"/>
          <p:cNvSpPr txBox="1"/>
          <p:nvPr/>
        </p:nvSpPr>
        <p:spPr>
          <a:xfrm>
            <a:off x="3551803" y="2587751"/>
            <a:ext cx="4146895"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Queda en el repositorio para siempre, en cada copia</a:t>
            </a:r>
          </a:p>
        </p:txBody>
      </p:sp>
      <p:sp>
        <p:nvSpPr>
          <p:cNvPr id="17" name="TextBox 16"/>
          <p:cNvSpPr txBox="1"/>
          <p:nvPr/>
        </p:nvSpPr>
        <p:spPr>
          <a:xfrm>
            <a:off x="7863291" y="2587751"/>
            <a:ext cx="359414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sal constante de H1, visible para once personas</a:t>
            </a:r>
          </a:p>
        </p:txBody>
      </p:sp>
      <p:sp>
        <p:nvSpPr>
          <p:cNvPr id="18" name="Rectangle 17"/>
          <p:cNvSpPr/>
          <p:nvPr/>
        </p:nvSpPr>
        <p:spPr>
          <a:xfrm>
            <a:off x="566928" y="28986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90087"/>
            <a:ext cx="2820283"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 la línea de comandos</a:t>
            </a:r>
          </a:p>
        </p:txBody>
      </p:sp>
      <p:sp>
        <p:nvSpPr>
          <p:cNvPr id="20" name="TextBox 19"/>
          <p:cNvSpPr txBox="1"/>
          <p:nvPr/>
        </p:nvSpPr>
        <p:spPr>
          <a:xfrm>
            <a:off x="3551803" y="2990087"/>
            <a:ext cx="4146895"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ve cualquiera que liste los procesos mientras corre</a:t>
            </a:r>
          </a:p>
        </p:txBody>
      </p:sp>
      <p:sp>
        <p:nvSpPr>
          <p:cNvPr id="21" name="TextBox 20"/>
          <p:cNvSpPr txBox="1"/>
          <p:nvPr/>
        </p:nvSpPr>
        <p:spPr>
          <a:xfrm>
            <a:off x="7863291" y="2990087"/>
            <a:ext cx="359414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guion de respaldo, cada noche: evidencia C</a:t>
            </a:r>
          </a:p>
        </p:txBody>
      </p:sp>
      <p:sp>
        <p:nvSpPr>
          <p:cNvPr id="22" name="Rectangle 21"/>
          <p:cNvSpPr/>
          <p:nvPr/>
        </p:nvSpPr>
        <p:spPr>
          <a:xfrm>
            <a:off x="566928" y="33009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392423"/>
            <a:ext cx="2820283"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En un archivo junto al dato</a:t>
            </a:r>
          </a:p>
        </p:txBody>
      </p:sp>
      <p:sp>
        <p:nvSpPr>
          <p:cNvPr id="24" name="TextBox 23"/>
          <p:cNvSpPr txBox="1"/>
          <p:nvPr/>
        </p:nvSpPr>
        <p:spPr>
          <a:xfrm>
            <a:off x="3551803" y="3392423"/>
            <a:ext cx="4146895"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obtiene el dato obtiene la llave</a:t>
            </a:r>
          </a:p>
        </p:txBody>
      </p:sp>
      <p:sp>
        <p:nvSpPr>
          <p:cNvPr id="25" name="TextBox 24"/>
          <p:cNvSpPr txBox="1"/>
          <p:nvPr/>
        </p:nvSpPr>
        <p:spPr>
          <a:xfrm>
            <a:off x="7863291" y="3392423"/>
            <a:ext cx="359414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llave.txt, en el mismo directorio del respaldo</a:t>
            </a:r>
          </a:p>
        </p:txBody>
      </p:sp>
      <p:sp>
        <p:nvSpPr>
          <p:cNvPr id="26" name="Rectangle 25"/>
          <p:cNvSpPr/>
          <p:nvPr/>
        </p:nvSpPr>
        <p:spPr>
          <a:xfrm>
            <a:off x="566928" y="370332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794759"/>
            <a:ext cx="2820283"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 variables de entorno o registros</a:t>
            </a:r>
          </a:p>
        </p:txBody>
      </p:sp>
      <p:sp>
        <p:nvSpPr>
          <p:cNvPr id="28" name="TextBox 27"/>
          <p:cNvSpPr txBox="1"/>
          <p:nvPr/>
        </p:nvSpPr>
        <p:spPr>
          <a:xfrm>
            <a:off x="3551803" y="3794759"/>
            <a:ext cx="4146895"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filtra en volcados de error y en monitoreo</a:t>
            </a:r>
          </a:p>
        </p:txBody>
      </p:sp>
      <p:sp>
        <p:nvSpPr>
          <p:cNvPr id="29" name="TextBox 28"/>
          <p:cNvSpPr txBox="1"/>
          <p:nvPr/>
        </p:nvSpPr>
        <p:spPr>
          <a:xfrm>
            <a:off x="7863291" y="3794759"/>
            <a:ext cx="359414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documentado: hay que preguntarlo</a:t>
            </a:r>
          </a:p>
        </p:txBody>
      </p:sp>
      <p:sp>
        <p:nvSpPr>
          <p:cNvPr id="30" name="Rectangle 29"/>
          <p:cNvSpPr/>
          <p:nvPr/>
        </p:nvSpPr>
        <p:spPr>
          <a:xfrm>
            <a:off x="566928" y="41056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197096"/>
            <a:ext cx="2820283"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En el paquete de una aplicación</a:t>
            </a:r>
          </a:p>
        </p:txBody>
      </p:sp>
      <p:sp>
        <p:nvSpPr>
          <p:cNvPr id="32" name="TextBox 31"/>
          <p:cNvSpPr txBox="1"/>
          <p:nvPr/>
        </p:nvSpPr>
        <p:spPr>
          <a:xfrm>
            <a:off x="3551803" y="4197096"/>
            <a:ext cx="4146895"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la extrae descompilando el paquete</a:t>
            </a:r>
          </a:p>
        </p:txBody>
      </p:sp>
      <p:sp>
        <p:nvSpPr>
          <p:cNvPr id="33" name="TextBox 32"/>
          <p:cNvSpPr txBox="1"/>
          <p:nvPr/>
        </p:nvSpPr>
        <p:spPr>
          <a:xfrm>
            <a:off x="7863291" y="4197096"/>
            <a:ext cx="359414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de firma desde 2023: evidencia D</a:t>
            </a:r>
          </a:p>
        </p:txBody>
      </p:sp>
      <p:sp>
        <p:nvSpPr>
          <p:cNvPr id="34" name="Rectangle 33"/>
          <p:cNvSpPr/>
          <p:nvPr/>
        </p:nvSpPr>
        <p:spPr>
          <a:xfrm>
            <a:off x="566928" y="450799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5628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864608"/>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8828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DÓNDE DEBE ESTAR</a:t>
            </a:r>
          </a:p>
        </p:txBody>
      </p:sp>
      <p:sp>
        <p:nvSpPr>
          <p:cNvPr id="38" name="TextBox 37"/>
          <p:cNvSpPr txBox="1"/>
          <p:nvPr/>
        </p:nvSpPr>
        <p:spPr>
          <a:xfrm>
            <a:off x="804672" y="5120640"/>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un servicio de gestión de llaves o en un módulo de hardware, al que el proceso se autentica para pedir que se cifre o descifre, </a:t>
            </a:r>
            <a:r>
              <a:rPr sz="1150" b="1">
                <a:solidFill>
                  <a:srgbClr val="2A2A2A"/>
                </a:solidFill>
                <a:latin typeface="Arial"/>
              </a:rPr>
              <a:t>sin que la llave llegue nunca a la memoria de la aplicación</a:t>
            </a:r>
            <a:r>
              <a:rPr sz="1150" b="0">
                <a:solidFill>
                  <a:srgbClr val="2A2A2A"/>
                </a:solidFill>
                <a:latin typeface="Arial"/>
              </a:rPr>
              <a:t>. La llave no se guarda: se pide. Es la sesión 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27  DEFENSA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MEJOR DEFENSA CONTRA LOS CINCO ERRORES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cinco errores tienen algo en común: son decisiones que alguien tomó mientras programaba. La defensa más efectiva no es capacitar mejor a cada programador, sino quitarle las decisiones.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NIVEL DE LA LIBRERÍA</a:t>
            </a:r>
          </a:p>
        </p:txBody>
      </p:sp>
      <p:sp>
        <p:nvSpPr>
          <p:cNvPr id="12" name="TextBox 11"/>
          <p:cNvSpPr txBox="1"/>
          <p:nvPr/>
        </p:nvSpPr>
        <p:spPr>
          <a:xfrm>
            <a:off x="4767864"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DECIDE QUIEN PROGRAMA</a:t>
            </a:r>
          </a:p>
        </p:txBody>
      </p:sp>
      <p:sp>
        <p:nvSpPr>
          <p:cNvPr id="13" name="TextBox 12"/>
          <p:cNvSpPr txBox="1"/>
          <p:nvPr/>
        </p:nvSpPr>
        <p:spPr>
          <a:xfrm>
            <a:off x="8968800"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ERRORES QUEDAN POSIBLES</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Primitivas de bajo nivel</a:t>
            </a:r>
          </a:p>
        </p:txBody>
      </p:sp>
      <p:sp>
        <p:nvSpPr>
          <p:cNvPr id="16" name="TextBox 15"/>
          <p:cNvSpPr txBox="1"/>
          <p:nvPr/>
        </p:nvSpPr>
        <p:spPr>
          <a:xfrm>
            <a:off x="4767864" y="282549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algoritmo, el modo, el vector, el relleno y la autenticación</a:t>
            </a:r>
          </a:p>
        </p:txBody>
      </p:sp>
      <p:sp>
        <p:nvSpPr>
          <p:cNvPr id="17" name="TextBox 16"/>
          <p:cNvSpPr txBox="1"/>
          <p:nvPr/>
        </p:nvSpPr>
        <p:spPr>
          <a:xfrm>
            <a:off x="8968800" y="2825495"/>
            <a:ext cx="2488631" cy="484997"/>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Los cinco</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4036344"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autenticado · AES-GCM, ChaCha20-Poly1305</a:t>
            </a:r>
          </a:p>
        </p:txBody>
      </p:sp>
      <p:sp>
        <p:nvSpPr>
          <p:cNvPr id="20" name="TextBox 19"/>
          <p:cNvSpPr txBox="1"/>
          <p:nvPr/>
        </p:nvSpPr>
        <p:spPr>
          <a:xfrm>
            <a:off x="4767864" y="3365357"/>
            <a:ext cx="4036344"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vector y dónde guardar la etiqueta</a:t>
            </a:r>
          </a:p>
        </p:txBody>
      </p:sp>
      <p:sp>
        <p:nvSpPr>
          <p:cNvPr id="21" name="TextBox 20"/>
          <p:cNvSpPr txBox="1"/>
          <p:nvPr/>
        </p:nvSpPr>
        <p:spPr>
          <a:xfrm>
            <a:off x="8968800" y="3365357"/>
            <a:ext cx="2488631"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1 y el 5</a:t>
            </a:r>
          </a:p>
        </p:txBody>
      </p:sp>
      <p:sp>
        <p:nvSpPr>
          <p:cNvPr id="22" name="Rectangle 21"/>
          <p:cNvSpPr/>
          <p:nvPr/>
        </p:nvSpPr>
        <p:spPr>
          <a:xfrm>
            <a:off x="566928" y="37859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77421"/>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Recetas de alto nivel · Fernet, secretbox</a:t>
            </a:r>
          </a:p>
        </p:txBody>
      </p:sp>
      <p:sp>
        <p:nvSpPr>
          <p:cNvPr id="24" name="TextBox 23"/>
          <p:cNvSpPr txBox="1"/>
          <p:nvPr/>
        </p:nvSpPr>
        <p:spPr>
          <a:xfrm>
            <a:off x="4767864" y="3877421"/>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pasa la llave y el dato, y la librería resuelve el resto</a:t>
            </a:r>
          </a:p>
        </p:txBody>
      </p:sp>
      <p:sp>
        <p:nvSpPr>
          <p:cNvPr id="25" name="TextBox 24"/>
          <p:cNvSpPr txBox="1"/>
          <p:nvPr/>
        </p:nvSpPr>
        <p:spPr>
          <a:xfrm>
            <a:off x="8968800" y="3877421"/>
            <a:ext cx="248863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el 5: dónde vive la llave</a:t>
            </a:r>
          </a:p>
        </p:txBody>
      </p:sp>
      <p:sp>
        <p:nvSpPr>
          <p:cNvPr id="26" name="Rectangle 25"/>
          <p:cNvSpPr/>
          <p:nvPr/>
        </p:nvSpPr>
        <p:spPr>
          <a:xfrm>
            <a:off x="566928" y="43258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38070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682459"/>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70074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RECOMENDACIÓN PARA CUALQUIER EQUIPO DE DESARROLLO</a:t>
            </a:r>
          </a:p>
        </p:txBody>
      </p:sp>
      <p:sp>
        <p:nvSpPr>
          <p:cNvPr id="30" name="TextBox 29"/>
          <p:cNvSpPr txBox="1"/>
          <p:nvPr/>
        </p:nvSpPr>
        <p:spPr>
          <a:xfrm>
            <a:off x="804672" y="4938491"/>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Usar el nivel más alto que resuelva el problema. </a:t>
            </a:r>
            <a:r>
              <a:rPr sz="1150" b="1">
                <a:solidFill>
                  <a:srgbClr val="2A2A2A"/>
                </a:solidFill>
                <a:latin typeface="Arial"/>
              </a:rPr>
              <a:t>Cada decisión que la librería toma por el programador es un error que el programador ya no puede cometer.</a:t>
            </a:r>
            <a:r>
              <a:rPr sz="1150" b="0">
                <a:solidFill>
                  <a:srgbClr val="2A2A2A"/>
                </a:solidFill>
                <a:latin typeface="Arial"/>
              </a:rPr>
              <a:t> Es lo que van a comprobar en el ejercicio en Python.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04</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LOS TRES ESTADOS DEL DATO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Bloque 4 · Reposo, tránsito y uso: qué protege cada cifrado y contra quién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28  MARCO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UN DATO ESTÁ SIEMPRE EN UNO DE TRES ESTADOS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33</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Cada estado exige un mecanismo distinto, y proteger uno no protege los otros. Confundirlos es exactamente el hallazgo H3 del caso.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127737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ESTADO</a:t>
            </a:r>
          </a:p>
        </p:txBody>
      </p:sp>
      <p:sp>
        <p:nvSpPr>
          <p:cNvPr id="12" name="TextBox 11"/>
          <p:cNvSpPr txBox="1"/>
          <p:nvPr/>
        </p:nvSpPr>
        <p:spPr>
          <a:xfrm>
            <a:off x="2008897" y="2185415"/>
            <a:ext cx="27193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SIGNIFICA</a:t>
            </a:r>
          </a:p>
        </p:txBody>
      </p:sp>
      <p:sp>
        <p:nvSpPr>
          <p:cNvPr id="13" name="TextBox 12"/>
          <p:cNvSpPr txBox="1"/>
          <p:nvPr/>
        </p:nvSpPr>
        <p:spPr>
          <a:xfrm>
            <a:off x="4892835" y="2185415"/>
            <a:ext cx="27193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MECANISMO</a:t>
            </a:r>
          </a:p>
        </p:txBody>
      </p:sp>
      <p:sp>
        <p:nvSpPr>
          <p:cNvPr id="14" name="TextBox 13"/>
          <p:cNvSpPr txBox="1"/>
          <p:nvPr/>
        </p:nvSpPr>
        <p:spPr>
          <a:xfrm>
            <a:off x="7776773" y="2185415"/>
            <a:ext cx="368065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CONTRA QUIÉN PROTEGE</a:t>
            </a:r>
          </a:p>
        </p:txBody>
      </p:sp>
      <p:sp>
        <p:nvSpPr>
          <p:cNvPr id="15" name="Rectangle 14"/>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87751"/>
            <a:ext cx="127737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 reposo</a:t>
            </a:r>
          </a:p>
        </p:txBody>
      </p:sp>
      <p:sp>
        <p:nvSpPr>
          <p:cNvPr id="17" name="TextBox 16"/>
          <p:cNvSpPr txBox="1"/>
          <p:nvPr/>
        </p:nvSpPr>
        <p:spPr>
          <a:xfrm>
            <a:off x="2008897" y="2587751"/>
            <a:ext cx="27193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Almacenado en disco, respaldo o archivo</a:t>
            </a:r>
          </a:p>
        </p:txBody>
      </p:sp>
      <p:sp>
        <p:nvSpPr>
          <p:cNvPr id="18" name="TextBox 17"/>
          <p:cNvSpPr txBox="1"/>
          <p:nvPr/>
        </p:nvSpPr>
        <p:spPr>
          <a:xfrm>
            <a:off x="4892835" y="2587751"/>
            <a:ext cx="27193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disco, de base de datos o de campo</a:t>
            </a:r>
          </a:p>
        </p:txBody>
      </p:sp>
      <p:sp>
        <p:nvSpPr>
          <p:cNvPr id="19" name="TextBox 18"/>
          <p:cNvSpPr txBox="1"/>
          <p:nvPr/>
        </p:nvSpPr>
        <p:spPr>
          <a:xfrm>
            <a:off x="7776773" y="2587751"/>
            <a:ext cx="368065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se lleve el medio físico o acceda al archivo</a:t>
            </a:r>
          </a:p>
        </p:txBody>
      </p:sp>
      <p:sp>
        <p:nvSpPr>
          <p:cNvPr id="20" name="Rectangle 19"/>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27613"/>
            <a:ext cx="1277377"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 tránsito</a:t>
            </a:r>
          </a:p>
        </p:txBody>
      </p:sp>
      <p:sp>
        <p:nvSpPr>
          <p:cNvPr id="22" name="TextBox 21"/>
          <p:cNvSpPr txBox="1"/>
          <p:nvPr/>
        </p:nvSpPr>
        <p:spPr>
          <a:xfrm>
            <a:off x="2008897" y="3127613"/>
            <a:ext cx="2719346"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Viajando por una red</a:t>
            </a:r>
          </a:p>
        </p:txBody>
      </p:sp>
      <p:sp>
        <p:nvSpPr>
          <p:cNvPr id="23" name="TextBox 22"/>
          <p:cNvSpPr txBox="1"/>
          <p:nvPr/>
        </p:nvSpPr>
        <p:spPr>
          <a:xfrm>
            <a:off x="4892835" y="3127613"/>
            <a:ext cx="2719346"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Protocolos de canal seguro</a:t>
            </a:r>
          </a:p>
        </p:txBody>
      </p:sp>
      <p:sp>
        <p:nvSpPr>
          <p:cNvPr id="24" name="TextBox 23"/>
          <p:cNvSpPr txBox="1"/>
          <p:nvPr/>
        </p:nvSpPr>
        <p:spPr>
          <a:xfrm>
            <a:off x="7776773" y="3127613"/>
            <a:ext cx="3680658"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intercepte la comunicación</a:t>
            </a:r>
          </a:p>
        </p:txBody>
      </p:sp>
      <p:sp>
        <p:nvSpPr>
          <p:cNvPr id="25" name="Rectangle 24"/>
          <p:cNvSpPr/>
          <p:nvPr/>
        </p:nvSpPr>
        <p:spPr>
          <a:xfrm>
            <a:off x="566928" y="352994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21389"/>
            <a:ext cx="127737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 uso</a:t>
            </a:r>
          </a:p>
        </p:txBody>
      </p:sp>
      <p:sp>
        <p:nvSpPr>
          <p:cNvPr id="27" name="TextBox 26"/>
          <p:cNvSpPr txBox="1"/>
          <p:nvPr/>
        </p:nvSpPr>
        <p:spPr>
          <a:xfrm>
            <a:off x="2008897" y="3621389"/>
            <a:ext cx="27193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Cargado en memoria mientras se procesa</a:t>
            </a:r>
          </a:p>
        </p:txBody>
      </p:sp>
      <p:sp>
        <p:nvSpPr>
          <p:cNvPr id="28" name="TextBox 27"/>
          <p:cNvSpPr txBox="1"/>
          <p:nvPr/>
        </p:nvSpPr>
        <p:spPr>
          <a:xfrm>
            <a:off x="4892835" y="3621389"/>
            <a:ext cx="27193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Entornos de ejecución aislados; es el estado más difícil</a:t>
            </a:r>
          </a:p>
        </p:txBody>
      </p:sp>
      <p:sp>
        <p:nvSpPr>
          <p:cNvPr id="29" name="TextBox 28"/>
          <p:cNvSpPr txBox="1"/>
          <p:nvPr/>
        </p:nvSpPr>
        <p:spPr>
          <a:xfrm>
            <a:off x="7776773" y="3621389"/>
            <a:ext cx="368065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tenga acceso privilegiado al sistema en ejecución</a:t>
            </a:r>
          </a:p>
        </p:txBody>
      </p:sp>
      <p:sp>
        <p:nvSpPr>
          <p:cNvPr id="30" name="Rectangle 29"/>
          <p:cNvSpPr/>
          <p:nvPr/>
        </p:nvSpPr>
        <p:spPr>
          <a:xfrm>
            <a:off x="566928" y="40698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12467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426427"/>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44471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MALENTENDIDO MÁS CARO DEL SECTOR</a:t>
            </a:r>
          </a:p>
        </p:txBody>
      </p:sp>
      <p:sp>
        <p:nvSpPr>
          <p:cNvPr id="34" name="TextBox 33"/>
          <p:cNvSpPr txBox="1"/>
          <p:nvPr/>
        </p:nvSpPr>
        <p:spPr>
          <a:xfrm>
            <a:off x="804672" y="4682459"/>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«Tenemos cifrado de disco» suele presentarse como si resolviera los tres estados. Resuelve uno, y solo parcialmente: </a:t>
            </a:r>
            <a:r>
              <a:rPr sz="1150" b="1">
                <a:solidFill>
                  <a:srgbClr val="2A2A2A"/>
                </a:solidFill>
                <a:latin typeface="Arial"/>
              </a:rPr>
              <a:t>el disco cifrado únicamente protege mientras el servidor está apagado</a:t>
            </a:r>
            <a:r>
              <a:rPr sz="1150" b="0">
                <a:solidFill>
                  <a:srgbClr val="2A2A2A"/>
                </a:solidFill>
                <a:latin typeface="Arial"/>
              </a:rPr>
              <a:t>. Encendido, el sistema descifra de forma transparente para cualquiera que consulte.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29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HALLAZGO H3 A LA LUZ DE ESTO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Coopaburrá declaró el dato «protegido» en 2019 porque tenía cifrado de disco completo. Con lo que ya sabemos, veamos qué protege realmente y qué no.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AMENAZA</a:t>
            </a:r>
          </a:p>
        </p:txBody>
      </p:sp>
      <p:sp>
        <p:nvSpPr>
          <p:cNvPr id="12" name="TextBox 11"/>
          <p:cNvSpPr txBox="1"/>
          <p:nvPr/>
        </p:nvSpPr>
        <p:spPr>
          <a:xfrm>
            <a:off x="4988966"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¿EL CIFRADO DE DISCO LA DETIENE?</a:t>
            </a:r>
          </a:p>
        </p:txBody>
      </p:sp>
      <p:sp>
        <p:nvSpPr>
          <p:cNvPr id="13" name="TextBox 12"/>
          <p:cNvSpPr txBox="1"/>
          <p:nvPr/>
        </p:nvSpPr>
        <p:spPr>
          <a:xfrm>
            <a:off x="7863291"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HARÍA FALTA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257446"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Robo físico de un servidor apagado</a:t>
            </a:r>
          </a:p>
        </p:txBody>
      </p:sp>
      <p:sp>
        <p:nvSpPr>
          <p:cNvPr id="16" name="TextBox 15"/>
          <p:cNvSpPr txBox="1"/>
          <p:nvPr/>
        </p:nvSpPr>
        <p:spPr>
          <a:xfrm>
            <a:off x="4988966" y="2825495"/>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Sí</a:t>
            </a:r>
          </a:p>
        </p:txBody>
      </p:sp>
      <p:sp>
        <p:nvSpPr>
          <p:cNvPr id="17" name="TextBox 16"/>
          <p:cNvSpPr txBox="1"/>
          <p:nvPr/>
        </p:nvSpPr>
        <p:spPr>
          <a:xfrm>
            <a:off x="7863291" y="2825495"/>
            <a:ext cx="359414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más. Aquí el control funciona</a:t>
            </a:r>
          </a:p>
        </p:txBody>
      </p:sp>
      <p:sp>
        <p:nvSpPr>
          <p:cNvPr id="18" name="Rectangle 17"/>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46119"/>
            <a:ext cx="4257446"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 disco dado de baja sin borrar</a:t>
            </a:r>
          </a:p>
        </p:txBody>
      </p:sp>
      <p:sp>
        <p:nvSpPr>
          <p:cNvPr id="20" name="TextBox 19"/>
          <p:cNvSpPr txBox="1"/>
          <p:nvPr/>
        </p:nvSpPr>
        <p:spPr>
          <a:xfrm>
            <a:off x="4988966" y="3246119"/>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Sí</a:t>
            </a:r>
          </a:p>
        </p:txBody>
      </p:sp>
      <p:sp>
        <p:nvSpPr>
          <p:cNvPr id="21" name="TextBox 20"/>
          <p:cNvSpPr txBox="1"/>
          <p:nvPr/>
        </p:nvSpPr>
        <p:spPr>
          <a:xfrm>
            <a:off x="7863291" y="3246119"/>
            <a:ext cx="359414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más, si la llave se destruye</a:t>
            </a:r>
          </a:p>
        </p:txBody>
      </p:sp>
      <p:sp>
        <p:nvSpPr>
          <p:cNvPr id="22" name="Rectangle 21"/>
          <p:cNvSpPr/>
          <p:nvPr/>
        </p:nvSpPr>
        <p:spPr>
          <a:xfrm>
            <a:off x="566928" y="35753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6743"/>
            <a:ext cx="425744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Consulta de un empleado con acceso de lectura</a:t>
            </a:r>
          </a:p>
        </p:txBody>
      </p:sp>
      <p:sp>
        <p:nvSpPr>
          <p:cNvPr id="24" name="TextBox 23"/>
          <p:cNvSpPr txBox="1"/>
          <p:nvPr/>
        </p:nvSpPr>
        <p:spPr>
          <a:xfrm>
            <a:off x="4988966" y="3666743"/>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25" name="TextBox 24"/>
          <p:cNvSpPr txBox="1"/>
          <p:nvPr/>
        </p:nvSpPr>
        <p:spPr>
          <a:xfrm>
            <a:off x="7863291" y="3666743"/>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a nivel de campo, enmascaramiento y registro de consultas</a:t>
            </a:r>
          </a:p>
        </p:txBody>
      </p:sp>
      <p:sp>
        <p:nvSpPr>
          <p:cNvPr id="26" name="Rectangle 25"/>
          <p:cNvSpPr/>
          <p:nvPr/>
        </p:nvSpPr>
        <p:spPr>
          <a:xfrm>
            <a:off x="566928" y="41151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06605"/>
            <a:ext cx="4257446"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Una falla en el portal que devuelva datos</a:t>
            </a:r>
          </a:p>
        </p:txBody>
      </p:sp>
      <p:sp>
        <p:nvSpPr>
          <p:cNvPr id="28" name="TextBox 27"/>
          <p:cNvSpPr txBox="1"/>
          <p:nvPr/>
        </p:nvSpPr>
        <p:spPr>
          <a:xfrm>
            <a:off x="4988966" y="4206605"/>
            <a:ext cx="2709732"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29" name="TextBox 28"/>
          <p:cNvSpPr txBox="1"/>
          <p:nvPr/>
        </p:nvSpPr>
        <p:spPr>
          <a:xfrm>
            <a:off x="7863291" y="4206605"/>
            <a:ext cx="359414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campo y control en la aplicación</a:t>
            </a:r>
          </a:p>
        </p:txBody>
      </p:sp>
      <p:sp>
        <p:nvSpPr>
          <p:cNvPr id="30" name="Rectangle 29"/>
          <p:cNvSpPr/>
          <p:nvPr/>
        </p:nvSpPr>
        <p:spPr>
          <a:xfrm>
            <a:off x="566928" y="45357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27229"/>
            <a:ext cx="425744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Copia de la base hecha por el proveedor del core</a:t>
            </a:r>
          </a:p>
        </p:txBody>
      </p:sp>
      <p:sp>
        <p:nvSpPr>
          <p:cNvPr id="32" name="TextBox 31"/>
          <p:cNvSpPr txBox="1"/>
          <p:nvPr/>
        </p:nvSpPr>
        <p:spPr>
          <a:xfrm>
            <a:off x="4988966" y="4627229"/>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33" name="TextBox 32"/>
          <p:cNvSpPr txBox="1"/>
          <p:nvPr/>
        </p:nvSpPr>
        <p:spPr>
          <a:xfrm>
            <a:off x="7863291" y="4627229"/>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campo con llave que el proveedor no tenga</a:t>
            </a:r>
          </a:p>
        </p:txBody>
      </p:sp>
      <p:sp>
        <p:nvSpPr>
          <p:cNvPr id="34" name="Rectangle 33"/>
          <p:cNvSpPr/>
          <p:nvPr/>
        </p:nvSpPr>
        <p:spPr>
          <a:xfrm>
            <a:off x="566928" y="50756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13051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432267"/>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450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PREGUNTA PARA EL INFORME</a:t>
            </a:r>
          </a:p>
        </p:txBody>
      </p:sp>
      <p:sp>
        <p:nvSpPr>
          <p:cNvPr id="38" name="TextBox 37"/>
          <p:cNvSpPr txBox="1"/>
          <p:nvPr/>
        </p:nvSpPr>
        <p:spPr>
          <a:xfrm>
            <a:off x="804672" y="5688299"/>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Once personas tienen acceso de lectura a la base. ¿Cuántas necesitan ver la cédula y el saldo para hacer su trabajo? </a:t>
            </a:r>
            <a:r>
              <a:rPr sz="1150" b="1">
                <a:solidFill>
                  <a:srgbClr val="2A2A2A"/>
                </a:solidFill>
                <a:latin typeface="Arial"/>
              </a:rPr>
              <a:t>Esa pregunta vale más que cualquier recomendación de algoritmo.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30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CIFRADO DE DISCO POR DENTRO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Vale la pena ver cómo funciona para entender con precisión qué protege. La llave vive en un lugar muy concreto mientras el servidor está encendido.</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FUNCIONA</a:t>
            </a:r>
          </a:p>
        </p:txBody>
      </p:sp>
      <p:sp>
        <p:nvSpPr>
          <p:cNvPr id="11" name="TextBox 10"/>
          <p:cNvSpPr txBox="1"/>
          <p:nvPr/>
        </p:nvSpPr>
        <p:spPr>
          <a:xfrm>
            <a:off x="566928" y="2578607"/>
            <a:ext cx="5253228" cy="19202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Cada sector del disco se cifra con AES en modo XTS, pensado para que el cifrado ocupe lo mismo que el dato y cada sector se escriba por separado.</a:t>
            </a:r>
          </a:p>
          <a:p>
            <a:pPr algn="l">
              <a:lnSpc>
                <a:spcPct val="128000"/>
              </a:lnSpc>
              <a:spcAft>
                <a:spcPts val="700"/>
              </a:spcAft>
            </a:pPr>
            <a:r>
              <a:rPr sz="1150" b="0">
                <a:solidFill>
                  <a:srgbClr val="000000"/>
                </a:solidFill>
                <a:latin typeface="Arial"/>
              </a:rPr>
              <a:t>Al encender, la llave se desbloquea con una contraseña, un chip del equipo o un servidor de llaves, y queda cargada en memoria.</a:t>
            </a:r>
          </a:p>
          <a:p>
            <a:pPr algn="l">
              <a:lnSpc>
                <a:spcPct val="128000"/>
              </a:lnSpc>
              <a:spcAft>
                <a:spcPts val="700"/>
              </a:spcAft>
            </a:pPr>
            <a:r>
              <a:rPr sz="1150" b="0">
                <a:solidFill>
                  <a:srgbClr val="000000"/>
                </a:solidFill>
                <a:latin typeface="Arial"/>
              </a:rPr>
              <a:t>Desde ese momento el sistema descifra de forma transparente todo lo que cualquiera lea.</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ESO IMPLICA</a:t>
            </a:r>
          </a:p>
        </p:txBody>
      </p:sp>
      <p:sp>
        <p:nvSpPr>
          <p:cNvPr id="13" name="TextBox 12"/>
          <p:cNvSpPr txBox="1"/>
          <p:nvPr/>
        </p:nvSpPr>
        <p:spPr>
          <a:xfrm>
            <a:off x="6368796" y="2578607"/>
            <a:ext cx="5253228" cy="19202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No hay control de quién lee: el disco no distingue a un administrador de un atacante con sesión en el servidor.</a:t>
            </a:r>
          </a:p>
          <a:p>
            <a:pPr algn="l">
              <a:lnSpc>
                <a:spcPct val="128000"/>
              </a:lnSpc>
              <a:spcAft>
                <a:spcPts val="700"/>
              </a:spcAft>
            </a:pPr>
            <a:r>
              <a:rPr sz="1150" b="0">
                <a:solidFill>
                  <a:srgbClr val="000000"/>
                </a:solidFill>
                <a:latin typeface="Arial"/>
              </a:rPr>
              <a:t>XTS no autentica: una alteración del disco no se detecta, solo produce datos corruptos.</a:t>
            </a:r>
          </a:p>
          <a:p>
            <a:pPr algn="l">
              <a:lnSpc>
                <a:spcPct val="128000"/>
              </a:lnSpc>
              <a:spcAft>
                <a:spcPts val="700"/>
              </a:spcAft>
            </a:pPr>
            <a:r>
              <a:rPr sz="1150" b="0">
                <a:solidFill>
                  <a:srgbClr val="000000"/>
                </a:solidFill>
                <a:latin typeface="Arial"/>
              </a:rPr>
              <a:t>La llave en memoria se puede extraer de un equipo encendido o recién apagado: está documentado desde 2008.</a:t>
            </a:r>
          </a:p>
        </p:txBody>
      </p:sp>
      <p:sp>
        <p:nvSpPr>
          <p:cNvPr id="14" name="Rectangle 13"/>
          <p:cNvSpPr/>
          <p:nvPr/>
        </p:nvSpPr>
        <p:spPr>
          <a:xfrm>
            <a:off x="6085332" y="2304287"/>
            <a:ext cx="9144" cy="21945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75488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77316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FRASE PARA EL INFORME DE H3</a:t>
            </a:r>
          </a:p>
        </p:txBody>
      </p:sp>
      <p:sp>
        <p:nvSpPr>
          <p:cNvPr id="17" name="TextBox 16"/>
          <p:cNvSpPr txBox="1"/>
          <p:nvPr/>
        </p:nvSpPr>
        <p:spPr>
          <a:xfrm>
            <a:off x="804672" y="501091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cifrado de disco de Coopaburrá es un control contra el robo del medio físico, y funciona para eso. </a:t>
            </a:r>
            <a:r>
              <a:rPr sz="1150" b="1">
                <a:solidFill>
                  <a:srgbClr val="2A2A2A"/>
                </a:solidFill>
                <a:latin typeface="Arial"/>
              </a:rPr>
              <a:t>No es un control de acceso a los datos</a:t>
            </a:r>
            <a:r>
              <a:rPr sz="1150" b="0">
                <a:solidFill>
                  <a:srgbClr val="2A2A2A"/>
                </a:solidFill>
                <a:latin typeface="Arial"/>
              </a:rPr>
              <a:t>, y el informe de 2019 lo presentó como si lo fuera.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31  OPCIONES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TRES FORMAS DE CIFRAR UNA BASE DE DATOS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36</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recomendación para el hallazgo H3 va a ser una de estas tres, y la diferencia entre ellas es quién puede ver el dato en claro.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32529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OPCIÓN</a:t>
            </a:r>
          </a:p>
        </p:txBody>
      </p:sp>
      <p:sp>
        <p:nvSpPr>
          <p:cNvPr id="12" name="TextBox 11"/>
          <p:cNvSpPr txBox="1"/>
          <p:nvPr/>
        </p:nvSpPr>
        <p:spPr>
          <a:xfrm>
            <a:off x="3056814" y="2185415"/>
            <a:ext cx="34208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FUNCIONA</a:t>
            </a:r>
          </a:p>
        </p:txBody>
      </p:sp>
      <p:sp>
        <p:nvSpPr>
          <p:cNvPr id="13" name="TextBox 12"/>
          <p:cNvSpPr txBox="1"/>
          <p:nvPr/>
        </p:nvSpPr>
        <p:spPr>
          <a:xfrm>
            <a:off x="6642251" y="2185415"/>
            <a:ext cx="381922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QUIÉN VE EL DATO EN CLARO</a:t>
            </a:r>
          </a:p>
        </p:txBody>
      </p:sp>
      <p:sp>
        <p:nvSpPr>
          <p:cNvPr id="14" name="TextBox 13"/>
          <p:cNvSpPr txBox="1"/>
          <p:nvPr/>
        </p:nvSpPr>
        <p:spPr>
          <a:xfrm>
            <a:off x="10626069" y="2185415"/>
            <a:ext cx="83136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COSTO</a:t>
            </a:r>
          </a:p>
        </p:txBody>
      </p:sp>
      <p:sp>
        <p:nvSpPr>
          <p:cNvPr id="15" name="Rectangle 14"/>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87751"/>
            <a:ext cx="232529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transparente</a:t>
            </a:r>
          </a:p>
        </p:txBody>
      </p:sp>
      <p:sp>
        <p:nvSpPr>
          <p:cNvPr id="17" name="TextBox 16"/>
          <p:cNvSpPr txBox="1"/>
          <p:nvPr/>
        </p:nvSpPr>
        <p:spPr>
          <a:xfrm>
            <a:off x="3056814" y="2587751"/>
            <a:ext cx="34208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motor cifra los archivos. La aplicación no se entera</a:t>
            </a:r>
          </a:p>
        </p:txBody>
      </p:sp>
      <p:sp>
        <p:nvSpPr>
          <p:cNvPr id="18" name="TextBox 17"/>
          <p:cNvSpPr txBox="1"/>
          <p:nvPr/>
        </p:nvSpPr>
        <p:spPr>
          <a:xfrm>
            <a:off x="6642251" y="2587751"/>
            <a:ext cx="381922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que consulte la base, incluido el administrador y el proveedor</a:t>
            </a:r>
          </a:p>
        </p:txBody>
      </p:sp>
      <p:sp>
        <p:nvSpPr>
          <p:cNvPr id="19" name="TextBox 18"/>
          <p:cNvSpPr txBox="1"/>
          <p:nvPr/>
        </p:nvSpPr>
        <p:spPr>
          <a:xfrm>
            <a:off x="10626069" y="2587751"/>
            <a:ext cx="83136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Bajo</a:t>
            </a:r>
          </a:p>
        </p:txBody>
      </p:sp>
      <p:sp>
        <p:nvSpPr>
          <p:cNvPr id="20" name="Rectangle 19"/>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27613"/>
            <a:ext cx="232529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por columna</a:t>
            </a:r>
          </a:p>
        </p:txBody>
      </p:sp>
      <p:sp>
        <p:nvSpPr>
          <p:cNvPr id="22" name="TextBox 21"/>
          <p:cNvSpPr txBox="1"/>
          <p:nvPr/>
        </p:nvSpPr>
        <p:spPr>
          <a:xfrm>
            <a:off x="3056814" y="3127613"/>
            <a:ext cx="34208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motor cifra solo ciertos campos con llaves separadas</a:t>
            </a:r>
          </a:p>
        </p:txBody>
      </p:sp>
      <p:sp>
        <p:nvSpPr>
          <p:cNvPr id="23" name="TextBox 22"/>
          <p:cNvSpPr txBox="1"/>
          <p:nvPr/>
        </p:nvSpPr>
        <p:spPr>
          <a:xfrm>
            <a:off x="6642251" y="3127613"/>
            <a:ext cx="381922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Quien tenga permiso sobre esa llave, no todo el que consulte</a:t>
            </a:r>
          </a:p>
        </p:txBody>
      </p:sp>
      <p:sp>
        <p:nvSpPr>
          <p:cNvPr id="24" name="TextBox 23"/>
          <p:cNvSpPr txBox="1"/>
          <p:nvPr/>
        </p:nvSpPr>
        <p:spPr>
          <a:xfrm>
            <a:off x="10626069" y="3127613"/>
            <a:ext cx="83136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Medio</a:t>
            </a:r>
          </a:p>
        </p:txBody>
      </p:sp>
      <p:sp>
        <p:nvSpPr>
          <p:cNvPr id="25" name="Rectangle 24"/>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667475"/>
            <a:ext cx="232529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Cifrado en la aplicación</a:t>
            </a:r>
          </a:p>
        </p:txBody>
      </p:sp>
      <p:sp>
        <p:nvSpPr>
          <p:cNvPr id="27" name="TextBox 26"/>
          <p:cNvSpPr txBox="1"/>
          <p:nvPr/>
        </p:nvSpPr>
        <p:spPr>
          <a:xfrm>
            <a:off x="3056814" y="3667475"/>
            <a:ext cx="34208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dato llega ya cifrado al motor; la llave nunca está en la base</a:t>
            </a:r>
          </a:p>
        </p:txBody>
      </p:sp>
      <p:sp>
        <p:nvSpPr>
          <p:cNvPr id="28" name="TextBox 27"/>
          <p:cNvSpPr txBox="1"/>
          <p:nvPr/>
        </p:nvSpPr>
        <p:spPr>
          <a:xfrm>
            <a:off x="6642251" y="3667475"/>
            <a:ext cx="381922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la aplicación. Ni el administrador ni el proveedor</a:t>
            </a:r>
          </a:p>
        </p:txBody>
      </p:sp>
      <p:sp>
        <p:nvSpPr>
          <p:cNvPr id="29" name="TextBox 28"/>
          <p:cNvSpPr txBox="1"/>
          <p:nvPr/>
        </p:nvSpPr>
        <p:spPr>
          <a:xfrm>
            <a:off x="10626069" y="3667475"/>
            <a:ext cx="83136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Alto</a:t>
            </a:r>
          </a:p>
        </p:txBody>
      </p:sp>
      <p:sp>
        <p:nvSpPr>
          <p:cNvPr id="30" name="Rectangle 29"/>
          <p:cNvSpPr/>
          <p:nvPr/>
        </p:nvSpPr>
        <p:spPr>
          <a:xfrm>
            <a:off x="566928" y="41158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17076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472513"/>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49080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RESTRICCIÓN DEL CASO</a:t>
            </a:r>
          </a:p>
        </p:txBody>
      </p:sp>
      <p:sp>
        <p:nvSpPr>
          <p:cNvPr id="34" name="TextBox 33"/>
          <p:cNvSpPr txBox="1"/>
          <p:nvPr/>
        </p:nvSpPr>
        <p:spPr>
          <a:xfrm>
            <a:off x="804672" y="4728545"/>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contrato con el proveedor del core dice que </a:t>
            </a:r>
            <a:r>
              <a:rPr sz="1150" b="1">
                <a:solidFill>
                  <a:srgbClr val="2A2A2A"/>
                </a:solidFill>
                <a:latin typeface="Arial"/>
              </a:rPr>
              <a:t>cualquier cambio en el esquema de datos se cotiza aparte y requiere su aprobación</a:t>
            </a:r>
            <a:r>
              <a:rPr sz="1150" b="0">
                <a:solidFill>
                  <a:srgbClr val="2A2A2A"/>
                </a:solidFill>
                <a:latin typeface="Arial"/>
              </a:rPr>
              <a:t>. Eso encarece las dos últimas opciones y hay que decirlo en la recomendación.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32  PATRÓN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CIFRADO EN SOBRE: UNA LLAVE PARA EL DATO, OTRA PARA LA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patrón que usa toda la industria para cifrar grandes volúmenes, y el que resuelve a la vez la rotación y la custodia. Aparece en cada servicio de llaves y en cada módulo de hardware.</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CIFRADO EN SOBRE · ENVELOPE ENCRYPTION</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Para cifrar un registro:</a:t>
            </a:r>
          </a:p>
          <a:p>
            <a:pPr algn="l">
              <a:lnSpc>
                <a:spcPct val="130000"/>
              </a:lnSpc>
              <a:spcAft>
                <a:spcPts val="0"/>
              </a:spcAft>
            </a:pPr>
            <a:r>
              <a:rPr sz="950" b="0">
                <a:solidFill>
                  <a:srgbClr val="000000"/>
                </a:solidFill>
                <a:latin typeface="Consolas"/>
              </a:rPr>
              <a:t>  1. Se genera una llave de datos nueva, al azar                     (DEK)</a:t>
            </a:r>
          </a:p>
          <a:p>
            <a:pPr algn="l">
              <a:lnSpc>
                <a:spcPct val="130000"/>
              </a:lnSpc>
              <a:spcAft>
                <a:spcPts val="0"/>
              </a:spcAft>
            </a:pPr>
            <a:r>
              <a:rPr sz="950" b="0">
                <a:solidFill>
                  <a:srgbClr val="000000"/>
                </a:solidFill>
                <a:latin typeface="Consolas"/>
              </a:rPr>
              <a:t>  2. Se cifra el registro con esa llave, en modo autenticado</a:t>
            </a:r>
          </a:p>
          <a:p>
            <a:pPr algn="l">
              <a:lnSpc>
                <a:spcPct val="130000"/>
              </a:lnSpc>
              <a:spcAft>
                <a:spcPts val="0"/>
              </a:spcAft>
            </a:pPr>
            <a:r>
              <a:rPr sz="950" b="0">
                <a:solidFill>
                  <a:srgbClr val="000000"/>
                </a:solidFill>
                <a:latin typeface="Consolas"/>
              </a:rPr>
              <a:t>  3. Se cifra la llave de datos con la llave maestra                 (KEK)</a:t>
            </a:r>
          </a:p>
          <a:p>
            <a:pPr algn="l">
              <a:lnSpc>
                <a:spcPct val="130000"/>
              </a:lnSpc>
              <a:spcAft>
                <a:spcPts val="0"/>
              </a:spcAft>
            </a:pPr>
            <a:r>
              <a:rPr sz="950" b="0">
                <a:solidFill>
                  <a:srgbClr val="000000"/>
                </a:solidFill>
                <a:latin typeface="Consolas"/>
              </a:rPr>
              <a:t>  4. Se guarda, junto al registro, la llave de datos YA CIFRADA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La llave maestra nunca sale del módulo de hardware ni del servicio de llaves.</a:t>
            </a:r>
          </a:p>
          <a:p>
            <a:pPr algn="l">
              <a:lnSpc>
                <a:spcPct val="130000"/>
              </a:lnSpc>
              <a:spcAft>
                <a:spcPts val="0"/>
              </a:spcAft>
            </a:pPr>
            <a:r>
              <a:rPr sz="950" b="0">
                <a:solidFill>
                  <a:srgbClr val="000000"/>
                </a:solidFill>
                <a:latin typeface="Consolas"/>
              </a:rPr>
              <a:t>Rotarla significa volver a cifrar llaves pequeñas, no 2,3 TB de datos.</a:t>
            </a:r>
          </a:p>
        </p:txBody>
      </p:sp>
      <p:sp>
        <p:nvSpPr>
          <p:cNvPr id="13" name="Rectangle 12"/>
          <p:cNvSpPr/>
          <p:nvPr/>
        </p:nvSpPr>
        <p:spPr>
          <a:xfrm>
            <a:off x="566928" y="4612233"/>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RESUELVE LO QUE PARECÍA IMPOSIBLE</a:t>
            </a:r>
          </a:p>
        </p:txBody>
      </p:sp>
      <p:sp>
        <p:nvSpPr>
          <p:cNvPr id="15" name="TextBox 14"/>
          <p:cNvSpPr txBox="1"/>
          <p:nvPr/>
        </p:nvSpPr>
        <p:spPr>
          <a:xfrm>
            <a:off x="804672" y="4868265"/>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llave que importa vive en un solo lugar protegido, y las miles de llaves de datos pueden estar al lado del dato porque están cifradas. </a:t>
            </a:r>
            <a:r>
              <a:rPr sz="1150" b="1">
                <a:solidFill>
                  <a:srgbClr val="2A2A2A"/>
                </a:solidFill>
                <a:latin typeface="Arial"/>
              </a:rPr>
              <a:t>Es la respuesta al problema de rotación de la diapositiva siguiente</a:t>
            </a:r>
            <a:r>
              <a:rPr sz="1150" b="0">
                <a:solidFill>
                  <a:srgbClr val="2A2A2A"/>
                </a:solidFill>
                <a:latin typeface="Arial"/>
              </a:rPr>
              <a:t> y la base de la jerarquía de llaves de la sesión 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33  CONSULTA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BUSCA SOBRE UN DATO CIFRADO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problema práctico que tumba más proyectos de cifrado de campo. Si cada cifrado de la misma cédula es distinto, ¿cómo se encuentra a un asociado por su cédula?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TÉCNICA</a:t>
            </a:r>
          </a:p>
        </p:txBody>
      </p:sp>
      <p:sp>
        <p:nvSpPr>
          <p:cNvPr id="12" name="TextBox 11"/>
          <p:cNvSpPr txBox="1"/>
          <p:nvPr/>
        </p:nvSpPr>
        <p:spPr>
          <a:xfrm>
            <a:off x="3662354"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PERMITE BUSCAR</a:t>
            </a:r>
          </a:p>
        </p:txBody>
      </p:sp>
      <p:sp>
        <p:nvSpPr>
          <p:cNvPr id="13" name="TextBox 12"/>
          <p:cNvSpPr txBox="1"/>
          <p:nvPr/>
        </p:nvSpPr>
        <p:spPr>
          <a:xfrm>
            <a:off x="7973842" y="2423159"/>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REVELA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con vector aleatorio</a:t>
            </a:r>
          </a:p>
        </p:txBody>
      </p:sp>
      <p:sp>
        <p:nvSpPr>
          <p:cNvPr id="16" name="TextBox 15"/>
          <p:cNvSpPr txBox="1"/>
          <p:nvPr/>
        </p:nvSpPr>
        <p:spPr>
          <a:xfrm>
            <a:off x="3662354" y="2825495"/>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permite: cada cifrado de la misma cédula es distinto</a:t>
            </a:r>
          </a:p>
        </p:txBody>
      </p:sp>
      <p:sp>
        <p:nvSpPr>
          <p:cNvPr id="17" name="TextBox 16"/>
          <p:cNvSpPr txBox="1"/>
          <p:nvPr/>
        </p:nvSpPr>
        <p:spPr>
          <a:xfrm>
            <a:off x="7973842" y="2825495"/>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Es lo más seguro y lo menos útil para consultar</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determinista</a:t>
            </a:r>
          </a:p>
        </p:txBody>
      </p:sp>
      <p:sp>
        <p:nvSpPr>
          <p:cNvPr id="20" name="TextBox 19"/>
          <p:cNvSpPr txBox="1"/>
          <p:nvPr/>
        </p:nvSpPr>
        <p:spPr>
          <a:xfrm>
            <a:off x="3662354" y="3365357"/>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misma cédula produce siempre el mismo cifrado</a:t>
            </a:r>
          </a:p>
        </p:txBody>
      </p:sp>
      <p:sp>
        <p:nvSpPr>
          <p:cNvPr id="21" name="TextBox 20"/>
          <p:cNvSpPr txBox="1"/>
          <p:nvPr/>
        </p:nvSpPr>
        <p:spPr>
          <a:xfrm>
            <a:off x="7973842" y="3365357"/>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registros comparten valor: el problema del escudo, en pequeño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Índice ciego</a:t>
            </a:r>
          </a:p>
        </p:txBody>
      </p:sp>
      <p:sp>
        <p:nvSpPr>
          <p:cNvPr id="24" name="TextBox 23"/>
          <p:cNvSpPr txBox="1"/>
          <p:nvPr/>
        </p:nvSpPr>
        <p:spPr>
          <a:xfrm>
            <a:off x="3662354" y="3905219"/>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guarda aparte un HMAC de la cédula con otra llave, y se busca por él</a:t>
            </a:r>
          </a:p>
        </p:txBody>
      </p:sp>
      <p:sp>
        <p:nvSpPr>
          <p:cNvPr id="25" name="TextBox 24"/>
          <p:cNvSpPr txBox="1"/>
          <p:nvPr/>
        </p:nvSpPr>
        <p:spPr>
          <a:xfrm>
            <a:off x="7973842" y="3905219"/>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Igualdad, y solo a quien tenga la llave del índice</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Tokenización</a:t>
            </a:r>
          </a:p>
        </p:txBody>
      </p:sp>
      <p:sp>
        <p:nvSpPr>
          <p:cNvPr id="28" name="TextBox 27"/>
          <p:cNvSpPr txBox="1"/>
          <p:nvPr/>
        </p:nvSpPr>
        <p:spPr>
          <a:xfrm>
            <a:off x="3662354" y="4445081"/>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dato se reemplaza por un sustituto sin relación matemática con él</a:t>
            </a:r>
          </a:p>
        </p:txBody>
      </p:sp>
      <p:sp>
        <p:nvSpPr>
          <p:cNvPr id="29" name="TextBox 28"/>
          <p:cNvSpPr txBox="1"/>
          <p:nvPr/>
        </p:nvSpPr>
        <p:spPr>
          <a:xfrm>
            <a:off x="7973842" y="4445081"/>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del dato original. Se ve en la sesión 6</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DECISIÓN PARA EL HALLAZGO H3</a:t>
            </a:r>
          </a:p>
        </p:txBody>
      </p:sp>
      <p:sp>
        <p:nvSpPr>
          <p:cNvPr id="34" name="TextBox 33"/>
          <p:cNvSpPr txBox="1"/>
          <p:nvPr/>
        </p:nvSpPr>
        <p:spPr>
          <a:xfrm>
            <a:off x="804672" y="5506151"/>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cédula de los 142.000 asociados se consulta todo el día. </a:t>
            </a:r>
            <a:r>
              <a:rPr sz="1150" b="1">
                <a:solidFill>
                  <a:srgbClr val="2A2A2A"/>
                </a:solidFill>
                <a:latin typeface="Arial"/>
              </a:rPr>
              <a:t>Cifrarla sin prever cómo se va a buscar es la forma más rápida de que el proyecto se cancele por rendimiento.</a:t>
            </a:r>
            <a:r>
              <a:rPr sz="1150" b="0">
                <a:solidFill>
                  <a:srgbClr val="2A2A2A"/>
                </a:solidFill>
                <a:latin typeface="Arial"/>
              </a:rPr>
              <a:t> La entrega 2 tiene que decir qué técnica y por qué.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34  FRONTERA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DATOS EN USO: EL ESTADO MÁS DIFÍCIL</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Para procesar un dato hay que descifrarlo, y en ese instante está en claro en la memoria. Dos tecnologías atacan ese problema, y conviene conocerlas para evaluar lo que prometen los proveedores.</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ENTORNOS DE EJECUCIÓN CONFIABLES</a:t>
            </a:r>
          </a:p>
        </p:txBody>
      </p:sp>
      <p:sp>
        <p:nvSpPr>
          <p:cNvPr id="11" name="TextBox 10"/>
          <p:cNvSpPr txBox="1"/>
          <p:nvPr/>
        </p:nvSpPr>
        <p:spPr>
          <a:xfrm>
            <a:off x="566928"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procesador cifra la memoria de un proceso o de una máquina virtual completa, de modo que ni el administrador del servidor ni el de la nube pueden leerla.</a:t>
            </a:r>
          </a:p>
          <a:p>
            <a:pPr algn="l">
              <a:lnSpc>
                <a:spcPct val="128000"/>
              </a:lnSpc>
              <a:spcAft>
                <a:spcPts val="700"/>
              </a:spcAft>
            </a:pPr>
            <a:r>
              <a:rPr sz="1150" b="0">
                <a:solidFill>
                  <a:srgbClr val="000000"/>
                </a:solidFill>
                <a:latin typeface="Arial"/>
              </a:rPr>
              <a:t>Incluyen atestación: una prueba firmada de qué código corre dentro.</a:t>
            </a:r>
          </a:p>
          <a:p>
            <a:pPr algn="l">
              <a:lnSpc>
                <a:spcPct val="128000"/>
              </a:lnSpc>
              <a:spcAft>
                <a:spcPts val="700"/>
              </a:spcAft>
            </a:pPr>
            <a:r>
              <a:rPr sz="1150" b="0">
                <a:solidFill>
                  <a:srgbClr val="000000"/>
                </a:solidFill>
                <a:latin typeface="Arial"/>
              </a:rPr>
              <a:t>Maduros y disponibles hoy en los principales proveedores de nube.</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CIFRADO HOMOMÓRFICO</a:t>
            </a:r>
          </a:p>
        </p:txBody>
      </p:sp>
      <p:sp>
        <p:nvSpPr>
          <p:cNvPr id="13" name="TextBox 12"/>
          <p:cNvSpPr txBox="1"/>
          <p:nvPr/>
        </p:nvSpPr>
        <p:spPr>
          <a:xfrm>
            <a:off x="6368796"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Permite operar sobre datos cifrados sin descifrarlos nunca: sumar saldos cifrados y obtener la suma cifrada.</a:t>
            </a:r>
          </a:p>
          <a:p>
            <a:pPr algn="l">
              <a:lnSpc>
                <a:spcPct val="128000"/>
              </a:lnSpc>
              <a:spcAft>
                <a:spcPts val="700"/>
              </a:spcAft>
            </a:pPr>
            <a:r>
              <a:rPr sz="1150" b="0">
                <a:solidFill>
                  <a:srgbClr val="000000"/>
                </a:solidFill>
                <a:latin typeface="Arial"/>
              </a:rPr>
              <a:t>Existe y funciona desde 2009, pero es órdenes de magnitud más lento que operar en claro.</a:t>
            </a:r>
          </a:p>
          <a:p>
            <a:pPr algn="l">
              <a:lnSpc>
                <a:spcPct val="128000"/>
              </a:lnSpc>
              <a:spcAft>
                <a:spcPts val="700"/>
              </a:spcAft>
            </a:pPr>
            <a:r>
              <a:rPr sz="1150" b="0">
                <a:solidFill>
                  <a:srgbClr val="000000"/>
                </a:solidFill>
                <a:latin typeface="Arial"/>
              </a:rPr>
              <a:t>Útil en casos específicos de analítica. No es una solución general todavía.</a:t>
            </a:r>
          </a:p>
        </p:txBody>
      </p:sp>
      <p:sp>
        <p:nvSpPr>
          <p:cNvPr id="14" name="Rectangle 13"/>
          <p:cNvSpPr/>
          <p:nvPr/>
        </p:nvSpPr>
        <p:spPr>
          <a:xfrm>
            <a:off x="6085332" y="2304287"/>
            <a:ext cx="9144"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526280"/>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54456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SIGNIFICA PARA EL CASO</a:t>
            </a:r>
          </a:p>
        </p:txBody>
      </p:sp>
      <p:sp>
        <p:nvSpPr>
          <p:cNvPr id="17" name="TextBox 16"/>
          <p:cNvSpPr txBox="1"/>
          <p:nvPr/>
        </p:nvSpPr>
        <p:spPr>
          <a:xfrm>
            <a:off x="804672" y="4782312"/>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Ninguna de las dos es prioridad para Coopaburrá: su problema está en el dato en reposo y en quién consulta. </a:t>
            </a:r>
            <a:r>
              <a:rPr sz="1150" b="1">
                <a:solidFill>
                  <a:srgbClr val="2A2A2A"/>
                </a:solidFill>
                <a:latin typeface="Arial"/>
              </a:rPr>
              <a:t>Pero si un proveedor ofrece «cifrado en todo momento», ya saben qué preguntar</a:t>
            </a:r>
            <a:r>
              <a:rPr sz="1150" b="0">
                <a:solidFill>
                  <a:srgbClr val="2A2A2A"/>
                </a:solidFill>
                <a:latin typeface="Arial"/>
              </a:rPr>
              <a:t>: con qué tecnología, y qué pasa con el dato mientras se procesa.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35  RIESGO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OTRO LADO: PERDER LA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Cifrar bien introduce un riesgo nuevo que casi nadie evalúa. Si la llave se pierde, el dato se pierde, y eso es un problema de disponibilidad, que ustedes ya trabajaron en continuidad.</a:t>
            </a:r>
          </a:p>
        </p:txBody>
      </p:sp>
      <p:sp>
        <p:nvSpPr>
          <p:cNvPr id="10" name="Rectangle 9"/>
          <p:cNvSpPr/>
          <p:nvPr/>
        </p:nvSpPr>
        <p:spPr>
          <a:xfrm>
            <a:off x="566928" y="2304287"/>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PASA SI SE PIERDE LA LLAVE</a:t>
            </a:r>
          </a:p>
        </p:txBody>
      </p:sp>
      <p:sp>
        <p:nvSpPr>
          <p:cNvPr id="12" name="TextBox 11"/>
          <p:cNvSpPr txBox="1"/>
          <p:nvPr/>
        </p:nvSpPr>
        <p:spPr>
          <a:xfrm>
            <a:off x="786384" y="2633471"/>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dato cifrado es indistinguible de ruido. No hay soporte técnico ni proveedor que lo recupere.</a:t>
            </a:r>
          </a:p>
          <a:p>
            <a:pPr algn="l">
              <a:lnSpc>
                <a:spcPct val="128000"/>
              </a:lnSpc>
              <a:spcAft>
                <a:spcPts val="700"/>
              </a:spcAft>
            </a:pPr>
            <a:r>
              <a:rPr sz="1150" b="0">
                <a:solidFill>
                  <a:srgbClr val="000000"/>
                </a:solidFill>
                <a:latin typeface="Arial"/>
              </a:rPr>
              <a:t>Para 142.000 asociados y 2,3 TB, eso no es un incidente: es el fin de la operación.</a:t>
            </a:r>
          </a:p>
          <a:p>
            <a:pPr algn="l">
              <a:lnSpc>
                <a:spcPct val="128000"/>
              </a:lnSpc>
              <a:spcAft>
                <a:spcPts val="700"/>
              </a:spcAft>
            </a:pPr>
            <a:r>
              <a:rPr sz="1150" b="0">
                <a:solidFill>
                  <a:srgbClr val="000000"/>
                </a:solidFill>
                <a:latin typeface="Arial"/>
              </a:rPr>
              <a:t>Un respaldo cifrado cuya llave se perdió es un archivo inútil que ocupa espacio.</a:t>
            </a:r>
          </a:p>
        </p:txBody>
      </p:sp>
      <p:sp>
        <p:nvSpPr>
          <p:cNvPr id="13" name="Rectangle 12"/>
          <p:cNvSpPr/>
          <p:nvPr/>
        </p:nvSpPr>
        <p:spPr>
          <a:xfrm>
            <a:off x="6268212" y="2304287"/>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SE MANEJA</a:t>
            </a:r>
          </a:p>
        </p:txBody>
      </p:sp>
      <p:sp>
        <p:nvSpPr>
          <p:cNvPr id="15" name="TextBox 14"/>
          <p:cNvSpPr txBox="1"/>
          <p:nvPr/>
        </p:nvSpPr>
        <p:spPr>
          <a:xfrm>
            <a:off x="6487668" y="2633471"/>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Custodia con al menos dos personas y doble control, de modo que ninguna pueda actuar sola ni perder la única copia.</a:t>
            </a:r>
          </a:p>
          <a:p>
            <a:pPr algn="l">
              <a:lnSpc>
                <a:spcPct val="128000"/>
              </a:lnSpc>
              <a:spcAft>
                <a:spcPts val="700"/>
              </a:spcAft>
            </a:pPr>
            <a:r>
              <a:rPr sz="1150" b="0">
                <a:solidFill>
                  <a:srgbClr val="000000"/>
                </a:solidFill>
                <a:latin typeface="Arial"/>
              </a:rPr>
              <a:t>Copia de resguardo de la llave, guardada en un lugar distinto al dato que protege.</a:t>
            </a:r>
          </a:p>
          <a:p>
            <a:pPr algn="l">
              <a:lnSpc>
                <a:spcPct val="128000"/>
              </a:lnSpc>
              <a:spcAft>
                <a:spcPts val="700"/>
              </a:spcAft>
            </a:pPr>
            <a:r>
              <a:rPr sz="1150" b="0">
                <a:solidFill>
                  <a:srgbClr val="000000"/>
                </a:solidFill>
                <a:latin typeface="Arial"/>
              </a:rPr>
              <a:t>Procedimiento de recuperación probado, no solo documentado.</a:t>
            </a:r>
          </a:p>
        </p:txBody>
      </p:sp>
      <p:sp>
        <p:nvSpPr>
          <p:cNvPr id="16" name="Rectangle 15"/>
          <p:cNvSpPr/>
          <p:nvPr/>
        </p:nvSpPr>
        <p:spPr>
          <a:xfrm>
            <a:off x="566928" y="4498847"/>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5171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IRONÍA DEL HALLAZGO H4</a:t>
            </a:r>
          </a:p>
        </p:txBody>
      </p:sp>
      <p:sp>
        <p:nvSpPr>
          <p:cNvPr id="18" name="TextBox 17"/>
          <p:cNvSpPr txBox="1"/>
          <p:nvPr/>
        </p:nvSpPr>
        <p:spPr>
          <a:xfrm>
            <a:off x="804672" y="4754879"/>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Coopaburrá guarda la llave junto al respaldo, lo cual anula la protección. Pero guardarla lejos sin un procedimiento de custodia produce el riesgo contrario: perderla y quedarse sin respaldos. </a:t>
            </a:r>
            <a:r>
              <a:rPr sz="1150" b="1">
                <a:solidFill>
                  <a:srgbClr val="2A2A2A"/>
                </a:solidFill>
                <a:latin typeface="Arial"/>
              </a:rPr>
              <a:t>La respuesta correcta no es esconder la llave: es administrarla.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36  DISEÑO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 RESPALDO CIFRADO BIEN HECHO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Con todo lo de hoy ya se puede describir cómo debería ser el respaldo de Coopaburrá. Es, en la práctica, el esqueleto de la recomendación para H4 en la entrega 2.</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Una llave de datos nueva por cada respaldo, generada al azar</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Nunca derivada de una contraseña con la opción que usa la evidencia C.</a:t>
            </a:r>
          </a:p>
        </p:txBody>
      </p:sp>
      <p:sp>
        <p:nvSpPr>
          <p:cNvPr id="13" name="TextBox 12"/>
          <p:cNvSpPr txBox="1"/>
          <p:nvPr/>
        </p:nvSpPr>
        <p:spPr>
          <a:xfrm>
            <a:off x="566928" y="3044951"/>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6323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Cifrado autenticado del archivo completo</a:t>
            </a:r>
          </a:p>
        </p:txBody>
      </p:sp>
      <p:sp>
        <p:nvSpPr>
          <p:cNvPr id="15" name="TextBox 14"/>
          <p:cNvSpPr txBox="1"/>
          <p:nvPr/>
        </p:nvSpPr>
        <p:spPr>
          <a:xfrm>
            <a:off x="1280160" y="3300983"/>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Para que una alteración en la bodega de Sabaneta se detecte al restaurar, y no después.</a:t>
            </a:r>
          </a:p>
        </p:txBody>
      </p:sp>
      <p:sp>
        <p:nvSpPr>
          <p:cNvPr id="16" name="TextBox 15"/>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llave de datos, envuelta por una llave maestra que vive en un servicio de llaves</a:t>
            </a:r>
          </a:p>
        </p:txBody>
      </p:sp>
      <p:sp>
        <p:nvSpPr>
          <p:cNvPr id="18" name="TextBox 17"/>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archivo lleva su llave de datos cifrada; la maestra nunca sale del servicio.</a:t>
            </a:r>
          </a:p>
        </p:txBody>
      </p:sp>
      <p:sp>
        <p:nvSpPr>
          <p:cNvPr id="19" name="TextBox 18"/>
          <p:cNvSpPr txBox="1"/>
          <p:nvPr/>
        </p:nvSpPr>
        <p:spPr>
          <a:xfrm>
            <a:off x="566928" y="443484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45312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Restaurar exige una autorización registrada</a:t>
            </a:r>
          </a:p>
        </p:txBody>
      </p:sp>
      <p:sp>
        <p:nvSpPr>
          <p:cNvPr id="21" name="TextBox 20"/>
          <p:cNvSpPr txBox="1"/>
          <p:nvPr/>
        </p:nvSpPr>
        <p:spPr>
          <a:xfrm>
            <a:off x="1280160" y="469087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Quien opera el respaldo no puede descifrarlo solo: separación de funciones.</a:t>
            </a:r>
          </a:p>
        </p:txBody>
      </p:sp>
      <p:sp>
        <p:nvSpPr>
          <p:cNvPr id="22" name="TextBox 21"/>
          <p:cNvSpPr txBox="1"/>
          <p:nvPr/>
        </p:nvSpPr>
        <p:spPr>
          <a:xfrm>
            <a:off x="566928" y="512978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3" name="TextBox 22"/>
          <p:cNvSpPr txBox="1"/>
          <p:nvPr/>
        </p:nvSpPr>
        <p:spPr>
          <a:xfrm>
            <a:off x="1280160" y="514807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Prueba de restauración periódica y documentada</a:t>
            </a:r>
          </a:p>
        </p:txBody>
      </p:sp>
      <p:sp>
        <p:nvSpPr>
          <p:cNvPr id="24" name="TextBox 23"/>
          <p:cNvSpPr txBox="1"/>
          <p:nvPr/>
        </p:nvSpPr>
        <p:spPr>
          <a:xfrm>
            <a:off x="1280160" y="538581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Un respaldo que nunca se ha restaurado no es un respaldo: es una esperanza.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37  OPERACIÓN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SIGNIFICA ROTAR UNA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Rotar suena trivial hasta que se calcula. Es una de las decisiones donde el costo operativo determina el diseño, y por eso conviene pensarlo antes de cifrar, no después.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25243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PREGUNTA</a:t>
            </a:r>
          </a:p>
        </p:txBody>
      </p:sp>
      <p:sp>
        <p:nvSpPr>
          <p:cNvPr id="12" name="TextBox 11"/>
          <p:cNvSpPr txBox="1"/>
          <p:nvPr/>
        </p:nvSpPr>
        <p:spPr>
          <a:xfrm>
            <a:off x="3983957"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 COOPABURRÁ</a:t>
            </a:r>
          </a:p>
        </p:txBody>
      </p:sp>
      <p:sp>
        <p:nvSpPr>
          <p:cNvPr id="13" name="TextBox 12"/>
          <p:cNvSpPr txBox="1"/>
          <p:nvPr/>
        </p:nvSpPr>
        <p:spPr>
          <a:xfrm>
            <a:off x="7802990"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IMPLICACIÓN</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Cuánto dato hay que volver a cifrar</a:t>
            </a:r>
          </a:p>
        </p:txBody>
      </p:sp>
      <p:sp>
        <p:nvSpPr>
          <p:cNvPr id="16" name="TextBox 15"/>
          <p:cNvSpPr txBox="1"/>
          <p:nvPr/>
        </p:nvSpPr>
        <p:spPr>
          <a:xfrm>
            <a:off x="3983957"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2,3 TB en el core, más el histórico de respaldos</a:t>
            </a:r>
          </a:p>
        </p:txBody>
      </p:sp>
      <p:sp>
        <p:nvSpPr>
          <p:cNvPr id="17" name="TextBox 16"/>
          <p:cNvSpPr txBox="1"/>
          <p:nvPr/>
        </p:nvSpPr>
        <p:spPr>
          <a:xfrm>
            <a:off x="7802990"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 una ventana de cuatro horas los domingos, no cabe en una sola noche</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Se puede rotar sin descifrar todo</a:t>
            </a:r>
          </a:p>
        </p:txBody>
      </p:sp>
      <p:sp>
        <p:nvSpPr>
          <p:cNvPr id="20" name="TextBox 19"/>
          <p:cNvSpPr txBox="1"/>
          <p:nvPr/>
        </p:nvSpPr>
        <p:spPr>
          <a:xfrm>
            <a:off x="3983957" y="33653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si se diseñó con cifrado en sobre: una llave de datos protegida por otra llave</a:t>
            </a:r>
          </a:p>
        </p:txBody>
      </p:sp>
      <p:sp>
        <p:nvSpPr>
          <p:cNvPr id="21" name="TextBox 20"/>
          <p:cNvSpPr txBox="1"/>
          <p:nvPr/>
        </p:nvSpPr>
        <p:spPr>
          <a:xfrm>
            <a:off x="7802990" y="33653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Rotar la llave externa es inmediato; rotar la interna obliga a volver a cifrar</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pasa con lo ya archivado</a:t>
            </a:r>
          </a:p>
        </p:txBody>
      </p:sp>
      <p:sp>
        <p:nvSpPr>
          <p:cNvPr id="24" name="TextBox 23"/>
          <p:cNvSpPr txBox="1"/>
          <p:nvPr/>
        </p:nvSpPr>
        <p:spPr>
          <a:xfrm>
            <a:off x="3983957" y="39052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Los contratos de hipoteca deben seguir legibles veinte años</a:t>
            </a:r>
          </a:p>
        </p:txBody>
      </p:sp>
      <p:sp>
        <p:nvSpPr>
          <p:cNvPr id="25" name="TextBox 24"/>
          <p:cNvSpPr txBox="1"/>
          <p:nvPr/>
        </p:nvSpPr>
        <p:spPr>
          <a:xfrm>
            <a:off x="7802990" y="39052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Hay que conservar las llaves antiguas de forma segura, no destruirlas</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autoriza y quién ejecuta</a:t>
            </a:r>
          </a:p>
        </p:txBody>
      </p:sp>
      <p:sp>
        <p:nvSpPr>
          <p:cNvPr id="28" name="TextBox 27"/>
          <p:cNvSpPr txBox="1"/>
          <p:nvPr/>
        </p:nvSpPr>
        <p:spPr>
          <a:xfrm>
            <a:off x="3983957" y="4445081"/>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Hoy nadie. No hay custodios ni procedimiento</a:t>
            </a:r>
          </a:p>
        </p:txBody>
      </p:sp>
      <p:sp>
        <p:nvSpPr>
          <p:cNvPr id="29" name="TextBox 28"/>
          <p:cNvSpPr txBox="1"/>
          <p:nvPr/>
        </p:nvSpPr>
        <p:spPr>
          <a:xfrm>
            <a:off x="7802990" y="4445081"/>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parte de la política de gestión de llaves de la sesión 6</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05</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LABORATORIO 2</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Cincuenta y cinco minutos · Modos, la línea de respaldo de Coopaburrá y Python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38  CLAVE PARA EL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QUÉ HACE REALMENTE LA OPCIÓN -k</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Necesario para el ejercicio 3. Las herramientas ofrecen dos formas de darles una llave, y no son lo mismo aunque se parezcan en la línea de comandos.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4742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OPCIÓN</a:t>
            </a:r>
          </a:p>
        </p:txBody>
      </p:sp>
      <p:sp>
        <p:nvSpPr>
          <p:cNvPr id="12" name="TextBox 11"/>
          <p:cNvSpPr txBox="1"/>
          <p:nvPr/>
        </p:nvSpPr>
        <p:spPr>
          <a:xfrm>
            <a:off x="2978948" y="2423159"/>
            <a:ext cx="345343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RECIBE</a:t>
            </a:r>
          </a:p>
        </p:txBody>
      </p:sp>
      <p:sp>
        <p:nvSpPr>
          <p:cNvPr id="13" name="TextBox 12"/>
          <p:cNvSpPr txBox="1"/>
          <p:nvPr/>
        </p:nvSpPr>
        <p:spPr>
          <a:xfrm>
            <a:off x="6596980" y="2423159"/>
            <a:ext cx="486045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HACE CON ESO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47428"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-K  mayúscula</a:t>
            </a:r>
          </a:p>
        </p:txBody>
      </p:sp>
      <p:sp>
        <p:nvSpPr>
          <p:cNvPr id="16" name="TextBox 15"/>
          <p:cNvSpPr txBox="1"/>
          <p:nvPr/>
        </p:nvSpPr>
        <p:spPr>
          <a:xfrm>
            <a:off x="2978948" y="2825495"/>
            <a:ext cx="3453439"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en hexadecimal, exactamente los bits que se van a usar</a:t>
            </a:r>
          </a:p>
        </p:txBody>
      </p:sp>
      <p:sp>
        <p:nvSpPr>
          <p:cNvPr id="17" name="TextBox 16"/>
          <p:cNvSpPr txBox="1"/>
          <p:nvPr/>
        </p:nvSpPr>
        <p:spPr>
          <a:xfrm>
            <a:off x="6596980" y="2825495"/>
            <a:ext cx="4860451"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usa tal cual. Es lo correcto cuando ya se tiene una llave generada al azar</a:t>
            </a:r>
          </a:p>
        </p:txBody>
      </p:sp>
      <p:sp>
        <p:nvSpPr>
          <p:cNvPr id="18" name="Rectangle 17"/>
          <p:cNvSpPr/>
          <p:nvPr/>
        </p:nvSpPr>
        <p:spPr>
          <a:xfrm>
            <a:off x="566928" y="33009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92423"/>
            <a:ext cx="2247428" cy="51206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-k  minúscula</a:t>
            </a:r>
          </a:p>
        </p:txBody>
      </p:sp>
      <p:sp>
        <p:nvSpPr>
          <p:cNvPr id="20" name="TextBox 19"/>
          <p:cNvSpPr txBox="1"/>
          <p:nvPr/>
        </p:nvSpPr>
        <p:spPr>
          <a:xfrm>
            <a:off x="2978948" y="3392423"/>
            <a:ext cx="3453439"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contraseña de texto</a:t>
            </a:r>
          </a:p>
        </p:txBody>
      </p:sp>
      <p:sp>
        <p:nvSpPr>
          <p:cNvPr id="21" name="TextBox 20"/>
          <p:cNvSpPr txBox="1"/>
          <p:nvPr/>
        </p:nvSpPr>
        <p:spPr>
          <a:xfrm>
            <a:off x="6596980" y="3392423"/>
            <a:ext cx="4860451"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pasa por una función de derivación para producir la llave. La calidad depende de esa función y de sus parámetros</a:t>
            </a:r>
          </a:p>
        </p:txBody>
      </p:sp>
      <p:sp>
        <p:nvSpPr>
          <p:cNvPr id="22" name="Rectangle 21"/>
          <p:cNvSpPr/>
          <p:nvPr/>
        </p:nvSpPr>
        <p:spPr>
          <a:xfrm>
            <a:off x="566928" y="38679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2277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22452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IMPORTA EN EL CASO</a:t>
            </a:r>
          </a:p>
        </p:txBody>
      </p:sp>
      <p:sp>
        <p:nvSpPr>
          <p:cNvPr id="25" name="TextBox 24"/>
          <p:cNvSpPr txBox="1"/>
          <p:nvPr/>
        </p:nvSpPr>
        <p:spPr>
          <a:xfrm>
            <a:off x="566928" y="4498847"/>
            <a:ext cx="5253228"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script de Coopaburrá usa la minúscula con el contenido de un archivo.</a:t>
            </a:r>
          </a:p>
          <a:p>
            <a:pPr algn="l">
              <a:lnSpc>
                <a:spcPct val="128000"/>
              </a:lnSpc>
              <a:spcAft>
                <a:spcPts val="700"/>
              </a:spcAft>
            </a:pPr>
            <a:r>
              <a:rPr sz="1150" b="0">
                <a:solidFill>
                  <a:srgbClr val="000000"/>
                </a:solidFill>
                <a:latin typeface="Arial"/>
              </a:rPr>
              <a:t>Es decir: trata una llave que ya era aleatoria como si fuera una contraseña, y la degrada al pasarla por una derivación pensada para otra cosa.</a:t>
            </a:r>
          </a:p>
        </p:txBody>
      </p:sp>
      <p:sp>
        <p:nvSpPr>
          <p:cNvPr id="26" name="TextBox 25"/>
          <p:cNvSpPr txBox="1"/>
          <p:nvPr/>
        </p:nvSpPr>
        <p:spPr>
          <a:xfrm>
            <a:off x="6368796" y="422452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SEGUNDA TRAMPA</a:t>
            </a:r>
          </a:p>
        </p:txBody>
      </p:sp>
      <p:sp>
        <p:nvSpPr>
          <p:cNvPr id="27" name="TextBox 26"/>
          <p:cNvSpPr txBox="1"/>
          <p:nvPr/>
        </p:nvSpPr>
        <p:spPr>
          <a:xfrm>
            <a:off x="6368796" y="4498847"/>
            <a:ext cx="5253228"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Lo que se escribe en la línea de comandos queda visible para cualquier usuario que liste los procesos mientras el respaldo corre.</a:t>
            </a:r>
          </a:p>
          <a:p>
            <a:pPr algn="l">
              <a:lnSpc>
                <a:spcPct val="128000"/>
              </a:lnSpc>
              <a:spcAft>
                <a:spcPts val="700"/>
              </a:spcAft>
            </a:pPr>
            <a:r>
              <a:rPr sz="1150" b="0">
                <a:solidFill>
                  <a:srgbClr val="000000"/>
                </a:solidFill>
                <a:latin typeface="Arial"/>
              </a:rPr>
              <a:t>La llave no solo está en un archivo: también se asoma cada noche entre las 11:40 y las 2:15.</a:t>
            </a:r>
          </a:p>
        </p:txBody>
      </p:sp>
      <p:sp>
        <p:nvSpPr>
          <p:cNvPr id="28" name="Rectangle 27"/>
          <p:cNvSpPr/>
          <p:nvPr/>
        </p:nvSpPr>
        <p:spPr>
          <a:xfrm>
            <a:off x="6085332" y="4224527"/>
            <a:ext cx="9144" cy="1600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39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TRES EJERCICIOS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45</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1 · Reproducir el escudo</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Tomen una imagen con zonas de color uniforme, cífrenla en ECB y en CBC conservando la cabecera, y comparen. Entreguen las dos imágenes y la explicación de la diferencia.</a:t>
            </a:r>
          </a:p>
        </p:txBody>
      </p:sp>
      <p:sp>
        <p:nvSpPr>
          <p:cNvPr id="12" name="TextBox 11"/>
          <p:cNvSpPr txBox="1"/>
          <p:nvPr/>
        </p:nvSpPr>
        <p:spPr>
          <a:xfrm>
            <a:off x="566928" y="24414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4597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2 · Detectar la manipulación</a:t>
            </a:r>
          </a:p>
        </p:txBody>
      </p:sp>
      <p:sp>
        <p:nvSpPr>
          <p:cNvPr id="14" name="TextBox 13"/>
          <p:cNvSpPr txBox="1"/>
          <p:nvPr/>
        </p:nvSpPr>
        <p:spPr>
          <a:xfrm>
            <a:off x="1280160" y="26974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Cifren un texto en CTR y en GCM. Alteren un byte del texto cifrado en ambos casos e intenten descifrar. Documenten qué pasa en cada modo y por qué.</a:t>
            </a:r>
          </a:p>
        </p:txBody>
      </p:sp>
      <p:sp>
        <p:nvSpPr>
          <p:cNvPr id="15" name="TextBox 14"/>
          <p:cNvSpPr txBox="1"/>
          <p:nvPr/>
        </p:nvSpPr>
        <p:spPr>
          <a:xfrm>
            <a:off x="566928" y="32826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300984"/>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3 · Auditar a Coopaburrá</a:t>
            </a:r>
          </a:p>
        </p:txBody>
      </p:sp>
      <p:sp>
        <p:nvSpPr>
          <p:cNvPr id="17" name="TextBox 16"/>
          <p:cNvSpPr txBox="1"/>
          <p:nvPr/>
        </p:nvSpPr>
        <p:spPr>
          <a:xfrm>
            <a:off x="1280160" y="35387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Analicen la línea real del script de respaldo del caso, evidencia C. Tiene tres problemas distintos y solo uno es evidente. Encuéntrenlos y propongan la línea corregida.</a:t>
            </a:r>
          </a:p>
        </p:txBody>
      </p:sp>
      <p:sp>
        <p:nvSpPr>
          <p:cNvPr id="18" name="Rectangle 17"/>
          <p:cNvSpPr/>
          <p:nvPr/>
        </p:nvSpPr>
        <p:spPr>
          <a:xfrm>
            <a:off x="566928" y="4306824"/>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32511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SE ENTREGA Y CÓMO SE CALIFICA</a:t>
            </a:r>
          </a:p>
        </p:txBody>
      </p:sp>
      <p:sp>
        <p:nvSpPr>
          <p:cNvPr id="20" name="TextBox 19"/>
          <p:cNvSpPr txBox="1"/>
          <p:nvPr/>
        </p:nvSpPr>
        <p:spPr>
          <a:xfrm>
            <a:off x="804672" y="4562856"/>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página por equipo al final del bloque. Se evalúa el análisis, no el resultado: un ejercicio que funcionó sin explicación del porqué vale la mitad que uno que falló con un diagnóstico correcto.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40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COMANDOS DE ARRANQUE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46</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Suficiente para empezar. Lo demás está en la guía de laboratorio que se les entrega.</a:t>
            </a:r>
          </a:p>
        </p:txBody>
      </p:sp>
      <p:sp>
        <p:nvSpPr>
          <p:cNvPr id="10" name="Rectangle 9"/>
          <p:cNvSpPr/>
          <p:nvPr/>
        </p:nvSpPr>
        <p:spPr>
          <a:xfrm>
            <a:off x="566928" y="2066543"/>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57984"/>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2 · PUNTO DE PARTIDA</a:t>
            </a:r>
          </a:p>
        </p:txBody>
      </p:sp>
      <p:sp>
        <p:nvSpPr>
          <p:cNvPr id="12" name="TextBox 11"/>
          <p:cNvSpPr txBox="1"/>
          <p:nvPr/>
        </p:nvSpPr>
        <p:spPr>
          <a:xfrm>
            <a:off x="768096" y="2395727"/>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Ejercicio 1 — conservar la cabecera del archivo y cifrar solo los píxeles</a:t>
            </a:r>
          </a:p>
          <a:p>
            <a:pPr algn="l">
              <a:lnSpc>
                <a:spcPct val="130000"/>
              </a:lnSpc>
              <a:spcAft>
                <a:spcPts val="0"/>
              </a:spcAft>
            </a:pPr>
            <a:r>
              <a:rPr sz="950" b="0">
                <a:solidFill>
                  <a:srgbClr val="000000"/>
                </a:solidFill>
                <a:latin typeface="Consolas"/>
              </a:rPr>
              <a:t>openssl enc -aes-256-ecb -in imagen.bmp -out ecb.bin -K &lt;llave_hex&gt; -nopad</a:t>
            </a:r>
          </a:p>
          <a:p>
            <a:pPr algn="l">
              <a:lnSpc>
                <a:spcPct val="130000"/>
              </a:lnSpc>
              <a:spcAft>
                <a:spcPts val="0"/>
              </a:spcAft>
            </a:pPr>
            <a:r>
              <a:rPr sz="950" b="0">
                <a:solidFill>
                  <a:srgbClr val="000000"/>
                </a:solidFill>
                <a:latin typeface="Consolas"/>
              </a:rPr>
              <a:t>openssl enc -aes-256-cbc -in imagen.bmp -out cbc.bin -K &lt;llave_hex&gt; -iv &lt;vi_hex&gt; -nopad</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Ejercicio 2 — cifrado autenticado frente a cifrado a secas</a:t>
            </a:r>
          </a:p>
          <a:p>
            <a:pPr algn="l">
              <a:lnSpc>
                <a:spcPct val="130000"/>
              </a:lnSpc>
              <a:spcAft>
                <a:spcPts val="0"/>
              </a:spcAft>
            </a:pPr>
            <a:r>
              <a:rPr sz="950" b="0">
                <a:solidFill>
                  <a:srgbClr val="000000"/>
                </a:solidFill>
                <a:latin typeface="Consolas"/>
              </a:rPr>
              <a:t>openssl enc -aes-256-ctr -in datos.txt -out datos.ctr -K &lt;llave_hex&gt; -iv &lt;vi_hex&gt;</a:t>
            </a:r>
          </a:p>
          <a:p>
            <a:pPr algn="l">
              <a:lnSpc>
                <a:spcPct val="130000"/>
              </a:lnSpc>
              <a:spcAft>
                <a:spcPts val="0"/>
              </a:spcAft>
            </a:pPr>
            <a:r>
              <a:rPr sz="950" b="0">
                <a:solidFill>
                  <a:srgbClr val="000000"/>
                </a:solidFill>
                <a:latin typeface="Consolas"/>
              </a:rPr>
              <a:t>#   (para GCM usen la biblioteca del lenguaje: la línea de comandos no lo expone bien)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Generación de llave y vector, como el martes</a:t>
            </a:r>
          </a:p>
          <a:p>
            <a:pPr algn="l">
              <a:lnSpc>
                <a:spcPct val="130000"/>
              </a:lnSpc>
              <a:spcAft>
                <a:spcPts val="0"/>
              </a:spcAft>
            </a:pPr>
            <a:r>
              <a:rPr sz="950" b="0">
                <a:solidFill>
                  <a:srgbClr val="000000"/>
                </a:solidFill>
                <a:latin typeface="Consolas"/>
              </a:rPr>
              <a:t>openssl rand -hex 32     # llave de 256 bits</a:t>
            </a:r>
          </a:p>
          <a:p>
            <a:pPr algn="l">
              <a:lnSpc>
                <a:spcPct val="130000"/>
              </a:lnSpc>
              <a:spcAft>
                <a:spcPts val="0"/>
              </a:spcAft>
            </a:pPr>
            <a:r>
              <a:rPr sz="950" b="0">
                <a:solidFill>
                  <a:srgbClr val="000000"/>
                </a:solidFill>
                <a:latin typeface="Consolas"/>
              </a:rPr>
              <a:t>openssl rand -hex 16     # vector de inicialización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41  PYTHON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LABORATORIO 2 · EL EJERCICIO EN PYTHON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ejercicio 2 hecho con la librería cryptography, que es la de referencia en Python: cifrado autenticado, alteración de un byte y verificación de la etiqueta.</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2 · PYTHON 3 + CRYPTOGRAPHY</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pip install cryptography</a:t>
            </a:r>
          </a:p>
          <a:p>
            <a:pPr algn="l">
              <a:lnSpc>
                <a:spcPct val="130000"/>
              </a:lnSpc>
              <a:spcAft>
                <a:spcPts val="0"/>
              </a:spcAft>
            </a:pPr>
            <a:r>
              <a:rPr sz="950" b="0">
                <a:solidFill>
                  <a:srgbClr val="000000"/>
                </a:solidFill>
                <a:latin typeface="Consolas"/>
              </a:rPr>
              <a:t>import os</a:t>
            </a:r>
          </a:p>
          <a:p>
            <a:pPr algn="l">
              <a:lnSpc>
                <a:spcPct val="130000"/>
              </a:lnSpc>
              <a:spcAft>
                <a:spcPts val="0"/>
              </a:spcAft>
            </a:pPr>
            <a:r>
              <a:rPr sz="950" b="0">
                <a:solidFill>
                  <a:srgbClr val="000000"/>
                </a:solidFill>
                <a:latin typeface="Consolas"/>
              </a:rPr>
              <a:t>from cryptography.hazmat.primitives.ciphers.aead import AESGCM</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llave = AESGCM.generate_key(bit_length=256)</a:t>
            </a:r>
          </a:p>
          <a:p>
            <a:pPr algn="l">
              <a:lnSpc>
                <a:spcPct val="130000"/>
              </a:lnSpc>
              <a:spcAft>
                <a:spcPts val="0"/>
              </a:spcAft>
            </a:pPr>
            <a:r>
              <a:rPr sz="950" b="0">
                <a:solidFill>
                  <a:srgbClr val="000000"/>
                </a:solidFill>
                <a:latin typeface="Consolas"/>
              </a:rPr>
              <a:t>nonce = os.urandom(12)                           # 96 bits, distinto cada vez</a:t>
            </a:r>
          </a:p>
          <a:p>
            <a:pPr algn="l">
              <a:lnSpc>
                <a:spcPct val="130000"/>
              </a:lnSpc>
              <a:spcAft>
                <a:spcPts val="0"/>
              </a:spcAft>
            </a:pPr>
            <a:r>
              <a:rPr sz="950" b="0">
                <a:solidFill>
                  <a:srgbClr val="000000"/>
                </a:solidFill>
                <a:latin typeface="Consolas"/>
              </a:rPr>
              <a:t>c = AESGCM(llave).encrypt(nonce, b"VALOR=0000100000", b"cuenta=4471")</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alterado = bytearray(c); alterado[6] ^= 0x09      # el ataque del error 2</a:t>
            </a:r>
          </a:p>
          <a:p>
            <a:pPr algn="l">
              <a:lnSpc>
                <a:spcPct val="130000"/>
              </a:lnSpc>
              <a:spcAft>
                <a:spcPts val="0"/>
              </a:spcAft>
            </a:pPr>
            <a:r>
              <a:rPr sz="950" b="0">
                <a:solidFill>
                  <a:srgbClr val="000000"/>
                </a:solidFill>
                <a:latin typeface="Consolas"/>
              </a:rPr>
              <a:t>AESGCM(llave).decrypt(nonce, bytes(alterado), b"cuenta=4471")   # → InvalidTag</a:t>
            </a:r>
          </a:p>
        </p:txBody>
      </p:sp>
      <p:sp>
        <p:nvSpPr>
          <p:cNvPr id="13" name="Rectangle 12"/>
          <p:cNvSpPr/>
          <p:nvPr/>
        </p:nvSpPr>
        <p:spPr>
          <a:xfrm>
            <a:off x="566928" y="5029200"/>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VA EN EL INFORME</a:t>
            </a:r>
          </a:p>
        </p:txBody>
      </p:sp>
      <p:sp>
        <p:nvSpPr>
          <p:cNvPr id="15" name="TextBox 14"/>
          <p:cNvSpPr txBox="1"/>
          <p:nvPr/>
        </p:nvSpPr>
        <p:spPr>
          <a:xfrm>
            <a:off x="804672" y="5285232"/>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Repitan el ataque con AES en modo CTR, sin etiqueta: el descifrado entrega «VALOR=9000100000» sin quejarse. </a:t>
            </a:r>
            <a:r>
              <a:rPr sz="1150" b="1">
                <a:solidFill>
                  <a:srgbClr val="2A2A2A"/>
                </a:solidFill>
                <a:latin typeface="Arial"/>
              </a:rPr>
              <a:t>La diferencia entre las dos salidas es la diferencia entre cifrar y proteger.</a:t>
            </a:r>
            <a:r>
              <a:rPr sz="1150" b="0">
                <a:solidFill>
                  <a:srgbClr val="2A2A2A"/>
                </a:solidFill>
                <a:latin typeface="Arial"/>
              </a:rPr>
              <a:t> Y respondan: ¿qué pasaría si el nonce se repitiera en dos registros?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42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LÍNEA QUE VAN A AUDITAR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Evidencia C del expediente. Es la línea real del programador de tareas de Coopaburrá, la que produce el respaldo diario que viaja a Sabaneta los viernes.</a:t>
            </a:r>
          </a:p>
        </p:txBody>
      </p:sp>
      <p:sp>
        <p:nvSpPr>
          <p:cNvPr id="10" name="Rectangle 9"/>
          <p:cNvSpPr/>
          <p:nvPr/>
        </p:nvSpPr>
        <p:spPr>
          <a:xfrm>
            <a:off x="566928" y="2304287"/>
            <a:ext cx="11055096" cy="80101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EVIDENCIA C · SCRIPT DE RESPALDO DE COOPABURRÁ</a:t>
            </a:r>
          </a:p>
        </p:txBody>
      </p:sp>
      <p:sp>
        <p:nvSpPr>
          <p:cNvPr id="12" name="TextBox 11"/>
          <p:cNvSpPr txBox="1"/>
          <p:nvPr/>
        </p:nvSpPr>
        <p:spPr>
          <a:xfrm>
            <a:off x="768096" y="2633471"/>
            <a:ext cx="10652760" cy="38039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openssl enc -aes-256-cbc -in respaldo_diario.sql -out respaldo_diario.enc \</a:t>
            </a:r>
          </a:p>
          <a:p>
            <a:pPr algn="l">
              <a:lnSpc>
                <a:spcPct val="130000"/>
              </a:lnSpc>
              <a:spcAft>
                <a:spcPts val="0"/>
              </a:spcAft>
            </a:pPr>
            <a:r>
              <a:rPr sz="950" b="0">
                <a:solidFill>
                  <a:srgbClr val="000000"/>
                </a:solidFill>
                <a:latin typeface="Consolas"/>
              </a:rPr>
              <a:t>  -k $(cat /opt/backup/llave.txt)</a:t>
            </a:r>
          </a:p>
        </p:txBody>
      </p:sp>
      <p:sp>
        <p:nvSpPr>
          <p:cNvPr id="13" name="Rectangle 12"/>
          <p:cNvSpPr/>
          <p:nvPr/>
        </p:nvSpPr>
        <p:spPr>
          <a:xfrm>
            <a:off x="566928" y="3361334"/>
            <a:ext cx="5353812" cy="105156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347106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PISTA 1 · LO EVIDENTE</a:t>
            </a:r>
          </a:p>
        </p:txBody>
      </p:sp>
      <p:sp>
        <p:nvSpPr>
          <p:cNvPr id="15" name="TextBox 14"/>
          <p:cNvSpPr txBox="1"/>
          <p:nvPr/>
        </p:nvSpPr>
        <p:spPr>
          <a:xfrm>
            <a:off x="786384" y="3690518"/>
            <a:ext cx="4914900" cy="59435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¿Dónde está la llave y quién puede leerla? ¿Y qué viaja en el disco que sale de la sede?</a:t>
            </a:r>
          </a:p>
        </p:txBody>
      </p:sp>
      <p:sp>
        <p:nvSpPr>
          <p:cNvPr id="16" name="Rectangle 15"/>
          <p:cNvSpPr/>
          <p:nvPr/>
        </p:nvSpPr>
        <p:spPr>
          <a:xfrm>
            <a:off x="6268212" y="3361334"/>
            <a:ext cx="5353812" cy="105156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7668" y="347106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PISTA 2 · LO QUE ESTÁ EN LA OPCIÓN</a:t>
            </a:r>
          </a:p>
        </p:txBody>
      </p:sp>
      <p:sp>
        <p:nvSpPr>
          <p:cNvPr id="18" name="TextBox 17"/>
          <p:cNvSpPr txBox="1"/>
          <p:nvPr/>
        </p:nvSpPr>
        <p:spPr>
          <a:xfrm>
            <a:off x="6487668" y="3690518"/>
            <a:ext cx="4914900" cy="59435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opción usada no es la misma que recibe una llave binaria. Averigüen qué hace exactamente con lo que se le pasa, y qué se deriva de ahí.</a:t>
            </a:r>
          </a:p>
        </p:txBody>
      </p:sp>
      <p:sp>
        <p:nvSpPr>
          <p:cNvPr id="19" name="Rectangle 18"/>
          <p:cNvSpPr/>
          <p:nvPr/>
        </p:nvSpPr>
        <p:spPr>
          <a:xfrm>
            <a:off x="566928" y="4778654"/>
            <a:ext cx="45720" cy="68580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79694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PISTA 3 · LO QUE NO ESTÁ</a:t>
            </a:r>
          </a:p>
        </p:txBody>
      </p:sp>
      <p:sp>
        <p:nvSpPr>
          <p:cNvPr id="21" name="TextBox 20"/>
          <p:cNvSpPr txBox="1"/>
          <p:nvPr/>
        </p:nvSpPr>
        <p:spPr>
          <a:xfrm>
            <a:off x="804672" y="5034686"/>
            <a:ext cx="10780776" cy="41148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Comparen el modo elegido con la tabla «Cuál usar y cuándo». Si mañana alguien altera el archivo de respaldo en la bodega, ¿la cooperativa se daría cuenta al restaurarlo?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43  HERRAMIENTA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LISTA PARA AUDITAR CUALQUIER CIFRADO SIMÉTRICO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Consérvenla. Sirve para el informe de Coopaburrá y para el resto de su vida profesional: son las preguntas que hay que hacer frente a cualquier sistema que diga estar cifrado.</a:t>
            </a:r>
          </a:p>
        </p:txBody>
      </p:sp>
      <p:sp>
        <p:nvSpPr>
          <p:cNvPr id="10" name="TextBox 9"/>
          <p:cNvSpPr txBox="1"/>
          <p:nvPr/>
        </p:nvSpPr>
        <p:spPr>
          <a:xfrm>
            <a:off x="566928" y="230428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2257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Qué algoritmo y qué longitud de llave</a:t>
            </a:r>
          </a:p>
        </p:txBody>
      </p:sp>
      <p:sp>
        <p:nvSpPr>
          <p:cNvPr id="12" name="TextBox 11"/>
          <p:cNvSpPr txBox="1"/>
          <p:nvPr/>
        </p:nvSpPr>
        <p:spPr>
          <a:xfrm>
            <a:off x="1280160" y="256032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Si la respuesta es «cifrado» a secas, ahí ya hay un hallazgo.</a:t>
            </a:r>
          </a:p>
        </p:txBody>
      </p:sp>
      <p:sp>
        <p:nvSpPr>
          <p:cNvPr id="13" name="TextBox 12"/>
          <p:cNvSpPr txBox="1"/>
          <p:nvPr/>
        </p:nvSpPr>
        <p:spPr>
          <a:xfrm>
            <a:off x="566928" y="297179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299008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Qué modo de operación</a:t>
            </a:r>
          </a:p>
        </p:txBody>
      </p:sp>
      <p:sp>
        <p:nvSpPr>
          <p:cNvPr id="15" name="TextBox 14"/>
          <p:cNvSpPr txBox="1"/>
          <p:nvPr/>
        </p:nvSpPr>
        <p:spPr>
          <a:xfrm>
            <a:off x="1280160" y="3227831"/>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Y si es CBC o CTR, dónde está la autenticación que les falta.</a:t>
            </a:r>
          </a:p>
        </p:txBody>
      </p:sp>
      <p:sp>
        <p:nvSpPr>
          <p:cNvPr id="16" name="TextBox 15"/>
          <p:cNvSpPr txBox="1"/>
          <p:nvPr/>
        </p:nvSpPr>
        <p:spPr>
          <a:xfrm>
            <a:off x="566928" y="3639311"/>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65759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De dónde sale el vector o el contador, y si se repite alguna vez</a:t>
            </a:r>
          </a:p>
        </p:txBody>
      </p:sp>
      <p:sp>
        <p:nvSpPr>
          <p:cNvPr id="18" name="TextBox 17"/>
          <p:cNvSpPr txBox="1"/>
          <p:nvPr/>
        </p:nvSpPr>
        <p:spPr>
          <a:xfrm>
            <a:off x="1280160" y="389534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Debe venir de un generador criptográfico y ser distinto en cada operación.</a:t>
            </a:r>
          </a:p>
        </p:txBody>
      </p:sp>
      <p:sp>
        <p:nvSpPr>
          <p:cNvPr id="19" name="TextBox 18"/>
          <p:cNvSpPr txBox="1"/>
          <p:nvPr/>
        </p:nvSpPr>
        <p:spPr>
          <a:xfrm>
            <a:off x="566928" y="430682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32511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De dónde sale la llave y quién la conoce</a:t>
            </a:r>
          </a:p>
        </p:txBody>
      </p:sp>
      <p:sp>
        <p:nvSpPr>
          <p:cNvPr id="21" name="TextBox 20"/>
          <p:cNvSpPr txBox="1"/>
          <p:nvPr/>
        </p:nvSpPr>
        <p:spPr>
          <a:xfrm>
            <a:off x="1280160" y="4562855"/>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Generada al azar o derivada de una contraseña. Cuántas personas y sistemas la tienen.</a:t>
            </a:r>
          </a:p>
        </p:txBody>
      </p:sp>
      <p:sp>
        <p:nvSpPr>
          <p:cNvPr id="22" name="TextBox 21"/>
          <p:cNvSpPr txBox="1"/>
          <p:nvPr/>
        </p:nvSpPr>
        <p:spPr>
          <a:xfrm>
            <a:off x="566928" y="497433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3" name="TextBox 22"/>
          <p:cNvSpPr txBox="1"/>
          <p:nvPr/>
        </p:nvSpPr>
        <p:spPr>
          <a:xfrm>
            <a:off x="1280160" y="499262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Dónde vive la llave y quién responde por ella</a:t>
            </a:r>
          </a:p>
        </p:txBody>
      </p:sp>
      <p:sp>
        <p:nvSpPr>
          <p:cNvPr id="24" name="TextBox 23"/>
          <p:cNvSpPr txBox="1"/>
          <p:nvPr/>
        </p:nvSpPr>
        <p:spPr>
          <a:xfrm>
            <a:off x="1280160" y="523036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Nunca junto al dato que protege. Con nombre y cargo del custodio.</a:t>
            </a:r>
          </a:p>
        </p:txBody>
      </p:sp>
      <p:sp>
        <p:nvSpPr>
          <p:cNvPr id="25" name="TextBox 24"/>
          <p:cNvSpPr txBox="1"/>
          <p:nvPr/>
        </p:nvSpPr>
        <p:spPr>
          <a:xfrm>
            <a:off x="566928" y="56418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06</a:t>
            </a:r>
          </a:p>
        </p:txBody>
      </p:sp>
      <p:sp>
        <p:nvSpPr>
          <p:cNvPr id="26" name="TextBox 25"/>
          <p:cNvSpPr txBox="1"/>
          <p:nvPr/>
        </p:nvSpPr>
        <p:spPr>
          <a:xfrm>
            <a:off x="1280160" y="56601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Cada cuánto se rota y qué pasa si se pierde</a:t>
            </a:r>
          </a:p>
        </p:txBody>
      </p:sp>
      <p:sp>
        <p:nvSpPr>
          <p:cNvPr id="27" name="TextBox 26"/>
          <p:cNvSpPr txBox="1"/>
          <p:nvPr/>
        </p:nvSpPr>
        <p:spPr>
          <a:xfrm>
            <a:off x="1280160" y="58978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Si no hay respuesta, hay dos hallazgos más.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44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LLEVAMOS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50</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modo de operación importa más que el algoritmo</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AES-256 en ECB deja ver el escudo. El mismo AES-256 en CBC no deja ver nada.</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Cifrar no es proteger</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Confidencialidad sin integridad permite manipulación controlada. Por eso GCM es la respuesta por defecto.</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Nunca se repite un vector ni un contador</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el error del martes con otro nombre, y en modo de flujo anula el cifrado por completo.</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cifrado de disco protege un solo escenario</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servidor apagado. Encendido, los once que consultan la base ven todo en claro.</a:t>
            </a:r>
          </a:p>
        </p:txBody>
      </p:sp>
      <p:sp>
        <p:nvSpPr>
          <p:cNvPr id="21" name="TextBox 20"/>
          <p:cNvSpPr txBox="1"/>
          <p:nvPr/>
        </p:nvSpPr>
        <p:spPr>
          <a:xfrm>
            <a:off x="566928" y="445312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2" name="TextBox 21"/>
          <p:cNvSpPr txBox="1"/>
          <p:nvPr/>
        </p:nvSpPr>
        <p:spPr>
          <a:xfrm>
            <a:off x="1280160" y="447141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Para auditar basta con tres preguntas</a:t>
            </a:r>
          </a:p>
        </p:txBody>
      </p:sp>
      <p:sp>
        <p:nvSpPr>
          <p:cNvPr id="23" name="TextBox 22"/>
          <p:cNvSpPr txBox="1"/>
          <p:nvPr/>
        </p:nvSpPr>
        <p:spPr>
          <a:xfrm>
            <a:off x="1280160" y="470916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Qué algoritmo, qué modo, de dónde sale el vector. Con eso se sabe si el dato está protegido o solo lo parece.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45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SEGUNDA PARTE DEL PRODUCTO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51</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 entrega al inicio de la sesión 3: análisis de la protección de datos en reposo y en respaldos, hallazgos H3 y H4.</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SECCIÓN DEL ENTREGABLE</a:t>
            </a:r>
          </a:p>
        </p:txBody>
      </p:sp>
      <p:sp>
        <p:nvSpPr>
          <p:cNvPr id="12" name="TextBox 11"/>
          <p:cNvSpPr txBox="1"/>
          <p:nvPr/>
        </p:nvSpPr>
        <p:spPr>
          <a:xfrm>
            <a:off x="4767864" y="2185415"/>
            <a:ext cx="668956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DEBE CONTENER</a:t>
            </a:r>
          </a:p>
        </p:txBody>
      </p:sp>
      <p:sp>
        <p:nvSpPr>
          <p:cNvPr id="13" name="Rectangle 12"/>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87751"/>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protege hoy cada mecanismo</a:t>
            </a:r>
          </a:p>
        </p:txBody>
      </p:sp>
      <p:sp>
        <p:nvSpPr>
          <p:cNvPr id="15" name="TextBox 14"/>
          <p:cNvSpPr txBox="1"/>
          <p:nvPr/>
        </p:nvSpPr>
        <p:spPr>
          <a:xfrm>
            <a:off x="4767864" y="2587751"/>
            <a:ext cx="668956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Para el cifrado de disco y para el de respaldos: contra qué amenaza sirve y contra cuál no, con la tabla «Hallazgo H3 a la luz de esto» como modelo</a:t>
            </a:r>
          </a:p>
        </p:txBody>
      </p:sp>
      <p:sp>
        <p:nvSpPr>
          <p:cNvPr id="16" name="Rectangle 15"/>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27613"/>
            <a:ext cx="4036344"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tres problemas de la evidencia C</a:t>
            </a:r>
          </a:p>
        </p:txBody>
      </p:sp>
      <p:sp>
        <p:nvSpPr>
          <p:cNvPr id="18" name="TextBox 17"/>
          <p:cNvSpPr txBox="1"/>
          <p:nvPr/>
        </p:nvSpPr>
        <p:spPr>
          <a:xfrm>
            <a:off x="4767864" y="3127613"/>
            <a:ext cx="6689567"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Identificados, explicados y con la línea corregida</a:t>
            </a:r>
          </a:p>
        </p:txBody>
      </p:sp>
      <p:sp>
        <p:nvSpPr>
          <p:cNvPr id="19" name="Rectangle 18"/>
          <p:cNvSpPr/>
          <p:nvPr/>
        </p:nvSpPr>
        <p:spPr>
          <a:xfrm>
            <a:off x="566928" y="352994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21389"/>
            <a:ext cx="4036344"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datos exigen cifrado de campo</a:t>
            </a:r>
          </a:p>
        </p:txBody>
      </p:sp>
      <p:sp>
        <p:nvSpPr>
          <p:cNvPr id="21" name="TextBox 20"/>
          <p:cNvSpPr txBox="1"/>
          <p:nvPr/>
        </p:nvSpPr>
        <p:spPr>
          <a:xfrm>
            <a:off x="4767864" y="3621389"/>
            <a:ext cx="6689567"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Cuáles de los datos de los 142.000 asociados, y por qué esos y no todos</a:t>
            </a:r>
          </a:p>
        </p:txBody>
      </p:sp>
      <p:sp>
        <p:nvSpPr>
          <p:cNvPr id="22" name="Rectangle 21"/>
          <p:cNvSpPr/>
          <p:nvPr/>
        </p:nvSpPr>
        <p:spPr>
          <a:xfrm>
            <a:off x="566928" y="402372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15165"/>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cuesta y qué implica</a:t>
            </a:r>
          </a:p>
        </p:txBody>
      </p:sp>
      <p:sp>
        <p:nvSpPr>
          <p:cNvPr id="24" name="TextBox 23"/>
          <p:cNvSpPr txBox="1"/>
          <p:nvPr/>
        </p:nvSpPr>
        <p:spPr>
          <a:xfrm>
            <a:off x="4767864" y="4115165"/>
            <a:ext cx="668956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contrato del core no permite cambiar el esquema sin cotización. Eso condiciona la recomendación y hay que decirlo</a:t>
            </a:r>
          </a:p>
        </p:txBody>
      </p:sp>
      <p:sp>
        <p:nvSpPr>
          <p:cNvPr id="25" name="Rectangle 24"/>
          <p:cNvSpPr/>
          <p:nvPr/>
        </p:nvSpPr>
        <p:spPr>
          <a:xfrm>
            <a:off x="566928" y="456358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1845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46  CIERRE</a:t>
            </a:r>
          </a:p>
        </p:txBody>
      </p:sp>
      <p:sp>
        <p:nvSpPr>
          <p:cNvPr id="4" name="TextBox 3"/>
          <p:cNvSpPr txBox="1"/>
          <p:nvPr/>
        </p:nvSpPr>
        <p:spPr>
          <a:xfrm>
            <a:off x="566928" y="731520"/>
            <a:ext cx="11055096" cy="868680"/>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TRABAJO INDEPENDIENTE</a:t>
            </a:r>
          </a:p>
          <a:p>
            <a:pPr algn="l">
              <a:lnSpc>
                <a:spcPct val="108000"/>
              </a:lnSpc>
              <a:spcAft>
                <a:spcPts val="0"/>
              </a:spcAft>
            </a:pPr>
            <a:r>
              <a:rPr sz="2300" b="0">
                <a:solidFill>
                  <a:srgbClr val="000000"/>
                </a:solidFill>
                <a:latin typeface="Arial Black"/>
              </a:rPr>
              <a:t>HASTA LA SESIÓN 3</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52</a:t>
            </a:r>
          </a:p>
        </p:txBody>
      </p:sp>
      <p:sp>
        <p:nvSpPr>
          <p:cNvPr id="9" name="Rectangle 8"/>
          <p:cNvSpPr/>
          <p:nvPr/>
        </p:nvSpPr>
        <p:spPr>
          <a:xfrm>
            <a:off x="566928" y="179222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12 h</a:t>
            </a:r>
          </a:p>
        </p:txBody>
      </p:sp>
      <p:sp>
        <p:nvSpPr>
          <p:cNvPr id="11" name="TextBox 10"/>
          <p:cNvSpPr txBox="1"/>
          <p:nvPr/>
        </p:nvSpPr>
        <p:spPr>
          <a:xfrm>
            <a:off x="566928"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TOTAL ENTRE</a:t>
            </a:r>
          </a:p>
          <a:p>
            <a:pPr algn="l">
              <a:lnSpc>
                <a:spcPct val="125000"/>
              </a:lnSpc>
              <a:spcAft>
                <a:spcPts val="0"/>
              </a:spcAft>
            </a:pPr>
            <a:r>
              <a:rPr sz="730" b="1" spc="130">
                <a:solidFill>
                  <a:srgbClr val="3A3A3A"/>
                </a:solidFill>
                <a:latin typeface="Consolas"/>
              </a:rPr>
              <a:t>JUEVES Y MARTES</a:t>
            </a:r>
          </a:p>
        </p:txBody>
      </p:sp>
      <p:sp>
        <p:nvSpPr>
          <p:cNvPr id="12" name="Rectangle 11"/>
          <p:cNvSpPr/>
          <p:nvPr/>
        </p:nvSpPr>
        <p:spPr>
          <a:xfrm>
            <a:off x="4142232"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4 h</a:t>
            </a:r>
          </a:p>
        </p:txBody>
      </p:sp>
      <p:sp>
        <p:nvSpPr>
          <p:cNvPr id="14" name="TextBox 13"/>
          <p:cNvSpPr txBox="1"/>
          <p:nvPr/>
        </p:nvSpPr>
        <p:spPr>
          <a:xfrm>
            <a:off x="4251960"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LECTURA</a:t>
            </a:r>
          </a:p>
          <a:p>
            <a:pPr algn="l">
              <a:lnSpc>
                <a:spcPct val="125000"/>
              </a:lnSpc>
              <a:spcAft>
                <a:spcPts val="0"/>
              </a:spcAft>
            </a:pPr>
            <a:r>
              <a:rPr sz="730" b="1" spc="130">
                <a:solidFill>
                  <a:srgbClr val="3A3A3A"/>
                </a:solidFill>
                <a:latin typeface="Consolas"/>
              </a:rPr>
              <a:t>PREVIA</a:t>
            </a:r>
          </a:p>
        </p:txBody>
      </p:sp>
      <p:sp>
        <p:nvSpPr>
          <p:cNvPr id="15" name="Rectangle 14"/>
          <p:cNvSpPr/>
          <p:nvPr/>
        </p:nvSpPr>
        <p:spPr>
          <a:xfrm>
            <a:off x="7827264"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920240"/>
            <a:ext cx="3502152"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8 h</a:t>
            </a:r>
          </a:p>
        </p:txBody>
      </p:sp>
      <p:sp>
        <p:nvSpPr>
          <p:cNvPr id="17" name="TextBox 16"/>
          <p:cNvSpPr txBox="1"/>
          <p:nvPr/>
        </p:nvSpPr>
        <p:spPr>
          <a:xfrm>
            <a:off x="7936992"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ENTREGA 2 E INFORME</a:t>
            </a:r>
          </a:p>
          <a:p>
            <a:pPr algn="l">
              <a:lnSpc>
                <a:spcPct val="125000"/>
              </a:lnSpc>
              <a:spcAft>
                <a:spcPts val="0"/>
              </a:spcAft>
            </a:pPr>
            <a:r>
              <a:rPr sz="730" b="1" spc="130">
                <a:solidFill>
                  <a:srgbClr val="3A3A3A"/>
                </a:solidFill>
                <a:latin typeface="Consolas"/>
              </a:rPr>
              <a:t>DEL LABORATORIO 2</a:t>
            </a:r>
          </a:p>
        </p:txBody>
      </p:sp>
      <p:sp>
        <p:nvSpPr>
          <p:cNvPr id="18" name="Rectangle 17"/>
          <p:cNvSpPr/>
          <p:nvPr/>
        </p:nvSpPr>
        <p:spPr>
          <a:xfrm>
            <a:off x="566928" y="29626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6"/>
            <a:ext cx="11055096" cy="274320"/>
          </a:xfrm>
          <a:prstGeom prst="rect">
            <a:avLst/>
          </a:prstGeom>
          <a:noFill/>
        </p:spPr>
        <p:txBody>
          <a:bodyPr wrap="square" lIns="0" rIns="0" tIns="0" bIns="0">
            <a:spAutoFit/>
          </a:bodyPr>
          <a:lstStyle/>
          <a:p>
            <a:pPr algn="l">
              <a:spcAft>
                <a:spcPts val="0"/>
              </a:spcAft>
            </a:pPr>
            <a:r>
              <a:rPr sz="1350" b="1">
                <a:solidFill>
                  <a:srgbClr val="000000"/>
                </a:solidFill>
                <a:latin typeface="Arial"/>
              </a:rPr>
              <a:t>Lectura previa · 4 horas</a:t>
            </a:r>
          </a:p>
        </p:txBody>
      </p:sp>
      <p:sp>
        <p:nvSpPr>
          <p:cNvPr id="20" name="TextBox 19"/>
          <p:cNvSpPr txBox="1"/>
          <p:nvPr/>
        </p:nvSpPr>
        <p:spPr>
          <a:xfrm>
            <a:off x="566928" y="3520439"/>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NIST SP 800-38D</a:t>
            </a:r>
          </a:p>
        </p:txBody>
      </p:sp>
      <p:sp>
        <p:nvSpPr>
          <p:cNvPr id="21" name="TextBox 20"/>
          <p:cNvSpPr txBox="1"/>
          <p:nvPr/>
        </p:nvSpPr>
        <p:spPr>
          <a:xfrm>
            <a:off x="3401568" y="3520439"/>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Recommendation for GCM and GMAC, secciones 5 y 8: qué garantiza el modo y la regla de unicidad del vector. 1,5 horas.</a:t>
            </a:r>
          </a:p>
        </p:txBody>
      </p:sp>
      <p:sp>
        <p:nvSpPr>
          <p:cNvPr id="22" name="Rectangle 21"/>
          <p:cNvSpPr/>
          <p:nvPr/>
        </p:nvSpPr>
        <p:spPr>
          <a:xfrm>
            <a:off x="566928" y="401421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05655"/>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Katz y Lindell (2020)</a:t>
            </a:r>
          </a:p>
        </p:txBody>
      </p:sp>
      <p:sp>
        <p:nvSpPr>
          <p:cNvPr id="24" name="TextBox 23"/>
          <p:cNvSpPr txBox="1"/>
          <p:nvPr/>
        </p:nvSpPr>
        <p:spPr>
          <a:xfrm>
            <a:off x="3401568" y="4105655"/>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El capítulo de funciones resumen y sus aplicaciones: las tres propiedades y la construcción encadenada. 1,5 horas.</a:t>
            </a:r>
          </a:p>
        </p:txBody>
      </p:sp>
      <p:sp>
        <p:nvSpPr>
          <p:cNvPr id="25" name="Rectangle 24"/>
          <p:cNvSpPr/>
          <p:nvPr/>
        </p:nvSpPr>
        <p:spPr>
          <a:xfrm>
            <a:off x="566928" y="45994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90871"/>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OWASP</a:t>
            </a:r>
          </a:p>
        </p:txBody>
      </p:sp>
      <p:sp>
        <p:nvSpPr>
          <p:cNvPr id="27" name="TextBox 26"/>
          <p:cNvSpPr txBox="1"/>
          <p:nvPr/>
        </p:nvSpPr>
        <p:spPr>
          <a:xfrm>
            <a:off x="3401568" y="4690871"/>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Password Storage Cheat Sheet, completa: cómo se guardan hoy las contraseñas. Una hora. Es la base del bloque 6.</a:t>
            </a:r>
          </a:p>
        </p:txBody>
      </p:sp>
      <p:sp>
        <p:nvSpPr>
          <p:cNvPr id="28" name="Rectangle 27"/>
          <p:cNvSpPr/>
          <p:nvPr/>
        </p:nvSpPr>
        <p:spPr>
          <a:xfrm>
            <a:off x="566928" y="5184647"/>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CONDICIÓN DE ENTRADA A LA SESIÓN 3</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martes se asume sabido qué es una función resumen y qué propiedades promete: la sesión arranca en por qué MD5 y SHA-1 murieron. Las 8 horas de elaboración son la entrega 2 (6 h, en equipo) y el informe del laboratorio (2 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47  ADELANTO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VIENE EL MARTES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Sesión 3: funciones resumen, autenticación de mensajes y contraseñas. Es la sesión que resuelve los dos hallazgos que hicieron posible el fraude.</a:t>
            </a:r>
          </a:p>
        </p:txBody>
      </p:sp>
      <p:sp>
        <p:nvSpPr>
          <p:cNvPr id="10" name="Rectangle 9"/>
          <p:cNvSpPr/>
          <p:nvPr/>
        </p:nvSpPr>
        <p:spPr>
          <a:xfrm>
            <a:off x="566928" y="2304287"/>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1 · RESÚMENES Y AUTENTICACIÓN</a:t>
            </a:r>
          </a:p>
        </p:txBody>
      </p:sp>
      <p:sp>
        <p:nvSpPr>
          <p:cNvPr id="12" name="TextBox 11"/>
          <p:cNvSpPr txBox="1"/>
          <p:nvPr/>
        </p:nvSpPr>
        <p:spPr>
          <a:xfrm>
            <a:off x="786384" y="2633471"/>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Qué es una función resumen y por qué MD5 y SHA-1 quedaron fuera.</a:t>
            </a:r>
          </a:p>
          <a:p>
            <a:pPr algn="l">
              <a:lnSpc>
                <a:spcPct val="128000"/>
              </a:lnSpc>
              <a:spcAft>
                <a:spcPts val="700"/>
              </a:spcAft>
            </a:pPr>
            <a:r>
              <a:rPr sz="1150" b="0">
                <a:solidFill>
                  <a:srgbClr val="000000"/>
                </a:solidFill>
                <a:latin typeface="Arial"/>
              </a:rPr>
              <a:t>La diferencia entre integridad y autenticidad, con el código de autenticación de mensajes.</a:t>
            </a:r>
          </a:p>
          <a:p>
            <a:pPr algn="l">
              <a:lnSpc>
                <a:spcPct val="128000"/>
              </a:lnSpc>
              <a:spcAft>
                <a:spcPts val="700"/>
              </a:spcAft>
            </a:pPr>
            <a:r>
              <a:rPr sz="1150" b="0">
                <a:solidFill>
                  <a:srgbClr val="000000"/>
                </a:solidFill>
                <a:latin typeface="Arial"/>
              </a:rPr>
              <a:t>Por qué HMAC-SHA256, que es correcto, no le sirvió a Coopaburrá.</a:t>
            </a:r>
          </a:p>
        </p:txBody>
      </p:sp>
      <p:sp>
        <p:nvSpPr>
          <p:cNvPr id="13" name="Rectangle 12"/>
          <p:cNvSpPr/>
          <p:nvPr/>
        </p:nvSpPr>
        <p:spPr>
          <a:xfrm>
            <a:off x="6268212" y="2304287"/>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2 · CONTRASEÑAS Y LABORATORIO</a:t>
            </a:r>
          </a:p>
        </p:txBody>
      </p:sp>
      <p:sp>
        <p:nvSpPr>
          <p:cNvPr id="15" name="TextBox 14"/>
          <p:cNvSpPr txBox="1"/>
          <p:nvPr/>
        </p:nvSpPr>
        <p:spPr>
          <a:xfrm>
            <a:off x="6487668" y="2633471"/>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Por qué una contraseña nunca se cifra ni se resume a secas: se deriva con factor de trabajo.</a:t>
            </a:r>
          </a:p>
          <a:p>
            <a:pPr algn="l">
              <a:lnSpc>
                <a:spcPct val="128000"/>
              </a:lnSpc>
              <a:spcAft>
                <a:spcPts val="700"/>
              </a:spcAft>
            </a:pPr>
            <a:r>
              <a:rPr sz="1150" b="0">
                <a:solidFill>
                  <a:srgbClr val="000000"/>
                </a:solidFill>
                <a:latin typeface="Arial"/>
              </a:rPr>
              <a:t>Laboratorio: atacar la muestra de la tabla de usuarios del caso, evidencia B, y medir cuánto cambia con una función de derivación moderna.</a:t>
            </a:r>
          </a:p>
          <a:p>
            <a:pPr algn="l">
              <a:lnSpc>
                <a:spcPct val="128000"/>
              </a:lnSpc>
              <a:spcAft>
                <a:spcPts val="700"/>
              </a:spcAft>
            </a:pPr>
            <a:r>
              <a:rPr sz="1150" b="0">
                <a:solidFill>
                  <a:srgbClr val="000000"/>
                </a:solidFill>
                <a:latin typeface="Arial"/>
              </a:rPr>
              <a:t>Primera evaluación de conocimiento del módulo.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48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54</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AES</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Advanced Encryption Standard — Estándar de cifrado avanzado. Cifrado de bloque de 128 bits, adoptado por el NIST en 2001.</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DES</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Data Encryption Standard — Estándar de cifrado de datos de 1977, con llave de 56 bits. Su versión triple se retiró en 2023.</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ECB / CBC / CFB / OFB / CTR</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Electronic Codebook, Cipher Block Chaining, Cipher Feedback, Output Feedback, Counter — Modos de NIST SP 800-38A.</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GCM / GMAC</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Galois/Counter Mode — Modo de cifrado autenticado. GMAC es su variante que solo autentica, sin cifrar.</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IV</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Initialization Vector — Vector de inicialización. Debe ser único con cada llave; en GCM se le llama también nonce.</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DEK / KEK</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Data Encryption Key / Key Encryption Key — Llave de datos y llave que cifra llaves, en el cifrado en sobre.</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EFF</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Electronic Frontier Foundation — Organización civil estadounidense que construyó en 1998 la máquina que rompió DES.</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FIPS</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Federal Information Processing Standards — Normas federales de procesamiento de información de Estados Unidos, del NIST.</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HMAC</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Hash-based Message Authentication Code — Código de autenticación de mensajes basado en una función resumen. Sesión 3.</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IETF / RFC</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Internet Engineering Task Force / Request for Comments — El organismo de estándares de internet y su serie de documentos.</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49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55</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IUE</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Institución Universitaria de Envigado. Su escudo es la imagen de la demostración de ECB.</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MB / TB</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Megabyte / Terabyte — Un millón y un billón de bytes. El core de Coopaburrá ocupa 2,3 TB.</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MD5 / SHA-1</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Message Digest 5 / Secure Hash Algorithm 1 — Funciones resumen rotas por colisiones. Sesión 3.</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NIST / SP</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Institute of Standards and Technology / Special Publication — El instituto de normas de Estados Unidos y su serie técnica.</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POODLE</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Padding Oracle On Downgraded Legacy Encryption — Ataque de oráculo de relleno de 2014 contra SSL 3.0.</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RC4</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Rivest Cipher 4 — Cifrado de flujo de 1987 sin autenticación, prohibido en el canal seguro desde 2015.</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RSA</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Rivest, Shamir y Adleman — Algoritmo de llave pública de 1977. Sesión 4.</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XOR</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Exclusive OR — O exclusivo. Operación bit a bit: convierte un cambio en el cifrado en el mismo cambio en el texto claro.</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EUROCRYPT / LNCS</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Conferencia europea anual de criptografía / Lecture Notes in Computer Science, la serie donde se publican sus actas.</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XTS</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XEX-based Tweaked-codebook mode with ciphertext Stealing — Modo de AES para discos. Cifra por sector y no autentica.</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50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2</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56</a:t>
            </a:r>
          </a:p>
        </p:txBody>
      </p:sp>
      <p:sp>
        <p:nvSpPr>
          <p:cNvPr id="9" name="TextBox 8"/>
          <p:cNvSpPr txBox="1"/>
          <p:nvPr/>
        </p:nvSpPr>
        <p:spPr>
          <a:xfrm>
            <a:off x="566928" y="1572768"/>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(2023).</a:t>
            </a:r>
          </a:p>
        </p:txBody>
      </p:sp>
      <p:sp>
        <p:nvSpPr>
          <p:cNvPr id="10" name="TextBox 9"/>
          <p:cNvSpPr txBox="1"/>
          <p:nvPr/>
        </p:nvSpPr>
        <p:spPr>
          <a:xfrm>
            <a:off x="3081528" y="1572768"/>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FIPS 197-upd1: Advanced Encryption Standard (AES).</a:t>
            </a:r>
          </a:p>
        </p:txBody>
      </p:sp>
      <p:sp>
        <p:nvSpPr>
          <p:cNvPr id="11" name="TextBox 10"/>
          <p:cNvSpPr txBox="1"/>
          <p:nvPr/>
        </p:nvSpPr>
        <p:spPr>
          <a:xfrm>
            <a:off x="8385048" y="1572768"/>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Estructura del algoritmo, rondas y tamaños de llave</a:t>
            </a:r>
          </a:p>
        </p:txBody>
      </p:sp>
      <p:sp>
        <p:nvSpPr>
          <p:cNvPr id="12" name="Rectangle 11"/>
          <p:cNvSpPr/>
          <p:nvPr/>
        </p:nvSpPr>
        <p:spPr>
          <a:xfrm>
            <a:off x="566928" y="1990779"/>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82219"/>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(2001).</a:t>
            </a:r>
          </a:p>
        </p:txBody>
      </p:sp>
      <p:sp>
        <p:nvSpPr>
          <p:cNvPr id="14" name="TextBox 13"/>
          <p:cNvSpPr txBox="1"/>
          <p:nvPr/>
        </p:nvSpPr>
        <p:spPr>
          <a:xfrm>
            <a:off x="3081528" y="2082219"/>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800-38A: Recommendation for block cipher modes of operation: Methods and techniques.</a:t>
            </a:r>
          </a:p>
        </p:txBody>
      </p:sp>
      <p:sp>
        <p:nvSpPr>
          <p:cNvPr id="15" name="TextBox 14"/>
          <p:cNvSpPr txBox="1"/>
          <p:nvPr/>
        </p:nvSpPr>
        <p:spPr>
          <a:xfrm>
            <a:off x="8385048" y="2082219"/>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Modos ECB, CBC, CFB, OFB y CTR</a:t>
            </a:r>
          </a:p>
        </p:txBody>
      </p:sp>
      <p:sp>
        <p:nvSpPr>
          <p:cNvPr id="16" name="Rectangle 15"/>
          <p:cNvSpPr/>
          <p:nvPr/>
        </p:nvSpPr>
        <p:spPr>
          <a:xfrm>
            <a:off x="566928" y="250023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591670"/>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(2007).</a:t>
            </a:r>
          </a:p>
        </p:txBody>
      </p:sp>
      <p:sp>
        <p:nvSpPr>
          <p:cNvPr id="18" name="TextBox 17"/>
          <p:cNvSpPr txBox="1"/>
          <p:nvPr/>
        </p:nvSpPr>
        <p:spPr>
          <a:xfrm>
            <a:off x="3081528" y="2591670"/>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800-38D: Recommendation for block cipher modes of operation: Galois/Counter Mode (GCM) and GMAC.</a:t>
            </a:r>
          </a:p>
        </p:txBody>
      </p:sp>
      <p:sp>
        <p:nvSpPr>
          <p:cNvPr id="19" name="TextBox 18"/>
          <p:cNvSpPr txBox="1"/>
          <p:nvPr/>
        </p:nvSpPr>
        <p:spPr>
          <a:xfrm>
            <a:off x="8385048" y="2591670"/>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Secciones 5 y 8 · lectura previa de la sesión 3</a:t>
            </a:r>
          </a:p>
        </p:txBody>
      </p:sp>
      <p:sp>
        <p:nvSpPr>
          <p:cNvPr id="20" name="Rectangle 19"/>
          <p:cNvSpPr/>
          <p:nvPr/>
        </p:nvSpPr>
        <p:spPr>
          <a:xfrm>
            <a:off x="566928" y="3009682"/>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01122"/>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(2019).</a:t>
            </a:r>
          </a:p>
        </p:txBody>
      </p:sp>
      <p:sp>
        <p:nvSpPr>
          <p:cNvPr id="22" name="TextBox 21"/>
          <p:cNvSpPr txBox="1"/>
          <p:nvPr/>
        </p:nvSpPr>
        <p:spPr>
          <a:xfrm>
            <a:off x="3081528" y="3101122"/>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800-131A Rev. 2: Transitioning the use of cryptographic algorithms and key lengths.</a:t>
            </a:r>
          </a:p>
        </p:txBody>
      </p:sp>
      <p:sp>
        <p:nvSpPr>
          <p:cNvPr id="23" name="TextBox 22"/>
          <p:cNvSpPr txBox="1"/>
          <p:nvPr/>
        </p:nvSpPr>
        <p:spPr>
          <a:xfrm>
            <a:off x="8385048" y="3101122"/>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Retiro del triple DES a partir de 2023</a:t>
            </a:r>
          </a:p>
        </p:txBody>
      </p:sp>
      <p:sp>
        <p:nvSpPr>
          <p:cNvPr id="24" name="Rectangle 23"/>
          <p:cNvSpPr/>
          <p:nvPr/>
        </p:nvSpPr>
        <p:spPr>
          <a:xfrm>
            <a:off x="566928" y="3519133"/>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10573"/>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Vaudenay, S. (2002).</a:t>
            </a:r>
          </a:p>
        </p:txBody>
      </p:sp>
      <p:sp>
        <p:nvSpPr>
          <p:cNvPr id="26" name="TextBox 25"/>
          <p:cNvSpPr txBox="1"/>
          <p:nvPr/>
        </p:nvSpPr>
        <p:spPr>
          <a:xfrm>
            <a:off x="3081528" y="3610573"/>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Security flaws induced by CBC padding. EUROCRYPT 2002, LNCS 2332, 534–545.</a:t>
            </a:r>
          </a:p>
        </p:txBody>
      </p:sp>
      <p:sp>
        <p:nvSpPr>
          <p:cNvPr id="27" name="TextBox 26"/>
          <p:cNvSpPr txBox="1"/>
          <p:nvPr/>
        </p:nvSpPr>
        <p:spPr>
          <a:xfrm>
            <a:off x="8385048" y="3610573"/>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El ataque de oráculo de relleno</a:t>
            </a:r>
          </a:p>
        </p:txBody>
      </p:sp>
      <p:sp>
        <p:nvSpPr>
          <p:cNvPr id="28" name="Rectangle 27"/>
          <p:cNvSpPr/>
          <p:nvPr/>
        </p:nvSpPr>
        <p:spPr>
          <a:xfrm>
            <a:off x="566928" y="402858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120025"/>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Nir, Y. y Langley, A. (2018).</a:t>
            </a:r>
          </a:p>
        </p:txBody>
      </p:sp>
      <p:sp>
        <p:nvSpPr>
          <p:cNvPr id="30" name="TextBox 29"/>
          <p:cNvSpPr txBox="1"/>
          <p:nvPr/>
        </p:nvSpPr>
        <p:spPr>
          <a:xfrm>
            <a:off x="3081528" y="4120025"/>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8439: ChaCha20 and Poly1305 for IETF protocols. IETF.</a:t>
            </a:r>
          </a:p>
        </p:txBody>
      </p:sp>
      <p:sp>
        <p:nvSpPr>
          <p:cNvPr id="31" name="TextBox 30"/>
          <p:cNvSpPr txBox="1"/>
          <p:nvPr/>
        </p:nvSpPr>
        <p:spPr>
          <a:xfrm>
            <a:off x="8385048" y="4120025"/>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La alternativa a AES en software</a:t>
            </a:r>
          </a:p>
        </p:txBody>
      </p:sp>
      <p:sp>
        <p:nvSpPr>
          <p:cNvPr id="32" name="Rectangle 31"/>
          <p:cNvSpPr/>
          <p:nvPr/>
        </p:nvSpPr>
        <p:spPr>
          <a:xfrm>
            <a:off x="566928" y="45380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29476"/>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Katz, J. y Lindell, Y. (2020).</a:t>
            </a:r>
          </a:p>
        </p:txBody>
      </p:sp>
      <p:sp>
        <p:nvSpPr>
          <p:cNvPr id="34" name="TextBox 33"/>
          <p:cNvSpPr txBox="1"/>
          <p:nvPr/>
        </p:nvSpPr>
        <p:spPr>
          <a:xfrm>
            <a:off x="3081528" y="4629476"/>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Introduction to modern cryptography (3.ª ed.). CRC Press.</a:t>
            </a:r>
          </a:p>
        </p:txBody>
      </p:sp>
      <p:sp>
        <p:nvSpPr>
          <p:cNvPr id="35" name="TextBox 34"/>
          <p:cNvSpPr txBox="1"/>
          <p:nvPr/>
        </p:nvSpPr>
        <p:spPr>
          <a:xfrm>
            <a:off x="8385048" y="4629476"/>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Cifrado de llave privada, modos y cifrado autenticado</a:t>
            </a:r>
          </a:p>
        </p:txBody>
      </p:sp>
      <p:sp>
        <p:nvSpPr>
          <p:cNvPr id="36" name="Rectangle 35"/>
          <p:cNvSpPr/>
          <p:nvPr/>
        </p:nvSpPr>
        <p:spPr>
          <a:xfrm>
            <a:off x="566928" y="504748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ACCESO A LAS FUENTES</a:t>
            </a:r>
          </a:p>
        </p:txBody>
      </p:sp>
      <p:sp>
        <p:nvSpPr>
          <p:cNvPr id="39" name="TextBox 38"/>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publicaciones del NIST y los RFC de la IETF son de acceso libre. Los libros y artículos se consultan en las bases de datos de la Institución; no está autorizado el uso de copias obtenidas por otros medios.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