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1.png"/>
          <p:cNvPicPr>
            <a:picLocks noChangeAspect="1"/>
          </p:cNvPicPr>
          <p:nvPr/>
        </p:nvPicPr>
        <p:blipFill>
          <a:blip r:embed="rId2"/>
          <a:stretch>
            <a:fillRect/>
          </a:stretch>
        </p:blipFill>
        <p:spPr>
          <a:xfrm>
            <a:off x="566928" y="502920"/>
            <a:ext cx="1417320" cy="612648"/>
          </a:xfrm>
          <a:prstGeom prst="rect">
            <a:avLst/>
          </a:prstGeom>
        </p:spPr>
      </p:pic>
      <p:sp>
        <p:nvSpPr>
          <p:cNvPr id="3" name="Rectangle 2"/>
          <p:cNvSpPr/>
          <p:nvPr/>
        </p:nvSpPr>
        <p:spPr>
          <a:xfrm>
            <a:off x="566928" y="1783080"/>
            <a:ext cx="11055096"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75104"/>
            <a:ext cx="11055096" cy="237744"/>
          </a:xfrm>
          <a:prstGeom prst="rect">
            <a:avLst/>
          </a:prstGeom>
          <a:noFill/>
        </p:spPr>
        <p:txBody>
          <a:bodyPr wrap="square" lIns="0" rIns="0" tIns="0" bIns="0">
            <a:spAutoFit/>
          </a:bodyPr>
          <a:lstStyle/>
          <a:p>
            <a:pPr algn="l">
              <a:spcAft>
                <a:spcPts val="0"/>
              </a:spcAft>
            </a:pPr>
            <a:r>
              <a:rPr sz="850" b="1" spc="220">
                <a:solidFill>
                  <a:srgbClr val="5C5C5C"/>
                </a:solidFill>
                <a:latin typeface="Consolas"/>
              </a:rPr>
              <a:t>SESIÓN 5 DE 6 · 5 HORAS · BLOQUE 9: 2H15 · DESCANSO 30 MIN · BLOQUE 10: 2H15</a:t>
            </a:r>
          </a:p>
        </p:txBody>
      </p:sp>
      <p:sp>
        <p:nvSpPr>
          <p:cNvPr id="5" name="TextBox 4"/>
          <p:cNvSpPr txBox="1"/>
          <p:nvPr/>
        </p:nvSpPr>
        <p:spPr>
          <a:xfrm>
            <a:off x="566928" y="2286000"/>
            <a:ext cx="9601200" cy="2148840"/>
          </a:xfrm>
          <a:prstGeom prst="rect">
            <a:avLst/>
          </a:prstGeom>
          <a:noFill/>
        </p:spPr>
        <p:txBody>
          <a:bodyPr wrap="square" lIns="0" rIns="0" tIns="0" bIns="0">
            <a:spAutoFit/>
          </a:bodyPr>
          <a:lstStyle/>
          <a:p>
            <a:pPr algn="l">
              <a:lnSpc>
                <a:spcPct val="105000"/>
              </a:lnSpc>
              <a:spcAft>
                <a:spcPts val="0"/>
              </a:spcAft>
            </a:pPr>
            <a:r>
              <a:rPr sz="4000" b="0">
                <a:solidFill>
                  <a:srgbClr val="000000"/>
                </a:solidFill>
                <a:latin typeface="Arial Black"/>
              </a:rPr>
              <a:t>CERTIFICADOS</a:t>
            </a:r>
          </a:p>
          <a:p>
            <a:pPr algn="l">
              <a:lnSpc>
                <a:spcPct val="105000"/>
              </a:lnSpc>
              <a:spcAft>
                <a:spcPts val="0"/>
              </a:spcAft>
            </a:pPr>
            <a:r>
              <a:rPr sz="4000" b="0">
                <a:solidFill>
                  <a:srgbClr val="000000"/>
                </a:solidFill>
                <a:latin typeface="Arial Black"/>
              </a:rPr>
              <a:t>Y CANAL SEGURO</a:t>
            </a:r>
          </a:p>
        </p:txBody>
      </p:sp>
      <p:sp>
        <p:nvSpPr>
          <p:cNvPr id="6" name="Rectangle 5"/>
          <p:cNvSpPr/>
          <p:nvPr/>
        </p:nvSpPr>
        <p:spPr>
          <a:xfrm>
            <a:off x="566928" y="4590288"/>
            <a:ext cx="1554480" cy="5486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46320"/>
            <a:ext cx="10424160" cy="365760"/>
          </a:xfrm>
          <a:prstGeom prst="rect">
            <a:avLst/>
          </a:prstGeom>
          <a:noFill/>
        </p:spPr>
        <p:txBody>
          <a:bodyPr wrap="square" lIns="0" rIns="0" tIns="0" bIns="0">
            <a:spAutoFit/>
          </a:bodyPr>
          <a:lstStyle/>
          <a:p>
            <a:pPr algn="l">
              <a:spcAft>
                <a:spcPts val="0"/>
              </a:spcAft>
            </a:pPr>
            <a:r>
              <a:rPr sz="1400" b="1">
                <a:solidFill>
                  <a:srgbClr val="000000"/>
                </a:solidFill>
                <a:latin typeface="Arial"/>
              </a:rPr>
              <a:t>¿DE QUIÉN ES ESA LLAVE PÚBLICA, Y QUIÉN LO CERTIFICA?</a:t>
            </a:r>
          </a:p>
        </p:txBody>
      </p:sp>
      <p:sp>
        <p:nvSpPr>
          <p:cNvPr id="8" name="TextBox 7"/>
          <p:cNvSpPr txBox="1"/>
          <p:nvPr/>
        </p:nvSpPr>
        <p:spPr>
          <a:xfrm>
            <a:off x="566928" y="5285232"/>
            <a:ext cx="10424160" cy="502920"/>
          </a:xfrm>
          <a:prstGeom prst="rect">
            <a:avLst/>
          </a:prstGeom>
          <a:noFill/>
        </p:spPr>
        <p:txBody>
          <a:bodyPr wrap="square" lIns="0" rIns="0" tIns="0" bIns="0">
            <a:spAutoFit/>
          </a:bodyPr>
          <a:lstStyle/>
          <a:p>
            <a:pPr algn="l">
              <a:lnSpc>
                <a:spcPct val="125000"/>
              </a:lnSpc>
              <a:spcAft>
                <a:spcPts val="0"/>
              </a:spcAft>
            </a:pPr>
            <a:r>
              <a:rPr sz="1100" b="0">
                <a:solidFill>
                  <a:srgbClr val="5C5C5C"/>
                </a:solidFill>
                <a:latin typeface="Arial"/>
              </a:rPr>
              <a:t>SIO0010 · Técnicas Criptográficas · Especialización en Seguridad de la Información de las Organizaciones · Facultad de Ingeniería · Institución Universitaria de Envigado</a:t>
            </a:r>
          </a:p>
        </p:txBody>
      </p:sp>
      <p:sp>
        <p:nvSpPr>
          <p:cNvPr id="9" name="Rectangle 8"/>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1.png"/>
          <p:cNvPicPr>
            <a:picLocks noChangeAspect="1"/>
          </p:cNvPicPr>
          <p:nvPr/>
        </p:nvPicPr>
        <p:blipFill>
          <a:blip r:embed="rId2"/>
          <a:stretch>
            <a:fillRect/>
          </a:stretch>
        </p:blipFill>
        <p:spPr>
          <a:xfrm>
            <a:off x="566928" y="6336792"/>
            <a:ext cx="566928" cy="246888"/>
          </a:xfrm>
          <a:prstGeom prst="rect">
            <a:avLst/>
          </a:prstGeom>
        </p:spPr>
      </p:pic>
      <p:sp>
        <p:nvSpPr>
          <p:cNvPr id="11" name="TextBox 10"/>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12" name="TextBox 11"/>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01</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 PREGUNTA QUE QUEDÓ ABIERTA</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El jueves firmamos y verificamos. Faltaba saber de quién era la llave</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01  AGENDA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AGENDA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Hoy se cierra el medio problema que quedó pendiente: cómo se sabe que una llave pública pertenece a quien dice pertenecer. Y con eso se puede leer, por fin, la evidencia A del caso.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3747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BLOQUE</a:t>
            </a:r>
          </a:p>
        </p:txBody>
      </p:sp>
      <p:sp>
        <p:nvSpPr>
          <p:cNvPr id="12" name="TextBox 11"/>
          <p:cNvSpPr txBox="1"/>
          <p:nvPr/>
        </p:nvSpPr>
        <p:spPr>
          <a:xfrm>
            <a:off x="2106245" y="2423159"/>
            <a:ext cx="12347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MINUTOS</a:t>
            </a:r>
          </a:p>
        </p:txBody>
      </p:sp>
      <p:sp>
        <p:nvSpPr>
          <p:cNvPr id="13" name="TextBox 12"/>
          <p:cNvSpPr txBox="1"/>
          <p:nvPr/>
        </p:nvSpPr>
        <p:spPr>
          <a:xfrm>
            <a:off x="3505624" y="2423159"/>
            <a:ext cx="599267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CONTENIDO</a:t>
            </a:r>
          </a:p>
        </p:txBody>
      </p:sp>
      <p:sp>
        <p:nvSpPr>
          <p:cNvPr id="14" name="TextBox 13"/>
          <p:cNvSpPr txBox="1"/>
          <p:nvPr/>
        </p:nvSpPr>
        <p:spPr>
          <a:xfrm>
            <a:off x="9662893" y="2423159"/>
            <a:ext cx="17945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MODALIDAD</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9</a:t>
            </a:r>
          </a:p>
        </p:txBody>
      </p:sp>
      <p:sp>
        <p:nvSpPr>
          <p:cNvPr id="17" name="TextBox 16"/>
          <p:cNvSpPr txBox="1"/>
          <p:nvPr/>
        </p:nvSpPr>
        <p:spPr>
          <a:xfrm>
            <a:off x="2106245" y="282549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20</a:t>
            </a:r>
          </a:p>
        </p:txBody>
      </p:sp>
      <p:sp>
        <p:nvSpPr>
          <p:cNvPr id="18" name="TextBox 17"/>
          <p:cNvSpPr txBox="1"/>
          <p:nvPr/>
        </p:nvSpPr>
        <p:spPr>
          <a:xfrm>
            <a:off x="3505624" y="282549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Realimentación de la entrega 4</a:t>
            </a:r>
          </a:p>
        </p:txBody>
      </p:sp>
      <p:sp>
        <p:nvSpPr>
          <p:cNvPr id="19" name="TextBox 18"/>
          <p:cNvSpPr txBox="1"/>
          <p:nvPr/>
        </p:nvSpPr>
        <p:spPr>
          <a:xfrm>
            <a:off x="9662893" y="282549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Taller</a:t>
            </a:r>
          </a:p>
        </p:txBody>
      </p:sp>
      <p:sp>
        <p:nvSpPr>
          <p:cNvPr id="20" name="Rectangle 19"/>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91255"/>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2" name="TextBox 21"/>
          <p:cNvSpPr txBox="1"/>
          <p:nvPr/>
        </p:nvSpPr>
        <p:spPr>
          <a:xfrm>
            <a:off x="2106245" y="319125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 – 80</a:t>
            </a:r>
          </a:p>
        </p:txBody>
      </p:sp>
      <p:sp>
        <p:nvSpPr>
          <p:cNvPr id="23" name="TextBox 22"/>
          <p:cNvSpPr txBox="1"/>
          <p:nvPr/>
        </p:nvSpPr>
        <p:spPr>
          <a:xfrm>
            <a:off x="3505624" y="319125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certificado: qué es, qué contiene, sus formatos y los modelos de confianza</a:t>
            </a:r>
          </a:p>
        </p:txBody>
      </p:sp>
      <p:sp>
        <p:nvSpPr>
          <p:cNvPr id="24" name="TextBox 23"/>
          <p:cNvSpPr txBox="1"/>
          <p:nvPr/>
        </p:nvSpPr>
        <p:spPr>
          <a:xfrm>
            <a:off x="9662893" y="319125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25" name="Rectangle 24"/>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57015"/>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7" name="TextBox 26"/>
          <p:cNvSpPr txBox="1"/>
          <p:nvPr/>
        </p:nvSpPr>
        <p:spPr>
          <a:xfrm>
            <a:off x="2106245" y="355701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80 – 135</a:t>
            </a:r>
          </a:p>
        </p:txBody>
      </p:sp>
      <p:sp>
        <p:nvSpPr>
          <p:cNvPr id="28" name="TextBox 27"/>
          <p:cNvSpPr txBox="1"/>
          <p:nvPr/>
        </p:nvSpPr>
        <p:spPr>
          <a:xfrm>
            <a:off x="3505624" y="355701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Ciclo de vida: emisión, revocación, vencimiento, ACME y autoridades que fallaron</a:t>
            </a:r>
          </a:p>
        </p:txBody>
      </p:sp>
      <p:sp>
        <p:nvSpPr>
          <p:cNvPr id="29" name="TextBox 28"/>
          <p:cNvSpPr txBox="1"/>
          <p:nvPr/>
        </p:nvSpPr>
        <p:spPr>
          <a:xfrm>
            <a:off x="9662893" y="355701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30" name="Rectangle 29"/>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92277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Descanso</a:t>
            </a:r>
          </a:p>
        </p:txBody>
      </p:sp>
      <p:sp>
        <p:nvSpPr>
          <p:cNvPr id="32" name="TextBox 31"/>
          <p:cNvSpPr txBox="1"/>
          <p:nvPr/>
        </p:nvSpPr>
        <p:spPr>
          <a:xfrm>
            <a:off x="2106245" y="392277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a:t>
            </a:r>
          </a:p>
        </p:txBody>
      </p:sp>
      <p:sp>
        <p:nvSpPr>
          <p:cNvPr id="33" name="TextBox 32"/>
          <p:cNvSpPr txBox="1"/>
          <p:nvPr/>
        </p:nvSpPr>
        <p:spPr>
          <a:xfrm>
            <a:off x="3505624" y="392277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4" name="TextBox 33"/>
          <p:cNvSpPr txBox="1"/>
          <p:nvPr/>
        </p:nvSpPr>
        <p:spPr>
          <a:xfrm>
            <a:off x="9662893" y="392277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5" name="Rectangle 34"/>
          <p:cNvSpPr/>
          <p:nvPr/>
        </p:nvSpPr>
        <p:spPr>
          <a:xfrm>
            <a:off x="566928" y="419709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288536"/>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10</a:t>
            </a:r>
          </a:p>
        </p:txBody>
      </p:sp>
      <p:sp>
        <p:nvSpPr>
          <p:cNvPr id="37" name="TextBox 36"/>
          <p:cNvSpPr txBox="1"/>
          <p:nvPr/>
        </p:nvSpPr>
        <p:spPr>
          <a:xfrm>
            <a:off x="2106245" y="428853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70</a:t>
            </a:r>
          </a:p>
        </p:txBody>
      </p:sp>
      <p:sp>
        <p:nvSpPr>
          <p:cNvPr id="38" name="TextBox 37"/>
          <p:cNvSpPr txBox="1"/>
          <p:nvPr/>
        </p:nvSpPr>
        <p:spPr>
          <a:xfrm>
            <a:off x="3505624" y="428853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canal seguro, TLS 1.3 mensaje por mensaje y el hallazgo H5</a:t>
            </a:r>
          </a:p>
        </p:txBody>
      </p:sp>
      <p:sp>
        <p:nvSpPr>
          <p:cNvPr id="39" name="TextBox 38"/>
          <p:cNvSpPr txBox="1"/>
          <p:nvPr/>
        </p:nvSpPr>
        <p:spPr>
          <a:xfrm>
            <a:off x="9662893" y="428853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 y taller</a:t>
            </a:r>
          </a:p>
        </p:txBody>
      </p:sp>
      <p:sp>
        <p:nvSpPr>
          <p:cNvPr id="40" name="Rectangle 39"/>
          <p:cNvSpPr/>
          <p:nvPr/>
        </p:nvSpPr>
        <p:spPr>
          <a:xfrm>
            <a:off x="566928" y="45628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65429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2" name="TextBox 41"/>
          <p:cNvSpPr txBox="1"/>
          <p:nvPr/>
        </p:nvSpPr>
        <p:spPr>
          <a:xfrm>
            <a:off x="2106245" y="465429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70 – 120</a:t>
            </a:r>
          </a:p>
        </p:txBody>
      </p:sp>
      <p:sp>
        <p:nvSpPr>
          <p:cNvPr id="43" name="TextBox 42"/>
          <p:cNvSpPr txBox="1"/>
          <p:nvPr/>
        </p:nvSpPr>
        <p:spPr>
          <a:xfrm>
            <a:off x="3505624" y="465429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 5, con el ejercicio en Python</a:t>
            </a:r>
          </a:p>
        </p:txBody>
      </p:sp>
      <p:sp>
        <p:nvSpPr>
          <p:cNvPr id="44" name="TextBox 43"/>
          <p:cNvSpPr txBox="1"/>
          <p:nvPr/>
        </p:nvSpPr>
        <p:spPr>
          <a:xfrm>
            <a:off x="9662893" y="465429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a:t>
            </a:r>
          </a:p>
        </p:txBody>
      </p:sp>
      <p:sp>
        <p:nvSpPr>
          <p:cNvPr id="45" name="Rectangle 44"/>
          <p:cNvSpPr/>
          <p:nvPr/>
        </p:nvSpPr>
        <p:spPr>
          <a:xfrm>
            <a:off x="566928" y="492861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502005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7" name="TextBox 46"/>
          <p:cNvSpPr txBox="1"/>
          <p:nvPr/>
        </p:nvSpPr>
        <p:spPr>
          <a:xfrm>
            <a:off x="2106245" y="502005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120 – 135</a:t>
            </a:r>
          </a:p>
        </p:txBody>
      </p:sp>
      <p:sp>
        <p:nvSpPr>
          <p:cNvPr id="48" name="TextBox 47"/>
          <p:cNvSpPr txBox="1"/>
          <p:nvPr/>
        </p:nvSpPr>
        <p:spPr>
          <a:xfrm>
            <a:off x="3505624" y="502005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Entrega 5, trabajo independiente y cierre</a:t>
            </a:r>
          </a:p>
        </p:txBody>
      </p:sp>
      <p:sp>
        <p:nvSpPr>
          <p:cNvPr id="49" name="TextBox 48"/>
          <p:cNvSpPr txBox="1"/>
          <p:nvPr/>
        </p:nvSpPr>
        <p:spPr>
          <a:xfrm>
            <a:off x="9662893" y="502005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Taller</a:t>
            </a:r>
          </a:p>
        </p:txBody>
      </p:sp>
      <p:sp>
        <p:nvSpPr>
          <p:cNvPr id="50" name="Rectangle 49"/>
          <p:cNvSpPr/>
          <p:nvPr/>
        </p:nvSpPr>
        <p:spPr>
          <a:xfrm>
            <a:off x="566928" y="529437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66928" y="534924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02  REPASO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DONDE NOS QUEDAMOS EL JUEVES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sesión anterior terminó con una frase incómoda: una firma puede verificar perfectamente y no probar nada. Conviene entender bien por qué antes de seguir.</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YA TENEMOS</a:t>
            </a:r>
          </a:p>
        </p:txBody>
      </p:sp>
      <p:sp>
        <p:nvSpPr>
          <p:cNvPr id="11" name="TextBox 10"/>
          <p:cNvSpPr txBox="1"/>
          <p:nvPr/>
        </p:nvSpPr>
        <p:spPr>
          <a:xfrm>
            <a:off x="566928" y="2578607"/>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Una firma digital demuestra que quien firmó poseía una llave privada determinada, y que el contenido no cambió después.</a:t>
            </a:r>
          </a:p>
          <a:p>
            <a:pPr algn="l">
              <a:lnSpc>
                <a:spcPct val="128000"/>
              </a:lnSpc>
              <a:spcAft>
                <a:spcPts val="700"/>
              </a:spcAft>
            </a:pPr>
            <a:r>
              <a:rPr sz="1150" b="0">
                <a:solidFill>
                  <a:srgbClr val="000000"/>
                </a:solidFill>
                <a:latin typeface="Arial"/>
              </a:rPr>
              <a:t>Eso es mucho, y es lo único que da no repudio.</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FALTA</a:t>
            </a:r>
          </a:p>
        </p:txBody>
      </p:sp>
      <p:sp>
        <p:nvSpPr>
          <p:cNvPr id="13" name="TextBox 12"/>
          <p:cNvSpPr txBox="1"/>
          <p:nvPr/>
        </p:nvSpPr>
        <p:spPr>
          <a:xfrm>
            <a:off x="6368796" y="2578607"/>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Nada de eso dice </a:t>
            </a:r>
            <a:r>
              <a:rPr sz="1150" b="1">
                <a:solidFill>
                  <a:srgbClr val="000000"/>
                </a:solidFill>
                <a:latin typeface="Arial"/>
              </a:rPr>
              <a:t>de quién es</a:t>
            </a:r>
            <a:r>
              <a:rPr sz="1150" b="0">
                <a:solidFill>
                  <a:srgbClr val="000000"/>
                </a:solidFill>
                <a:latin typeface="Arial"/>
              </a:rPr>
              <a:t> esa llave privada.</a:t>
            </a:r>
          </a:p>
          <a:p>
            <a:pPr algn="l">
              <a:lnSpc>
                <a:spcPct val="128000"/>
              </a:lnSpc>
              <a:spcAft>
                <a:spcPts val="700"/>
              </a:spcAft>
            </a:pPr>
            <a:r>
              <a:rPr sz="1150" b="0">
                <a:solidFill>
                  <a:srgbClr val="000000"/>
                </a:solidFill>
                <a:latin typeface="Arial"/>
              </a:rPr>
              <a:t>Si alguien me entrega una llave pública diciendo que es del banco, y verifico con ella, verifico correctamente firmas del atacante.</a:t>
            </a:r>
          </a:p>
          <a:p>
            <a:pPr algn="l">
              <a:lnSpc>
                <a:spcPct val="128000"/>
              </a:lnSpc>
              <a:spcAft>
                <a:spcPts val="700"/>
              </a:spcAft>
            </a:pPr>
            <a:r>
              <a:rPr sz="1150" b="0">
                <a:solidFill>
                  <a:srgbClr val="000000"/>
                </a:solidFill>
                <a:latin typeface="Arial"/>
              </a:rPr>
              <a:t>Es el mismo ataque del intermediario de la sesión pasada, ahora en el terreno de la identidad.</a:t>
            </a:r>
          </a:p>
        </p:txBody>
      </p:sp>
      <p:sp>
        <p:nvSpPr>
          <p:cNvPr id="14" name="Rectangle 13"/>
          <p:cNvSpPr/>
          <p:nvPr/>
        </p:nvSpPr>
        <p:spPr>
          <a:xfrm>
            <a:off x="6085332" y="2304287"/>
            <a:ext cx="9144" cy="187451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434840"/>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4531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SOLUCIÓN NO ES TÉCNICA, ES DE CONFIANZA</a:t>
            </a:r>
          </a:p>
        </p:txBody>
      </p:sp>
      <p:sp>
        <p:nvSpPr>
          <p:cNvPr id="17" name="TextBox 16"/>
          <p:cNvSpPr txBox="1"/>
          <p:nvPr/>
        </p:nvSpPr>
        <p:spPr>
          <a:xfrm>
            <a:off x="804672" y="4690872"/>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Hace falta que </a:t>
            </a:r>
            <a:r>
              <a:rPr sz="1150" b="1">
                <a:solidFill>
                  <a:srgbClr val="2A2A2A"/>
                </a:solidFill>
                <a:latin typeface="Arial"/>
              </a:rPr>
              <a:t>alguien en quien ya confío</a:t>
            </a:r>
            <a:r>
              <a:rPr sz="1150" b="0">
                <a:solidFill>
                  <a:srgbClr val="2A2A2A"/>
                </a:solidFill>
                <a:latin typeface="Arial"/>
              </a:rPr>
              <a:t> afirme, de forma verificable, que esa llave pública es de esa persona. Ese alguien es una entidad de certificación, y su afirmación es un certificado.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03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REALIMENTACIÓN DE LA ENTREGA 4</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Veinte minutos sobre el cierre del rediseño de la firma y el plan de choque de certificados. Dos observaciones que aplican a casi todos los informes.</a:t>
            </a:r>
          </a:p>
        </p:txBody>
      </p:sp>
      <p:sp>
        <p:nvSpPr>
          <p:cNvPr id="10" name="Rectangle 9"/>
          <p:cNvSpPr/>
          <p:nvPr/>
        </p:nvSpPr>
        <p:spPr>
          <a:xfrm>
            <a:off x="566928"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ENROLAMIENTO ES EL PUNTO DÉBIL</a:t>
            </a:r>
          </a:p>
        </p:txBody>
      </p:sp>
      <p:sp>
        <p:nvSpPr>
          <p:cNvPr id="12" name="TextBox 11"/>
          <p:cNvSpPr txBox="1"/>
          <p:nvPr/>
        </p:nvSpPr>
        <p:spPr>
          <a:xfrm>
            <a:off x="786384"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Casi todos describieron bien cómo se genera la llave en el dispositivo y cómo se firma.</a:t>
            </a:r>
          </a:p>
          <a:p>
            <a:pPr algn="l">
              <a:lnSpc>
                <a:spcPct val="128000"/>
              </a:lnSpc>
              <a:spcAft>
                <a:spcPts val="700"/>
              </a:spcAft>
            </a:pPr>
            <a:r>
              <a:rPr sz="1150" b="0">
                <a:solidFill>
                  <a:srgbClr val="000000"/>
                </a:solidFill>
                <a:latin typeface="Arial"/>
              </a:rPr>
              <a:t>Muy pocos describieron </a:t>
            </a:r>
            <a:r>
              <a:rPr sz="1150" b="1">
                <a:solidFill>
                  <a:srgbClr val="000000"/>
                </a:solidFill>
                <a:latin typeface="Arial"/>
              </a:rPr>
              <a:t>cómo se verifica la identidad del asociado el día que enrola el teléfono</a:t>
            </a:r>
            <a:r>
              <a:rPr sz="1150" b="0">
                <a:solidFill>
                  <a:srgbClr val="000000"/>
                </a:solidFill>
                <a:latin typeface="Arial"/>
              </a:rPr>
              <a:t>.</a:t>
            </a:r>
          </a:p>
          <a:p>
            <a:pPr algn="l">
              <a:lnSpc>
                <a:spcPct val="128000"/>
              </a:lnSpc>
              <a:spcAft>
                <a:spcPts val="700"/>
              </a:spcAft>
            </a:pPr>
            <a:r>
              <a:rPr sz="1150" b="0">
                <a:solidFill>
                  <a:srgbClr val="000000"/>
                </a:solidFill>
                <a:latin typeface="Arial"/>
              </a:rPr>
              <a:t>Toda la cadena de no repudio descansa en ese momento: si ahí entra un impostor, el resto del esquema le da una prueba en contra de otra persona.</a:t>
            </a:r>
          </a:p>
        </p:txBody>
      </p:sp>
      <p:sp>
        <p:nvSpPr>
          <p:cNvPr id="13" name="Rectangle 12"/>
          <p:cNvSpPr/>
          <p:nvPr/>
        </p:nvSpPr>
        <p:spPr>
          <a:xfrm>
            <a:off x="6268212"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PLAN DE CHOQUE SE QUEDÓ CORTO</a:t>
            </a:r>
          </a:p>
        </p:txBody>
      </p:sp>
      <p:sp>
        <p:nvSpPr>
          <p:cNvPr id="15" name="TextBox 14"/>
          <p:cNvSpPr txBox="1"/>
          <p:nvPr/>
        </p:nvSpPr>
        <p:spPr>
          <a:xfrm>
            <a:off x="6487668"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Comprar un certificado público para el portal resuelve la advertencia, pero no resuelve el hallazgo.</a:t>
            </a:r>
          </a:p>
          <a:p>
            <a:pPr algn="l">
              <a:lnSpc>
                <a:spcPct val="128000"/>
              </a:lnSpc>
              <a:spcAft>
                <a:spcPts val="700"/>
              </a:spcAft>
            </a:pPr>
            <a:r>
              <a:rPr sz="1150" b="0">
                <a:solidFill>
                  <a:srgbClr val="000000"/>
                </a:solidFill>
                <a:latin typeface="Arial"/>
              </a:rPr>
              <a:t>La pregunta que casi nadie hizo: </a:t>
            </a:r>
            <a:r>
              <a:rPr sz="1150" b="1">
                <a:solidFill>
                  <a:srgbClr val="000000"/>
                </a:solidFill>
                <a:latin typeface="Arial"/>
              </a:rPr>
              <a:t>¿dónde más está instalada esa raíz interna y para qué se usa?</a:t>
            </a:r>
          </a:p>
          <a:p>
            <a:pPr algn="l">
              <a:lnSpc>
                <a:spcPct val="128000"/>
              </a:lnSpc>
              <a:spcAft>
                <a:spcPts val="700"/>
              </a:spcAft>
            </a:pPr>
            <a:r>
              <a:rPr sz="1150" b="0">
                <a:solidFill>
                  <a:srgbClr val="000000"/>
                </a:solidFill>
                <a:latin typeface="Arial"/>
              </a:rPr>
              <a:t>Hoy vamos a ver por qué esa es la pregunta cara.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02</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EL CERTIFICADO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Un documento firmado cuyo único trabajo es atar una llave pública a una identidad</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04  CONCEPTO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ES UN CERTIFICADO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certificado no es un secreto, no cifra nada y no protege nada por sí mismo. Es una afirmación firmada, y su valor es exactamente el de quien la firma.</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AFIRMACIÓN QUE CONTIENE UN CERTIFICADO</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Un certificado dice, en esencia, una sola cosa: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"Yo, la entidad E, afirmo que la llave pública K pertenece al sujeto S,</a:t>
            </a:r>
          </a:p>
          <a:p>
            <a:pPr algn="l">
              <a:lnSpc>
                <a:spcPct val="130000"/>
              </a:lnSpc>
              <a:spcAft>
                <a:spcPts val="0"/>
              </a:spcAft>
            </a:pPr>
            <a:r>
              <a:rPr sz="950" b="0">
                <a:solidFill>
                  <a:srgbClr val="000000"/>
                </a:solidFill>
                <a:latin typeface="Consolas"/>
              </a:rPr>
              <a:t>    para los usos U, entre las fechas F1 y F2."</a:t>
            </a:r>
          </a:p>
          <a:p>
            <a:pPr algn="l">
              <a:lnSpc>
                <a:spcPct val="130000"/>
              </a:lnSpc>
              <a:spcAft>
                <a:spcPts val="0"/>
              </a:spcAft>
            </a:pPr>
            <a:r>
              <a:rPr sz="950" b="0">
                <a:solidFill>
                  <a:srgbClr val="000000"/>
                </a:solidFill>
                <a:latin typeface="Consolas"/>
              </a:rPr>
              <a:t>                                              — firmado digitalmente por 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Todo lo demás son detalles de formato. Y la verificación de ese documento</a:t>
            </a:r>
          </a:p>
          <a:p>
            <a:pPr algn="l">
              <a:lnSpc>
                <a:spcPct val="130000"/>
              </a:lnSpc>
              <a:spcAft>
                <a:spcPts val="0"/>
              </a:spcAft>
            </a:pPr>
            <a:r>
              <a:rPr sz="950" b="0">
                <a:solidFill>
                  <a:srgbClr val="000000"/>
                </a:solidFill>
                <a:latin typeface="Consolas"/>
              </a:rPr>
              <a:t>es exactamente la que aprendimos el jueves: verificar una firma digital.</a:t>
            </a:r>
          </a:p>
        </p:txBody>
      </p:sp>
      <p:sp>
        <p:nvSpPr>
          <p:cNvPr id="13" name="Rectangle 12"/>
          <p:cNvSpPr/>
          <p:nvPr/>
        </p:nvSpPr>
        <p:spPr>
          <a:xfrm>
            <a:off x="566928" y="4612233"/>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DESPLAZAMIENTO DEL PROBLEMA</a:t>
            </a:r>
          </a:p>
        </p:txBody>
      </p:sp>
      <p:sp>
        <p:nvSpPr>
          <p:cNvPr id="15" name="TextBox 14"/>
          <p:cNvSpPr txBox="1"/>
          <p:nvPr/>
        </p:nvSpPr>
        <p:spPr>
          <a:xfrm>
            <a:off x="804672" y="4868265"/>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Fíjense en lo que acaba de pasar: para confiar en la llave de S, ahora tengo que confiar en la llave de E. </a:t>
            </a:r>
            <a:r>
              <a:rPr sz="1150" b="1">
                <a:solidFill>
                  <a:srgbClr val="2A2A2A"/>
                </a:solidFill>
                <a:latin typeface="Arial"/>
              </a:rPr>
              <a:t>El problema no se resolvió, se desplazó</a:t>
            </a:r>
            <a:r>
              <a:rPr sz="1150" b="0">
                <a:solidFill>
                  <a:srgbClr val="2A2A2A"/>
                </a:solidFill>
                <a:latin typeface="Arial"/>
              </a:rPr>
              <a:t>, y se desplazó de 142.000 llaves a unas pocas decenas de entidades. Eso sí es manejable, y en eso consiste toda la infraestructura.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05  ESTRUCTURA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CONTIENE REALMENTE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08</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3483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CAMPO</a:t>
            </a:r>
          </a:p>
        </p:txBody>
      </p:sp>
      <p:sp>
        <p:nvSpPr>
          <p:cNvPr id="11" name="TextBox 10"/>
          <p:cNvSpPr txBox="1"/>
          <p:nvPr/>
        </p:nvSpPr>
        <p:spPr>
          <a:xfrm>
            <a:off x="4215109" y="1673352"/>
            <a:ext cx="392579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DICE</a:t>
            </a:r>
          </a:p>
        </p:txBody>
      </p:sp>
      <p:sp>
        <p:nvSpPr>
          <p:cNvPr id="12" name="TextBox 11"/>
          <p:cNvSpPr txBox="1"/>
          <p:nvPr/>
        </p:nvSpPr>
        <p:spPr>
          <a:xfrm>
            <a:off x="8305495" y="1673352"/>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 IMPORTA</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Sujeto y nombres alternativos</a:t>
            </a:r>
          </a:p>
        </p:txBody>
      </p:sp>
      <p:sp>
        <p:nvSpPr>
          <p:cNvPr id="15" name="TextBox 14"/>
          <p:cNvSpPr txBox="1"/>
          <p:nvPr/>
        </p:nvSpPr>
        <p:spPr>
          <a:xfrm>
            <a:off x="4215109" y="2075688"/>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 quién identifica y qué dominios ampara</a:t>
            </a:r>
          </a:p>
        </p:txBody>
      </p:sp>
      <p:sp>
        <p:nvSpPr>
          <p:cNvPr id="16" name="TextBox 15"/>
          <p:cNvSpPr txBox="1"/>
          <p:nvPr/>
        </p:nvSpPr>
        <p:spPr>
          <a:xfrm>
            <a:off x="8305495" y="2075688"/>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navegador compara el sitio contra los nombres alternativos, no contra el sujeto</a:t>
            </a:r>
          </a:p>
        </p:txBody>
      </p:sp>
      <p:sp>
        <p:nvSpPr>
          <p:cNvPr id="17" name="Rectangle 16"/>
          <p:cNvSpPr/>
          <p:nvPr/>
        </p:nvSpPr>
        <p:spPr>
          <a:xfrm>
            <a:off x="566928" y="25241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615549"/>
            <a:ext cx="3483589"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pública y su algoritmo</a:t>
            </a:r>
          </a:p>
        </p:txBody>
      </p:sp>
      <p:sp>
        <p:nvSpPr>
          <p:cNvPr id="19" name="TextBox 18"/>
          <p:cNvSpPr txBox="1"/>
          <p:nvPr/>
        </p:nvSpPr>
        <p:spPr>
          <a:xfrm>
            <a:off x="4215109" y="2615549"/>
            <a:ext cx="3925793"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que se está certificando</a:t>
            </a:r>
          </a:p>
        </p:txBody>
      </p:sp>
      <p:sp>
        <p:nvSpPr>
          <p:cNvPr id="20" name="TextBox 19"/>
          <p:cNvSpPr txBox="1"/>
          <p:nvPr/>
        </p:nvSpPr>
        <p:spPr>
          <a:xfrm>
            <a:off x="8305495" y="2615549"/>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el objeto de toda la afirmación</a:t>
            </a:r>
          </a:p>
        </p:txBody>
      </p:sp>
      <p:sp>
        <p:nvSpPr>
          <p:cNvPr id="21" name="Rectangle 20"/>
          <p:cNvSpPr/>
          <p:nvPr/>
        </p:nvSpPr>
        <p:spPr>
          <a:xfrm>
            <a:off x="566928" y="288986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981309"/>
            <a:ext cx="3483589"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Emisor</a:t>
            </a:r>
          </a:p>
        </p:txBody>
      </p:sp>
      <p:sp>
        <p:nvSpPr>
          <p:cNvPr id="23" name="TextBox 22"/>
          <p:cNvSpPr txBox="1"/>
          <p:nvPr/>
        </p:nvSpPr>
        <p:spPr>
          <a:xfrm>
            <a:off x="4215109" y="2981309"/>
            <a:ext cx="3925793"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Quién firmó este certificado</a:t>
            </a:r>
          </a:p>
        </p:txBody>
      </p:sp>
      <p:sp>
        <p:nvSpPr>
          <p:cNvPr id="24" name="TextBox 23"/>
          <p:cNvSpPr txBox="1"/>
          <p:nvPr/>
        </p:nvSpPr>
        <p:spPr>
          <a:xfrm>
            <a:off x="8305495" y="2981309"/>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Determina a quién hay que subir en la cadena</a:t>
            </a:r>
          </a:p>
        </p:txBody>
      </p:sp>
      <p:sp>
        <p:nvSpPr>
          <p:cNvPr id="25" name="Rectangle 24"/>
          <p:cNvSpPr/>
          <p:nvPr/>
        </p:nvSpPr>
        <p:spPr>
          <a:xfrm>
            <a:off x="566928" y="325562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347069"/>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Vigencia</a:t>
            </a:r>
          </a:p>
        </p:txBody>
      </p:sp>
      <p:sp>
        <p:nvSpPr>
          <p:cNvPr id="27" name="TextBox 26"/>
          <p:cNvSpPr txBox="1"/>
          <p:nvPr/>
        </p:nvSpPr>
        <p:spPr>
          <a:xfrm>
            <a:off x="4215109" y="3347069"/>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Desde cuándo y hasta cuándo vale</a:t>
            </a:r>
          </a:p>
        </p:txBody>
      </p:sp>
      <p:sp>
        <p:nvSpPr>
          <p:cNvPr id="28" name="TextBox 27"/>
          <p:cNvSpPr txBox="1"/>
          <p:nvPr/>
        </p:nvSpPr>
        <p:spPr>
          <a:xfrm>
            <a:off x="8305495" y="3347069"/>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certificado vencido no es un aviso: deja de ser válido</a:t>
            </a:r>
          </a:p>
        </p:txBody>
      </p:sp>
      <p:sp>
        <p:nvSpPr>
          <p:cNvPr id="29" name="Rectangle 28"/>
          <p:cNvSpPr/>
          <p:nvPr/>
        </p:nvSpPr>
        <p:spPr>
          <a:xfrm>
            <a:off x="566928" y="37954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886931"/>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Usos y usos extendidos</a:t>
            </a:r>
          </a:p>
        </p:txBody>
      </p:sp>
      <p:sp>
        <p:nvSpPr>
          <p:cNvPr id="31" name="TextBox 30"/>
          <p:cNvSpPr txBox="1"/>
          <p:nvPr/>
        </p:nvSpPr>
        <p:spPr>
          <a:xfrm>
            <a:off x="4215109" y="3886931"/>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Para qué sirve esta llave: servidor, cliente, firma de código, correo</a:t>
            </a:r>
          </a:p>
        </p:txBody>
      </p:sp>
      <p:sp>
        <p:nvSpPr>
          <p:cNvPr id="32" name="TextBox 31"/>
          <p:cNvSpPr txBox="1"/>
          <p:nvPr/>
        </p:nvSpPr>
        <p:spPr>
          <a:xfrm>
            <a:off x="8305495" y="3886931"/>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certificado de servidor no debería servir para firmar software</a:t>
            </a:r>
          </a:p>
        </p:txBody>
      </p:sp>
      <p:sp>
        <p:nvSpPr>
          <p:cNvPr id="33" name="Rectangle 32"/>
          <p:cNvSpPr/>
          <p:nvPr/>
        </p:nvSpPr>
        <p:spPr>
          <a:xfrm>
            <a:off x="566928" y="433535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426793"/>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Restricciones básicas</a:t>
            </a:r>
          </a:p>
        </p:txBody>
      </p:sp>
      <p:sp>
        <p:nvSpPr>
          <p:cNvPr id="35" name="TextBox 34"/>
          <p:cNvSpPr txBox="1"/>
          <p:nvPr/>
        </p:nvSpPr>
        <p:spPr>
          <a:xfrm>
            <a:off x="4215109" y="4426793"/>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 el titular es o no una autoridad, y cuántos niveles puede emitir</a:t>
            </a:r>
          </a:p>
        </p:txBody>
      </p:sp>
      <p:sp>
        <p:nvSpPr>
          <p:cNvPr id="36" name="TextBox 35"/>
          <p:cNvSpPr txBox="1"/>
          <p:nvPr/>
        </p:nvSpPr>
        <p:spPr>
          <a:xfrm>
            <a:off x="8305495" y="4426793"/>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Sin esta comprobación, cualquier certificado podría emitir otros</a:t>
            </a:r>
          </a:p>
        </p:txBody>
      </p:sp>
      <p:sp>
        <p:nvSpPr>
          <p:cNvPr id="37" name="Rectangle 36"/>
          <p:cNvSpPr/>
          <p:nvPr/>
        </p:nvSpPr>
        <p:spPr>
          <a:xfrm>
            <a:off x="566928" y="48752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4966655"/>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Número de serie y puntos de revocación</a:t>
            </a:r>
          </a:p>
        </p:txBody>
      </p:sp>
      <p:sp>
        <p:nvSpPr>
          <p:cNvPr id="39" name="TextBox 38"/>
          <p:cNvSpPr txBox="1"/>
          <p:nvPr/>
        </p:nvSpPr>
        <p:spPr>
          <a:xfrm>
            <a:off x="4215109" y="4966655"/>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 identificador único y dónde consultar si sigue vigente</a:t>
            </a:r>
          </a:p>
        </p:txBody>
      </p:sp>
      <p:sp>
        <p:nvSpPr>
          <p:cNvPr id="40" name="TextBox 39"/>
          <p:cNvSpPr txBox="1"/>
          <p:nvPr/>
        </p:nvSpPr>
        <p:spPr>
          <a:xfrm>
            <a:off x="8305495" y="4966655"/>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lo que permite anularlo antes de que venza</a:t>
            </a:r>
          </a:p>
        </p:txBody>
      </p:sp>
      <p:sp>
        <p:nvSpPr>
          <p:cNvPr id="41" name="Rectangle 40"/>
          <p:cNvSpPr/>
          <p:nvPr/>
        </p:nvSpPr>
        <p:spPr>
          <a:xfrm>
            <a:off x="566928" y="541507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546994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06  LECTURA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UN CERTIFICADO REAL, LEÍDO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09</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Esta es la evidencia A del caso, en el formato en que ustedes la van a ver en el laboratorio. Cada línea dice algo.</a:t>
            </a:r>
          </a:p>
        </p:txBody>
      </p:sp>
      <p:sp>
        <p:nvSpPr>
          <p:cNvPr id="10" name="Rectangle 9"/>
          <p:cNvSpPr/>
          <p:nvPr/>
        </p:nvSpPr>
        <p:spPr>
          <a:xfrm>
            <a:off x="566928" y="2066543"/>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157984"/>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EVIDENCIA A · CERTIFICADO DEL PORTAL</a:t>
            </a:r>
          </a:p>
        </p:txBody>
      </p:sp>
      <p:sp>
        <p:nvSpPr>
          <p:cNvPr id="12" name="TextBox 11"/>
          <p:cNvSpPr txBox="1"/>
          <p:nvPr/>
        </p:nvSpPr>
        <p:spPr>
          <a:xfrm>
            <a:off x="768096" y="2395727"/>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Certificate:</a:t>
            </a:r>
          </a:p>
          <a:p>
            <a:pPr algn="l">
              <a:lnSpc>
                <a:spcPct val="130000"/>
              </a:lnSpc>
              <a:spcAft>
                <a:spcPts val="0"/>
              </a:spcAft>
            </a:pPr>
            <a:r>
              <a:rPr sz="950" b="0">
                <a:solidFill>
                  <a:srgbClr val="000000"/>
                </a:solidFill>
                <a:latin typeface="Consolas"/>
              </a:rPr>
              <a:t>    Serial Number: 4a:1f:...                  ← identificador para revocar</a:t>
            </a:r>
          </a:p>
          <a:p>
            <a:pPr algn="l">
              <a:lnSpc>
                <a:spcPct val="130000"/>
              </a:lnSpc>
              <a:spcAft>
                <a:spcPts val="0"/>
              </a:spcAft>
            </a:pPr>
            <a:r>
              <a:rPr sz="950" b="0">
                <a:solidFill>
                  <a:srgbClr val="000000"/>
                </a:solidFill>
                <a:latin typeface="Consolas"/>
              </a:rPr>
              <a:t>    Signature Algorithm: sha256WithRSAEncryption   ← aceptable hoy</a:t>
            </a:r>
          </a:p>
          <a:p>
            <a:pPr algn="l">
              <a:lnSpc>
                <a:spcPct val="130000"/>
              </a:lnSpc>
              <a:spcAft>
                <a:spcPts val="0"/>
              </a:spcAft>
            </a:pPr>
            <a:r>
              <a:rPr sz="950" b="0">
                <a:solidFill>
                  <a:srgbClr val="000000"/>
                </a:solidFill>
                <a:latin typeface="Consolas"/>
              </a:rPr>
              <a:t>    Issuer:  CN = Coopaburra Root CA 2019     ← ¿y quién confía en esa?</a:t>
            </a:r>
          </a:p>
          <a:p>
            <a:pPr algn="l">
              <a:lnSpc>
                <a:spcPct val="130000"/>
              </a:lnSpc>
              <a:spcAft>
                <a:spcPts val="0"/>
              </a:spcAft>
            </a:pPr>
            <a:r>
              <a:rPr sz="950" b="0">
                <a:solidFill>
                  <a:srgbClr val="000000"/>
                </a:solidFill>
                <a:latin typeface="Consolas"/>
              </a:rPr>
              <a:t>    Validity</a:t>
            </a:r>
          </a:p>
          <a:p>
            <a:pPr algn="l">
              <a:lnSpc>
                <a:spcPct val="130000"/>
              </a:lnSpc>
              <a:spcAft>
                <a:spcPts val="0"/>
              </a:spcAft>
            </a:pPr>
            <a:r>
              <a:rPr sz="950" b="0">
                <a:solidFill>
                  <a:srgbClr val="000000"/>
                </a:solidFill>
                <a:latin typeface="Consolas"/>
              </a:rPr>
              <a:t>        Not Before: Jun 14 00:00:00 2023 GMT</a:t>
            </a:r>
          </a:p>
          <a:p>
            <a:pPr algn="l">
              <a:lnSpc>
                <a:spcPct val="130000"/>
              </a:lnSpc>
              <a:spcAft>
                <a:spcPts val="0"/>
              </a:spcAft>
            </a:pPr>
            <a:r>
              <a:rPr sz="950" b="0">
                <a:solidFill>
                  <a:srgbClr val="000000"/>
                </a:solidFill>
                <a:latin typeface="Consolas"/>
              </a:rPr>
              <a:t>        Not After : Jun 14 00:00:00 2026 GMT  ← la cuenta regresiva</a:t>
            </a:r>
          </a:p>
          <a:p>
            <a:pPr algn="l">
              <a:lnSpc>
                <a:spcPct val="130000"/>
              </a:lnSpc>
              <a:spcAft>
                <a:spcPts val="0"/>
              </a:spcAft>
            </a:pPr>
            <a:r>
              <a:rPr sz="950" b="0">
                <a:solidFill>
                  <a:srgbClr val="000000"/>
                </a:solidFill>
                <a:latin typeface="Consolas"/>
              </a:rPr>
              <a:t>    Subject: CN = portal.coopaburra.com</a:t>
            </a:r>
          </a:p>
          <a:p>
            <a:pPr algn="l">
              <a:lnSpc>
                <a:spcPct val="130000"/>
              </a:lnSpc>
              <a:spcAft>
                <a:spcPts val="0"/>
              </a:spcAft>
            </a:pPr>
            <a:r>
              <a:rPr sz="950" b="0">
                <a:solidFill>
                  <a:srgbClr val="000000"/>
                </a:solidFill>
                <a:latin typeface="Consolas"/>
              </a:rPr>
              <a:t>    Subject Public Key Info: RSA Public-Key: (2048 bit)   ← no es débil</a:t>
            </a:r>
          </a:p>
          <a:p>
            <a:pPr algn="l">
              <a:lnSpc>
                <a:spcPct val="130000"/>
              </a:lnSpc>
              <a:spcAft>
                <a:spcPts val="0"/>
              </a:spcAft>
            </a:pPr>
            <a:r>
              <a:rPr sz="950" b="0">
                <a:solidFill>
                  <a:srgbClr val="000000"/>
                </a:solidFill>
                <a:latin typeface="Consolas"/>
              </a:rPr>
              <a:t>    X509v3 Basic Constraints: CA:FALSE</a:t>
            </a:r>
          </a:p>
        </p:txBody>
      </p:sp>
      <p:sp>
        <p:nvSpPr>
          <p:cNvPr id="13" name="Rectangle 12"/>
          <p:cNvSpPr/>
          <p:nvPr/>
        </p:nvSpPr>
        <p:spPr>
          <a:xfrm>
            <a:off x="566928" y="4791456"/>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80974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EL CASO ADVIERTE Y CONVIENE REPETIR</a:t>
            </a:r>
          </a:p>
        </p:txBody>
      </p:sp>
      <p:sp>
        <p:nvSpPr>
          <p:cNvPr id="15" name="TextBox 14"/>
          <p:cNvSpPr txBox="1"/>
          <p:nvPr/>
        </p:nvSpPr>
        <p:spPr>
          <a:xfrm>
            <a:off x="804672" y="5047488"/>
            <a:ext cx="10780776" cy="438912"/>
          </a:xfrm>
          <a:prstGeom prst="rect">
            <a:avLst/>
          </a:prstGeom>
          <a:noFill/>
        </p:spPr>
        <p:txBody>
          <a:bodyPr wrap="square" lIns="0" rIns="0" tIns="0" bIns="0">
            <a:spAutoFit/>
          </a:bodyPr>
          <a:lstStyle/>
          <a:p>
            <a:pPr algn="l">
              <a:lnSpc>
                <a:spcPct val="132000"/>
              </a:lnSpc>
              <a:spcAft>
                <a:spcPts val="0"/>
              </a:spcAft>
            </a:pPr>
            <a:r>
              <a:rPr sz="1150" b="1">
                <a:solidFill>
                  <a:srgbClr val="2A2A2A"/>
                </a:solidFill>
                <a:latin typeface="Arial"/>
              </a:rPr>
              <a:t>El certificado en sí no es débil.</a:t>
            </a:r>
            <a:r>
              <a:rPr sz="1150" b="0">
                <a:solidFill>
                  <a:srgbClr val="2A2A2A"/>
                </a:solidFill>
                <a:latin typeface="Arial"/>
              </a:rPr>
              <a:t> RSA 2048 con SHA-256 es aceptable. El problema no está en ninguna línea de criptografía: está en el emisor, en quién tiene esa llave y en la fecha.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07  FORMATOS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ARCHIVOS DE UN CERTIFICADO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 una auditoría los certificados aparecen como archivos con extensiones distintas, y confundirlos tiene consecuencias: uno de esos formatos lleva la llave privada adentro.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5918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FORMATO</a:t>
            </a:r>
          </a:p>
        </p:txBody>
      </p:sp>
      <p:sp>
        <p:nvSpPr>
          <p:cNvPr id="12" name="TextBox 11"/>
          <p:cNvSpPr txBox="1"/>
          <p:nvPr/>
        </p:nvSpPr>
        <p:spPr>
          <a:xfrm>
            <a:off x="2323345" y="2423159"/>
            <a:ext cx="324492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CONTIENE</a:t>
            </a:r>
          </a:p>
        </p:txBody>
      </p:sp>
      <p:sp>
        <p:nvSpPr>
          <p:cNvPr id="13" name="TextBox 12"/>
          <p:cNvSpPr txBox="1"/>
          <p:nvPr/>
        </p:nvSpPr>
        <p:spPr>
          <a:xfrm>
            <a:off x="5732860" y="2423159"/>
            <a:ext cx="283164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SE RECONOCE</a:t>
            </a:r>
          </a:p>
        </p:txBody>
      </p:sp>
      <p:sp>
        <p:nvSpPr>
          <p:cNvPr id="14" name="TextBox 13"/>
          <p:cNvSpPr txBox="1"/>
          <p:nvPr/>
        </p:nvSpPr>
        <p:spPr>
          <a:xfrm>
            <a:off x="8729101" y="2423159"/>
            <a:ext cx="272833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CUIDADO</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59182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DER</a:t>
            </a:r>
          </a:p>
        </p:txBody>
      </p:sp>
      <p:sp>
        <p:nvSpPr>
          <p:cNvPr id="17" name="TextBox 16"/>
          <p:cNvSpPr txBox="1"/>
          <p:nvPr/>
        </p:nvSpPr>
        <p:spPr>
          <a:xfrm>
            <a:off x="2323345" y="2825495"/>
            <a:ext cx="324492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certificado X.509 en binario</a:t>
            </a:r>
          </a:p>
        </p:txBody>
      </p:sp>
      <p:sp>
        <p:nvSpPr>
          <p:cNvPr id="18" name="TextBox 17"/>
          <p:cNvSpPr txBox="1"/>
          <p:nvPr/>
        </p:nvSpPr>
        <p:spPr>
          <a:xfrm>
            <a:off x="5732860" y="2825495"/>
            <a:ext cx="28316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Extensión .der o .cer; ilegible en un editor</a:t>
            </a:r>
          </a:p>
        </p:txBody>
      </p:sp>
      <p:sp>
        <p:nvSpPr>
          <p:cNvPr id="19" name="TextBox 18"/>
          <p:cNvSpPr txBox="1"/>
          <p:nvPr/>
        </p:nvSpPr>
        <p:spPr>
          <a:xfrm>
            <a:off x="8729101" y="2825495"/>
            <a:ext cx="272833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Ninguno especial: es público</a:t>
            </a:r>
          </a:p>
        </p:txBody>
      </p:sp>
      <p:sp>
        <p:nvSpPr>
          <p:cNvPr id="20" name="Rectangle 19"/>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65357"/>
            <a:ext cx="159182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PEM</a:t>
            </a:r>
          </a:p>
        </p:txBody>
      </p:sp>
      <p:sp>
        <p:nvSpPr>
          <p:cNvPr id="22" name="TextBox 21"/>
          <p:cNvSpPr txBox="1"/>
          <p:nvPr/>
        </p:nvSpPr>
        <p:spPr>
          <a:xfrm>
            <a:off x="2323345" y="3365357"/>
            <a:ext cx="324492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mismo contenido en Base64, entre encabezados</a:t>
            </a:r>
          </a:p>
        </p:txBody>
      </p:sp>
      <p:sp>
        <p:nvSpPr>
          <p:cNvPr id="23" name="TextBox 22"/>
          <p:cNvSpPr txBox="1"/>
          <p:nvPr/>
        </p:nvSpPr>
        <p:spPr>
          <a:xfrm>
            <a:off x="5732860" y="3365357"/>
            <a:ext cx="28316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Empieza con BEGIN CERTIFICATE</a:t>
            </a:r>
          </a:p>
        </p:txBody>
      </p:sp>
      <p:sp>
        <p:nvSpPr>
          <p:cNvPr id="24" name="TextBox 23"/>
          <p:cNvSpPr txBox="1"/>
          <p:nvPr/>
        </p:nvSpPr>
        <p:spPr>
          <a:xfrm>
            <a:off x="8729101" y="3365357"/>
            <a:ext cx="272833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 dice BEGIN PRIVATE KEY, es la llave privada</a:t>
            </a:r>
          </a:p>
        </p:txBody>
      </p:sp>
      <p:sp>
        <p:nvSpPr>
          <p:cNvPr id="25" name="Rectangle 24"/>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905219"/>
            <a:ext cx="159182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PKCS #12</a:t>
            </a:r>
          </a:p>
        </p:txBody>
      </p:sp>
      <p:sp>
        <p:nvSpPr>
          <p:cNvPr id="27" name="TextBox 26"/>
          <p:cNvSpPr txBox="1"/>
          <p:nvPr/>
        </p:nvSpPr>
        <p:spPr>
          <a:xfrm>
            <a:off x="2323345" y="3905219"/>
            <a:ext cx="324492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Certificado, cadena y llave privada, protegidos con contraseña</a:t>
            </a:r>
          </a:p>
        </p:txBody>
      </p:sp>
      <p:sp>
        <p:nvSpPr>
          <p:cNvPr id="28" name="TextBox 27"/>
          <p:cNvSpPr txBox="1"/>
          <p:nvPr/>
        </p:nvSpPr>
        <p:spPr>
          <a:xfrm>
            <a:off x="5732860" y="3905219"/>
            <a:ext cx="28316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Extensión .p12 o .pfx</a:t>
            </a:r>
          </a:p>
        </p:txBody>
      </p:sp>
      <p:sp>
        <p:nvSpPr>
          <p:cNvPr id="29" name="TextBox 28"/>
          <p:cNvSpPr txBox="1"/>
          <p:nvPr/>
        </p:nvSpPr>
        <p:spPr>
          <a:xfrm>
            <a:off x="8729101" y="3905219"/>
            <a:ext cx="272833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la llave: se custodia como tal</a:t>
            </a:r>
          </a:p>
        </p:txBody>
      </p:sp>
      <p:sp>
        <p:nvSpPr>
          <p:cNvPr id="30" name="Rectangle 29"/>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445081"/>
            <a:ext cx="1591825"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CSR</a:t>
            </a:r>
          </a:p>
        </p:txBody>
      </p:sp>
      <p:sp>
        <p:nvSpPr>
          <p:cNvPr id="32" name="TextBox 31"/>
          <p:cNvSpPr txBox="1"/>
          <p:nvPr/>
        </p:nvSpPr>
        <p:spPr>
          <a:xfrm>
            <a:off x="2323345" y="4445081"/>
            <a:ext cx="3244923"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solicitud que se envía a la entidad</a:t>
            </a:r>
          </a:p>
        </p:txBody>
      </p:sp>
      <p:sp>
        <p:nvSpPr>
          <p:cNvPr id="33" name="TextBox 32"/>
          <p:cNvSpPr txBox="1"/>
          <p:nvPr/>
        </p:nvSpPr>
        <p:spPr>
          <a:xfrm>
            <a:off x="5732860" y="4445081"/>
            <a:ext cx="2831648"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Empieza con BEGIN CERTIFICATE REQUEST</a:t>
            </a:r>
          </a:p>
        </p:txBody>
      </p:sp>
      <p:sp>
        <p:nvSpPr>
          <p:cNvPr id="34" name="TextBox 33"/>
          <p:cNvSpPr txBox="1"/>
          <p:nvPr/>
        </p:nvSpPr>
        <p:spPr>
          <a:xfrm>
            <a:off x="8729101" y="4445081"/>
            <a:ext cx="2728330"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Pública: no contiene la privada</a:t>
            </a:r>
          </a:p>
        </p:txBody>
      </p:sp>
      <p:sp>
        <p:nvSpPr>
          <p:cNvPr id="35" name="Rectangle 34"/>
          <p:cNvSpPr/>
          <p:nvPr/>
        </p:nvSpPr>
        <p:spPr>
          <a:xfrm>
            <a:off x="566928" y="482912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88399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185745"/>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520403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HALLAZGO TÍPICO</a:t>
            </a:r>
          </a:p>
        </p:txBody>
      </p:sp>
      <p:sp>
        <p:nvSpPr>
          <p:cNvPr id="39" name="TextBox 38"/>
          <p:cNvSpPr txBox="1"/>
          <p:nvPr/>
        </p:nvSpPr>
        <p:spPr>
          <a:xfrm>
            <a:off x="804672" y="5441777"/>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 archivo .pfx en una carpeta compartida, en un correo o en un repositorio, con una contraseña débil. </a:t>
            </a:r>
            <a:r>
              <a:rPr sz="1150" b="1">
                <a:solidFill>
                  <a:srgbClr val="2A2A2A"/>
                </a:solidFill>
                <a:latin typeface="Arial"/>
              </a:rPr>
              <a:t>Es la llave privada del servidor con un candado de juguete</a:t>
            </a:r>
            <a:r>
              <a:rPr sz="1150" b="0">
                <a:solidFill>
                  <a:srgbClr val="2A2A2A"/>
                </a:solidFill>
                <a:latin typeface="Arial"/>
              </a:rPr>
              <a:t>, y esa contraseña se ataca sin conexión, como en la sesión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08  SOLICITUD</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LA SOLICITUD DE CERTIFICADO: QUÉ SE ENVÍA Y QUÉ NUNCA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Para obtener un certificado no se le entrega nada secreto a la entidad. El procedimiento correcto está diseñado para que la llave privada nunca salga de donde se generó.</a:t>
            </a:r>
          </a:p>
        </p:txBody>
      </p:sp>
      <p:sp>
        <p:nvSpPr>
          <p:cNvPr id="10" name="TextBox 9"/>
          <p:cNvSpPr txBox="1"/>
          <p:nvPr/>
        </p:nvSpPr>
        <p:spPr>
          <a:xfrm>
            <a:off x="566928" y="235000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6829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Se genera la pareja de llaves en el servidor, o mejor, en su módulo de hardware</a:t>
            </a:r>
          </a:p>
        </p:txBody>
      </p:sp>
      <p:sp>
        <p:nvSpPr>
          <p:cNvPr id="12" name="TextBox 11"/>
          <p:cNvSpPr txBox="1"/>
          <p:nvPr/>
        </p:nvSpPr>
        <p:spPr>
          <a:xfrm>
            <a:off x="1280160" y="2606039"/>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La llave privada nace ahí y ahí se queda.</a:t>
            </a:r>
          </a:p>
        </p:txBody>
      </p:sp>
      <p:sp>
        <p:nvSpPr>
          <p:cNvPr id="13" name="TextBox 12"/>
          <p:cNvSpPr txBox="1"/>
          <p:nvPr/>
        </p:nvSpPr>
        <p:spPr>
          <a:xfrm>
            <a:off x="566928" y="302666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04495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Se arma la solicitud: llave pública, nombres que debe amparar y datos de la organización</a:t>
            </a:r>
          </a:p>
        </p:txBody>
      </p:sp>
      <p:sp>
        <p:nvSpPr>
          <p:cNvPr id="15" name="TextBox 14"/>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 un documento público, que cualquiera podría leer sin consecuencia.</a:t>
            </a:r>
          </a:p>
        </p:txBody>
      </p:sp>
      <p:sp>
        <p:nvSpPr>
          <p:cNvPr id="16" name="TextBox 15"/>
          <p:cNvSpPr txBox="1"/>
          <p:nvPr/>
        </p:nvSpPr>
        <p:spPr>
          <a:xfrm>
            <a:off x="566928" y="3703319"/>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72160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solicitud se firma con la llave privada y se envía a la entidad</a:t>
            </a:r>
          </a:p>
        </p:txBody>
      </p:sp>
      <p:sp>
        <p:nvSpPr>
          <p:cNvPr id="18" name="TextBox 17"/>
          <p:cNvSpPr txBox="1"/>
          <p:nvPr/>
        </p:nvSpPr>
        <p:spPr>
          <a:xfrm>
            <a:off x="1280160" y="3959351"/>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Esa firma prueba que quien pide el certificado tiene la llave privada correspondiente.</a:t>
            </a:r>
          </a:p>
        </p:txBody>
      </p:sp>
      <p:sp>
        <p:nvSpPr>
          <p:cNvPr id="19" name="TextBox 18"/>
          <p:cNvSpPr txBox="1"/>
          <p:nvPr/>
        </p:nvSpPr>
        <p:spPr>
          <a:xfrm>
            <a:off x="566928" y="4379975"/>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39826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entidad verifica el dominio o la organización y devuelve el certificado firmado</a:t>
            </a:r>
          </a:p>
        </p:txBody>
      </p:sp>
      <p:sp>
        <p:nvSpPr>
          <p:cNvPr id="21" name="TextBox 20"/>
          <p:cNvSpPr txBox="1"/>
          <p:nvPr/>
        </p:nvSpPr>
        <p:spPr>
          <a:xfrm>
            <a:off x="1280160" y="4636007"/>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Lo que vuelve es público: se instala junto a la llave privada, que nunca se movió.</a:t>
            </a:r>
          </a:p>
        </p:txBody>
      </p:sp>
      <p:sp>
        <p:nvSpPr>
          <p:cNvPr id="22" name="Rectangle 21"/>
          <p:cNvSpPr/>
          <p:nvPr/>
        </p:nvSpPr>
        <p:spPr>
          <a:xfrm>
            <a:off x="566928" y="5239512"/>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25779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SEÑAL DE ALARMA</a:t>
            </a:r>
          </a:p>
        </p:txBody>
      </p:sp>
      <p:sp>
        <p:nvSpPr>
          <p:cNvPr id="24" name="TextBox 23"/>
          <p:cNvSpPr txBox="1"/>
          <p:nvPr/>
        </p:nvSpPr>
        <p:spPr>
          <a:xfrm>
            <a:off x="804672" y="5495544"/>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 un proveedor ofrece «generarle la llave y el certificado» y enviárselos por correo, </a:t>
            </a:r>
            <a:r>
              <a:rPr sz="1150" b="1">
                <a:solidFill>
                  <a:srgbClr val="2A2A2A"/>
                </a:solidFill>
                <a:latin typeface="Arial"/>
              </a:rPr>
              <a:t>esa llave ya no está bajo su control exclusivo</a:t>
            </a:r>
            <a:r>
              <a:rPr sz="1150" b="0">
                <a:solidFill>
                  <a:srgbClr val="2A2A2A"/>
                </a:solidFill>
                <a:latin typeface="Arial"/>
              </a:rPr>
              <a:t>: alguien más la tuvo. Para un servidor es un riesgo; para la firma digital de una persona, destruye el no repudio.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09  CADENA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CADENA DE CONFIANZA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Ningún certificado se valida solo. Se valida subiendo, firma por firma, hasta llegar a algo en lo que el verificador ya confiaba de antemano.</a:t>
            </a:r>
          </a:p>
        </p:txBody>
      </p:sp>
      <p:sp>
        <p:nvSpPr>
          <p:cNvPr id="10" name="Rectangle 9"/>
          <p:cNvSpPr/>
          <p:nvPr/>
        </p:nvSpPr>
        <p:spPr>
          <a:xfrm>
            <a:off x="566928" y="2304287"/>
            <a:ext cx="11055096" cy="22603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TRES NIVELES, UNA SOLA IDEA</a:t>
            </a:r>
          </a:p>
        </p:txBody>
      </p:sp>
      <p:sp>
        <p:nvSpPr>
          <p:cNvPr id="12" name="TextBox 11"/>
          <p:cNvSpPr txBox="1"/>
          <p:nvPr/>
        </p:nvSpPr>
        <p:spPr>
          <a:xfrm>
            <a:off x="768096" y="2633471"/>
            <a:ext cx="10652760" cy="1839772"/>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RAÍZ           autofirmada · está preinstalada en el sistema operativo</a:t>
            </a:r>
          </a:p>
          <a:p>
            <a:pPr algn="l">
              <a:lnSpc>
                <a:spcPct val="130000"/>
              </a:lnSpc>
              <a:spcAft>
                <a:spcPts val="0"/>
              </a:spcAft>
            </a:pPr>
            <a:r>
              <a:rPr sz="950" b="0">
                <a:solidFill>
                  <a:srgbClr val="000000"/>
                </a:solidFill>
                <a:latin typeface="Consolas"/>
              </a:rPr>
              <a:t>     │            y en el navegador. Es el punto de partida de la confianza.</a:t>
            </a:r>
          </a:p>
          <a:p>
            <a:pPr algn="l">
              <a:lnSpc>
                <a:spcPct val="130000"/>
              </a:lnSpc>
              <a:spcAft>
                <a:spcPts val="0"/>
              </a:spcAft>
            </a:pPr>
            <a:r>
              <a:rPr sz="950" b="0">
                <a:solidFill>
                  <a:srgbClr val="000000"/>
                </a:solidFill>
                <a:latin typeface="Consolas"/>
              </a:rPr>
              <a:t>     │  firma</a:t>
            </a:r>
          </a:p>
          <a:p>
            <a:pPr algn="l">
              <a:lnSpc>
                <a:spcPct val="130000"/>
              </a:lnSpc>
              <a:spcAft>
                <a:spcPts val="0"/>
              </a:spcAft>
            </a:pPr>
            <a:r>
              <a:rPr sz="950" b="0">
                <a:solidFill>
                  <a:srgbClr val="000000"/>
                </a:solidFill>
                <a:latin typeface="Consolas"/>
              </a:rPr>
              <a:t>   INTERMEDIA     emitida por la raíz. Es la que trabaja todos los días.</a:t>
            </a:r>
          </a:p>
          <a:p>
            <a:pPr algn="l">
              <a:lnSpc>
                <a:spcPct val="130000"/>
              </a:lnSpc>
              <a:spcAft>
                <a:spcPts val="0"/>
              </a:spcAft>
            </a:pPr>
            <a:r>
              <a:rPr sz="950" b="0">
                <a:solidFill>
                  <a:srgbClr val="000000"/>
                </a:solidFill>
                <a:latin typeface="Consolas"/>
              </a:rPr>
              <a:t>     │  firma</a:t>
            </a:r>
          </a:p>
          <a:p>
            <a:pPr algn="l">
              <a:lnSpc>
                <a:spcPct val="130000"/>
              </a:lnSpc>
              <a:spcAft>
                <a:spcPts val="0"/>
              </a:spcAft>
            </a:pPr>
            <a:r>
              <a:rPr sz="950" b="0">
                <a:solidFill>
                  <a:srgbClr val="000000"/>
                </a:solidFill>
                <a:latin typeface="Consolas"/>
              </a:rPr>
              <a:t>   FINAL          el certificado del portal, del correo o de la persona.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Validar = verificar cada firma hacia arriba hasta llegar a una raíz</a:t>
            </a:r>
          </a:p>
          <a:p>
            <a:pPr algn="l">
              <a:lnSpc>
                <a:spcPct val="130000"/>
              </a:lnSpc>
              <a:spcAft>
                <a:spcPts val="0"/>
              </a:spcAft>
            </a:pPr>
            <a:r>
              <a:rPr sz="950" b="0">
                <a:solidFill>
                  <a:srgbClr val="000000"/>
                </a:solidFill>
                <a:latin typeface="Consolas"/>
              </a:rPr>
              <a:t>             que YA estaba en mi almacén de confianza.</a:t>
            </a:r>
          </a:p>
        </p:txBody>
      </p:sp>
      <p:sp>
        <p:nvSpPr>
          <p:cNvPr id="13" name="Rectangle 12"/>
          <p:cNvSpPr/>
          <p:nvPr/>
        </p:nvSpPr>
        <p:spPr>
          <a:xfrm>
            <a:off x="566928" y="4820716"/>
            <a:ext cx="45720" cy="8229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83900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EXISTE LA INTERMEDIA Y NO SE EMITE DESDE LA RAÍZ</a:t>
            </a:r>
          </a:p>
        </p:txBody>
      </p:sp>
      <p:sp>
        <p:nvSpPr>
          <p:cNvPr id="15" name="TextBox 14"/>
          <p:cNvSpPr txBox="1"/>
          <p:nvPr/>
        </p:nvSpPr>
        <p:spPr>
          <a:xfrm>
            <a:off x="804672" y="5076748"/>
            <a:ext cx="10780776" cy="54864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Porque la llave de la raíz se guarda desconectada, en un módulo de hardware, y solo se saca en ceremonias registradas. </a:t>
            </a:r>
            <a:r>
              <a:rPr sz="1150" b="1">
                <a:solidFill>
                  <a:srgbClr val="2A2A2A"/>
                </a:solidFill>
                <a:latin typeface="Arial"/>
              </a:rPr>
              <a:t>Si se compromete una intermedia se revoca y se emite otra; si se compromete la raíz hay que reemplazarla en todos los equipos del mundo.</a:t>
            </a:r>
            <a:r>
              <a:rPr sz="1150" b="0">
                <a:solidFill>
                  <a:srgbClr val="2A2A2A"/>
                </a:solidFill>
                <a:latin typeface="Arial"/>
              </a:rPr>
              <a:t> Esa asimetría es todo el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10  VALIDACIÓN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LO QUE UN NAVEGADOR COMPRUEBA EN CADA VISITA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Ocho comprobaciones, en milisegundos, cada vez que alguien abre el portal. Conocerlas permite diagnosticar con precisión en vez de decir que el sitio da error.</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COMPROBACIÓN</a:t>
            </a:r>
          </a:p>
        </p:txBody>
      </p:sp>
      <p:sp>
        <p:nvSpPr>
          <p:cNvPr id="12" name="TextBox 11"/>
          <p:cNvSpPr txBox="1"/>
          <p:nvPr/>
        </p:nvSpPr>
        <p:spPr>
          <a:xfrm>
            <a:off x="5652272" y="2423159"/>
            <a:ext cx="580515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SI FALLA, SIGNIFICA</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4920752" cy="30193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La cadena llega a una raíz de confianza</a:t>
            </a:r>
          </a:p>
        </p:txBody>
      </p:sp>
      <p:sp>
        <p:nvSpPr>
          <p:cNvPr id="15" name="TextBox 14"/>
          <p:cNvSpPr txBox="1"/>
          <p:nvPr/>
        </p:nvSpPr>
        <p:spPr>
          <a:xfrm>
            <a:off x="5652272" y="2825495"/>
            <a:ext cx="5805159"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Emisor desconocido. Es exactamente lo que le pasa hoy a Coopaburrá</a:t>
            </a:r>
          </a:p>
        </p:txBody>
      </p:sp>
      <p:sp>
        <p:nvSpPr>
          <p:cNvPr id="16" name="Rectangle 15"/>
          <p:cNvSpPr/>
          <p:nvPr/>
        </p:nvSpPr>
        <p:spPr>
          <a:xfrm>
            <a:off x="566928" y="309085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82294"/>
            <a:ext cx="4920752"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Cada firma de la cadena es válida</a:t>
            </a:r>
          </a:p>
        </p:txBody>
      </p:sp>
      <p:sp>
        <p:nvSpPr>
          <p:cNvPr id="18" name="TextBox 17"/>
          <p:cNvSpPr txBox="1"/>
          <p:nvPr/>
        </p:nvSpPr>
        <p:spPr>
          <a:xfrm>
            <a:off x="5652272" y="3182294"/>
            <a:ext cx="5805159"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cadena está rota o alterada</a:t>
            </a:r>
          </a:p>
        </p:txBody>
      </p:sp>
      <p:sp>
        <p:nvSpPr>
          <p:cNvPr id="19" name="Rectangle 18"/>
          <p:cNvSpPr/>
          <p:nvPr/>
        </p:nvSpPr>
        <p:spPr>
          <a:xfrm>
            <a:off x="566928" y="344765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539093"/>
            <a:ext cx="4920752"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fecha de hoy cae dentro de toda la vigencia</a:t>
            </a:r>
          </a:p>
        </p:txBody>
      </p:sp>
      <p:sp>
        <p:nvSpPr>
          <p:cNvPr id="21" name="TextBox 20"/>
          <p:cNvSpPr txBox="1"/>
          <p:nvPr/>
        </p:nvSpPr>
        <p:spPr>
          <a:xfrm>
            <a:off x="5652272" y="3539093"/>
            <a:ext cx="5805159"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Vencido o todavía no válido. También falla si el reloj del equipo está mal</a:t>
            </a:r>
          </a:p>
        </p:txBody>
      </p:sp>
      <p:sp>
        <p:nvSpPr>
          <p:cNvPr id="22" name="Rectangle 21"/>
          <p:cNvSpPr/>
          <p:nvPr/>
        </p:nvSpPr>
        <p:spPr>
          <a:xfrm>
            <a:off x="566928" y="380445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95892"/>
            <a:ext cx="4920752"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nombre del sitio está en los nombres alternativos</a:t>
            </a:r>
          </a:p>
        </p:txBody>
      </p:sp>
      <p:sp>
        <p:nvSpPr>
          <p:cNvPr id="24" name="TextBox 23"/>
          <p:cNvSpPr txBox="1"/>
          <p:nvPr/>
        </p:nvSpPr>
        <p:spPr>
          <a:xfrm>
            <a:off x="5652272" y="3895892"/>
            <a:ext cx="5805159"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certificado es real pero de otro sitio</a:t>
            </a:r>
          </a:p>
        </p:txBody>
      </p:sp>
      <p:sp>
        <p:nvSpPr>
          <p:cNvPr id="25" name="Rectangle 24"/>
          <p:cNvSpPr/>
          <p:nvPr/>
        </p:nvSpPr>
        <p:spPr>
          <a:xfrm>
            <a:off x="566928" y="41612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252691"/>
            <a:ext cx="4920752"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Los usos permiten autenticar un servidor</a:t>
            </a:r>
          </a:p>
        </p:txBody>
      </p:sp>
      <p:sp>
        <p:nvSpPr>
          <p:cNvPr id="27" name="TextBox 26"/>
          <p:cNvSpPr txBox="1"/>
          <p:nvPr/>
        </p:nvSpPr>
        <p:spPr>
          <a:xfrm>
            <a:off x="5652272" y="4252691"/>
            <a:ext cx="5805159"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está reutilizando un certificado para lo que no es</a:t>
            </a:r>
          </a:p>
        </p:txBody>
      </p:sp>
      <p:sp>
        <p:nvSpPr>
          <p:cNvPr id="28" name="Rectangle 27"/>
          <p:cNvSpPr/>
          <p:nvPr/>
        </p:nvSpPr>
        <p:spPr>
          <a:xfrm>
            <a:off x="566928" y="451805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609490"/>
            <a:ext cx="4920752"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Los intermedios están marcados como autoridad</a:t>
            </a:r>
          </a:p>
        </p:txBody>
      </p:sp>
      <p:sp>
        <p:nvSpPr>
          <p:cNvPr id="30" name="TextBox 29"/>
          <p:cNvSpPr txBox="1"/>
          <p:nvPr/>
        </p:nvSpPr>
        <p:spPr>
          <a:xfrm>
            <a:off x="5652272" y="4609490"/>
            <a:ext cx="5805159"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Alguien intenta emitir certificados con un certificado común</a:t>
            </a:r>
          </a:p>
        </p:txBody>
      </p:sp>
      <p:sp>
        <p:nvSpPr>
          <p:cNvPr id="31" name="Rectangle 30"/>
          <p:cNvSpPr/>
          <p:nvPr/>
        </p:nvSpPr>
        <p:spPr>
          <a:xfrm>
            <a:off x="566928" y="487484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66289"/>
            <a:ext cx="4920752"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No figura como revocado</a:t>
            </a:r>
          </a:p>
        </p:txBody>
      </p:sp>
      <p:sp>
        <p:nvSpPr>
          <p:cNvPr id="33" name="TextBox 32"/>
          <p:cNvSpPr txBox="1"/>
          <p:nvPr/>
        </p:nvSpPr>
        <p:spPr>
          <a:xfrm>
            <a:off x="5652272" y="4966289"/>
            <a:ext cx="5805159"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Fue anulado antes de vencer, con las limitaciones que veremos</a:t>
            </a:r>
          </a:p>
        </p:txBody>
      </p:sp>
      <p:sp>
        <p:nvSpPr>
          <p:cNvPr id="34" name="Rectangle 33"/>
          <p:cNvSpPr/>
          <p:nvPr/>
        </p:nvSpPr>
        <p:spPr>
          <a:xfrm>
            <a:off x="566928" y="523164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323088"/>
            <a:ext cx="4920752"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Los algoritmos siguen siendo aceptables</a:t>
            </a:r>
          </a:p>
        </p:txBody>
      </p:sp>
      <p:sp>
        <p:nvSpPr>
          <p:cNvPr id="36" name="TextBox 35"/>
          <p:cNvSpPr txBox="1"/>
          <p:nvPr/>
        </p:nvSpPr>
        <p:spPr>
          <a:xfrm>
            <a:off x="5652272" y="5323088"/>
            <a:ext cx="5805159"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esto dejaron de funcionar los certificados firmados con SHA-1</a:t>
            </a:r>
          </a:p>
        </p:txBody>
      </p:sp>
      <p:sp>
        <p:nvSpPr>
          <p:cNvPr id="37" name="Rectangle 36"/>
          <p:cNvSpPr/>
          <p:nvPr/>
        </p:nvSpPr>
        <p:spPr>
          <a:xfrm>
            <a:off x="566928" y="55884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64331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11  RAÍZ</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QUIÉN DECIDE EN QUIÉN CONFÍA SU COMPUTADOR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almacén de confianza es una lista de raíces que alguien decidió por usted. Saber quién y cómo se puede modificar es lo que convierte esta sesión en un asunto de gobierno y no de técnica.</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QUIÉN LA CONTROLA</a:t>
            </a:r>
          </a:p>
        </p:txBody>
      </p:sp>
      <p:sp>
        <p:nvSpPr>
          <p:cNvPr id="11" name="TextBox 10"/>
          <p:cNvSpPr txBox="1"/>
          <p:nvPr/>
        </p:nvSpPr>
        <p:spPr>
          <a:xfrm>
            <a:off x="566928" y="2578607"/>
            <a:ext cx="5253228" cy="16459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fabricante del sistema operativo y el del navegador, mediante programas de raíces con auditorías anuales.</a:t>
            </a:r>
          </a:p>
          <a:p>
            <a:pPr algn="l">
              <a:lnSpc>
                <a:spcPct val="128000"/>
              </a:lnSpc>
              <a:spcAft>
                <a:spcPts val="700"/>
              </a:spcAft>
            </a:pPr>
            <a:r>
              <a:rPr sz="1150" b="0">
                <a:solidFill>
                  <a:srgbClr val="000000"/>
                </a:solidFill>
                <a:latin typeface="Arial"/>
              </a:rPr>
              <a:t>Una entidad puede ser expulsada de esas listas, y ha ocurrido: varias autoridades perdieron la confianza del sector por emitir mal.</a:t>
            </a:r>
          </a:p>
          <a:p>
            <a:pPr algn="l">
              <a:lnSpc>
                <a:spcPct val="128000"/>
              </a:lnSpc>
              <a:spcAft>
                <a:spcPts val="700"/>
              </a:spcAft>
            </a:pPr>
            <a:r>
              <a:rPr sz="1150" b="0">
                <a:solidFill>
                  <a:srgbClr val="000000"/>
                </a:solidFill>
                <a:latin typeface="Arial"/>
              </a:rPr>
              <a:t>En una organización, además, el área de tecnología puede </a:t>
            </a:r>
            <a:r>
              <a:rPr sz="1150" b="1">
                <a:solidFill>
                  <a:srgbClr val="000000"/>
                </a:solidFill>
                <a:latin typeface="Arial"/>
              </a:rPr>
              <a:t>añadir raíces propias</a:t>
            </a:r>
            <a:r>
              <a:rPr sz="1150" b="0">
                <a:solidFill>
                  <a:srgbClr val="000000"/>
                </a:solidFill>
                <a:latin typeface="Arial"/>
              </a:rPr>
              <a:t> a todos los equipos.</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ESO ÚLTIMO ES DELICADO</a:t>
            </a:r>
          </a:p>
        </p:txBody>
      </p:sp>
      <p:sp>
        <p:nvSpPr>
          <p:cNvPr id="13" name="TextBox 12"/>
          <p:cNvSpPr txBox="1"/>
          <p:nvPr/>
        </p:nvSpPr>
        <p:spPr>
          <a:xfrm>
            <a:off x="6368796" y="2578607"/>
            <a:ext cx="5253228" cy="16459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Añadir una raíz propia significa que quien controle su llave privada puede suplantar cualquier sitio ante esos equipos </a:t>
            </a:r>
            <a:r>
              <a:rPr sz="1150" b="1">
                <a:solidFill>
                  <a:srgbClr val="000000"/>
                </a:solidFill>
                <a:latin typeface="Arial"/>
              </a:rPr>
              <a:t>sin ninguna advertencia</a:t>
            </a:r>
            <a:r>
              <a:rPr sz="1150" b="0">
                <a:solidFill>
                  <a:srgbClr val="000000"/>
                </a:solidFill>
                <a:latin typeface="Arial"/>
              </a:rPr>
              <a:t>.</a:t>
            </a:r>
          </a:p>
          <a:p>
            <a:pPr algn="l">
              <a:lnSpc>
                <a:spcPct val="128000"/>
              </a:lnSpc>
              <a:spcAft>
                <a:spcPts val="700"/>
              </a:spcAft>
            </a:pPr>
            <a:r>
              <a:rPr sz="1150" b="0">
                <a:solidFill>
                  <a:srgbClr val="000000"/>
                </a:solidFill>
                <a:latin typeface="Arial"/>
              </a:rPr>
              <a:t>Es una decisión legítima y frecuente, y es exactamente lo que hizo Coopaburrá en 2019.</a:t>
            </a:r>
          </a:p>
          <a:p>
            <a:pPr algn="l">
              <a:lnSpc>
                <a:spcPct val="128000"/>
              </a:lnSpc>
              <a:spcAft>
                <a:spcPts val="700"/>
              </a:spcAft>
            </a:pPr>
            <a:r>
              <a:rPr sz="1150" b="0">
                <a:solidFill>
                  <a:srgbClr val="000000"/>
                </a:solidFill>
                <a:latin typeface="Arial"/>
              </a:rPr>
              <a:t>Lo que no hizo fue tratar esa llave como lo que es: la llave maestra de la organización.</a:t>
            </a:r>
          </a:p>
        </p:txBody>
      </p:sp>
      <p:sp>
        <p:nvSpPr>
          <p:cNvPr id="14" name="Rectangle 13"/>
          <p:cNvSpPr/>
          <p:nvPr/>
        </p:nvSpPr>
        <p:spPr>
          <a:xfrm>
            <a:off x="6085332" y="2304287"/>
            <a:ext cx="9144" cy="1920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12  MODELOS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TRES FORMAS DE DECIDIR EN QUIÉN CONFIAR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jerarquía de autoridades no es la única forma de atar una llave a una identidad. Hay otras dos que aparecen en la práctica, y conviene reconocerlas.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41837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MODELO</a:t>
            </a:r>
          </a:p>
        </p:txBody>
      </p:sp>
      <p:sp>
        <p:nvSpPr>
          <p:cNvPr id="12" name="TextBox 11"/>
          <p:cNvSpPr txBox="1"/>
          <p:nvPr/>
        </p:nvSpPr>
        <p:spPr>
          <a:xfrm>
            <a:off x="3149894" y="2423159"/>
            <a:ext cx="355487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FUNCIONA</a:t>
            </a:r>
          </a:p>
        </p:txBody>
      </p:sp>
      <p:sp>
        <p:nvSpPr>
          <p:cNvPr id="13" name="TextBox 12"/>
          <p:cNvSpPr txBox="1"/>
          <p:nvPr/>
        </p:nvSpPr>
        <p:spPr>
          <a:xfrm>
            <a:off x="6869365" y="2423159"/>
            <a:ext cx="210841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 SE USA</a:t>
            </a:r>
          </a:p>
        </p:txBody>
      </p:sp>
      <p:sp>
        <p:nvSpPr>
          <p:cNvPr id="14" name="TextBox 13"/>
          <p:cNvSpPr txBox="1"/>
          <p:nvPr/>
        </p:nvSpPr>
        <p:spPr>
          <a:xfrm>
            <a:off x="9142376" y="2423159"/>
            <a:ext cx="231505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SU DEBILIDAD</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2418374"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Jerarquía de autoridades</a:t>
            </a:r>
          </a:p>
        </p:txBody>
      </p:sp>
      <p:sp>
        <p:nvSpPr>
          <p:cNvPr id="17" name="TextBox 16"/>
          <p:cNvSpPr txBox="1"/>
          <p:nvPr/>
        </p:nvSpPr>
        <p:spPr>
          <a:xfrm>
            <a:off x="3149894" y="2825495"/>
            <a:ext cx="3554879"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raíz de confianza firma intermedias, que firman los certificados finales</a:t>
            </a:r>
          </a:p>
        </p:txBody>
      </p:sp>
      <p:sp>
        <p:nvSpPr>
          <p:cNvPr id="18" name="TextBox 17"/>
          <p:cNvSpPr txBox="1"/>
          <p:nvPr/>
        </p:nvSpPr>
        <p:spPr>
          <a:xfrm>
            <a:off x="6869365" y="2825495"/>
            <a:ext cx="2108418"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Navegadores, firma digital, canal seguro</a:t>
            </a:r>
          </a:p>
        </p:txBody>
      </p:sp>
      <p:sp>
        <p:nvSpPr>
          <p:cNvPr id="19" name="TextBox 18"/>
          <p:cNvSpPr txBox="1"/>
          <p:nvPr/>
        </p:nvSpPr>
        <p:spPr>
          <a:xfrm>
            <a:off x="9142376" y="2825495"/>
            <a:ext cx="2315055"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raíz comprometida afecta todo lo que está debajo</a:t>
            </a:r>
          </a:p>
        </p:txBody>
      </p:sp>
      <p:sp>
        <p:nvSpPr>
          <p:cNvPr id="20" name="Rectangle 19"/>
          <p:cNvSpPr/>
          <p:nvPr/>
        </p:nvSpPr>
        <p:spPr>
          <a:xfrm>
            <a:off x="566928" y="33009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92423"/>
            <a:ext cx="2418374"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Red de confianza</a:t>
            </a:r>
          </a:p>
        </p:txBody>
      </p:sp>
      <p:sp>
        <p:nvSpPr>
          <p:cNvPr id="22" name="TextBox 21"/>
          <p:cNvSpPr txBox="1"/>
          <p:nvPr/>
        </p:nvSpPr>
        <p:spPr>
          <a:xfrm>
            <a:off x="3149894" y="3392423"/>
            <a:ext cx="3554879"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usuario firma las llaves de quienes conoce y confía en las firmas de otros</a:t>
            </a:r>
          </a:p>
        </p:txBody>
      </p:sp>
      <p:sp>
        <p:nvSpPr>
          <p:cNvPr id="23" name="TextBox 22"/>
          <p:cNvSpPr txBox="1"/>
          <p:nvPr/>
        </p:nvSpPr>
        <p:spPr>
          <a:xfrm>
            <a:off x="6869365" y="3392423"/>
            <a:ext cx="2108418"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Correo cifrado con PGP</a:t>
            </a:r>
          </a:p>
        </p:txBody>
      </p:sp>
      <p:sp>
        <p:nvSpPr>
          <p:cNvPr id="24" name="TextBox 23"/>
          <p:cNvSpPr txBox="1"/>
          <p:nvPr/>
        </p:nvSpPr>
        <p:spPr>
          <a:xfrm>
            <a:off x="9142376" y="3392423"/>
            <a:ext cx="2315055"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Difícil de escalar y de revocar</a:t>
            </a:r>
          </a:p>
        </p:txBody>
      </p:sp>
      <p:sp>
        <p:nvSpPr>
          <p:cNvPr id="25" name="Rectangle 24"/>
          <p:cNvSpPr/>
          <p:nvPr/>
        </p:nvSpPr>
        <p:spPr>
          <a:xfrm>
            <a:off x="566928" y="386791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959351"/>
            <a:ext cx="2418374" cy="51206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Confianza en el primer uso</a:t>
            </a:r>
          </a:p>
        </p:txBody>
      </p:sp>
      <p:sp>
        <p:nvSpPr>
          <p:cNvPr id="27" name="TextBox 26"/>
          <p:cNvSpPr txBox="1"/>
          <p:nvPr/>
        </p:nvSpPr>
        <p:spPr>
          <a:xfrm>
            <a:off x="3149894" y="3959351"/>
            <a:ext cx="3554879"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acepta la llave la primera vez y se alerta si cambia después</a:t>
            </a:r>
          </a:p>
        </p:txBody>
      </p:sp>
      <p:sp>
        <p:nvSpPr>
          <p:cNvPr id="28" name="TextBox 27"/>
          <p:cNvSpPr txBox="1"/>
          <p:nvPr/>
        </p:nvSpPr>
        <p:spPr>
          <a:xfrm>
            <a:off x="6869365" y="3959351"/>
            <a:ext cx="2108418"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Acceso remoto a servidores con SSH</a:t>
            </a:r>
          </a:p>
        </p:txBody>
      </p:sp>
      <p:sp>
        <p:nvSpPr>
          <p:cNvPr id="29" name="TextBox 28"/>
          <p:cNvSpPr txBox="1"/>
          <p:nvPr/>
        </p:nvSpPr>
        <p:spPr>
          <a:xfrm>
            <a:off x="9142376" y="3959351"/>
            <a:ext cx="2315055"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primera conexión queda sin protección</a:t>
            </a:r>
          </a:p>
        </p:txBody>
      </p:sp>
      <p:sp>
        <p:nvSpPr>
          <p:cNvPr id="30" name="Rectangle 29"/>
          <p:cNvSpPr/>
          <p:nvPr/>
        </p:nvSpPr>
        <p:spPr>
          <a:xfrm>
            <a:off x="566928" y="443484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8970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791455"/>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80974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PARA EL INVENTARIO DEL CASO</a:t>
            </a:r>
          </a:p>
        </p:txBody>
      </p:sp>
      <p:sp>
        <p:nvSpPr>
          <p:cNvPr id="34" name="TextBox 33"/>
          <p:cNvSpPr txBox="1"/>
          <p:nvPr/>
        </p:nvSpPr>
        <p:spPr>
          <a:xfrm>
            <a:off x="804672" y="5047488"/>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tres pueden aparecer en una organización como Coopaburrá: la jerarquía en el portal, la confianza en el primer uso en el acceso de los administradores a los servidores, y quizá correo cifrado en alguna área. </a:t>
            </a:r>
            <a:r>
              <a:rPr sz="1150" b="1">
                <a:solidFill>
                  <a:srgbClr val="2A2A2A"/>
                </a:solidFill>
                <a:latin typeface="Arial"/>
              </a:rPr>
              <a:t>Cada una tiene llaves que inventariar.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13  IDENTIFICACIÓN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HUELLA DIGITAL Y CERTIFICADOS COMODÍN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16</a:t>
            </a:r>
          </a:p>
        </p:txBody>
      </p:sp>
      <p:sp>
        <p:nvSpPr>
          <p:cNvPr id="9" name="TextBox 8"/>
          <p:cNvSpPr txBox="1"/>
          <p:nvPr/>
        </p:nvSpPr>
        <p:spPr>
          <a:xfrm>
            <a:off x="566928" y="1554480"/>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HUELLA DIGITAL</a:t>
            </a:r>
          </a:p>
        </p:txBody>
      </p:sp>
      <p:sp>
        <p:nvSpPr>
          <p:cNvPr id="10" name="TextBox 9"/>
          <p:cNvSpPr txBox="1"/>
          <p:nvPr/>
        </p:nvSpPr>
        <p:spPr>
          <a:xfrm>
            <a:off x="566928" y="1828800"/>
            <a:ext cx="5253228" cy="19659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Es el resumen del certificado completo. Sirve para comparar dos certificados sin leerlos campo por campo.</a:t>
            </a:r>
          </a:p>
          <a:p>
            <a:pPr algn="l">
              <a:lnSpc>
                <a:spcPct val="128000"/>
              </a:lnSpc>
              <a:spcAft>
                <a:spcPts val="700"/>
              </a:spcAft>
            </a:pPr>
            <a:r>
              <a:rPr sz="1150" b="0">
                <a:solidFill>
                  <a:srgbClr val="000000"/>
                </a:solidFill>
                <a:latin typeface="Arial"/>
              </a:rPr>
              <a:t>Es lo que se compara cuando alguien dicta por teléfono si el certificado del servidor es el correcto.</a:t>
            </a:r>
          </a:p>
          <a:p>
            <a:pPr algn="l">
              <a:lnSpc>
                <a:spcPct val="128000"/>
              </a:lnSpc>
              <a:spcAft>
                <a:spcPts val="700"/>
              </a:spcAft>
            </a:pPr>
            <a:r>
              <a:rPr sz="1150" b="0">
                <a:solidFill>
                  <a:srgbClr val="000000"/>
                </a:solidFill>
                <a:latin typeface="Arial"/>
              </a:rPr>
              <a:t>Cambia con cada renovación, aunque la llave sea la misma. </a:t>
            </a:r>
            <a:r>
              <a:rPr sz="1150" b="1">
                <a:solidFill>
                  <a:srgbClr val="000000"/>
                </a:solidFill>
                <a:latin typeface="Arial"/>
              </a:rPr>
              <a:t>La huella de la llave pública, en cambio, sobrevive a la renovación</a:t>
            </a:r>
            <a:r>
              <a:rPr sz="1150" b="0">
                <a:solidFill>
                  <a:srgbClr val="000000"/>
                </a:solidFill>
                <a:latin typeface="Arial"/>
              </a:rPr>
              <a:t>, y por eso es la que se usa para fijar.</a:t>
            </a:r>
          </a:p>
        </p:txBody>
      </p:sp>
      <p:sp>
        <p:nvSpPr>
          <p:cNvPr id="11" name="TextBox 10"/>
          <p:cNvSpPr txBox="1"/>
          <p:nvPr/>
        </p:nvSpPr>
        <p:spPr>
          <a:xfrm>
            <a:off x="6368796" y="1554480"/>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CERTIFICADO COMODÍN</a:t>
            </a:r>
          </a:p>
        </p:txBody>
      </p:sp>
      <p:sp>
        <p:nvSpPr>
          <p:cNvPr id="12" name="TextBox 11"/>
          <p:cNvSpPr txBox="1"/>
          <p:nvPr/>
        </p:nvSpPr>
        <p:spPr>
          <a:xfrm>
            <a:off x="6368796" y="1828800"/>
            <a:ext cx="5253228" cy="19659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solo certificado que ampara todos los nombres de un nivel: portal, correo, pagos.</a:t>
            </a:r>
          </a:p>
          <a:p>
            <a:pPr algn="l">
              <a:lnSpc>
                <a:spcPct val="128000"/>
              </a:lnSpc>
              <a:spcAft>
                <a:spcPts val="700"/>
              </a:spcAft>
            </a:pPr>
            <a:r>
              <a:rPr sz="1150" b="0">
                <a:solidFill>
                  <a:srgbClr val="000000"/>
                </a:solidFill>
                <a:latin typeface="Arial"/>
              </a:rPr>
              <a:t>Cómodo y barato, y por eso muy usado.</a:t>
            </a:r>
          </a:p>
          <a:p>
            <a:pPr algn="l">
              <a:lnSpc>
                <a:spcPct val="128000"/>
              </a:lnSpc>
              <a:spcAft>
                <a:spcPts val="700"/>
              </a:spcAft>
            </a:pPr>
            <a:r>
              <a:rPr sz="1150" b="0">
                <a:solidFill>
                  <a:srgbClr val="000000"/>
                </a:solidFill>
                <a:latin typeface="Arial"/>
              </a:rPr>
              <a:t>El problema: </a:t>
            </a:r>
            <a:r>
              <a:rPr sz="1150" b="1">
                <a:solidFill>
                  <a:srgbClr val="000000"/>
                </a:solidFill>
                <a:latin typeface="Arial"/>
              </a:rPr>
              <a:t>una sola llave privada copiada en muchos servidores</a:t>
            </a:r>
            <a:r>
              <a:rPr sz="1150" b="0">
                <a:solidFill>
                  <a:srgbClr val="000000"/>
                </a:solidFill>
                <a:latin typeface="Arial"/>
              </a:rPr>
              <a:t>. Quien comprometa el más descuidado puede suplantar a todos los demás.</a:t>
            </a:r>
          </a:p>
          <a:p>
            <a:pPr algn="l">
              <a:lnSpc>
                <a:spcPct val="128000"/>
              </a:lnSpc>
              <a:spcAft>
                <a:spcPts val="700"/>
              </a:spcAft>
            </a:pPr>
            <a:r>
              <a:rPr sz="1150" b="0">
                <a:solidFill>
                  <a:srgbClr val="000000"/>
                </a:solidFill>
                <a:latin typeface="Arial"/>
              </a:rPr>
              <a:t>En una entidad vigilada, conviene un certificado por servicio y con responsable nombrado.</a:t>
            </a:r>
          </a:p>
        </p:txBody>
      </p:sp>
      <p:sp>
        <p:nvSpPr>
          <p:cNvPr id="13" name="Rectangle 12"/>
          <p:cNvSpPr/>
          <p:nvPr/>
        </p:nvSpPr>
        <p:spPr>
          <a:xfrm>
            <a:off x="6085332" y="1554480"/>
            <a:ext cx="9144" cy="22402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14  MATIZ</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LA AUTORIDAD INTERNA QUE SÍ TIENE SENTIDO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Conviene no salir de aquí con la conclusión equivocada. El error de Coopaburrá no fue tener una autoridad propia: fue tenerla sin el oficio que la acompaña. Una autoridad interna bien hecha es una decisión correcta y frecuente.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ASPECTO</a:t>
            </a:r>
          </a:p>
        </p:txBody>
      </p:sp>
      <p:sp>
        <p:nvSpPr>
          <p:cNvPr id="12" name="TextBox 11"/>
          <p:cNvSpPr txBox="1"/>
          <p:nvPr/>
        </p:nvSpPr>
        <p:spPr>
          <a:xfrm>
            <a:off x="3441252" y="2423159"/>
            <a:ext cx="469965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AUTORIDAD INTERNA BIEN HECHA</a:t>
            </a:r>
          </a:p>
        </p:txBody>
      </p:sp>
      <p:sp>
        <p:nvSpPr>
          <p:cNvPr id="13" name="TextBox 12"/>
          <p:cNvSpPr txBox="1"/>
          <p:nvPr/>
        </p:nvSpPr>
        <p:spPr>
          <a:xfrm>
            <a:off x="8305495"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LA DE COOPABURRÁ</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Para qué se usa</a:t>
            </a:r>
          </a:p>
        </p:txBody>
      </p:sp>
      <p:sp>
        <p:nvSpPr>
          <p:cNvPr id="16" name="TextBox 15"/>
          <p:cNvSpPr txBox="1"/>
          <p:nvPr/>
        </p:nvSpPr>
        <p:spPr>
          <a:xfrm>
            <a:off x="3441252" y="2825495"/>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Autenticar máquinas y servicios internos entre sí</a:t>
            </a:r>
          </a:p>
        </p:txBody>
      </p:sp>
      <p:sp>
        <p:nvSpPr>
          <p:cNvPr id="17" name="TextBox 16"/>
          <p:cNvSpPr txBox="1"/>
          <p:nvPr/>
        </p:nvSpPr>
        <p:spPr>
          <a:xfrm>
            <a:off x="8305495" y="2825495"/>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usó para el portal público, que es justo para lo que no sirve</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Dónde vive la llave raíz</a:t>
            </a:r>
          </a:p>
        </p:txBody>
      </p:sp>
      <p:sp>
        <p:nvSpPr>
          <p:cNvPr id="20" name="TextBox 19"/>
          <p:cNvSpPr txBox="1"/>
          <p:nvPr/>
        </p:nvSpPr>
        <p:spPr>
          <a:xfrm>
            <a:off x="3441252" y="3365357"/>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 un módulo de hardware, desconectada, con doble control</a:t>
            </a:r>
          </a:p>
        </p:txBody>
      </p:sp>
      <p:sp>
        <p:nvSpPr>
          <p:cNvPr id="21" name="TextBox 20"/>
          <p:cNvSpPr txBox="1"/>
          <p:nvPr/>
        </p:nvSpPr>
        <p:spPr>
          <a:xfrm>
            <a:off x="8305495" y="3365357"/>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 un computador de escritorio sin contraseña de arranque</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responde</a:t>
            </a:r>
          </a:p>
        </p:txBody>
      </p:sp>
      <p:sp>
        <p:nvSpPr>
          <p:cNvPr id="24" name="TextBox 23"/>
          <p:cNvSpPr txBox="1"/>
          <p:nvPr/>
        </p:nvSpPr>
        <p:spPr>
          <a:xfrm>
            <a:off x="3441252" y="3905219"/>
            <a:ext cx="4699650"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Custodios nombrados, con acta y suplentes</a:t>
            </a:r>
          </a:p>
        </p:txBody>
      </p:sp>
      <p:sp>
        <p:nvSpPr>
          <p:cNvPr id="25" name="TextBox 24"/>
          <p:cNvSpPr txBox="1"/>
          <p:nvPr/>
        </p:nvSpPr>
        <p:spPr>
          <a:xfrm>
            <a:off x="8305495" y="3905219"/>
            <a:ext cx="3151936"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contratista que se fue en 2022</a:t>
            </a:r>
          </a:p>
        </p:txBody>
      </p:sp>
      <p:sp>
        <p:nvSpPr>
          <p:cNvPr id="26" name="Rectangle 25"/>
          <p:cNvSpPr/>
          <p:nvPr/>
        </p:nvSpPr>
        <p:spPr>
          <a:xfrm>
            <a:off x="566928" y="42344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325843"/>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registro existe</a:t>
            </a:r>
          </a:p>
        </p:txBody>
      </p:sp>
      <p:sp>
        <p:nvSpPr>
          <p:cNvPr id="28" name="TextBox 27"/>
          <p:cNvSpPr txBox="1"/>
          <p:nvPr/>
        </p:nvSpPr>
        <p:spPr>
          <a:xfrm>
            <a:off x="3441252" y="4325843"/>
            <a:ext cx="4699650"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Inventario de lo emitido, ceremonias documentadas, auditoría anual</a:t>
            </a:r>
          </a:p>
        </p:txBody>
      </p:sp>
      <p:sp>
        <p:nvSpPr>
          <p:cNvPr id="29" name="TextBox 28"/>
          <p:cNvSpPr txBox="1"/>
          <p:nvPr/>
        </p:nvSpPr>
        <p:spPr>
          <a:xfrm>
            <a:off x="8305495" y="4325843"/>
            <a:ext cx="3151936"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Ninguno. No se sabe qué emitió</a:t>
            </a:r>
          </a:p>
        </p:txBody>
      </p:sp>
      <p:sp>
        <p:nvSpPr>
          <p:cNvPr id="30" name="Rectangle 29"/>
          <p:cNvSpPr/>
          <p:nvPr/>
        </p:nvSpPr>
        <p:spPr>
          <a:xfrm>
            <a:off x="566928" y="46550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746467"/>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Cómo termina</a:t>
            </a:r>
          </a:p>
        </p:txBody>
      </p:sp>
      <p:sp>
        <p:nvSpPr>
          <p:cNvPr id="32" name="TextBox 31"/>
          <p:cNvSpPr txBox="1"/>
          <p:nvPr/>
        </p:nvSpPr>
        <p:spPr>
          <a:xfrm>
            <a:off x="3441252" y="4746467"/>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 plan de renovación y de retiro, definido desde el primer día</a:t>
            </a:r>
          </a:p>
        </p:txBody>
      </p:sp>
      <p:sp>
        <p:nvSpPr>
          <p:cNvPr id="33" name="TextBox 32"/>
          <p:cNvSpPr txBox="1"/>
          <p:nvPr/>
        </p:nvSpPr>
        <p:spPr>
          <a:xfrm>
            <a:off x="8305495" y="4746467"/>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 una fecha de vencimiento que nadie vio venir</a:t>
            </a:r>
          </a:p>
        </p:txBody>
      </p:sp>
      <p:sp>
        <p:nvSpPr>
          <p:cNvPr id="34" name="Rectangle 33"/>
          <p:cNvSpPr/>
          <p:nvPr/>
        </p:nvSpPr>
        <p:spPr>
          <a:xfrm>
            <a:off x="566928" y="51948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24975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15  PERSONAS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CERTIFICADOS DE PERSONA: LOS QUE SIRVEN PARA FIRMAR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Hasta aquí hablamos de certificados de servidor. Los que necesita el hallazgo H7 son de otro tipo: identifican a una persona y habilitan la firma digital con las presunciones de la ley.</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CRITERIO</a:t>
            </a:r>
          </a:p>
        </p:txBody>
      </p:sp>
      <p:sp>
        <p:nvSpPr>
          <p:cNvPr id="12" name="TextBox 11"/>
          <p:cNvSpPr txBox="1"/>
          <p:nvPr/>
        </p:nvSpPr>
        <p:spPr>
          <a:xfrm>
            <a:off x="3441252" y="2423159"/>
            <a:ext cx="3483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CERTIFICADO DE SERVIDOR</a:t>
            </a:r>
          </a:p>
        </p:txBody>
      </p:sp>
      <p:sp>
        <p:nvSpPr>
          <p:cNvPr id="13" name="TextBox 12"/>
          <p:cNvSpPr txBox="1"/>
          <p:nvPr/>
        </p:nvSpPr>
        <p:spPr>
          <a:xfrm>
            <a:off x="7089434" y="2423159"/>
            <a:ext cx="436799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CERTIFICADO DE PERSONA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 quién identifica</a:t>
            </a:r>
          </a:p>
        </p:txBody>
      </p:sp>
      <p:sp>
        <p:nvSpPr>
          <p:cNvPr id="16" name="TextBox 15"/>
          <p:cNvSpPr txBox="1"/>
          <p:nvPr/>
        </p:nvSpPr>
        <p:spPr>
          <a:xfrm>
            <a:off x="3441252" y="2825495"/>
            <a:ext cx="3483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nombre de dominio</a:t>
            </a:r>
          </a:p>
        </p:txBody>
      </p:sp>
      <p:sp>
        <p:nvSpPr>
          <p:cNvPr id="17" name="TextBox 16"/>
          <p:cNvSpPr txBox="1"/>
          <p:nvPr/>
        </p:nvSpPr>
        <p:spPr>
          <a:xfrm>
            <a:off x="7089434" y="2825495"/>
            <a:ext cx="4367997"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persona, con su cédula, o su vínculo con una organización</a:t>
            </a:r>
          </a:p>
        </p:txBody>
      </p:sp>
      <p:sp>
        <p:nvSpPr>
          <p:cNvPr id="18" name="Rectangle 17"/>
          <p:cNvSpPr/>
          <p:nvPr/>
        </p:nvSpPr>
        <p:spPr>
          <a:xfrm>
            <a:off x="566928" y="31546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46119"/>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Uso de la llave</a:t>
            </a:r>
          </a:p>
        </p:txBody>
      </p:sp>
      <p:sp>
        <p:nvSpPr>
          <p:cNvPr id="20" name="TextBox 19"/>
          <p:cNvSpPr txBox="1"/>
          <p:nvPr/>
        </p:nvSpPr>
        <p:spPr>
          <a:xfrm>
            <a:off x="3441252" y="3246119"/>
            <a:ext cx="3483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Autenticar un servidor en el canal seguro</a:t>
            </a:r>
          </a:p>
        </p:txBody>
      </p:sp>
      <p:sp>
        <p:nvSpPr>
          <p:cNvPr id="21" name="TextBox 20"/>
          <p:cNvSpPr txBox="1"/>
          <p:nvPr/>
        </p:nvSpPr>
        <p:spPr>
          <a:xfrm>
            <a:off x="7089434" y="3246119"/>
            <a:ext cx="4367997"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con compromiso sobre el contenido: da no repudio</a:t>
            </a:r>
          </a:p>
        </p:txBody>
      </p:sp>
      <p:sp>
        <p:nvSpPr>
          <p:cNvPr id="22" name="Rectangle 21"/>
          <p:cNvSpPr/>
          <p:nvPr/>
        </p:nvSpPr>
        <p:spPr>
          <a:xfrm>
            <a:off x="566928" y="35753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6743"/>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Dónde vive la llave privada</a:t>
            </a:r>
          </a:p>
        </p:txBody>
      </p:sp>
      <p:sp>
        <p:nvSpPr>
          <p:cNvPr id="24" name="TextBox 23"/>
          <p:cNvSpPr txBox="1"/>
          <p:nvPr/>
        </p:nvSpPr>
        <p:spPr>
          <a:xfrm>
            <a:off x="3441252" y="3666743"/>
            <a:ext cx="3483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 el servidor o en su módulo de hardware</a:t>
            </a:r>
          </a:p>
        </p:txBody>
      </p:sp>
      <p:sp>
        <p:nvSpPr>
          <p:cNvPr id="25" name="TextBox 24"/>
          <p:cNvSpPr txBox="1"/>
          <p:nvPr/>
        </p:nvSpPr>
        <p:spPr>
          <a:xfrm>
            <a:off x="7089434" y="3666743"/>
            <a:ext cx="4367997"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Token, tarjeta o servicio de firma, bajo control del titular</a:t>
            </a:r>
          </a:p>
        </p:txBody>
      </p:sp>
      <p:sp>
        <p:nvSpPr>
          <p:cNvPr id="26" name="Rectangle 25"/>
          <p:cNvSpPr/>
          <p:nvPr/>
        </p:nvSpPr>
        <p:spPr>
          <a:xfrm>
            <a:off x="566928" y="39959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87367"/>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lo emite en Colombia</a:t>
            </a:r>
          </a:p>
        </p:txBody>
      </p:sp>
      <p:sp>
        <p:nvSpPr>
          <p:cNvPr id="28" name="TextBox 27"/>
          <p:cNvSpPr txBox="1"/>
          <p:nvPr/>
        </p:nvSpPr>
        <p:spPr>
          <a:xfrm>
            <a:off x="3441252" y="4087367"/>
            <a:ext cx="3483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 entidad reconocida por los navegadores</a:t>
            </a:r>
          </a:p>
        </p:txBody>
      </p:sp>
      <p:sp>
        <p:nvSpPr>
          <p:cNvPr id="29" name="TextBox 28"/>
          <p:cNvSpPr txBox="1"/>
          <p:nvPr/>
        </p:nvSpPr>
        <p:spPr>
          <a:xfrm>
            <a:off x="7089434" y="4087367"/>
            <a:ext cx="4367997"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entidad de certificación acreditada ante el ONAC</a:t>
            </a:r>
          </a:p>
        </p:txBody>
      </p:sp>
      <p:sp>
        <p:nvSpPr>
          <p:cNvPr id="30" name="Rectangle 29"/>
          <p:cNvSpPr/>
          <p:nvPr/>
        </p:nvSpPr>
        <p:spPr>
          <a:xfrm>
            <a:off x="566928" y="44165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507991"/>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Variantes habituales</a:t>
            </a:r>
          </a:p>
        </p:txBody>
      </p:sp>
      <p:sp>
        <p:nvSpPr>
          <p:cNvPr id="32" name="TextBox 31"/>
          <p:cNvSpPr txBox="1"/>
          <p:nvPr/>
        </p:nvSpPr>
        <p:spPr>
          <a:xfrm>
            <a:off x="3441252" y="4507991"/>
            <a:ext cx="3483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Uno o varios dominios</a:t>
            </a:r>
          </a:p>
        </p:txBody>
      </p:sp>
      <p:sp>
        <p:nvSpPr>
          <p:cNvPr id="33" name="TextBox 32"/>
          <p:cNvSpPr txBox="1"/>
          <p:nvPr/>
        </p:nvSpPr>
        <p:spPr>
          <a:xfrm>
            <a:off x="7089434" y="4507991"/>
            <a:ext cx="4367997"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Persona natural, representante legal, función pública</a:t>
            </a:r>
          </a:p>
        </p:txBody>
      </p:sp>
      <p:sp>
        <p:nvSpPr>
          <p:cNvPr id="34" name="Rectangle 33"/>
          <p:cNvSpPr/>
          <p:nvPr/>
        </p:nvSpPr>
        <p:spPr>
          <a:xfrm>
            <a:off x="566928" y="48371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89203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193791"/>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21207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PARA LA ENTREGA 5</a:t>
            </a:r>
          </a:p>
        </p:txBody>
      </p:sp>
      <p:sp>
        <p:nvSpPr>
          <p:cNvPr id="38" name="TextBox 37"/>
          <p:cNvSpPr txBox="1"/>
          <p:nvPr/>
        </p:nvSpPr>
        <p:spPr>
          <a:xfrm>
            <a:off x="804672" y="5449823"/>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firma de los pagarés exige un certificado de persona para cada asociado que firma una hipoteca. </a:t>
            </a:r>
            <a:r>
              <a:rPr sz="1150" b="1">
                <a:solidFill>
                  <a:srgbClr val="2A2A2A"/>
                </a:solidFill>
                <a:latin typeface="Arial"/>
              </a:rPr>
              <a:t>No hace falta para los 142.000</a:t>
            </a:r>
            <a:r>
              <a:rPr sz="1150" b="0">
                <a:solidFill>
                  <a:srgbClr val="2A2A2A"/>
                </a:solidFill>
                <a:latin typeface="Arial"/>
              </a:rPr>
              <a:t>: solo para quienes firman documentos que deben valer veinte años.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03</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CICLO DE VIDA</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Emisión, revocación y vencimiento: donde se rompen los sistemas reales</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16  EMISIÓN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QUÉ VERIFICA LA ENTIDAD ANTES DE EMITIR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20</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NIVEL</a:t>
            </a:r>
          </a:p>
        </p:txBody>
      </p:sp>
      <p:sp>
        <p:nvSpPr>
          <p:cNvPr id="11" name="TextBox 10"/>
          <p:cNvSpPr txBox="1"/>
          <p:nvPr/>
        </p:nvSpPr>
        <p:spPr>
          <a:xfrm>
            <a:off x="3883456" y="1673352"/>
            <a:ext cx="458909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COMPRUEBA</a:t>
            </a:r>
          </a:p>
        </p:txBody>
      </p:sp>
      <p:sp>
        <p:nvSpPr>
          <p:cNvPr id="12" name="TextBox 11"/>
          <p:cNvSpPr txBox="1"/>
          <p:nvPr/>
        </p:nvSpPr>
        <p:spPr>
          <a:xfrm>
            <a:off x="8637148" y="1673352"/>
            <a:ext cx="282028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CUÁNDO USARLO</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3151936" cy="6680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Validación de dominio</a:t>
            </a:r>
          </a:p>
        </p:txBody>
      </p:sp>
      <p:sp>
        <p:nvSpPr>
          <p:cNvPr id="15" name="TextBox 14"/>
          <p:cNvSpPr txBox="1"/>
          <p:nvPr/>
        </p:nvSpPr>
        <p:spPr>
          <a:xfrm>
            <a:off x="3883456" y="2075688"/>
            <a:ext cx="4589099"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que el solicitante controla el dominio. Automático, en minutos, a menudo gratuito</a:t>
            </a:r>
          </a:p>
        </p:txBody>
      </p:sp>
      <p:sp>
        <p:nvSpPr>
          <p:cNvPr id="16" name="TextBox 15"/>
          <p:cNvSpPr txBox="1"/>
          <p:nvPr/>
        </p:nvSpPr>
        <p:spPr>
          <a:xfrm>
            <a:off x="8637148" y="2075688"/>
            <a:ext cx="2820283"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Sitios públicos. Es lo que el portal necesita, y bastaría para quitar la advertencia</a:t>
            </a:r>
          </a:p>
        </p:txBody>
      </p:sp>
      <p:sp>
        <p:nvSpPr>
          <p:cNvPr id="17" name="Rectangle 16"/>
          <p:cNvSpPr/>
          <p:nvPr/>
        </p:nvSpPr>
        <p:spPr>
          <a:xfrm>
            <a:off x="566928" y="270717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798612"/>
            <a:ext cx="3151936" cy="54864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Validación de organización</a:t>
            </a:r>
          </a:p>
        </p:txBody>
      </p:sp>
      <p:sp>
        <p:nvSpPr>
          <p:cNvPr id="19" name="TextBox 18"/>
          <p:cNvSpPr txBox="1"/>
          <p:nvPr/>
        </p:nvSpPr>
        <p:spPr>
          <a:xfrm>
            <a:off x="3883456" y="2798612"/>
            <a:ext cx="4589099" cy="54864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Además, la existencia legal de la entidad y su dirección</a:t>
            </a:r>
          </a:p>
        </p:txBody>
      </p:sp>
      <p:sp>
        <p:nvSpPr>
          <p:cNvPr id="20" name="TextBox 19"/>
          <p:cNvSpPr txBox="1"/>
          <p:nvPr/>
        </p:nvSpPr>
        <p:spPr>
          <a:xfrm>
            <a:off x="8637148" y="2798612"/>
            <a:ext cx="2820283" cy="54864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Cuando se quiere dejar constancia documental de quién responde</a:t>
            </a:r>
          </a:p>
        </p:txBody>
      </p:sp>
      <p:sp>
        <p:nvSpPr>
          <p:cNvPr id="21" name="Rectangle 20"/>
          <p:cNvSpPr/>
          <p:nvPr/>
        </p:nvSpPr>
        <p:spPr>
          <a:xfrm>
            <a:off x="566928" y="331067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402116"/>
            <a:ext cx="3151936" cy="6680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Validación extendida</a:t>
            </a:r>
          </a:p>
        </p:txBody>
      </p:sp>
      <p:sp>
        <p:nvSpPr>
          <p:cNvPr id="23" name="TextBox 22"/>
          <p:cNvSpPr txBox="1"/>
          <p:nvPr/>
        </p:nvSpPr>
        <p:spPr>
          <a:xfrm>
            <a:off x="3883456" y="3402116"/>
            <a:ext cx="4589099"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Verificación reforzada de la persona jurídica</a:t>
            </a:r>
          </a:p>
        </p:txBody>
      </p:sp>
      <p:sp>
        <p:nvSpPr>
          <p:cNvPr id="24" name="TextBox 23"/>
          <p:cNvSpPr txBox="1"/>
          <p:nvPr/>
        </p:nvSpPr>
        <p:spPr>
          <a:xfrm>
            <a:off x="8637148" y="3402116"/>
            <a:ext cx="2820283"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 valor hoy es documental: los navegadores dejaron de mostrarla de forma distinta</a:t>
            </a:r>
          </a:p>
        </p:txBody>
      </p:sp>
      <p:sp>
        <p:nvSpPr>
          <p:cNvPr id="25" name="Rectangle 24"/>
          <p:cNvSpPr/>
          <p:nvPr/>
        </p:nvSpPr>
        <p:spPr>
          <a:xfrm>
            <a:off x="566928" y="403360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08846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390217"/>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40850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MALENTENDIDO COMERCIAL MÁS CARO DE ESTE TEMA</a:t>
            </a:r>
          </a:p>
        </p:txBody>
      </p:sp>
      <p:sp>
        <p:nvSpPr>
          <p:cNvPr id="29" name="TextBox 28"/>
          <p:cNvSpPr txBox="1"/>
          <p:nvPr/>
        </p:nvSpPr>
        <p:spPr>
          <a:xfrm>
            <a:off x="804672" y="4646249"/>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 certificado más costoso </a:t>
            </a:r>
            <a:r>
              <a:rPr sz="1150" b="1">
                <a:solidFill>
                  <a:srgbClr val="2A2A2A"/>
                </a:solidFill>
                <a:latin typeface="Arial"/>
              </a:rPr>
              <a:t>no cifra mejor</a:t>
            </a:r>
            <a:r>
              <a:rPr sz="1150" b="0">
                <a:solidFill>
                  <a:srgbClr val="2A2A2A"/>
                </a:solidFill>
                <a:latin typeface="Arial"/>
              </a:rPr>
              <a:t>: la criptografía es idéntica en los tres niveles. Lo único que cambia es cuánto verificó la entidad antes de firmar. Quien venda lo contrario está vendiendo otra cosa.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17  REVOCACIÓN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CÓMO SE ANULA UN CERTIFICADO ANTES DE TIEMPO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Si una llave privada se compromete, el certificado sigue siendo criptográficamente válido hasta su vencimiento. Hay que poder decirle al mundo que ya no vale, y ese aviso funciona peor de lo que la mayoría supone.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04138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MECANISMO</a:t>
            </a:r>
          </a:p>
        </p:txBody>
      </p:sp>
      <p:sp>
        <p:nvSpPr>
          <p:cNvPr id="12" name="TextBox 11"/>
          <p:cNvSpPr txBox="1"/>
          <p:nvPr/>
        </p:nvSpPr>
        <p:spPr>
          <a:xfrm>
            <a:off x="3772905" y="2423159"/>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FUNCIONA</a:t>
            </a:r>
          </a:p>
        </p:txBody>
      </p:sp>
      <p:sp>
        <p:nvSpPr>
          <p:cNvPr id="13" name="TextBox 12"/>
          <p:cNvSpPr txBox="1"/>
          <p:nvPr/>
        </p:nvSpPr>
        <p:spPr>
          <a:xfrm>
            <a:off x="8084393"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SU PROBLEMA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04138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Listas de revocación</a:t>
            </a:r>
          </a:p>
        </p:txBody>
      </p:sp>
      <p:sp>
        <p:nvSpPr>
          <p:cNvPr id="16" name="TextBox 15"/>
          <p:cNvSpPr txBox="1"/>
          <p:nvPr/>
        </p:nvSpPr>
        <p:spPr>
          <a:xfrm>
            <a:off x="3772905" y="2825495"/>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entidad publica periódicamente la lista de seriales anulados</a:t>
            </a:r>
          </a:p>
        </p:txBody>
      </p:sp>
      <p:sp>
        <p:nvSpPr>
          <p:cNvPr id="17" name="TextBox 16"/>
          <p:cNvSpPr txBox="1"/>
          <p:nvPr/>
        </p:nvSpPr>
        <p:spPr>
          <a:xfrm>
            <a:off x="8084393" y="2825495"/>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Crecen mucho y se descargan tarde: la ventana de desfase es de horas o días</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04138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Consulta en línea</a:t>
            </a:r>
          </a:p>
        </p:txBody>
      </p:sp>
      <p:sp>
        <p:nvSpPr>
          <p:cNvPr id="20" name="TextBox 19"/>
          <p:cNvSpPr txBox="1"/>
          <p:nvPr/>
        </p:nvSpPr>
        <p:spPr>
          <a:xfrm>
            <a:off x="3772905" y="3365357"/>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verificador pregunta a la entidad por ese serial concreto</a:t>
            </a:r>
          </a:p>
        </p:txBody>
      </p:sp>
      <p:sp>
        <p:nvSpPr>
          <p:cNvPr id="21" name="TextBox 20"/>
          <p:cNvSpPr txBox="1"/>
          <p:nvPr/>
        </p:nvSpPr>
        <p:spPr>
          <a:xfrm>
            <a:off x="8084393" y="3365357"/>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Añade demora, revela qué sitios visita el usuario, y ante un fallo de red se continúa igual</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304138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Grapado de la respuesta</a:t>
            </a:r>
          </a:p>
        </p:txBody>
      </p:sp>
      <p:sp>
        <p:nvSpPr>
          <p:cNvPr id="24" name="TextBox 23"/>
          <p:cNvSpPr txBox="1"/>
          <p:nvPr/>
        </p:nvSpPr>
        <p:spPr>
          <a:xfrm>
            <a:off x="3772905" y="3905219"/>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propio servidor adjunta una prueba reciente y firmada de que no está revocado</a:t>
            </a:r>
          </a:p>
        </p:txBody>
      </p:sp>
      <p:sp>
        <p:nvSpPr>
          <p:cNvPr id="25" name="TextBox 24"/>
          <p:cNvSpPr txBox="1"/>
          <p:nvPr/>
        </p:nvSpPr>
        <p:spPr>
          <a:xfrm>
            <a:off x="8084393" y="3905219"/>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Hay que configurarlo. Resuelve la demora y la privacidad, y es la práctica recomendada</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304138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Listas propias del navegador</a:t>
            </a:r>
          </a:p>
        </p:txBody>
      </p:sp>
      <p:sp>
        <p:nvSpPr>
          <p:cNvPr id="28" name="TextBox 27"/>
          <p:cNvSpPr txBox="1"/>
          <p:nvPr/>
        </p:nvSpPr>
        <p:spPr>
          <a:xfrm>
            <a:off x="3772905" y="4445081"/>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fabricante distribuye un resumen comprimido de las revocaciones que importan</a:t>
            </a:r>
          </a:p>
        </p:txBody>
      </p:sp>
      <p:sp>
        <p:nvSpPr>
          <p:cNvPr id="29" name="TextBox 28"/>
          <p:cNvSpPr txBox="1"/>
          <p:nvPr/>
        </p:nvSpPr>
        <p:spPr>
          <a:xfrm>
            <a:off x="8084393" y="4445081"/>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cubre todo, pero es lo que de verdad protege hoy al usuario final</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50119"/>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684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CONSECUENCIA PRÁCTICA PARA EL INFORME</a:t>
            </a:r>
          </a:p>
        </p:txBody>
      </p:sp>
      <p:sp>
        <p:nvSpPr>
          <p:cNvPr id="34" name="TextBox 33"/>
          <p:cNvSpPr txBox="1"/>
          <p:nvPr/>
        </p:nvSpPr>
        <p:spPr>
          <a:xfrm>
            <a:off x="804672" y="5506151"/>
            <a:ext cx="10780776" cy="438912"/>
          </a:xfrm>
          <a:prstGeom prst="rect">
            <a:avLst/>
          </a:prstGeom>
          <a:noFill/>
        </p:spPr>
        <p:txBody>
          <a:bodyPr wrap="square" lIns="0" rIns="0" tIns="0" bIns="0">
            <a:spAutoFit/>
          </a:bodyPr>
          <a:lstStyle/>
          <a:p>
            <a:pPr algn="l">
              <a:lnSpc>
                <a:spcPct val="132000"/>
              </a:lnSpc>
              <a:spcAft>
                <a:spcPts val="0"/>
              </a:spcAft>
            </a:pPr>
            <a:r>
              <a:rPr sz="1150" b="1">
                <a:solidFill>
                  <a:srgbClr val="2A2A2A"/>
                </a:solidFill>
                <a:latin typeface="Arial"/>
              </a:rPr>
              <a:t>No se puede confiar en que revocar surta efecto inmediato.</a:t>
            </a:r>
            <a:r>
              <a:rPr sz="1150" b="0">
                <a:solidFill>
                  <a:srgbClr val="2A2A2A"/>
                </a:solidFill>
                <a:latin typeface="Arial"/>
              </a:rPr>
              <a:t> Por eso la industria dejó de apostarle a la revocación y le apostó a otra cosa: acortar la vida del certificado, que es la diapositiva siguiente.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18  VIGENCIA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LA VIDA DE UN CERTIFICADO SE ESTÁ ACORTANDO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 el cambio operativo más importante de este tema en la década, y el que obliga a rediseñar la forma en que una organización administra sus certificados.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32303"/>
            <a:ext cx="2580894"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398</a:t>
            </a:r>
          </a:p>
        </p:txBody>
      </p:sp>
      <p:sp>
        <p:nvSpPr>
          <p:cNvPr id="12" name="TextBox 11"/>
          <p:cNvSpPr txBox="1"/>
          <p:nvPr/>
        </p:nvSpPr>
        <p:spPr>
          <a:xfrm>
            <a:off x="566928" y="3035808"/>
            <a:ext cx="2580894"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DÍAS</a:t>
            </a:r>
          </a:p>
          <a:p>
            <a:pPr algn="l">
              <a:lnSpc>
                <a:spcPct val="125000"/>
              </a:lnSpc>
              <a:spcAft>
                <a:spcPts val="0"/>
              </a:spcAft>
            </a:pPr>
            <a:r>
              <a:rPr sz="730" b="1" spc="130">
                <a:solidFill>
                  <a:srgbClr val="3A3A3A"/>
                </a:solidFill>
                <a:latin typeface="Consolas"/>
              </a:rPr>
              <a:t>HASTA 2026</a:t>
            </a:r>
          </a:p>
        </p:txBody>
      </p:sp>
      <p:sp>
        <p:nvSpPr>
          <p:cNvPr id="13" name="Rectangle 12"/>
          <p:cNvSpPr/>
          <p:nvPr/>
        </p:nvSpPr>
        <p:spPr>
          <a:xfrm>
            <a:off x="3220974" y="2414015"/>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0702" y="2432303"/>
            <a:ext cx="2580894"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200</a:t>
            </a:r>
          </a:p>
        </p:txBody>
      </p:sp>
      <p:sp>
        <p:nvSpPr>
          <p:cNvPr id="15" name="TextBox 14"/>
          <p:cNvSpPr txBox="1"/>
          <p:nvPr/>
        </p:nvSpPr>
        <p:spPr>
          <a:xfrm>
            <a:off x="3330702" y="3035808"/>
            <a:ext cx="2580894"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DÍAS</a:t>
            </a:r>
          </a:p>
          <a:p>
            <a:pPr algn="l">
              <a:lnSpc>
                <a:spcPct val="125000"/>
              </a:lnSpc>
              <a:spcAft>
                <a:spcPts val="0"/>
              </a:spcAft>
            </a:pPr>
            <a:r>
              <a:rPr sz="730" b="1" spc="130">
                <a:solidFill>
                  <a:srgbClr val="3A3A3A"/>
                </a:solidFill>
                <a:latin typeface="Consolas"/>
              </a:rPr>
              <a:t>DESDE MAR. 2026</a:t>
            </a:r>
          </a:p>
        </p:txBody>
      </p:sp>
      <p:sp>
        <p:nvSpPr>
          <p:cNvPr id="16" name="Rectangle 15"/>
          <p:cNvSpPr/>
          <p:nvPr/>
        </p:nvSpPr>
        <p:spPr>
          <a:xfrm>
            <a:off x="5984748" y="2414015"/>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4476" y="2432303"/>
            <a:ext cx="2580894"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100</a:t>
            </a:r>
          </a:p>
        </p:txBody>
      </p:sp>
      <p:sp>
        <p:nvSpPr>
          <p:cNvPr id="18" name="TextBox 17"/>
          <p:cNvSpPr txBox="1"/>
          <p:nvPr/>
        </p:nvSpPr>
        <p:spPr>
          <a:xfrm>
            <a:off x="6094476" y="3035808"/>
            <a:ext cx="2580894"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DÍAS</a:t>
            </a:r>
          </a:p>
          <a:p>
            <a:pPr algn="l">
              <a:lnSpc>
                <a:spcPct val="125000"/>
              </a:lnSpc>
              <a:spcAft>
                <a:spcPts val="0"/>
              </a:spcAft>
            </a:pPr>
            <a:r>
              <a:rPr sz="730" b="1" spc="130">
                <a:solidFill>
                  <a:srgbClr val="3A3A3A"/>
                </a:solidFill>
                <a:latin typeface="Consolas"/>
              </a:rPr>
              <a:t>DESDE MAR. 2027</a:t>
            </a:r>
          </a:p>
        </p:txBody>
      </p:sp>
      <p:sp>
        <p:nvSpPr>
          <p:cNvPr id="19" name="Rectangle 18"/>
          <p:cNvSpPr/>
          <p:nvPr/>
        </p:nvSpPr>
        <p:spPr>
          <a:xfrm>
            <a:off x="8748522" y="2414015"/>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58249" y="2432303"/>
            <a:ext cx="2580894"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47</a:t>
            </a:r>
          </a:p>
        </p:txBody>
      </p:sp>
      <p:sp>
        <p:nvSpPr>
          <p:cNvPr id="21" name="TextBox 20"/>
          <p:cNvSpPr txBox="1"/>
          <p:nvPr/>
        </p:nvSpPr>
        <p:spPr>
          <a:xfrm>
            <a:off x="8858249" y="3035808"/>
            <a:ext cx="2580894"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DÍAS</a:t>
            </a:r>
          </a:p>
          <a:p>
            <a:pPr algn="l">
              <a:lnSpc>
                <a:spcPct val="125000"/>
              </a:lnSpc>
              <a:spcAft>
                <a:spcPts val="0"/>
              </a:spcAft>
            </a:pPr>
            <a:r>
              <a:rPr sz="730" b="1" spc="130">
                <a:solidFill>
                  <a:srgbClr val="3A3A3A"/>
                </a:solidFill>
                <a:latin typeface="Consolas"/>
              </a:rPr>
              <a:t>DESDE MAR. 2029</a:t>
            </a:r>
          </a:p>
        </p:txBody>
      </p:sp>
      <p:sp>
        <p:nvSpPr>
          <p:cNvPr id="22" name="Rectangle 21"/>
          <p:cNvSpPr/>
          <p:nvPr/>
        </p:nvSpPr>
        <p:spPr>
          <a:xfrm>
            <a:off x="566928" y="347472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13048"/>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SE ACORTA</a:t>
            </a:r>
          </a:p>
        </p:txBody>
      </p:sp>
      <p:sp>
        <p:nvSpPr>
          <p:cNvPr id="24" name="TextBox 23"/>
          <p:cNvSpPr txBox="1"/>
          <p:nvPr/>
        </p:nvSpPr>
        <p:spPr>
          <a:xfrm>
            <a:off x="566928" y="4087368"/>
            <a:ext cx="5253228" cy="11430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Porque la revocación no funciona bien: un certificado que vive 47 días limita el daño de una llave comprometida mucho mejor que cualquier lista.</a:t>
            </a:r>
          </a:p>
          <a:p>
            <a:pPr algn="l">
              <a:lnSpc>
                <a:spcPct val="128000"/>
              </a:lnSpc>
              <a:spcAft>
                <a:spcPts val="700"/>
              </a:spcAft>
            </a:pPr>
            <a:r>
              <a:rPr sz="1150" b="0">
                <a:solidFill>
                  <a:srgbClr val="000000"/>
                </a:solidFill>
                <a:latin typeface="Arial"/>
              </a:rPr>
              <a:t>Y porque obliga a automatizar, que es donde está el verdadero beneficio de seguridad.</a:t>
            </a:r>
          </a:p>
        </p:txBody>
      </p:sp>
      <p:sp>
        <p:nvSpPr>
          <p:cNvPr id="25" name="TextBox 24"/>
          <p:cNvSpPr txBox="1"/>
          <p:nvPr/>
        </p:nvSpPr>
        <p:spPr>
          <a:xfrm>
            <a:off x="6368796" y="3813048"/>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QUÉ SIGNIFICA PARA COOPABURRÁ</a:t>
            </a:r>
          </a:p>
        </p:txBody>
      </p:sp>
      <p:sp>
        <p:nvSpPr>
          <p:cNvPr id="26" name="TextBox 25"/>
          <p:cNvSpPr txBox="1"/>
          <p:nvPr/>
        </p:nvSpPr>
        <p:spPr>
          <a:xfrm>
            <a:off x="6368796" y="4087368"/>
            <a:ext cx="5253228" cy="11430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Renovar a mano </a:t>
            </a:r>
            <a:r>
              <a:rPr sz="1150" b="1">
                <a:solidFill>
                  <a:srgbClr val="000000"/>
                </a:solidFill>
                <a:latin typeface="Arial"/>
              </a:rPr>
              <a:t>deja de ser viable</a:t>
            </a:r>
            <a:r>
              <a:rPr sz="1150" b="0">
                <a:solidFill>
                  <a:srgbClr val="000000"/>
                </a:solidFill>
                <a:latin typeface="Arial"/>
              </a:rPr>
              <a:t>: con 47 días, un certificado olvidado tumba el portal ocho veces al año.</a:t>
            </a:r>
          </a:p>
          <a:p>
            <a:pPr algn="l">
              <a:lnSpc>
                <a:spcPct val="128000"/>
              </a:lnSpc>
              <a:spcAft>
                <a:spcPts val="700"/>
              </a:spcAft>
            </a:pPr>
            <a:r>
              <a:rPr sz="1150" b="0">
                <a:solidFill>
                  <a:srgbClr val="000000"/>
                </a:solidFill>
                <a:latin typeface="Arial"/>
              </a:rPr>
              <a:t>La respuesta no es comprar certificados: es automatizar la emisión y la instalación, y llevar un inventario con responsable y fecha.</a:t>
            </a:r>
          </a:p>
        </p:txBody>
      </p:sp>
      <p:sp>
        <p:nvSpPr>
          <p:cNvPr id="27" name="Rectangle 26"/>
          <p:cNvSpPr/>
          <p:nvPr/>
        </p:nvSpPr>
        <p:spPr>
          <a:xfrm>
            <a:off x="6085332" y="3813048"/>
            <a:ext cx="9144" cy="1417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19  AUTOMATIZACIÓN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ACME: LA RENOVACIÓN QUE NADIE TIENE QUE RECORDAR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respuesta del sector a las vigencias cortas es un protocolo estándar para pedir, validar, instalar y renovar certificados sin intervención humana.</a:t>
            </a:r>
          </a:p>
        </p:txBody>
      </p:sp>
      <p:sp>
        <p:nvSpPr>
          <p:cNvPr id="10" name="Rectangle 9"/>
          <p:cNvSpPr/>
          <p:nvPr/>
        </p:nvSpPr>
        <p:spPr>
          <a:xfrm>
            <a:off x="566928" y="2304287"/>
            <a:ext cx="11055096" cy="142646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ACME · RFC 8555</a:t>
            </a:r>
          </a:p>
        </p:txBody>
      </p:sp>
      <p:sp>
        <p:nvSpPr>
          <p:cNvPr id="12" name="TextBox 11"/>
          <p:cNvSpPr txBox="1"/>
          <p:nvPr/>
        </p:nvSpPr>
        <p:spPr>
          <a:xfrm>
            <a:off x="768096" y="2633471"/>
            <a:ext cx="10652760" cy="100584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1. El servidor genera su llave y pide un certificado para portal.coopaburra.com</a:t>
            </a:r>
          </a:p>
          <a:p>
            <a:pPr algn="l">
              <a:lnSpc>
                <a:spcPct val="130000"/>
              </a:lnSpc>
              <a:spcAft>
                <a:spcPts val="0"/>
              </a:spcAft>
            </a:pPr>
            <a:r>
              <a:rPr sz="950" b="0">
                <a:solidFill>
                  <a:srgbClr val="000000"/>
                </a:solidFill>
                <a:latin typeface="Consolas"/>
              </a:rPr>
              <a:t>2. La entidad le plantea un desafío: publicar un valor en el sitio o en el DNS</a:t>
            </a:r>
          </a:p>
          <a:p>
            <a:pPr algn="l">
              <a:lnSpc>
                <a:spcPct val="130000"/>
              </a:lnSpc>
              <a:spcAft>
                <a:spcPts val="0"/>
              </a:spcAft>
            </a:pPr>
            <a:r>
              <a:rPr sz="950" b="0">
                <a:solidFill>
                  <a:srgbClr val="000000"/>
                </a:solidFill>
                <a:latin typeface="Consolas"/>
              </a:rPr>
              <a:t>3. El servidor lo publica; la entidad comprueba que quien pide controla el dominio</a:t>
            </a:r>
          </a:p>
          <a:p>
            <a:pPr algn="l">
              <a:lnSpc>
                <a:spcPct val="130000"/>
              </a:lnSpc>
              <a:spcAft>
                <a:spcPts val="0"/>
              </a:spcAft>
            </a:pPr>
            <a:r>
              <a:rPr sz="950" b="0">
                <a:solidFill>
                  <a:srgbClr val="000000"/>
                </a:solidFill>
                <a:latin typeface="Consolas"/>
              </a:rPr>
              <a:t>4. La entidad emite el certificado; el servidor lo instala y recarga el servicio</a:t>
            </a:r>
          </a:p>
          <a:p>
            <a:pPr algn="l">
              <a:lnSpc>
                <a:spcPct val="130000"/>
              </a:lnSpc>
              <a:spcAft>
                <a:spcPts val="0"/>
              </a:spcAft>
            </a:pPr>
            <a:r>
              <a:rPr sz="950" b="0">
                <a:solidFill>
                  <a:srgbClr val="000000"/>
                </a:solidFill>
                <a:latin typeface="Consolas"/>
              </a:rPr>
              <a:t>5. Treinta días antes de vencer, el proceso se repite solo</a:t>
            </a:r>
          </a:p>
        </p:txBody>
      </p:sp>
      <p:sp>
        <p:nvSpPr>
          <p:cNvPr id="13" name="Rectangle 12"/>
          <p:cNvSpPr/>
          <p:nvPr/>
        </p:nvSpPr>
        <p:spPr>
          <a:xfrm>
            <a:off x="566928" y="3986784"/>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00507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QUÉ CAMBIA PARA COOPABURRÁ</a:t>
            </a:r>
          </a:p>
        </p:txBody>
      </p:sp>
      <p:sp>
        <p:nvSpPr>
          <p:cNvPr id="15" name="TextBox 14"/>
          <p:cNvSpPr txBox="1"/>
          <p:nvPr/>
        </p:nvSpPr>
        <p:spPr>
          <a:xfrm>
            <a:off x="804672" y="4242816"/>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Con ACME, una vigencia de 47 días no es una carga: es invisible. </a:t>
            </a:r>
            <a:r>
              <a:rPr sz="1150" b="1">
                <a:solidFill>
                  <a:srgbClr val="2A2A2A"/>
                </a:solidFill>
                <a:latin typeface="Arial"/>
              </a:rPr>
              <a:t>Lo que no se puede automatizar es la decisión de quién es dueño de cada certificado</a:t>
            </a:r>
            <a:r>
              <a:rPr sz="1150" b="0">
                <a:solidFill>
                  <a:srgbClr val="2A2A2A"/>
                </a:solidFill>
                <a:latin typeface="Arial"/>
              </a:rPr>
              <a:t>, y eso vuelve al inventario. Varias entidades públicas ofrecen ACME, algunas de forma gratuita.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20  VIGILANCIA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REGISTROS PÚBLICOS DE CERTIFICADOS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Desde hace años, toda emisión de una entidad pública queda anotada en registros públicos de solo añadir, construidos como el árbol de Merkle de la sesión 3. Es una defensa que casi nadie usa y que no cuesta nada.</a:t>
            </a:r>
          </a:p>
        </p:txBody>
      </p:sp>
      <p:sp>
        <p:nvSpPr>
          <p:cNvPr id="10" name="Rectangle 9"/>
          <p:cNvSpPr/>
          <p:nvPr/>
        </p:nvSpPr>
        <p:spPr>
          <a:xfrm>
            <a:off x="566928"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PARA QUÉ SIRVE</a:t>
            </a:r>
          </a:p>
        </p:txBody>
      </p:sp>
      <p:sp>
        <p:nvSpPr>
          <p:cNvPr id="12" name="TextBox 11"/>
          <p:cNvSpPr txBox="1"/>
          <p:nvPr/>
        </p:nvSpPr>
        <p:spPr>
          <a:xfrm>
            <a:off x="786384"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Si alguien emitiera un certificado para el dominio de la cooperativa sin autorización, quedaría registrado y sería detectable.</a:t>
            </a:r>
          </a:p>
          <a:p>
            <a:pPr algn="l">
              <a:lnSpc>
                <a:spcPct val="128000"/>
              </a:lnSpc>
              <a:spcAft>
                <a:spcPts val="700"/>
              </a:spcAft>
            </a:pPr>
            <a:r>
              <a:rPr sz="1150" b="0">
                <a:solidFill>
                  <a:srgbClr val="000000"/>
                </a:solidFill>
                <a:latin typeface="Arial"/>
              </a:rPr>
              <a:t>Una organización puede suscribirse a alertas sobre sus propios dominios y enterarse el mismo día.</a:t>
            </a:r>
          </a:p>
          <a:p>
            <a:pPr algn="l">
              <a:lnSpc>
                <a:spcPct val="128000"/>
              </a:lnSpc>
              <a:spcAft>
                <a:spcPts val="700"/>
              </a:spcAft>
            </a:pPr>
            <a:r>
              <a:rPr sz="1150" b="0">
                <a:solidFill>
                  <a:srgbClr val="000000"/>
                </a:solidFill>
                <a:latin typeface="Arial"/>
              </a:rPr>
              <a:t>También sirve para auditar: qué certificados existen a nombre de la entidad, emitidos por quién y cuándo.</a:t>
            </a:r>
          </a:p>
        </p:txBody>
      </p:sp>
      <p:sp>
        <p:nvSpPr>
          <p:cNvPr id="13" name="Rectangle 12"/>
          <p:cNvSpPr/>
          <p:nvPr/>
        </p:nvSpPr>
        <p:spPr>
          <a:xfrm>
            <a:off x="6268212"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PUNTO CIEGO QUE REVELA EL CASO</a:t>
            </a:r>
          </a:p>
        </p:txBody>
      </p:sp>
      <p:sp>
        <p:nvSpPr>
          <p:cNvPr id="15" name="TextBox 14"/>
          <p:cNvSpPr txBox="1"/>
          <p:nvPr/>
        </p:nvSpPr>
        <p:spPr>
          <a:xfrm>
            <a:off x="6487668"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Los certificados de una autoridad interna </a:t>
            </a:r>
            <a:r>
              <a:rPr sz="1150" b="1">
                <a:solidFill>
                  <a:srgbClr val="000000"/>
                </a:solidFill>
                <a:latin typeface="Arial"/>
              </a:rPr>
              <a:t>no aparecen en ningún registro público</a:t>
            </a:r>
            <a:r>
              <a:rPr sz="1150" b="0">
                <a:solidFill>
                  <a:srgbClr val="000000"/>
                </a:solidFill>
                <a:latin typeface="Arial"/>
              </a:rPr>
              <a:t>.</a:t>
            </a:r>
          </a:p>
          <a:p>
            <a:pPr algn="l">
              <a:lnSpc>
                <a:spcPct val="128000"/>
              </a:lnSpc>
              <a:spcAft>
                <a:spcPts val="700"/>
              </a:spcAft>
            </a:pPr>
            <a:r>
              <a:rPr sz="1150" b="0">
                <a:solidFill>
                  <a:srgbClr val="000000"/>
                </a:solidFill>
                <a:latin typeface="Arial"/>
              </a:rPr>
              <a:t>Nadie fuera de la cooperativa puede saber qué emitió esa autoridad, ni cuántos certificados existen, ni a nombre de qué.</a:t>
            </a:r>
          </a:p>
          <a:p>
            <a:pPr algn="l">
              <a:lnSpc>
                <a:spcPct val="128000"/>
              </a:lnSpc>
              <a:spcAft>
                <a:spcPts val="700"/>
              </a:spcAft>
            </a:pPr>
            <a:r>
              <a:rPr sz="1150" b="0">
                <a:solidFill>
                  <a:srgbClr val="000000"/>
                </a:solidFill>
                <a:latin typeface="Arial"/>
              </a:rPr>
              <a:t>Y dentro de la cooperativa tampoco, porque no hay inventario. Ese es el hallazgo H8 mordiendo otra vez.</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21  CONTROL</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CAA: DECIR QUIÉN PUEDE EMITIR PARA SU DOMINIO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registro en el DNS del dominio que indica qué entidades están autorizadas a emitir certificados para él. Desde 2017 todas las entidades públicas están obligadas a consultarlo antes de emitir.</a:t>
            </a:r>
          </a:p>
        </p:txBody>
      </p:sp>
      <p:sp>
        <p:nvSpPr>
          <p:cNvPr id="10" name="Rectangle 9"/>
          <p:cNvSpPr/>
          <p:nvPr/>
        </p:nvSpPr>
        <p:spPr>
          <a:xfrm>
            <a:off x="566928" y="2304287"/>
            <a:ext cx="11055096" cy="142646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REGISTRO CAA EN EL DNS · RFC 8659</a:t>
            </a:r>
          </a:p>
        </p:txBody>
      </p:sp>
      <p:sp>
        <p:nvSpPr>
          <p:cNvPr id="12" name="TextBox 11"/>
          <p:cNvSpPr txBox="1"/>
          <p:nvPr/>
        </p:nvSpPr>
        <p:spPr>
          <a:xfrm>
            <a:off x="768096" y="2633471"/>
            <a:ext cx="10652760" cy="100584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coopaburra.com.   CAA 0 issue  "entidad-autorizada.example"</a:t>
            </a:r>
          </a:p>
          <a:p>
            <a:pPr algn="l">
              <a:lnSpc>
                <a:spcPct val="130000"/>
              </a:lnSpc>
              <a:spcAft>
                <a:spcPts val="0"/>
              </a:spcAft>
            </a:pPr>
            <a:r>
              <a:rPr sz="950" b="0">
                <a:solidFill>
                  <a:srgbClr val="000000"/>
                </a:solidFill>
                <a:latin typeface="Consolas"/>
              </a:rPr>
              <a:t>coopaburra.com.   CAA 0 iodef  "mailto:seguridad@coopaburra.com"</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Cualquier otra entidad debe negarse a emitir para coopaburra.com,</a:t>
            </a:r>
          </a:p>
          <a:p>
            <a:pPr algn="l">
              <a:lnSpc>
                <a:spcPct val="130000"/>
              </a:lnSpc>
              <a:spcAft>
                <a:spcPts val="0"/>
              </a:spcAft>
            </a:pPr>
            <a:r>
              <a:rPr sz="950" b="0">
                <a:solidFill>
                  <a:srgbClr val="000000"/>
                </a:solidFill>
                <a:latin typeface="Consolas"/>
              </a:rPr>
              <a:t>y si alguien lo intenta, se avisa al correo indicado.</a:t>
            </a:r>
          </a:p>
        </p:txBody>
      </p:sp>
      <p:sp>
        <p:nvSpPr>
          <p:cNvPr id="13" name="Rectangle 12"/>
          <p:cNvSpPr/>
          <p:nvPr/>
        </p:nvSpPr>
        <p:spPr>
          <a:xfrm>
            <a:off x="566928" y="3986784"/>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00507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CUESTA CERO Y CASI NADIE LO TIENE</a:t>
            </a:r>
          </a:p>
        </p:txBody>
      </p:sp>
      <p:sp>
        <p:nvSpPr>
          <p:cNvPr id="15" name="TextBox 14"/>
          <p:cNvSpPr txBox="1"/>
          <p:nvPr/>
        </p:nvSpPr>
        <p:spPr>
          <a:xfrm>
            <a:off x="804672" y="4242816"/>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Es una línea en el DNS. Junto con los registros públicos de la diapositiva anterior, </a:t>
            </a:r>
            <a:r>
              <a:rPr sz="1150" b="1">
                <a:solidFill>
                  <a:srgbClr val="2A2A2A"/>
                </a:solidFill>
                <a:latin typeface="Arial"/>
              </a:rPr>
              <a:t>convierte la emisión fraudulenta de un certificado para la cooperativa en algo difícil y, si ocurre, detectable</a:t>
            </a:r>
            <a:r>
              <a:rPr sz="1150" b="0">
                <a:solidFill>
                  <a:srgbClr val="2A2A2A"/>
                </a:solidFill>
                <a:latin typeface="Arial"/>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22  INCIDENTES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CUANDO FALLA UNA AUTORIDAD: DIGINOTAR Y SYMANTEC</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sistema de confianza depende de unas pocas decenas de entidades. Dos casos muestran qué pasa cuando una falla, y por qué los navegadores son implacables.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CASO</a:t>
            </a:r>
          </a:p>
        </p:txBody>
      </p:sp>
      <p:sp>
        <p:nvSpPr>
          <p:cNvPr id="12" name="TextBox 11"/>
          <p:cNvSpPr txBox="1"/>
          <p:nvPr/>
        </p:nvSpPr>
        <p:spPr>
          <a:xfrm>
            <a:off x="2999049" y="2423159"/>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PASÓ</a:t>
            </a:r>
          </a:p>
        </p:txBody>
      </p:sp>
      <p:sp>
        <p:nvSpPr>
          <p:cNvPr id="13" name="TextBox 12"/>
          <p:cNvSpPr txBox="1"/>
          <p:nvPr/>
        </p:nvSpPr>
        <p:spPr>
          <a:xfrm>
            <a:off x="8084393"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CONSECUENCIA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267529" cy="67665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DigiNotar, 2011</a:t>
            </a:r>
          </a:p>
        </p:txBody>
      </p:sp>
      <p:sp>
        <p:nvSpPr>
          <p:cNvPr id="16" name="TextBox 15"/>
          <p:cNvSpPr txBox="1"/>
          <p:nvPr/>
        </p:nvSpPr>
        <p:spPr>
          <a:xfrm>
            <a:off x="2999049" y="2825495"/>
            <a:ext cx="4920752" cy="67665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intruso emitió más de 500 certificados fraudulentos, incluido uno para los servicios de Google, usado para espiar usuarios en Irán</a:t>
            </a:r>
          </a:p>
        </p:txBody>
      </p:sp>
      <p:sp>
        <p:nvSpPr>
          <p:cNvPr id="17" name="TextBox 16"/>
          <p:cNvSpPr txBox="1"/>
          <p:nvPr/>
        </p:nvSpPr>
        <p:spPr>
          <a:xfrm>
            <a:off x="8084393" y="2825495"/>
            <a:ext cx="3373038" cy="67665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Retirada de todos los navegadores en días. La empresa quebró en semanas</a:t>
            </a:r>
          </a:p>
        </p:txBody>
      </p:sp>
      <p:sp>
        <p:nvSpPr>
          <p:cNvPr id="18" name="Rectangle 17"/>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557015"/>
            <a:ext cx="2267529" cy="67665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Symantec, 2015 a 2017</a:t>
            </a:r>
          </a:p>
        </p:txBody>
      </p:sp>
      <p:sp>
        <p:nvSpPr>
          <p:cNvPr id="20" name="TextBox 19"/>
          <p:cNvSpPr txBox="1"/>
          <p:nvPr/>
        </p:nvSpPr>
        <p:spPr>
          <a:xfrm>
            <a:off x="2999049" y="3557015"/>
            <a:ext cx="4920752" cy="67665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Emisiones indebidas repetidas y controles insuficientes sobre socios que emitían en su nombre</a:t>
            </a:r>
          </a:p>
        </p:txBody>
      </p:sp>
      <p:sp>
        <p:nvSpPr>
          <p:cNvPr id="21" name="TextBox 20"/>
          <p:cNvSpPr txBox="1"/>
          <p:nvPr/>
        </p:nvSpPr>
        <p:spPr>
          <a:xfrm>
            <a:off x="8084393" y="3557015"/>
            <a:ext cx="3373038" cy="67665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Los navegadores retiraron gradualmente la confianza en todos sus certificados. El negocio se vendió</a:t>
            </a:r>
          </a:p>
        </p:txBody>
      </p:sp>
      <p:sp>
        <p:nvSpPr>
          <p:cNvPr id="22" name="Rectangle 21"/>
          <p:cNvSpPr/>
          <p:nvPr/>
        </p:nvSpPr>
        <p:spPr>
          <a:xfrm>
            <a:off x="566928" y="41970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425195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3711"/>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57199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LECCIÓN PARA UNA AUTORIDAD INTERNA</a:t>
            </a:r>
          </a:p>
        </p:txBody>
      </p:sp>
      <p:sp>
        <p:nvSpPr>
          <p:cNvPr id="26" name="TextBox 25"/>
          <p:cNvSpPr txBox="1"/>
          <p:nvPr/>
        </p:nvSpPr>
        <p:spPr>
          <a:xfrm>
            <a:off x="804672" y="4809743"/>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 esto le pasa a entidades auditadas, con personal dedicado y controles certificados, </a:t>
            </a:r>
            <a:r>
              <a:rPr sz="1150" b="1">
                <a:solidFill>
                  <a:srgbClr val="2A2A2A"/>
                </a:solidFill>
                <a:latin typeface="Arial"/>
              </a:rPr>
              <a:t>¿qué confianza merece una autoridad interna montada en un escritorio por un contratista?</a:t>
            </a:r>
            <a:r>
              <a:rPr sz="1150" b="0">
                <a:solidFill>
                  <a:srgbClr val="2A2A2A"/>
                </a:solidFill>
                <a:latin typeface="Arial"/>
              </a:rPr>
              <a:t> Es la pregunta que la sesión le hace al hallazgo H5.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23  AUTENTICACIÓN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000" b="0">
                <a:solidFill>
                  <a:srgbClr val="000000"/>
                </a:solidFill>
                <a:latin typeface="Arial Black"/>
              </a:rPr>
              <a:t>CERTIFICADOS PARA MÁQUINAS: EL OTRO LADO DEL CANAL</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Hasta aquí el certificado lo presenta el servidor y el cliente lo valida. Pero la validación puede ir en los dos sentidos, y para 32 cajeros esa es la solución del hallazgo H6.</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AUTENTICACIÓN MUTUA</a:t>
            </a:r>
          </a:p>
        </p:txBody>
      </p:sp>
      <p:sp>
        <p:nvSpPr>
          <p:cNvPr id="11" name="TextBox 10"/>
          <p:cNvSpPr txBox="1"/>
          <p:nvPr/>
        </p:nvSpPr>
        <p:spPr>
          <a:xfrm>
            <a:off x="566928" y="2578607"/>
            <a:ext cx="5253228" cy="17373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cliente también presenta un certificado y el servidor lo valida con las mismas ocho comprobaciones.</a:t>
            </a:r>
          </a:p>
          <a:p>
            <a:pPr algn="l">
              <a:lnSpc>
                <a:spcPct val="128000"/>
              </a:lnSpc>
              <a:spcAft>
                <a:spcPts val="700"/>
              </a:spcAft>
            </a:pPr>
            <a:r>
              <a:rPr sz="1150" b="0">
                <a:solidFill>
                  <a:srgbClr val="000000"/>
                </a:solidFill>
                <a:latin typeface="Arial"/>
              </a:rPr>
              <a:t>Cada equipo tiene su propia pareja de llaves, su propio certificado y su propia fecha de vencimiento.</a:t>
            </a:r>
          </a:p>
          <a:p>
            <a:pPr algn="l">
              <a:lnSpc>
                <a:spcPct val="128000"/>
              </a:lnSpc>
              <a:spcAft>
                <a:spcPts val="700"/>
              </a:spcAft>
            </a:pPr>
            <a:r>
              <a:rPr sz="1150" b="0">
                <a:solidFill>
                  <a:srgbClr val="000000"/>
                </a:solidFill>
                <a:latin typeface="Arial"/>
              </a:rPr>
              <a:t>No hay llave compartida que se pueda extraer de un equipo para suplantar a los demás.</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RESUELVE EN EL CASO</a:t>
            </a:r>
          </a:p>
        </p:txBody>
      </p:sp>
      <p:sp>
        <p:nvSpPr>
          <p:cNvPr id="13" name="TextBox 12"/>
          <p:cNvSpPr txBox="1"/>
          <p:nvPr/>
        </p:nvSpPr>
        <p:spPr>
          <a:xfrm>
            <a:off x="6368796" y="2578607"/>
            <a:ext cx="5253228" cy="17373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Hoy los 32 cajeros usan llaves cargadas a mano en 2019 y nunca rotadas: si una se filtra, se filtran todas.</a:t>
            </a:r>
          </a:p>
          <a:p>
            <a:pPr algn="l">
              <a:lnSpc>
                <a:spcPct val="128000"/>
              </a:lnSpc>
              <a:spcAft>
                <a:spcPts val="700"/>
              </a:spcAft>
            </a:pPr>
            <a:r>
              <a:rPr sz="1150" b="0">
                <a:solidFill>
                  <a:srgbClr val="000000"/>
                </a:solidFill>
                <a:latin typeface="Arial"/>
              </a:rPr>
              <a:t>Con certificado por cajero, </a:t>
            </a:r>
            <a:r>
              <a:rPr sz="1150" b="1">
                <a:solidFill>
                  <a:srgbClr val="000000"/>
                </a:solidFill>
                <a:latin typeface="Arial"/>
              </a:rPr>
              <a:t>comprometer uno no compromete ninguno más</a:t>
            </a:r>
            <a:r>
              <a:rPr sz="1150" b="0">
                <a:solidFill>
                  <a:srgbClr val="000000"/>
                </a:solidFill>
                <a:latin typeface="Arial"/>
              </a:rPr>
              <a:t>, y revocarlo es una operación de minutos.</a:t>
            </a:r>
          </a:p>
          <a:p>
            <a:pPr algn="l">
              <a:lnSpc>
                <a:spcPct val="128000"/>
              </a:lnSpc>
              <a:spcAft>
                <a:spcPts val="700"/>
              </a:spcAft>
            </a:pPr>
            <a:r>
              <a:rPr sz="1150" b="0">
                <a:solidFill>
                  <a:srgbClr val="000000"/>
                </a:solidFill>
                <a:latin typeface="Arial"/>
              </a:rPr>
              <a:t>El costo aparece en otro sitio: hay que administrar 32 ciclos de vida en vez de uno. Eso ya no es criptografía, es gestión.</a:t>
            </a:r>
          </a:p>
        </p:txBody>
      </p:sp>
      <p:sp>
        <p:nvSpPr>
          <p:cNvPr id="14" name="Rectangle 13"/>
          <p:cNvSpPr/>
          <p:nvPr/>
        </p:nvSpPr>
        <p:spPr>
          <a:xfrm>
            <a:off x="6085332" y="2304287"/>
            <a:ext cx="9144" cy="2011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24  OPERACIÓN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CUESTA UN CERTIFICADO VENCIDO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causa de caída más frecuente relacionada con certificados no es un ataque. Es una fecha que nadie estaba vigilando, y el patrón se repite en todo el mundo.</a:t>
            </a:r>
          </a:p>
        </p:txBody>
      </p:sp>
      <p:sp>
        <p:nvSpPr>
          <p:cNvPr id="10" name="Rectangle 9"/>
          <p:cNvSpPr/>
          <p:nvPr/>
        </p:nvSpPr>
        <p:spPr>
          <a:xfrm>
            <a:off x="566928" y="2304287"/>
            <a:ext cx="5353812" cy="21488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PASA SIEMPRE</a:t>
            </a:r>
          </a:p>
        </p:txBody>
      </p:sp>
      <p:sp>
        <p:nvSpPr>
          <p:cNvPr id="12" name="TextBox 11"/>
          <p:cNvSpPr txBox="1"/>
          <p:nvPr/>
        </p:nvSpPr>
        <p:spPr>
          <a:xfrm>
            <a:off x="786384" y="2633471"/>
            <a:ext cx="4914900" cy="16916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Quien instaló el certificado ya no trabaja allí, o lo instaló como parte de otro proyecto.</a:t>
            </a:r>
          </a:p>
          <a:p>
            <a:pPr algn="l">
              <a:lnSpc>
                <a:spcPct val="128000"/>
              </a:lnSpc>
              <a:spcAft>
                <a:spcPts val="700"/>
              </a:spcAft>
            </a:pPr>
            <a:r>
              <a:rPr sz="1150" b="0">
                <a:solidFill>
                  <a:srgbClr val="000000"/>
                </a:solidFill>
                <a:latin typeface="Arial"/>
              </a:rPr>
              <a:t>El recordatorio quedó en el calendario de una persona, no en un proceso.</a:t>
            </a:r>
          </a:p>
          <a:p>
            <a:pPr algn="l">
              <a:lnSpc>
                <a:spcPct val="128000"/>
              </a:lnSpc>
              <a:spcAft>
                <a:spcPts val="700"/>
              </a:spcAft>
            </a:pPr>
            <a:r>
              <a:rPr sz="1150" b="0">
                <a:solidFill>
                  <a:srgbClr val="000000"/>
                </a:solidFill>
                <a:latin typeface="Arial"/>
              </a:rPr>
              <a:t>El servicio afectado suele ser interno y sin monitoreo: una cola, un servicio de pagos, un canal con un tercero.</a:t>
            </a:r>
          </a:p>
          <a:p>
            <a:pPr algn="l">
              <a:lnSpc>
                <a:spcPct val="128000"/>
              </a:lnSpc>
              <a:spcAft>
                <a:spcPts val="700"/>
              </a:spcAft>
            </a:pPr>
            <a:r>
              <a:rPr sz="1150" b="0">
                <a:solidFill>
                  <a:srgbClr val="000000"/>
                </a:solidFill>
                <a:latin typeface="Arial"/>
              </a:rPr>
              <a:t>Operadores de telefonía, plataformas de pago y servicios de gobierno han tenido caídas de alcance nacional exactamente por esto.</a:t>
            </a:r>
          </a:p>
        </p:txBody>
      </p:sp>
      <p:sp>
        <p:nvSpPr>
          <p:cNvPr id="13" name="Rectangle 12"/>
          <p:cNvSpPr/>
          <p:nvPr/>
        </p:nvSpPr>
        <p:spPr>
          <a:xfrm>
            <a:off x="6268212" y="2304287"/>
            <a:ext cx="5353812" cy="21488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MEDIDA MÁS RENTABLE DEL MÓDULO</a:t>
            </a:r>
          </a:p>
        </p:txBody>
      </p:sp>
      <p:sp>
        <p:nvSpPr>
          <p:cNvPr id="15" name="TextBox 14"/>
          <p:cNvSpPr txBox="1"/>
          <p:nvPr/>
        </p:nvSpPr>
        <p:spPr>
          <a:xfrm>
            <a:off x="6487668" y="2633471"/>
            <a:ext cx="4914900" cy="16916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inventario de certificados con cuatro columnas: </a:t>
            </a:r>
            <a:r>
              <a:rPr sz="1150" b="1">
                <a:solidFill>
                  <a:srgbClr val="000000"/>
                </a:solidFill>
                <a:latin typeface="Arial"/>
              </a:rPr>
              <a:t>qué ampara, quién responde, cuándo vence y cómo se renueva</a:t>
            </a:r>
            <a:r>
              <a:rPr sz="1150" b="0">
                <a:solidFill>
                  <a:srgbClr val="000000"/>
                </a:solidFill>
                <a:latin typeface="Arial"/>
              </a:rPr>
              <a:t>.</a:t>
            </a:r>
          </a:p>
          <a:p>
            <a:pPr algn="l">
              <a:lnSpc>
                <a:spcPct val="128000"/>
              </a:lnSpc>
              <a:spcAft>
                <a:spcPts val="700"/>
              </a:spcAft>
            </a:pPr>
            <a:r>
              <a:rPr sz="1150" b="0">
                <a:solidFill>
                  <a:srgbClr val="000000"/>
                </a:solidFill>
                <a:latin typeface="Arial"/>
              </a:rPr>
              <a:t>Con alertas a 60, 30 y 7 días, dirigidas a un rol y no a una persona.</a:t>
            </a:r>
          </a:p>
          <a:p>
            <a:pPr algn="l">
              <a:lnSpc>
                <a:spcPct val="128000"/>
              </a:lnSpc>
              <a:spcAft>
                <a:spcPts val="700"/>
              </a:spcAft>
            </a:pPr>
            <a:r>
              <a:rPr sz="1150" b="0">
                <a:solidFill>
                  <a:srgbClr val="000000"/>
                </a:solidFill>
                <a:latin typeface="Arial"/>
              </a:rPr>
              <a:t>No cuesta dinero, no requiere producto y evita la mayoría de los incidentes de este tipo.</a:t>
            </a:r>
          </a:p>
          <a:p>
            <a:pPr algn="l">
              <a:lnSpc>
                <a:spcPct val="128000"/>
              </a:lnSpc>
              <a:spcAft>
                <a:spcPts val="700"/>
              </a:spcAft>
            </a:pPr>
            <a:r>
              <a:rPr sz="1150" b="0">
                <a:solidFill>
                  <a:srgbClr val="000000"/>
                </a:solidFill>
                <a:latin typeface="Arial"/>
              </a:rPr>
              <a:t>Y es, otra vez, una porción del inventario criptográfico del hallazgo H8.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04</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EL CANAL SEGURO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Bloque 10 · Cómo se usa todo lo anterior cada vez que alguien abre el portal</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25  PROTOCOLO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PASA EN UN APRETÓN DE MANOS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Aquí se juntan las cinco sesiones anteriores. Vale la pena seguirlo paso a paso porque cada paso corresponde a algo que ya estudiamos.</a:t>
            </a:r>
          </a:p>
        </p:txBody>
      </p:sp>
      <p:sp>
        <p:nvSpPr>
          <p:cNvPr id="10" name="TextBox 9"/>
          <p:cNvSpPr txBox="1"/>
          <p:nvPr/>
        </p:nvSpPr>
        <p:spPr>
          <a:xfrm>
            <a:off x="566928" y="235000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6829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cliente saluda y propone versiones y suites, con su parte efímera del acuerdo de llave</a:t>
            </a:r>
          </a:p>
        </p:txBody>
      </p:sp>
      <p:sp>
        <p:nvSpPr>
          <p:cNvPr id="12" name="TextBox 11"/>
          <p:cNvSpPr txBox="1"/>
          <p:nvPr/>
        </p:nvSpPr>
        <p:spPr>
          <a:xfrm>
            <a:off x="1280160" y="2606039"/>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Acuerdo de llave sobre canal público: la sesión 4. La parte efímera es lo que da confidencialidad persistente.</a:t>
            </a:r>
          </a:p>
        </p:txBody>
      </p:sp>
      <p:sp>
        <p:nvSpPr>
          <p:cNvPr id="13" name="TextBox 12"/>
          <p:cNvSpPr txBox="1"/>
          <p:nvPr/>
        </p:nvSpPr>
        <p:spPr>
          <a:xfrm>
            <a:off x="566928" y="302666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04495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servidor responde con su parte efímera y, desde ese punto, todo va cifrado</a:t>
            </a:r>
          </a:p>
        </p:txBody>
      </p:sp>
      <p:sp>
        <p:nvSpPr>
          <p:cNvPr id="15" name="TextBox 14"/>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Ambos derivan las mismas llaves de sesión con una función de derivación: la sesión 3.</a:t>
            </a:r>
          </a:p>
        </p:txBody>
      </p:sp>
      <p:sp>
        <p:nvSpPr>
          <p:cNvPr id="16" name="TextBox 15"/>
          <p:cNvSpPr txBox="1"/>
          <p:nvPr/>
        </p:nvSpPr>
        <p:spPr>
          <a:xfrm>
            <a:off x="566928" y="3703319"/>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72160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servidor envía su certificado y firma la conversación completa</a:t>
            </a:r>
          </a:p>
        </p:txBody>
      </p:sp>
      <p:sp>
        <p:nvSpPr>
          <p:cNvPr id="18" name="TextBox 17"/>
          <p:cNvSpPr txBox="1"/>
          <p:nvPr/>
        </p:nvSpPr>
        <p:spPr>
          <a:xfrm>
            <a:off x="1280160" y="3959351"/>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Esa firma prueba que posee la llave privada del certificado. Sin ella, cualquiera podría reenviar un certificado ajeno.</a:t>
            </a:r>
          </a:p>
        </p:txBody>
      </p:sp>
      <p:sp>
        <p:nvSpPr>
          <p:cNvPr id="19" name="TextBox 18"/>
          <p:cNvSpPr txBox="1"/>
          <p:nvPr/>
        </p:nvSpPr>
        <p:spPr>
          <a:xfrm>
            <a:off x="566928" y="4379975"/>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39826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cliente valida cadena, fechas, nombre, usos y estado, y solo entonces continúa</a:t>
            </a:r>
          </a:p>
        </p:txBody>
      </p:sp>
      <p:sp>
        <p:nvSpPr>
          <p:cNvPr id="21" name="TextBox 20"/>
          <p:cNvSpPr txBox="1"/>
          <p:nvPr/>
        </p:nvSpPr>
        <p:spPr>
          <a:xfrm>
            <a:off x="1280160" y="4636007"/>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Las ocho comprobaciones de hace un rato. Aquí es donde Coopaburrá falla y aparece la advertencia.</a:t>
            </a:r>
          </a:p>
        </p:txBody>
      </p:sp>
      <p:sp>
        <p:nvSpPr>
          <p:cNvPr id="22" name="TextBox 21"/>
          <p:cNvSpPr txBox="1"/>
          <p:nvPr/>
        </p:nvSpPr>
        <p:spPr>
          <a:xfrm>
            <a:off x="566928" y="5056631"/>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3" name="TextBox 22"/>
          <p:cNvSpPr txBox="1"/>
          <p:nvPr/>
        </p:nvSpPr>
        <p:spPr>
          <a:xfrm>
            <a:off x="1280160" y="507491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Todo el tráfico se cifra con un modo autenticado</a:t>
            </a:r>
          </a:p>
        </p:txBody>
      </p:sp>
      <p:sp>
        <p:nvSpPr>
          <p:cNvPr id="24" name="TextBox 23"/>
          <p:cNvSpPr txBox="1"/>
          <p:nvPr/>
        </p:nvSpPr>
        <p:spPr>
          <a:xfrm>
            <a:off x="1280160" y="531266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AES-GCM o similar: la sesión 2. Confidencialidad e integridad en la misma operación.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26  PROTOCOLO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EL APRETÓN DE MANOS DE TLS 1.3, MENSAJE POR MENSAJE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misma secuencia de la diapositiva anterior, con los nombres que aparecen en una captura de tráfico. Es lo que un especialista debe poder leer en una herramienta de análisis.</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TLS 1.3 · RFC 8446</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Cliente → Servidor   ClientHello         versiones, suites y parte efímera del acuerdo</a:t>
            </a:r>
          </a:p>
          <a:p>
            <a:pPr algn="l">
              <a:lnSpc>
                <a:spcPct val="130000"/>
              </a:lnSpc>
              <a:spcAft>
                <a:spcPts val="0"/>
              </a:spcAft>
            </a:pPr>
            <a:r>
              <a:rPr sz="950" b="0">
                <a:solidFill>
                  <a:srgbClr val="000000"/>
                </a:solidFill>
                <a:latin typeface="Consolas"/>
              </a:rPr>
              <a:t>Servidor → Cliente   ServerHello         suite elegida y su parte efímera</a:t>
            </a:r>
          </a:p>
          <a:p>
            <a:pPr algn="l">
              <a:lnSpc>
                <a:spcPct val="130000"/>
              </a:lnSpc>
              <a:spcAft>
                <a:spcPts val="0"/>
              </a:spcAft>
            </a:pPr>
            <a:r>
              <a:rPr sz="950" b="0">
                <a:solidFill>
                  <a:srgbClr val="000000"/>
                </a:solidFill>
                <a:latin typeface="Consolas"/>
              </a:rPr>
              <a:t>                     --- desde aquí todo va cifrado, con llaves derivadas por HKDF ---</a:t>
            </a:r>
          </a:p>
          <a:p>
            <a:pPr algn="l">
              <a:lnSpc>
                <a:spcPct val="130000"/>
              </a:lnSpc>
              <a:spcAft>
                <a:spcPts val="0"/>
              </a:spcAft>
            </a:pPr>
            <a:r>
              <a:rPr sz="950" b="0">
                <a:solidFill>
                  <a:srgbClr val="000000"/>
                </a:solidFill>
                <a:latin typeface="Consolas"/>
              </a:rPr>
              <a:t>                     EncryptedExtensions</a:t>
            </a:r>
          </a:p>
          <a:p>
            <a:pPr algn="l">
              <a:lnSpc>
                <a:spcPct val="130000"/>
              </a:lnSpc>
              <a:spcAft>
                <a:spcPts val="0"/>
              </a:spcAft>
            </a:pPr>
            <a:r>
              <a:rPr sz="950" b="0">
                <a:solidFill>
                  <a:srgbClr val="000000"/>
                </a:solidFill>
                <a:latin typeface="Consolas"/>
              </a:rPr>
              <a:t>                     Certificate         la cadena del servidor</a:t>
            </a:r>
          </a:p>
          <a:p>
            <a:pPr algn="l">
              <a:lnSpc>
                <a:spcPct val="130000"/>
              </a:lnSpc>
              <a:spcAft>
                <a:spcPts val="0"/>
              </a:spcAft>
            </a:pPr>
            <a:r>
              <a:rPr sz="950" b="0">
                <a:solidFill>
                  <a:srgbClr val="000000"/>
                </a:solidFill>
                <a:latin typeface="Consolas"/>
              </a:rPr>
              <a:t>                     CertificateVerify   firma sobre todo lo anterior: prueba la llave privada</a:t>
            </a:r>
          </a:p>
          <a:p>
            <a:pPr algn="l">
              <a:lnSpc>
                <a:spcPct val="130000"/>
              </a:lnSpc>
              <a:spcAft>
                <a:spcPts val="0"/>
              </a:spcAft>
            </a:pPr>
            <a:r>
              <a:rPr sz="950" b="0">
                <a:solidFill>
                  <a:srgbClr val="000000"/>
                </a:solidFill>
                <a:latin typeface="Consolas"/>
              </a:rPr>
              <a:t>                     Finished            resumen autenticado de la conversación</a:t>
            </a:r>
          </a:p>
          <a:p>
            <a:pPr algn="l">
              <a:lnSpc>
                <a:spcPct val="130000"/>
              </a:lnSpc>
              <a:spcAft>
                <a:spcPts val="0"/>
              </a:spcAft>
            </a:pPr>
            <a:r>
              <a:rPr sz="950" b="0">
                <a:solidFill>
                  <a:srgbClr val="000000"/>
                </a:solidFill>
                <a:latin typeface="Consolas"/>
              </a:rPr>
              <a:t>Cliente → Servidor   Finished</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Un solo viaje de ida y vuelta antes de enviar datos. La versión 1.2 necesitaba dos.</a:t>
            </a:r>
          </a:p>
        </p:txBody>
      </p:sp>
      <p:sp>
        <p:nvSpPr>
          <p:cNvPr id="13" name="Rectangle 12"/>
          <p:cNvSpPr/>
          <p:nvPr/>
        </p:nvSpPr>
        <p:spPr>
          <a:xfrm>
            <a:off x="566928" y="5029200"/>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474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SE VE Y LO QUE NO</a:t>
            </a:r>
          </a:p>
        </p:txBody>
      </p:sp>
      <p:sp>
        <p:nvSpPr>
          <p:cNvPr id="15" name="TextBox 14"/>
          <p:cNvSpPr txBox="1"/>
          <p:nvPr/>
        </p:nvSpPr>
        <p:spPr>
          <a:xfrm>
            <a:off x="804672" y="5285232"/>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una captura solo se leen los dos primeros mensajes; el resto va cifrado, incluido el certificado. </a:t>
            </a:r>
            <a:r>
              <a:rPr sz="1150" b="1">
                <a:solidFill>
                  <a:srgbClr val="2A2A2A"/>
                </a:solidFill>
                <a:latin typeface="Arial"/>
              </a:rPr>
              <a:t>En la versión 1.2 el certificado viajaba en claro</a:t>
            </a:r>
            <a:r>
              <a:rPr sz="1150" b="0">
                <a:solidFill>
                  <a:srgbClr val="2A2A2A"/>
                </a:solidFill>
                <a:latin typeface="Arial"/>
              </a:rPr>
              <a:t>, y por eso muchas herramientas de monitoreo antiguas dejaron de funcionar con la 1.3.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27  VERSIONES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QUÉ VERSIÓN SE USA Y CUÁL HAY QUE APAGAR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32</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VERSIÓN</a:t>
            </a:r>
          </a:p>
        </p:txBody>
      </p:sp>
      <p:sp>
        <p:nvSpPr>
          <p:cNvPr id="11" name="TextBox 10"/>
          <p:cNvSpPr txBox="1"/>
          <p:nvPr/>
        </p:nvSpPr>
        <p:spPr>
          <a:xfrm>
            <a:off x="2999049" y="1673352"/>
            <a:ext cx="536295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ESTADO</a:t>
            </a:r>
          </a:p>
        </p:txBody>
      </p:sp>
      <p:sp>
        <p:nvSpPr>
          <p:cNvPr id="12" name="TextBox 11"/>
          <p:cNvSpPr txBox="1"/>
          <p:nvPr/>
        </p:nvSpPr>
        <p:spPr>
          <a:xfrm>
            <a:off x="8526597" y="1673352"/>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HACER</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2267529" cy="603503"/>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TLS 1.0 y 1.1</a:t>
            </a:r>
          </a:p>
        </p:txBody>
      </p:sp>
      <p:sp>
        <p:nvSpPr>
          <p:cNvPr id="15" name="TextBox 14"/>
          <p:cNvSpPr txBox="1"/>
          <p:nvPr/>
        </p:nvSpPr>
        <p:spPr>
          <a:xfrm>
            <a:off x="2999049" y="2075688"/>
            <a:ext cx="5362956"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Formalmente retiradas por el organismo de estándares en 2021. La norma de tarjetas exige apagar la 1.0 desde 2018</a:t>
            </a:r>
          </a:p>
        </p:txBody>
      </p:sp>
      <p:sp>
        <p:nvSpPr>
          <p:cNvPr id="16" name="TextBox 15"/>
          <p:cNvSpPr txBox="1"/>
          <p:nvPr/>
        </p:nvSpPr>
        <p:spPr>
          <a:xfrm>
            <a:off x="8526597" y="2075688"/>
            <a:ext cx="2930834"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Apagar. Están habilitadas en el portal de Coopaburrá, según la evidencia A</a:t>
            </a:r>
          </a:p>
        </p:txBody>
      </p:sp>
      <p:sp>
        <p:nvSpPr>
          <p:cNvPr id="17" name="Rectangle 16"/>
          <p:cNvSpPr/>
          <p:nvPr/>
        </p:nvSpPr>
        <p:spPr>
          <a:xfrm>
            <a:off x="566928" y="26426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734056"/>
            <a:ext cx="2267529" cy="603503"/>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TLS 1.2</a:t>
            </a:r>
          </a:p>
        </p:txBody>
      </p:sp>
      <p:sp>
        <p:nvSpPr>
          <p:cNvPr id="19" name="TextBox 18"/>
          <p:cNvSpPr txBox="1"/>
          <p:nvPr/>
        </p:nvSpPr>
        <p:spPr>
          <a:xfrm>
            <a:off x="2999049" y="2734056"/>
            <a:ext cx="5362956"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Vigente y mayoritaria, pero admite suites antiguas si se configura mal</a:t>
            </a:r>
          </a:p>
        </p:txBody>
      </p:sp>
      <p:sp>
        <p:nvSpPr>
          <p:cNvPr id="20" name="TextBox 19"/>
          <p:cNvSpPr txBox="1"/>
          <p:nvPr/>
        </p:nvSpPr>
        <p:spPr>
          <a:xfrm>
            <a:off x="8526597" y="2734056"/>
            <a:ext cx="2930834"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Mantener, restringiendo las suites a las que dan confidencialidad persistente</a:t>
            </a:r>
          </a:p>
        </p:txBody>
      </p:sp>
      <p:sp>
        <p:nvSpPr>
          <p:cNvPr id="21" name="Rectangle 20"/>
          <p:cNvSpPr/>
          <p:nvPr/>
        </p:nvSpPr>
        <p:spPr>
          <a:xfrm>
            <a:off x="566928" y="33009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392423"/>
            <a:ext cx="2267529" cy="6680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TLS 1.3</a:t>
            </a:r>
          </a:p>
        </p:txBody>
      </p:sp>
      <p:sp>
        <p:nvSpPr>
          <p:cNvPr id="23" name="TextBox 22"/>
          <p:cNvSpPr txBox="1"/>
          <p:nvPr/>
        </p:nvSpPr>
        <p:spPr>
          <a:xfrm>
            <a:off x="2999049" y="3392423"/>
            <a:ext cx="5362956"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versión moderna: menos viajes, solo acuerdos efímeros, solo modos autenticados</a:t>
            </a:r>
          </a:p>
        </p:txBody>
      </p:sp>
      <p:sp>
        <p:nvSpPr>
          <p:cNvPr id="24" name="TextBox 23"/>
          <p:cNvSpPr txBox="1"/>
          <p:nvPr/>
        </p:nvSpPr>
        <p:spPr>
          <a:xfrm>
            <a:off x="8526597" y="3392423"/>
            <a:ext cx="2930834" cy="6680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Habilitar y preferir. Elimina por diseño la mayoría de los errores de configuración</a:t>
            </a:r>
          </a:p>
        </p:txBody>
      </p:sp>
      <p:sp>
        <p:nvSpPr>
          <p:cNvPr id="25" name="Rectangle 24"/>
          <p:cNvSpPr/>
          <p:nvPr/>
        </p:nvSpPr>
        <p:spPr>
          <a:xfrm>
            <a:off x="566928" y="402390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078772"/>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380524"/>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39881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HACE FUERTE A LA VERSIÓN 1.3 NO ES UN ALGORITMO NUEVO</a:t>
            </a:r>
          </a:p>
        </p:txBody>
      </p:sp>
      <p:sp>
        <p:nvSpPr>
          <p:cNvPr id="29" name="TextBox 28"/>
          <p:cNvSpPr txBox="1"/>
          <p:nvPr/>
        </p:nvSpPr>
        <p:spPr>
          <a:xfrm>
            <a:off x="804672" y="4636556"/>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Es haber </a:t>
            </a:r>
            <a:r>
              <a:rPr sz="1150" b="1">
                <a:solidFill>
                  <a:srgbClr val="2A2A2A"/>
                </a:solidFill>
                <a:latin typeface="Arial"/>
              </a:rPr>
              <a:t>quitado opciones</a:t>
            </a:r>
            <a:r>
              <a:rPr sz="1150" b="0">
                <a:solidFill>
                  <a:srgbClr val="2A2A2A"/>
                </a:solidFill>
                <a:latin typeface="Arial"/>
              </a:rPr>
              <a:t>: eliminó los acuerdos sin confidencialidad persistente, los modos sin autenticación y las suites heredadas. Pasó de decenas de combinaciones posibles a un puñado. Menos opciones, menos formas de equivocarse.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28  TRANSICIÓN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EL CANAL SEGURO YA ES POST-CUÁNTICO, EN PARTE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transición no es futura: ya empezó en el canal seguro. Los navegadores principales y OpenSSL 3.5 negocian hoy, por defecto, un acuerdo de llave híbrido.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ASPECTO</a:t>
            </a:r>
          </a:p>
        </p:txBody>
      </p:sp>
      <p:sp>
        <p:nvSpPr>
          <p:cNvPr id="12" name="TextBox 11"/>
          <p:cNvSpPr txBox="1"/>
          <p:nvPr/>
        </p:nvSpPr>
        <p:spPr>
          <a:xfrm>
            <a:off x="3441252" y="2423159"/>
            <a:ext cx="801617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DETALLE</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2709732"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acuerdo híbrido</a:t>
            </a:r>
          </a:p>
        </p:txBody>
      </p:sp>
      <p:sp>
        <p:nvSpPr>
          <p:cNvPr id="15" name="TextBox 14"/>
          <p:cNvSpPr txBox="1"/>
          <p:nvPr/>
        </p:nvSpPr>
        <p:spPr>
          <a:xfrm>
            <a:off x="3441252" y="2825495"/>
            <a:ext cx="801617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X25519MLKEM768: combina la curva clásica X25519 con ML-KEM-768, el estándar post-cuántico de 2024</a:t>
            </a:r>
          </a:p>
        </p:txBody>
      </p:sp>
      <p:sp>
        <p:nvSpPr>
          <p:cNvPr id="16" name="Rectangle 15"/>
          <p:cNvSpPr/>
          <p:nvPr/>
        </p:nvSpPr>
        <p:spPr>
          <a:xfrm>
            <a:off x="566928" y="31363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27831"/>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Por qué híbrido</a:t>
            </a:r>
          </a:p>
        </p:txBody>
      </p:sp>
      <p:sp>
        <p:nvSpPr>
          <p:cNvPr id="18" name="TextBox 17"/>
          <p:cNvSpPr txBox="1"/>
          <p:nvPr/>
        </p:nvSpPr>
        <p:spPr>
          <a:xfrm>
            <a:off x="3441252" y="3227831"/>
            <a:ext cx="801617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 alguno de los dos se rompe, el otro sigue protegiendo: el clásico cubre un posible fallo del nuevo, y viceversa</a:t>
            </a:r>
          </a:p>
        </p:txBody>
      </p:sp>
      <p:sp>
        <p:nvSpPr>
          <p:cNvPr id="19" name="Rectangle 18"/>
          <p:cNvSpPr/>
          <p:nvPr/>
        </p:nvSpPr>
        <p:spPr>
          <a:xfrm>
            <a:off x="566928" y="367625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67693"/>
            <a:ext cx="2709732"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Qué protege</a:t>
            </a:r>
          </a:p>
        </p:txBody>
      </p:sp>
      <p:sp>
        <p:nvSpPr>
          <p:cNvPr id="21" name="TextBox 20"/>
          <p:cNvSpPr txBox="1"/>
          <p:nvPr/>
        </p:nvSpPr>
        <p:spPr>
          <a:xfrm>
            <a:off x="3441252" y="3767693"/>
            <a:ext cx="801617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confidencialidad del tráfico frente a quien lo grabe hoy para descifrarlo cuando exista un computador cuántico</a:t>
            </a:r>
          </a:p>
        </p:txBody>
      </p:sp>
      <p:sp>
        <p:nvSpPr>
          <p:cNvPr id="22" name="Rectangle 21"/>
          <p:cNvSpPr/>
          <p:nvPr/>
        </p:nvSpPr>
        <p:spPr>
          <a:xfrm>
            <a:off x="566928" y="40785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70029"/>
            <a:ext cx="2709732"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no protege todavía</a:t>
            </a:r>
          </a:p>
        </p:txBody>
      </p:sp>
      <p:sp>
        <p:nvSpPr>
          <p:cNvPr id="24" name="TextBox 23"/>
          <p:cNvSpPr txBox="1"/>
          <p:nvPr/>
        </p:nvSpPr>
        <p:spPr>
          <a:xfrm>
            <a:off x="3441252" y="4170029"/>
            <a:ext cx="801617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autenticación: los certificados siguen firmados con RSA o con curvas elípticas</a:t>
            </a:r>
          </a:p>
        </p:txBody>
      </p:sp>
      <p:sp>
        <p:nvSpPr>
          <p:cNvPr id="25" name="Rectangle 24"/>
          <p:cNvSpPr/>
          <p:nvPr/>
        </p:nvSpPr>
        <p:spPr>
          <a:xfrm>
            <a:off x="566928" y="448092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572365"/>
            <a:ext cx="2709732"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hay que revisar</a:t>
            </a:r>
          </a:p>
        </p:txBody>
      </p:sp>
      <p:sp>
        <p:nvSpPr>
          <p:cNvPr id="27" name="TextBox 26"/>
          <p:cNvSpPr txBox="1"/>
          <p:nvPr/>
        </p:nvSpPr>
        <p:spPr>
          <a:xfrm>
            <a:off x="3441252" y="4572365"/>
            <a:ext cx="801617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 el balanceador, el cortafuegos o el servidor del portal lo admiten, o si lo están bloqueando</a:t>
            </a:r>
          </a:p>
        </p:txBody>
      </p:sp>
      <p:sp>
        <p:nvSpPr>
          <p:cNvPr id="28" name="Rectangle 27"/>
          <p:cNvSpPr/>
          <p:nvPr/>
        </p:nvSpPr>
        <p:spPr>
          <a:xfrm>
            <a:off x="566928" y="488326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493812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239877"/>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525816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PARA COOPABURRÁ</a:t>
            </a:r>
          </a:p>
        </p:txBody>
      </p:sp>
      <p:sp>
        <p:nvSpPr>
          <p:cNvPr id="32" name="TextBox 31"/>
          <p:cNvSpPr txBox="1"/>
          <p:nvPr/>
        </p:nvSpPr>
        <p:spPr>
          <a:xfrm>
            <a:off x="804672" y="5495909"/>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Con TLS 1.0 y 1.1 todavía habilitados, el portal está a dos generaciones de esto. </a:t>
            </a:r>
            <a:r>
              <a:rPr sz="1150" b="1">
                <a:solidFill>
                  <a:srgbClr val="2A2A2A"/>
                </a:solidFill>
                <a:latin typeface="Arial"/>
              </a:rPr>
              <a:t>Actualizar la configuración no solo cierra el hallazgo de hoy: pone al portal en la ruta de la transición</a:t>
            </a:r>
            <a:r>
              <a:rPr sz="1150" b="0">
                <a:solidFill>
                  <a:srgbClr val="2A2A2A"/>
                </a:solidFill>
                <a:latin typeface="Arial"/>
              </a:rPr>
              <a:t> de la sesión 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29  LÍMITES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EL CANAL SEGURO NO PROTEGE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candado del navegador se ha convertido en un símbolo de seguridad general, y no lo es. Estas cinco frases valen para el informe y para cualquier conversación con la gerencia.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CREENCIA</a:t>
            </a:r>
          </a:p>
        </p:txBody>
      </p:sp>
      <p:sp>
        <p:nvSpPr>
          <p:cNvPr id="12" name="TextBox 11"/>
          <p:cNvSpPr txBox="1"/>
          <p:nvPr/>
        </p:nvSpPr>
        <p:spPr>
          <a:xfrm>
            <a:off x="4546762" y="2423159"/>
            <a:ext cx="691066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REALIDAD</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3815242"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dato está protegido porque viaja cifrado</a:t>
            </a:r>
          </a:p>
        </p:txBody>
      </p:sp>
      <p:sp>
        <p:nvSpPr>
          <p:cNvPr id="15" name="TextBox 14"/>
          <p:cNvSpPr txBox="1"/>
          <p:nvPr/>
        </p:nvSpPr>
        <p:spPr>
          <a:xfrm>
            <a:off x="4546762" y="2825495"/>
            <a:ext cx="6910669"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Protege el transporte. En el servidor llega en claro, y ahí está el hallazgo H3 esperando</a:t>
            </a:r>
          </a:p>
        </p:txBody>
      </p:sp>
      <p:sp>
        <p:nvSpPr>
          <p:cNvPr id="16" name="Rectangle 15"/>
          <p:cNvSpPr/>
          <p:nvPr/>
        </p:nvSpPr>
        <p:spPr>
          <a:xfrm>
            <a:off x="566928" y="317296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64407"/>
            <a:ext cx="3815242"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Si hay candado, el sitio es legítimo</a:t>
            </a:r>
          </a:p>
        </p:txBody>
      </p:sp>
      <p:sp>
        <p:nvSpPr>
          <p:cNvPr id="18" name="TextBox 17"/>
          <p:cNvSpPr txBox="1"/>
          <p:nvPr/>
        </p:nvSpPr>
        <p:spPr>
          <a:xfrm>
            <a:off x="4546762" y="3264407"/>
            <a:ext cx="691066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sitio de fraude obtiene un certificado válido gratis y en minutos. El candado dice canal cifrado, no sitio honesto</a:t>
            </a:r>
          </a:p>
        </p:txBody>
      </p:sp>
      <p:sp>
        <p:nvSpPr>
          <p:cNvPr id="19" name="Rectangle 18"/>
          <p:cNvSpPr/>
          <p:nvPr/>
        </p:nvSpPr>
        <p:spPr>
          <a:xfrm>
            <a:off x="566928" y="371282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804269"/>
            <a:ext cx="381524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Nadie sabe qué páginas visito</a:t>
            </a:r>
          </a:p>
        </p:txBody>
      </p:sp>
      <p:sp>
        <p:nvSpPr>
          <p:cNvPr id="21" name="TextBox 20"/>
          <p:cNvSpPr txBox="1"/>
          <p:nvPr/>
        </p:nvSpPr>
        <p:spPr>
          <a:xfrm>
            <a:off x="4546762" y="3804269"/>
            <a:ext cx="691066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contenido va cifrado, pero el nombre del servidor y las direcciones siguen siendo observables en buena medida</a:t>
            </a:r>
          </a:p>
        </p:txBody>
      </p:sp>
      <p:sp>
        <p:nvSpPr>
          <p:cNvPr id="22" name="Rectangle 21"/>
          <p:cNvSpPr/>
          <p:nvPr/>
        </p:nvSpPr>
        <p:spPr>
          <a:xfrm>
            <a:off x="566928" y="42526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344131"/>
            <a:ext cx="3815242"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Protege de todos</a:t>
            </a:r>
          </a:p>
        </p:txBody>
      </p:sp>
      <p:sp>
        <p:nvSpPr>
          <p:cNvPr id="24" name="TextBox 23"/>
          <p:cNvSpPr txBox="1"/>
          <p:nvPr/>
        </p:nvSpPr>
        <p:spPr>
          <a:xfrm>
            <a:off x="4546762" y="4344131"/>
            <a:ext cx="6910669"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protege del operador del sitio, ni de quien administre los equipos donde termina el canal</a:t>
            </a:r>
          </a:p>
        </p:txBody>
      </p:sp>
      <p:sp>
        <p:nvSpPr>
          <p:cNvPr id="25" name="Rectangle 24"/>
          <p:cNvSpPr/>
          <p:nvPr/>
        </p:nvSpPr>
        <p:spPr>
          <a:xfrm>
            <a:off x="566928" y="46916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783043"/>
            <a:ext cx="381524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Está bien porque el navegador no se queja</a:t>
            </a:r>
          </a:p>
        </p:txBody>
      </p:sp>
      <p:sp>
        <p:nvSpPr>
          <p:cNvPr id="27" name="TextBox 26"/>
          <p:cNvSpPr txBox="1"/>
          <p:nvPr/>
        </p:nvSpPr>
        <p:spPr>
          <a:xfrm>
            <a:off x="4546762" y="4783043"/>
            <a:ext cx="691066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navegador puede aceptar configuraciones antiguas sin decir nada. La ausencia de advertencia no es un diagnóstico</a:t>
            </a:r>
          </a:p>
        </p:txBody>
      </p:sp>
      <p:sp>
        <p:nvSpPr>
          <p:cNvPr id="28" name="Rectangle 27"/>
          <p:cNvSpPr/>
          <p:nvPr/>
        </p:nvSpPr>
        <p:spPr>
          <a:xfrm>
            <a:off x="566928" y="52314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28632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30  NAVEGADOR</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HSTS: QUE EL NAVEGADOR NO ACEPTE MENOS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canal seguro bien configurado todavía se puede saltar si el usuario llega por primera vez sin cifrado. HSTS le ordena al navegador no volver a conectarse de otra forma.</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ATAQUE QUE PREVIENE</a:t>
            </a:r>
          </a:p>
        </p:txBody>
      </p:sp>
      <p:sp>
        <p:nvSpPr>
          <p:cNvPr id="11" name="TextBox 10"/>
          <p:cNvSpPr txBox="1"/>
          <p:nvPr/>
        </p:nvSpPr>
        <p:spPr>
          <a:xfrm>
            <a:off x="566928"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asociado escribe coopaburra.com sin «https», y la primera petición sale sin cifrar.</a:t>
            </a:r>
          </a:p>
          <a:p>
            <a:pPr algn="l">
              <a:lnSpc>
                <a:spcPct val="128000"/>
              </a:lnSpc>
              <a:spcAft>
                <a:spcPts val="700"/>
              </a:spcAft>
            </a:pPr>
            <a:r>
              <a:rPr sz="1150" b="0">
                <a:solidFill>
                  <a:srgbClr val="000000"/>
                </a:solidFill>
                <a:latin typeface="Arial"/>
              </a:rPr>
              <a:t>Un intermediario en la red del café responde él mismo y nunca lo lleva al sitio seguro: el usuario queda en una versión sin cifrar, idéntica en apariencia.</a:t>
            </a:r>
          </a:p>
          <a:p>
            <a:pPr algn="l">
              <a:lnSpc>
                <a:spcPct val="128000"/>
              </a:lnSpc>
              <a:spcAft>
                <a:spcPts val="700"/>
              </a:spcAft>
            </a:pPr>
            <a:r>
              <a:rPr sz="1150" b="0">
                <a:solidFill>
                  <a:srgbClr val="000000"/>
                </a:solidFill>
                <a:latin typeface="Arial"/>
              </a:rPr>
              <a:t>Se conoce como degradación del protocolo.</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FUNCIONA</a:t>
            </a:r>
          </a:p>
        </p:txBody>
      </p:sp>
      <p:sp>
        <p:nvSpPr>
          <p:cNvPr id="13" name="TextBox 12"/>
          <p:cNvSpPr txBox="1"/>
          <p:nvPr/>
        </p:nvSpPr>
        <p:spPr>
          <a:xfrm>
            <a:off x="6368796"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sitio envía una cabecera que dice: durante un año, conéctate a mí solo con cifrado.</a:t>
            </a:r>
          </a:p>
          <a:p>
            <a:pPr algn="l">
              <a:lnSpc>
                <a:spcPct val="128000"/>
              </a:lnSpc>
              <a:spcAft>
                <a:spcPts val="700"/>
              </a:spcAft>
            </a:pPr>
            <a:r>
              <a:rPr sz="1150" b="0">
                <a:solidFill>
                  <a:srgbClr val="000000"/>
                </a:solidFill>
                <a:latin typeface="Arial"/>
              </a:rPr>
              <a:t>El navegador la recuerda y convierte cualquier intento sin cifrar en uno cifrado, antes de salir a la red.</a:t>
            </a:r>
          </a:p>
          <a:p>
            <a:pPr algn="l">
              <a:lnSpc>
                <a:spcPct val="128000"/>
              </a:lnSpc>
              <a:spcAft>
                <a:spcPts val="700"/>
              </a:spcAft>
            </a:pPr>
            <a:r>
              <a:rPr sz="1150" b="0">
                <a:solidFill>
                  <a:srgbClr val="000000"/>
                </a:solidFill>
                <a:latin typeface="Arial"/>
              </a:rPr>
              <a:t>Con la lista de precarga de los navegadores, protege incluso la primera visita.</a:t>
            </a:r>
          </a:p>
        </p:txBody>
      </p:sp>
      <p:sp>
        <p:nvSpPr>
          <p:cNvPr id="14" name="Rectangle 13"/>
          <p:cNvSpPr/>
          <p:nvPr/>
        </p:nvSpPr>
        <p:spPr>
          <a:xfrm>
            <a:off x="6085332" y="2304287"/>
            <a:ext cx="9144" cy="2103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663440"/>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6817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Y SU EFECTO SOBRE LA ADVERTENCIA</a:t>
            </a:r>
          </a:p>
        </p:txBody>
      </p:sp>
      <p:sp>
        <p:nvSpPr>
          <p:cNvPr id="17" name="TextBox 16"/>
          <p:cNvSpPr txBox="1"/>
          <p:nvPr/>
        </p:nvSpPr>
        <p:spPr>
          <a:xfrm>
            <a:off x="804672" y="4919472"/>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Con HSTS activo, </a:t>
            </a:r>
            <a:r>
              <a:rPr sz="1150" b="1">
                <a:solidFill>
                  <a:srgbClr val="2A2A2A"/>
                </a:solidFill>
                <a:latin typeface="Arial"/>
              </a:rPr>
              <a:t>el navegador no deja aceptar una advertencia de certificado</a:t>
            </a:r>
            <a:r>
              <a:rPr sz="1150" b="0">
                <a:solidFill>
                  <a:srgbClr val="2A2A2A"/>
                </a:solidFill>
                <a:latin typeface="Arial"/>
              </a:rPr>
              <a:t>: bloquea el acceso. Por eso Coopaburrá no puede activarlo hasta resolver H5, y por eso es una buena prueba de que H5 quedó resuelto.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31  MÓVIL</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FIJACIÓN DE CERTIFICADOS EN LA APLICACIÓN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 banca móvil no basta con validar la cadena: la aplicación suele exigir además que el certificado sea exactamente el esperado. Es una buena práctica que, mal hecha, deja la aplicación inservible.</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FIJAR LA LLAVE, NO EL CERTIFICADO</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La aplicación guarda la huella de la llave pública del servidor y</a:t>
            </a:r>
          </a:p>
          <a:p>
            <a:pPr algn="l">
              <a:lnSpc>
                <a:spcPct val="130000"/>
              </a:lnSpc>
              <a:spcAft>
                <a:spcPts val="0"/>
              </a:spcAft>
            </a:pPr>
            <a:r>
              <a:rPr sz="950" b="0">
                <a:solidFill>
                  <a:srgbClr val="000000"/>
                </a:solidFill>
                <a:latin typeface="Consolas"/>
              </a:rPr>
              <a:t>rechaza la conexión si no coincide, aunque la cadena sea válida.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Protege de: una raíz maliciosa instalada en el teléfono del usuario,</a:t>
            </a:r>
          </a:p>
          <a:p>
            <a:pPr algn="l">
              <a:lnSpc>
                <a:spcPct val="130000"/>
              </a:lnSpc>
              <a:spcAft>
                <a:spcPts val="0"/>
              </a:spcAft>
            </a:pPr>
            <a:r>
              <a:rPr sz="950" b="0">
                <a:solidFill>
                  <a:srgbClr val="000000"/>
                </a:solidFill>
                <a:latin typeface="Consolas"/>
              </a:rPr>
              <a:t>              y de una autoridad comprometida en cualquier parte del mundo.</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Rompe todo si: se fija el certificado en vez de la llave pública,</a:t>
            </a:r>
          </a:p>
          <a:p>
            <a:pPr algn="l">
              <a:lnSpc>
                <a:spcPct val="130000"/>
              </a:lnSpc>
              <a:spcAft>
                <a:spcPts val="0"/>
              </a:spcAft>
            </a:pPr>
            <a:r>
              <a:rPr sz="950" b="0">
                <a:solidFill>
                  <a:srgbClr val="000000"/>
                </a:solidFill>
                <a:latin typeface="Consolas"/>
              </a:rPr>
              <a:t>                 o no se deja una huella de reserva para la rotación.</a:t>
            </a:r>
          </a:p>
        </p:txBody>
      </p:sp>
      <p:sp>
        <p:nvSpPr>
          <p:cNvPr id="13" name="Rectangle 12"/>
          <p:cNvSpPr/>
          <p:nvPr/>
        </p:nvSpPr>
        <p:spPr>
          <a:xfrm>
            <a:off x="566928" y="4612233"/>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ESTO SE VUELVE CRÍTICO EN LOS PRÓXIMOS AÑOS</a:t>
            </a:r>
          </a:p>
        </p:txBody>
      </p:sp>
      <p:sp>
        <p:nvSpPr>
          <p:cNvPr id="15" name="TextBox 14"/>
          <p:cNvSpPr txBox="1"/>
          <p:nvPr/>
        </p:nvSpPr>
        <p:spPr>
          <a:xfrm>
            <a:off x="804672" y="4868265"/>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Con vigencias de 100 días en 2027, una aplicación que fije el certificado deja de funcionar tres o cuatro veces al año, y la corrección exige publicar una versión nueva en la tienda y que el usuario la instale. </a:t>
            </a:r>
            <a:r>
              <a:rPr sz="1150" b="1">
                <a:solidFill>
                  <a:srgbClr val="2A2A2A"/>
                </a:solidFill>
                <a:latin typeface="Arial"/>
              </a:rPr>
              <a:t>Fijar la llave pública y mantener siempre una huella de reserva es la única forma sostenible.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32  ERROR</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LÍNEA QUE ANULA TODA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Todo lo que hemos visto se desactiva con una sola instrucción, y es de las cosas más frecuentes que se encuentran al revisar una aplicación móvil.</a:t>
            </a:r>
          </a:p>
        </p:txBody>
      </p:sp>
      <p:sp>
        <p:nvSpPr>
          <p:cNvPr id="10" name="Rectangle 9"/>
          <p:cNvSpPr/>
          <p:nvPr/>
        </p:nvSpPr>
        <p:spPr>
          <a:xfrm>
            <a:off x="566928" y="2304287"/>
            <a:ext cx="11055096" cy="22603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DESACTIVAR LA VALIDACIÓN</a:t>
            </a:r>
          </a:p>
        </p:txBody>
      </p:sp>
      <p:sp>
        <p:nvSpPr>
          <p:cNvPr id="12" name="TextBox 11"/>
          <p:cNvSpPr txBox="1"/>
          <p:nvPr/>
        </p:nvSpPr>
        <p:spPr>
          <a:xfrm>
            <a:off x="768096" y="2633471"/>
            <a:ext cx="10652760" cy="1839772"/>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Aparece durante el desarrollo, para poder probar contra un servidor</a:t>
            </a:r>
          </a:p>
          <a:p>
            <a:pPr algn="l">
              <a:lnSpc>
                <a:spcPct val="130000"/>
              </a:lnSpc>
              <a:spcAft>
                <a:spcPts val="0"/>
              </a:spcAft>
            </a:pPr>
            <a:r>
              <a:rPr sz="950" b="0">
                <a:solidFill>
                  <a:srgbClr val="000000"/>
                </a:solidFill>
                <a:latin typeface="Consolas"/>
              </a:rPr>
              <a:t>// con certificado propio. Y a veces llega a producción.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confiarEnTodosLosCertificados();</a:t>
            </a:r>
          </a:p>
          <a:p>
            <a:pPr algn="l">
              <a:lnSpc>
                <a:spcPct val="130000"/>
              </a:lnSpc>
              <a:spcAft>
                <a:spcPts val="0"/>
              </a:spcAft>
            </a:pPr>
            <a:r>
              <a:rPr sz="950" b="0">
                <a:solidFill>
                  <a:srgbClr val="000000"/>
                </a:solidFill>
                <a:latin typeface="Consolas"/>
              </a:rPr>
              <a:t>  verificadorDeNombre = ACEPTAR_CUALQUIERA;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Con esas dos líneas, la aplicación acepta cualquier certificado de</a:t>
            </a:r>
          </a:p>
          <a:p>
            <a:pPr algn="l">
              <a:lnSpc>
                <a:spcPct val="130000"/>
              </a:lnSpc>
              <a:spcAft>
                <a:spcPts val="0"/>
              </a:spcAft>
            </a:pPr>
            <a:r>
              <a:rPr sz="950" b="0">
                <a:solidFill>
                  <a:srgbClr val="000000"/>
                </a:solidFill>
                <a:latin typeface="Consolas"/>
              </a:rPr>
              <a:t>cualquiera. Las ocho comprobaciones no se ejecutan. El candado aparece</a:t>
            </a:r>
          </a:p>
          <a:p>
            <a:pPr algn="l">
              <a:lnSpc>
                <a:spcPct val="130000"/>
              </a:lnSpc>
              <a:spcAft>
                <a:spcPts val="0"/>
              </a:spcAft>
            </a:pPr>
            <a:r>
              <a:rPr sz="950" b="0">
                <a:solidFill>
                  <a:srgbClr val="000000"/>
                </a:solidFill>
                <a:latin typeface="Consolas"/>
              </a:rPr>
              <a:t>igual, el usuario no ve nada raro, y el canal ya no protege de nadie.</a:t>
            </a:r>
          </a:p>
        </p:txBody>
      </p:sp>
      <p:sp>
        <p:nvSpPr>
          <p:cNvPr id="13" name="Rectangle 12"/>
          <p:cNvSpPr/>
          <p:nvPr/>
        </p:nvSpPr>
        <p:spPr>
          <a:xfrm>
            <a:off x="566928" y="4820716"/>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83900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CÓMO SE COMPRUEBA EN EL CASO</a:t>
            </a:r>
          </a:p>
        </p:txBody>
      </p:sp>
      <p:sp>
        <p:nvSpPr>
          <p:cNvPr id="15" name="TextBox 14"/>
          <p:cNvSpPr txBox="1"/>
          <p:nvPr/>
        </p:nvSpPr>
        <p:spPr>
          <a:xfrm>
            <a:off x="804672" y="5076748"/>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evidencia D se obtuvo descompilando el paquete de la tienda pública. </a:t>
            </a:r>
            <a:r>
              <a:rPr sz="1150" b="1">
                <a:solidFill>
                  <a:srgbClr val="2A2A2A"/>
                </a:solidFill>
                <a:latin typeface="Arial"/>
              </a:rPr>
              <a:t>El mismo procedimiento que reveló la llave de firma permite verificar si la validación del certificado está desactivada</a:t>
            </a:r>
            <a:r>
              <a:rPr sz="1150" b="0">
                <a:solidFill>
                  <a:srgbClr val="2A2A2A"/>
                </a:solidFill>
                <a:latin typeface="Arial"/>
              </a:rPr>
              <a:t>, y esa revisión debería estar en el informe.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33  MÉTODO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000" b="0">
                <a:solidFill>
                  <a:srgbClr val="000000"/>
                </a:solidFill>
                <a:latin typeface="Arial Black"/>
              </a:rPr>
              <a:t>CÓMO SE LEE UN INFORME DE DIAGNÓSTICO DEL CANAL</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Las herramientas devuelven decenas de líneas y una calificación. Saber qué mirar y qué ignorar es lo que distingue un diagnóstico de una captura de pantalla pegada en un anexo.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47854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APARECE</a:t>
            </a:r>
          </a:p>
        </p:txBody>
      </p:sp>
      <p:sp>
        <p:nvSpPr>
          <p:cNvPr id="12" name="TextBox 11"/>
          <p:cNvSpPr txBox="1"/>
          <p:nvPr/>
        </p:nvSpPr>
        <p:spPr>
          <a:xfrm>
            <a:off x="5210068" y="2423159"/>
            <a:ext cx="624736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INTERPRETARLO</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4478548"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Versiones antiguas habilitadas</a:t>
            </a:r>
          </a:p>
        </p:txBody>
      </p:sp>
      <p:sp>
        <p:nvSpPr>
          <p:cNvPr id="15" name="TextBox 14"/>
          <p:cNvSpPr txBox="1"/>
          <p:nvPr/>
        </p:nvSpPr>
        <p:spPr>
          <a:xfrm>
            <a:off x="5210068" y="2825495"/>
            <a:ext cx="6247363"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Hallazgo real y de corrección barata. Es el primero que se corrige</a:t>
            </a:r>
          </a:p>
        </p:txBody>
      </p:sp>
      <p:sp>
        <p:nvSpPr>
          <p:cNvPr id="16" name="Rectangle 15"/>
          <p:cNvSpPr/>
          <p:nvPr/>
        </p:nvSpPr>
        <p:spPr>
          <a:xfrm>
            <a:off x="566928" y="31363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27831"/>
            <a:ext cx="4478548"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Suites sin confidencialidad persistente</a:t>
            </a:r>
          </a:p>
        </p:txBody>
      </p:sp>
      <p:sp>
        <p:nvSpPr>
          <p:cNvPr id="18" name="TextBox 17"/>
          <p:cNvSpPr txBox="1"/>
          <p:nvPr/>
        </p:nvSpPr>
        <p:spPr>
          <a:xfrm>
            <a:off x="5210068" y="3227831"/>
            <a:ext cx="6247363"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Hallazgo real, con impacto diferido: afecta al tráfico ya grabado</a:t>
            </a:r>
          </a:p>
        </p:txBody>
      </p:sp>
      <p:sp>
        <p:nvSpPr>
          <p:cNvPr id="19" name="Rectangle 18"/>
          <p:cNvSpPr/>
          <p:nvPr/>
        </p:nvSpPr>
        <p:spPr>
          <a:xfrm>
            <a:off x="566928" y="35387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30167"/>
            <a:ext cx="4478548"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Tamaño de llave o algoritmo de firma</a:t>
            </a:r>
          </a:p>
        </p:txBody>
      </p:sp>
      <p:sp>
        <p:nvSpPr>
          <p:cNvPr id="21" name="TextBox 20"/>
          <p:cNvSpPr txBox="1"/>
          <p:nvPr/>
        </p:nvSpPr>
        <p:spPr>
          <a:xfrm>
            <a:off x="5210068" y="3630167"/>
            <a:ext cx="6247363"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Verificar contra el estándar vigente antes de reportarlo. En este caso están bien</a:t>
            </a:r>
          </a:p>
        </p:txBody>
      </p:sp>
      <p:sp>
        <p:nvSpPr>
          <p:cNvPr id="22" name="Rectangle 21"/>
          <p:cNvSpPr/>
          <p:nvPr/>
        </p:nvSpPr>
        <p:spPr>
          <a:xfrm>
            <a:off x="566928" y="394106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032503"/>
            <a:ext cx="4478548"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Cadena incompleta o no reconocida</a:t>
            </a:r>
          </a:p>
        </p:txBody>
      </p:sp>
      <p:sp>
        <p:nvSpPr>
          <p:cNvPr id="24" name="TextBox 23"/>
          <p:cNvSpPr txBox="1"/>
          <p:nvPr/>
        </p:nvSpPr>
        <p:spPr>
          <a:xfrm>
            <a:off x="5210068" y="4032503"/>
            <a:ext cx="624736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Distinguir dos cosas distintas: falta un intermedio, o la raíz no es pública. Aquí es lo segundo</a:t>
            </a:r>
          </a:p>
        </p:txBody>
      </p:sp>
      <p:sp>
        <p:nvSpPr>
          <p:cNvPr id="25" name="Rectangle 24"/>
          <p:cNvSpPr/>
          <p:nvPr/>
        </p:nvSpPr>
        <p:spPr>
          <a:xfrm>
            <a:off x="566928" y="448092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572365"/>
            <a:ext cx="4478548"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Advertencias de compatibilidad con equipos antiguos</a:t>
            </a:r>
          </a:p>
        </p:txBody>
      </p:sp>
      <p:sp>
        <p:nvSpPr>
          <p:cNvPr id="27" name="TextBox 26"/>
          <p:cNvSpPr txBox="1"/>
          <p:nvPr/>
        </p:nvSpPr>
        <p:spPr>
          <a:xfrm>
            <a:off x="5210068" y="4572365"/>
            <a:ext cx="624736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es un hallazgo de seguridad: es una decisión de negocio sobre a quién se deja de atender</a:t>
            </a:r>
          </a:p>
        </p:txBody>
      </p:sp>
      <p:sp>
        <p:nvSpPr>
          <p:cNvPr id="28" name="Rectangle 27"/>
          <p:cNvSpPr/>
          <p:nvPr/>
        </p:nvSpPr>
        <p:spPr>
          <a:xfrm>
            <a:off x="566928" y="502078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112227"/>
            <a:ext cx="4478548"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Calificación global en letra</a:t>
            </a:r>
          </a:p>
        </p:txBody>
      </p:sp>
      <p:sp>
        <p:nvSpPr>
          <p:cNvPr id="30" name="TextBox 29"/>
          <p:cNvSpPr txBox="1"/>
          <p:nvPr/>
        </p:nvSpPr>
        <p:spPr>
          <a:xfrm>
            <a:off x="5210068" y="5112227"/>
            <a:ext cx="6247363"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Útil para comunicar, inútil para priorizar. No la pongan como conclusión</a:t>
            </a:r>
          </a:p>
        </p:txBody>
      </p:sp>
      <p:sp>
        <p:nvSpPr>
          <p:cNvPr id="31" name="Rectangle 30"/>
          <p:cNvSpPr/>
          <p:nvPr/>
        </p:nvSpPr>
        <p:spPr>
          <a:xfrm>
            <a:off x="566928" y="542312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4779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34  REDES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EL OTRO CANAL SEGURO: LAS REDES PRIVADAS VIRTUALES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respaldo que viaja a Sabaneta, los cajeros que hablan con el centro de datos y los administradores que trabajan desde casa usan otro tipo de canal seguro, con su propio inventario de llaves.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TECNOLOGÍA</a:t>
            </a:r>
          </a:p>
        </p:txBody>
      </p:sp>
      <p:sp>
        <p:nvSpPr>
          <p:cNvPr id="12" name="TextBox 11"/>
          <p:cNvSpPr txBox="1"/>
          <p:nvPr/>
        </p:nvSpPr>
        <p:spPr>
          <a:xfrm>
            <a:off x="3441252"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 APARECE</a:t>
            </a:r>
          </a:p>
        </p:txBody>
      </p:sp>
      <p:sp>
        <p:nvSpPr>
          <p:cNvPr id="13" name="TextBox 12"/>
          <p:cNvSpPr txBox="1"/>
          <p:nvPr/>
        </p:nvSpPr>
        <p:spPr>
          <a:xfrm>
            <a:off x="6978883" y="2423159"/>
            <a:ext cx="447854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HAY QUE REVISAR</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IPsec con IKEv2</a:t>
            </a:r>
          </a:p>
        </p:txBody>
      </p:sp>
      <p:sp>
        <p:nvSpPr>
          <p:cNvPr id="16" name="TextBox 15"/>
          <p:cNvSpPr txBox="1"/>
          <p:nvPr/>
        </p:nvSpPr>
        <p:spPr>
          <a:xfrm>
            <a:off x="3441252" y="2825495"/>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Enlaces entre sedes y con proveedores</a:t>
            </a:r>
          </a:p>
        </p:txBody>
      </p:sp>
      <p:sp>
        <p:nvSpPr>
          <p:cNvPr id="17" name="TextBox 16"/>
          <p:cNvSpPr txBox="1"/>
          <p:nvPr/>
        </p:nvSpPr>
        <p:spPr>
          <a:xfrm>
            <a:off x="6978883" y="2825495"/>
            <a:ext cx="44785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Algoritmos negociados, si hay llaves compartidas débiles y quién las custodia</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709732"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Red privada sobre TLS</a:t>
            </a:r>
          </a:p>
        </p:txBody>
      </p:sp>
      <p:sp>
        <p:nvSpPr>
          <p:cNvPr id="20" name="TextBox 19"/>
          <p:cNvSpPr txBox="1"/>
          <p:nvPr/>
        </p:nvSpPr>
        <p:spPr>
          <a:xfrm>
            <a:off x="3441252" y="3365357"/>
            <a:ext cx="3373038"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Acceso remoto de empleados</a:t>
            </a:r>
          </a:p>
        </p:txBody>
      </p:sp>
      <p:sp>
        <p:nvSpPr>
          <p:cNvPr id="21" name="TextBox 20"/>
          <p:cNvSpPr txBox="1"/>
          <p:nvPr/>
        </p:nvSpPr>
        <p:spPr>
          <a:xfrm>
            <a:off x="6978883" y="3365357"/>
            <a:ext cx="4478548"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Las mismas preguntas de hoy: versiones, suites y certificados</a:t>
            </a:r>
          </a:p>
        </p:txBody>
      </p:sp>
      <p:sp>
        <p:nvSpPr>
          <p:cNvPr id="22" name="Rectangle 21"/>
          <p:cNvSpPr/>
          <p:nvPr/>
        </p:nvSpPr>
        <p:spPr>
          <a:xfrm>
            <a:off x="566928" y="378598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77421"/>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WireGuard</a:t>
            </a:r>
          </a:p>
        </p:txBody>
      </p:sp>
      <p:sp>
        <p:nvSpPr>
          <p:cNvPr id="24" name="TextBox 23"/>
          <p:cNvSpPr txBox="1"/>
          <p:nvPr/>
        </p:nvSpPr>
        <p:spPr>
          <a:xfrm>
            <a:off x="3441252" y="3877421"/>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Instalaciones más recientes</a:t>
            </a:r>
          </a:p>
        </p:txBody>
      </p:sp>
      <p:sp>
        <p:nvSpPr>
          <p:cNvPr id="25" name="TextBox 24"/>
          <p:cNvSpPr txBox="1"/>
          <p:nvPr/>
        </p:nvSpPr>
        <p:spPr>
          <a:xfrm>
            <a:off x="6978883" y="3877421"/>
            <a:ext cx="44785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llave por equipo, sin negociación: sencillo, pero cada llave hay que gestionarla</a:t>
            </a:r>
          </a:p>
        </p:txBody>
      </p:sp>
      <p:sp>
        <p:nvSpPr>
          <p:cNvPr id="26" name="Rectangle 25"/>
          <p:cNvSpPr/>
          <p:nvPr/>
        </p:nvSpPr>
        <p:spPr>
          <a:xfrm>
            <a:off x="566928" y="43258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38070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682459"/>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70074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UNA PREGUNTA PARA EL INFORME</a:t>
            </a:r>
          </a:p>
        </p:txBody>
      </p:sp>
      <p:sp>
        <p:nvSpPr>
          <p:cNvPr id="30" name="TextBox 29"/>
          <p:cNvSpPr txBox="1"/>
          <p:nvPr/>
        </p:nvSpPr>
        <p:spPr>
          <a:xfrm>
            <a:off x="804672" y="4938491"/>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caso no documenta cómo se conectan los 32 cajeros al centro de datos. </a:t>
            </a:r>
            <a:r>
              <a:rPr sz="1150" b="1">
                <a:solidFill>
                  <a:srgbClr val="2A2A2A"/>
                </a:solidFill>
                <a:latin typeface="Arial"/>
              </a:rPr>
              <a:t>Si lo hacen con una llave compartida por todos</a:t>
            </a:r>
            <a:r>
              <a:rPr sz="1150" b="0">
                <a:solidFill>
                  <a:srgbClr val="2A2A2A"/>
                </a:solidFill>
                <a:latin typeface="Arial"/>
              </a:rPr>
              <a:t>, es el mismo patrón de H2 y de H6, y hay que decirlo.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05</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EL HALLAZGO H5</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Una autoridad certificadora, un computador sin dueño y una fecha</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35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LA EVIDENCIA A, LEÍDA LÍNEA POR LÍNEA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41</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DICE LA EVIDENCIA</a:t>
            </a:r>
          </a:p>
        </p:txBody>
      </p:sp>
      <p:sp>
        <p:nvSpPr>
          <p:cNvPr id="11" name="TextBox 10"/>
          <p:cNvSpPr txBox="1"/>
          <p:nvPr/>
        </p:nvSpPr>
        <p:spPr>
          <a:xfrm>
            <a:off x="4878415" y="1673352"/>
            <a:ext cx="458909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SIGNIFICA</a:t>
            </a:r>
          </a:p>
        </p:txBody>
      </p:sp>
      <p:sp>
        <p:nvSpPr>
          <p:cNvPr id="12" name="TextBox 11"/>
          <p:cNvSpPr txBox="1"/>
          <p:nvPr/>
        </p:nvSpPr>
        <p:spPr>
          <a:xfrm>
            <a:off x="9632106" y="1673352"/>
            <a:ext cx="18253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GRAVEDAD</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4146895"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Protocolos habilitados: TLS 1.0, 1.1 y 1.2</a:t>
            </a:r>
          </a:p>
        </p:txBody>
      </p:sp>
      <p:sp>
        <p:nvSpPr>
          <p:cNvPr id="15" name="TextBox 14"/>
          <p:cNvSpPr txBox="1"/>
          <p:nvPr/>
        </p:nvSpPr>
        <p:spPr>
          <a:xfrm>
            <a:off x="4878415" y="2075688"/>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Dos versiones retiradas siguen aceptándose</a:t>
            </a:r>
          </a:p>
        </p:txBody>
      </p:sp>
      <p:sp>
        <p:nvSpPr>
          <p:cNvPr id="16" name="TextBox 15"/>
          <p:cNvSpPr txBox="1"/>
          <p:nvPr/>
        </p:nvSpPr>
        <p:spPr>
          <a:xfrm>
            <a:off x="9632106" y="2075688"/>
            <a:ext cx="1825325"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Alta y de arreglo barato</a:t>
            </a:r>
          </a:p>
        </p:txBody>
      </p:sp>
      <p:sp>
        <p:nvSpPr>
          <p:cNvPr id="17" name="Rectangle 16"/>
          <p:cNvSpPr/>
          <p:nvPr/>
        </p:nvSpPr>
        <p:spPr>
          <a:xfrm>
            <a:off x="566928" y="236829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459736"/>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Suites con intercambio de llave RSA, sin confidencialidad persistente</a:t>
            </a:r>
          </a:p>
        </p:txBody>
      </p:sp>
      <p:sp>
        <p:nvSpPr>
          <p:cNvPr id="19" name="TextBox 18"/>
          <p:cNvSpPr txBox="1"/>
          <p:nvPr/>
        </p:nvSpPr>
        <p:spPr>
          <a:xfrm>
            <a:off x="4878415" y="2459736"/>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tráfico grabado hoy se descifra el día que se comprometa la llave del servidor</a:t>
            </a:r>
          </a:p>
        </p:txBody>
      </p:sp>
      <p:sp>
        <p:nvSpPr>
          <p:cNvPr id="20" name="TextBox 19"/>
          <p:cNvSpPr txBox="1"/>
          <p:nvPr/>
        </p:nvSpPr>
        <p:spPr>
          <a:xfrm>
            <a:off x="9632106" y="2459736"/>
            <a:ext cx="182532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Alta</a:t>
            </a:r>
          </a:p>
        </p:txBody>
      </p:sp>
      <p:sp>
        <p:nvSpPr>
          <p:cNvPr id="21" name="Rectangle 20"/>
          <p:cNvSpPr/>
          <p:nvPr/>
        </p:nvSpPr>
        <p:spPr>
          <a:xfrm>
            <a:off x="566928" y="290815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999597"/>
            <a:ext cx="4146895"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Certificado RSA 2048 firmado con SHA-256</a:t>
            </a:r>
          </a:p>
        </p:txBody>
      </p:sp>
      <p:sp>
        <p:nvSpPr>
          <p:cNvPr id="23" name="TextBox 22"/>
          <p:cNvSpPr txBox="1"/>
          <p:nvPr/>
        </p:nvSpPr>
        <p:spPr>
          <a:xfrm>
            <a:off x="4878415" y="2999597"/>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Correcto. No hay nada que reprochar aquí</a:t>
            </a:r>
          </a:p>
        </p:txBody>
      </p:sp>
      <p:sp>
        <p:nvSpPr>
          <p:cNvPr id="24" name="TextBox 23"/>
          <p:cNvSpPr txBox="1"/>
          <p:nvPr/>
        </p:nvSpPr>
        <p:spPr>
          <a:xfrm>
            <a:off x="9632106" y="2999597"/>
            <a:ext cx="1825325"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Ninguna</a:t>
            </a:r>
          </a:p>
        </p:txBody>
      </p:sp>
      <p:sp>
        <p:nvSpPr>
          <p:cNvPr id="25" name="Rectangle 24"/>
          <p:cNvSpPr/>
          <p:nvPr/>
        </p:nvSpPr>
        <p:spPr>
          <a:xfrm>
            <a:off x="566928" y="329220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383645"/>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Emisor: Coopaburra Root CA 2019</a:t>
            </a:r>
          </a:p>
        </p:txBody>
      </p:sp>
      <p:sp>
        <p:nvSpPr>
          <p:cNvPr id="27" name="TextBox 26"/>
          <p:cNvSpPr txBox="1"/>
          <p:nvPr/>
        </p:nvSpPr>
        <p:spPr>
          <a:xfrm>
            <a:off x="4878415" y="3383645"/>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autoridad propia, cuya llave privada está sin custodia desde 2022</a:t>
            </a:r>
          </a:p>
        </p:txBody>
      </p:sp>
      <p:sp>
        <p:nvSpPr>
          <p:cNvPr id="28" name="TextBox 27"/>
          <p:cNvSpPr txBox="1"/>
          <p:nvPr/>
        </p:nvSpPr>
        <p:spPr>
          <a:xfrm>
            <a:off x="9632106" y="3383645"/>
            <a:ext cx="182532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Crítica</a:t>
            </a:r>
          </a:p>
        </p:txBody>
      </p:sp>
      <p:sp>
        <p:nvSpPr>
          <p:cNvPr id="29" name="Rectangle 28"/>
          <p:cNvSpPr/>
          <p:nvPr/>
        </p:nvSpPr>
        <p:spPr>
          <a:xfrm>
            <a:off x="566928" y="383206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923507"/>
            <a:ext cx="4146895" cy="32918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Vigencia hasta el 14 de junio de 2026</a:t>
            </a:r>
          </a:p>
        </p:txBody>
      </p:sp>
      <p:sp>
        <p:nvSpPr>
          <p:cNvPr id="31" name="TextBox 30"/>
          <p:cNvSpPr txBox="1"/>
          <p:nvPr/>
        </p:nvSpPr>
        <p:spPr>
          <a:xfrm>
            <a:off x="4878415" y="3923507"/>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Cuatro meses desde el diagnóstico. Con fecha cierta</a:t>
            </a:r>
          </a:p>
        </p:txBody>
      </p:sp>
      <p:sp>
        <p:nvSpPr>
          <p:cNvPr id="32" name="TextBox 31"/>
          <p:cNvSpPr txBox="1"/>
          <p:nvPr/>
        </p:nvSpPr>
        <p:spPr>
          <a:xfrm>
            <a:off x="9632106" y="3923507"/>
            <a:ext cx="1825325"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Crítica y con plazo</a:t>
            </a:r>
          </a:p>
        </p:txBody>
      </p:sp>
      <p:sp>
        <p:nvSpPr>
          <p:cNvPr id="33" name="Rectangle 32"/>
          <p:cNvSpPr/>
          <p:nvPr/>
        </p:nvSpPr>
        <p:spPr>
          <a:xfrm>
            <a:off x="566928" y="42161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307555"/>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Cadena no reconocida: advertencia en cada visita</a:t>
            </a:r>
          </a:p>
        </p:txBody>
      </p:sp>
      <p:sp>
        <p:nvSpPr>
          <p:cNvPr id="35" name="TextBox 34"/>
          <p:cNvSpPr txBox="1"/>
          <p:nvPr/>
        </p:nvSpPr>
        <p:spPr>
          <a:xfrm>
            <a:off x="4878415" y="4307555"/>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142.000 personas entrenadas para ignorar advertencias de seguridad</a:t>
            </a:r>
          </a:p>
        </p:txBody>
      </p:sp>
      <p:sp>
        <p:nvSpPr>
          <p:cNvPr id="36" name="TextBox 35"/>
          <p:cNvSpPr txBox="1"/>
          <p:nvPr/>
        </p:nvSpPr>
        <p:spPr>
          <a:xfrm>
            <a:off x="9632106" y="4307555"/>
            <a:ext cx="182532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Alta y de difícil reparación</a:t>
            </a:r>
          </a:p>
        </p:txBody>
      </p:sp>
      <p:sp>
        <p:nvSpPr>
          <p:cNvPr id="37" name="Rectangle 36"/>
          <p:cNvSpPr/>
          <p:nvPr/>
        </p:nvSpPr>
        <p:spPr>
          <a:xfrm>
            <a:off x="566928" y="475597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481084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36  ALCANCE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PUEDE HACER QUIEN TENGA ESA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Esta es la diapositiva que hay que llevar al comité: no habla de criptografía, sino de lo que alguien con acceso a ese computador podría hacer hoy.</a:t>
            </a:r>
          </a:p>
        </p:txBody>
      </p:sp>
      <p:sp>
        <p:nvSpPr>
          <p:cNvPr id="10" name="TextBox 9"/>
          <p:cNvSpPr txBox="1"/>
          <p:nvPr/>
        </p:nvSpPr>
        <p:spPr>
          <a:xfrm>
            <a:off x="566928" y="235000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6829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Emitir un certificado válido para cualquier nombre</a:t>
            </a:r>
          </a:p>
        </p:txBody>
      </p:sp>
      <p:sp>
        <p:nvSpPr>
          <p:cNvPr id="12" name="TextBox 11"/>
          <p:cNvSpPr txBox="1"/>
          <p:nvPr/>
        </p:nvSpPr>
        <p:spPr>
          <a:xfrm>
            <a:off x="1280160" y="2606039"/>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Para el portal, para el correo interno, para la pasarela de pagos, para el sistema de los cajeros. No hay nada que se lo impida: es una autoridad.</a:t>
            </a:r>
          </a:p>
        </p:txBody>
      </p:sp>
      <p:sp>
        <p:nvSpPr>
          <p:cNvPr id="13" name="TextBox 12"/>
          <p:cNvSpPr txBox="1"/>
          <p:nvPr/>
        </p:nvSpPr>
        <p:spPr>
          <a:xfrm>
            <a:off x="566928" y="3063239"/>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08152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Ser aceptado sin advertencia en todo equipo donde esté instalada esa raíz</a:t>
            </a:r>
          </a:p>
        </p:txBody>
      </p:sp>
      <p:sp>
        <p:nvSpPr>
          <p:cNvPr id="15" name="TextBox 14"/>
          <p:cNvSpPr txBox="1"/>
          <p:nvPr/>
        </p:nvSpPr>
        <p:spPr>
          <a:xfrm>
            <a:off x="1280160" y="331927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Y nadie sabe en cuántos está: no hay inventario. Esa es la pregunta cara que casi nadie hizo en la entrega 4.</a:t>
            </a:r>
          </a:p>
        </p:txBody>
      </p:sp>
      <p:sp>
        <p:nvSpPr>
          <p:cNvPr id="16" name="TextBox 15"/>
          <p:cNvSpPr txBox="1"/>
          <p:nvPr/>
        </p:nvSpPr>
        <p:spPr>
          <a:xfrm>
            <a:off x="566928" y="3776471"/>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79475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Interponerse en el tráfico interno y leerlo en claro</a:t>
            </a:r>
          </a:p>
        </p:txBody>
      </p:sp>
      <p:sp>
        <p:nvSpPr>
          <p:cNvPr id="18" name="TextBox 17"/>
          <p:cNvSpPr txBox="1"/>
          <p:nvPr/>
        </p:nvSpPr>
        <p:spPr>
          <a:xfrm>
            <a:off x="1280160" y="4032503"/>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 un certificado emitido por una raíz en la que el equipo confía, el ataque del intermediario no produce ninguna señal visible.</a:t>
            </a:r>
          </a:p>
        </p:txBody>
      </p:sp>
      <p:sp>
        <p:nvSpPr>
          <p:cNvPr id="19" name="TextBox 18"/>
          <p:cNvSpPr txBox="1"/>
          <p:nvPr/>
        </p:nvSpPr>
        <p:spPr>
          <a:xfrm>
            <a:off x="566928" y="448970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50799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Y no hay forma de saber si ya ocurrió</a:t>
            </a:r>
          </a:p>
        </p:txBody>
      </p:sp>
      <p:sp>
        <p:nvSpPr>
          <p:cNvPr id="21" name="TextBox 20"/>
          <p:cNvSpPr txBox="1"/>
          <p:nvPr/>
        </p:nvSpPr>
        <p:spPr>
          <a:xfrm>
            <a:off x="1280160" y="474573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equipo lleva encendido y sin dueño desde 2022, sin contraseña de arranque. Ningún registro permite afirmar que la llave no fue copiada.</a:t>
            </a:r>
          </a:p>
        </p:txBody>
      </p:sp>
      <p:sp>
        <p:nvSpPr>
          <p:cNvPr id="22" name="Rectangle 21"/>
          <p:cNvSpPr/>
          <p:nvPr/>
        </p:nvSpPr>
        <p:spPr>
          <a:xfrm>
            <a:off x="566928" y="5385816"/>
            <a:ext cx="45720" cy="64008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40410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FRASE QUE UN DIAGNÓSTICO HONESTO TIENE QUE ESCRIBIR</a:t>
            </a:r>
          </a:p>
        </p:txBody>
      </p:sp>
      <p:sp>
        <p:nvSpPr>
          <p:cNvPr id="24" name="TextBox 23"/>
          <p:cNvSpPr txBox="1"/>
          <p:nvPr/>
        </p:nvSpPr>
        <p:spPr>
          <a:xfrm>
            <a:off x="804672" y="5641848"/>
            <a:ext cx="10780776" cy="365759"/>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Nadie puede afirmar que esa llave esté comprometida, ni lo contrario. Esa es la conclusión: </a:t>
            </a:r>
            <a:r>
              <a:rPr sz="1150" b="1">
                <a:solidFill>
                  <a:srgbClr val="2A2A2A"/>
                </a:solidFill>
                <a:latin typeface="Arial"/>
              </a:rPr>
              <a:t>una llave sin custodia durante cuatro años se asume comprometida.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37  PERSONAS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000" b="0">
                <a:solidFill>
                  <a:srgbClr val="000000"/>
                </a:solidFill>
                <a:latin typeface="Arial Black"/>
              </a:rPr>
              <a:t>LA ADVERTENCIA QUE LOS ASOCIADOS APRENDIERON A ACEPTAR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daño más grave del hallazgo H5 no es técnico. Durante años, 142.000 personas fueron entrenadas para hacer clic en «continuar de todos modos», y ese hábito no se borra al cambiar el certificado.</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DICE LA INVESTIGACIÓN</a:t>
            </a:r>
          </a:p>
        </p:txBody>
      </p:sp>
      <p:sp>
        <p:nvSpPr>
          <p:cNvPr id="11" name="TextBox 10"/>
          <p:cNvSpPr txBox="1"/>
          <p:nvPr/>
        </p:nvSpPr>
        <p:spPr>
          <a:xfrm>
            <a:off x="566928" y="2578607"/>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estudio de campo de 2013, sobre millones de advertencias reales, encontró que los usuarios de un navegador principal ignoraban cerca del 70 % de las advertencias de certificado.</a:t>
            </a:r>
          </a:p>
          <a:p>
            <a:pPr algn="l">
              <a:lnSpc>
                <a:spcPct val="128000"/>
              </a:lnSpc>
              <a:spcAft>
                <a:spcPts val="700"/>
              </a:spcAft>
            </a:pPr>
            <a:r>
              <a:rPr sz="1150" b="0">
                <a:solidFill>
                  <a:srgbClr val="000000"/>
                </a:solidFill>
                <a:latin typeface="Arial"/>
              </a:rPr>
              <a:t>La tasa sube cuando la advertencia aparece siempre en el mismo sitio: el usuario aprende que no pasa nada.</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ESO SIGNIFICA AQUÍ</a:t>
            </a:r>
          </a:p>
        </p:txBody>
      </p:sp>
      <p:sp>
        <p:nvSpPr>
          <p:cNvPr id="13" name="TextBox 12"/>
          <p:cNvSpPr txBox="1"/>
          <p:nvPr/>
        </p:nvSpPr>
        <p:spPr>
          <a:xfrm>
            <a:off x="6368796" y="2578607"/>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día que un atacante monte un portal falso con un certificado inválido, los asociados harán lo que se les enseñó: aceptar.</a:t>
            </a:r>
          </a:p>
          <a:p>
            <a:pPr algn="l">
              <a:lnSpc>
                <a:spcPct val="128000"/>
              </a:lnSpc>
              <a:spcAft>
                <a:spcPts val="700"/>
              </a:spcAft>
            </a:pPr>
            <a:r>
              <a:rPr sz="1150" b="0">
                <a:solidFill>
                  <a:srgbClr val="000000"/>
                </a:solidFill>
                <a:latin typeface="Arial"/>
              </a:rPr>
              <a:t>La advertencia, que es la última defensa del usuario, quedó desactivada por costumbre.</a:t>
            </a:r>
          </a:p>
        </p:txBody>
      </p:sp>
      <p:sp>
        <p:nvSpPr>
          <p:cNvPr id="14" name="Rectangle 13"/>
          <p:cNvSpPr/>
          <p:nvPr/>
        </p:nvSpPr>
        <p:spPr>
          <a:xfrm>
            <a:off x="6085332" y="2304287"/>
            <a:ext cx="9144" cy="1965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526280"/>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54456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HAY QUE HACER ADEMÁS DEL CERTIFICADO</a:t>
            </a:r>
          </a:p>
        </p:txBody>
      </p:sp>
      <p:sp>
        <p:nvSpPr>
          <p:cNvPr id="17" name="TextBox 16"/>
          <p:cNvSpPr txBox="1"/>
          <p:nvPr/>
        </p:nvSpPr>
        <p:spPr>
          <a:xfrm>
            <a:off x="804672" y="4782312"/>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Comunicar a los asociados que el portal ya no mostrará advertencias, y que si alguna aparece deben detenerse. </a:t>
            </a:r>
            <a:r>
              <a:rPr sz="1150" b="1">
                <a:solidFill>
                  <a:srgbClr val="2A2A2A"/>
                </a:solidFill>
                <a:latin typeface="Arial"/>
              </a:rPr>
              <a:t>Desentrenar es parte de la remediación</a:t>
            </a:r>
            <a:r>
              <a:rPr sz="1150" b="0">
                <a:solidFill>
                  <a:srgbClr val="2A2A2A"/>
                </a:solidFill>
                <a:latin typeface="Arial"/>
              </a:rPr>
              <a:t>, y cuesta más que el certificado.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1887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LA TESIS DE LA SESIÓN</a:t>
            </a:r>
          </a:p>
        </p:txBody>
      </p:sp>
      <p:sp>
        <p:nvSpPr>
          <p:cNvPr id="3" name="TextBox 2"/>
          <p:cNvSpPr txBox="1"/>
          <p:nvPr/>
        </p:nvSpPr>
        <p:spPr>
          <a:xfrm>
            <a:off x="566928" y="1554480"/>
            <a:ext cx="10607040" cy="2743200"/>
          </a:xfrm>
          <a:prstGeom prst="rect">
            <a:avLst/>
          </a:prstGeom>
          <a:noFill/>
        </p:spPr>
        <p:txBody>
          <a:bodyPr wrap="square" lIns="0" rIns="0" tIns="0" bIns="0">
            <a:spAutoFit/>
          </a:bodyPr>
          <a:lstStyle/>
          <a:p>
            <a:pPr algn="l">
              <a:lnSpc>
                <a:spcPct val="112000"/>
              </a:lnSpc>
              <a:spcAft>
                <a:spcPts val="0"/>
              </a:spcAft>
            </a:pPr>
            <a:r>
              <a:rPr sz="3000" b="0">
                <a:solidFill>
                  <a:srgbClr val="000000"/>
                </a:solidFill>
                <a:latin typeface="Arial Black"/>
              </a:rPr>
              <a:t>MONTAR UNA AUTORIDAD</a:t>
            </a:r>
          </a:p>
          <a:p>
            <a:pPr algn="l">
              <a:lnSpc>
                <a:spcPct val="112000"/>
              </a:lnSpc>
              <a:spcAft>
                <a:spcPts val="0"/>
              </a:spcAft>
            </a:pPr>
            <a:r>
              <a:rPr sz="3000" b="0">
                <a:solidFill>
                  <a:srgbClr val="000000"/>
                </a:solidFill>
                <a:latin typeface="Arial Black"/>
              </a:rPr>
              <a:t>PROPIA NO ES AHORRAR:</a:t>
            </a:r>
          </a:p>
          <a:p>
            <a:pPr algn="l">
              <a:lnSpc>
                <a:spcPct val="112000"/>
              </a:lnSpc>
              <a:spcAft>
                <a:spcPts val="0"/>
              </a:spcAft>
            </a:pPr>
            <a:r>
              <a:rPr sz="3000" b="0">
                <a:solidFill>
                  <a:srgbClr val="000000"/>
                </a:solidFill>
                <a:latin typeface="Arial Black"/>
              </a:rPr>
              <a:t>ES ASUMIR EL OFICIO</a:t>
            </a:r>
          </a:p>
          <a:p>
            <a:pPr algn="l">
              <a:lnSpc>
                <a:spcPct val="112000"/>
              </a:lnSpc>
              <a:spcAft>
                <a:spcPts val="0"/>
              </a:spcAft>
            </a:pPr>
            <a:r>
              <a:rPr sz="3000" b="0">
                <a:solidFill>
                  <a:srgbClr val="000000"/>
                </a:solidFill>
                <a:latin typeface="Arial Black"/>
              </a:rPr>
              <a:t>DE UNA ENTIDAD DE</a:t>
            </a:r>
          </a:p>
          <a:p>
            <a:pPr algn="l">
              <a:lnSpc>
                <a:spcPct val="112000"/>
              </a:lnSpc>
              <a:spcAft>
                <a:spcPts val="0"/>
              </a:spcAft>
            </a:pPr>
            <a:r>
              <a:rPr sz="3000" b="0">
                <a:solidFill>
                  <a:srgbClr val="000000"/>
                </a:solidFill>
                <a:latin typeface="Arial Black"/>
              </a:rPr>
              <a:t>CERTIFICACIÓN.</a:t>
            </a:r>
          </a:p>
        </p:txBody>
      </p:sp>
      <p:sp>
        <p:nvSpPr>
          <p:cNvPr id="4" name="Rectangle 3"/>
          <p:cNvSpPr/>
          <p:nvPr/>
        </p:nvSpPr>
        <p:spPr>
          <a:xfrm>
            <a:off x="566928" y="4617720"/>
            <a:ext cx="1554480" cy="457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864608"/>
            <a:ext cx="10607040" cy="1005840"/>
          </a:xfrm>
          <a:prstGeom prst="rect">
            <a:avLst/>
          </a:prstGeom>
          <a:noFill/>
        </p:spPr>
        <p:txBody>
          <a:bodyPr wrap="square" lIns="0" rIns="0" tIns="0" bIns="0">
            <a:spAutoFit/>
          </a:bodyPr>
          <a:lstStyle/>
          <a:p>
            <a:pPr algn="l">
              <a:lnSpc>
                <a:spcPct val="135000"/>
              </a:lnSpc>
              <a:spcAft>
                <a:spcPts val="0"/>
              </a:spcAft>
            </a:pPr>
            <a:r>
              <a:rPr sz="1200" b="0">
                <a:solidFill>
                  <a:srgbClr val="2A2A2A"/>
                </a:solidFill>
                <a:latin typeface="Arial"/>
              </a:rPr>
              <a:t>En 2019 alguien calculó lo que costaban unos certificados y decidió emitirlos en casa. Lo que no calculó fue el resto del oficio: custodia de la llave raíz en hardware dedicado, ceremonias con doble control y acta, publicación de revocaciones, auditoría periódica, renovación planificada y plan de sucesión. Ninguna de esas tareas se hizo, y todas eran parte del precio. Ese es el patrón del módulo completo: el algoritmo es gratis, el oficio alrededor es lo que cuesta.</a:t>
            </a:r>
          </a:p>
        </p:txBody>
      </p:sp>
      <p:sp>
        <p:nvSpPr>
          <p:cNvPr id="6" name="Rectangle 5"/>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1-1.png"/>
          <p:cNvPicPr>
            <a:picLocks noChangeAspect="1"/>
          </p:cNvPicPr>
          <p:nvPr/>
        </p:nvPicPr>
        <p:blipFill>
          <a:blip r:embed="rId2"/>
          <a:stretch>
            <a:fillRect/>
          </a:stretch>
        </p:blipFill>
        <p:spPr>
          <a:xfrm>
            <a:off x="566928" y="6336792"/>
            <a:ext cx="566928" cy="246888"/>
          </a:xfrm>
          <a:prstGeom prst="rect">
            <a:avLst/>
          </a:prstGeom>
        </p:spPr>
      </p:pic>
      <p:sp>
        <p:nvSpPr>
          <p:cNvPr id="8" name="TextBox 7"/>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9" name="TextBox 8"/>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38  PLAN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PLAN DE CHOQUE, PRIORIZADO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Con cuatro horas de ventana semanal y un presupuesto acotado, el orden importa más que la lista. Este es el orden defendible, y el criterio es el que ya traen del módulo de riesgos.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83036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ORDEN</a:t>
            </a:r>
          </a:p>
        </p:txBody>
      </p:sp>
      <p:sp>
        <p:nvSpPr>
          <p:cNvPr id="12" name="TextBox 11"/>
          <p:cNvSpPr txBox="1"/>
          <p:nvPr/>
        </p:nvSpPr>
        <p:spPr>
          <a:xfrm>
            <a:off x="1561886" y="2423159"/>
            <a:ext cx="580515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ACCIÓN</a:t>
            </a:r>
          </a:p>
        </p:txBody>
      </p:sp>
      <p:sp>
        <p:nvSpPr>
          <p:cNvPr id="13" name="TextBox 12"/>
          <p:cNvSpPr txBox="1"/>
          <p:nvPr/>
        </p:nvSpPr>
        <p:spPr>
          <a:xfrm>
            <a:off x="7531638" y="2423159"/>
            <a:ext cx="392579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 VA AHÍ</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830366"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1</a:t>
            </a:r>
          </a:p>
        </p:txBody>
      </p:sp>
      <p:sp>
        <p:nvSpPr>
          <p:cNvPr id="16" name="TextBox 15"/>
          <p:cNvSpPr txBox="1"/>
          <p:nvPr/>
        </p:nvSpPr>
        <p:spPr>
          <a:xfrm>
            <a:off x="1561886" y="2825495"/>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Certificado público de entidad acreditada para el portal, antes de junio</a:t>
            </a:r>
          </a:p>
        </p:txBody>
      </p:sp>
      <p:sp>
        <p:nvSpPr>
          <p:cNvPr id="17" name="TextBox 16"/>
          <p:cNvSpPr txBox="1"/>
          <p:nvPr/>
        </p:nvSpPr>
        <p:spPr>
          <a:xfrm>
            <a:off x="7531638" y="2825495"/>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Tiene fecha cierta, es barato y quita la advertencia a 142.000 personas</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83036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a:t>
            </a:r>
          </a:p>
        </p:txBody>
      </p:sp>
      <p:sp>
        <p:nvSpPr>
          <p:cNvPr id="20" name="TextBox 19"/>
          <p:cNvSpPr txBox="1"/>
          <p:nvPr/>
        </p:nvSpPr>
        <p:spPr>
          <a:xfrm>
            <a:off x="1561886" y="3365357"/>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Apagar y asegurar el equipo del contratista, con cadena de custodia</a:t>
            </a:r>
          </a:p>
        </p:txBody>
      </p:sp>
      <p:sp>
        <p:nvSpPr>
          <p:cNvPr id="21" name="TextBox 20"/>
          <p:cNvSpPr txBox="1"/>
          <p:nvPr/>
        </p:nvSpPr>
        <p:spPr>
          <a:xfrm>
            <a:off x="7531638" y="3365357"/>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evidencia de un posible incidente: no se formatea, se preserva</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83036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3</a:t>
            </a:r>
          </a:p>
        </p:txBody>
      </p:sp>
      <p:sp>
        <p:nvSpPr>
          <p:cNvPr id="24" name="TextBox 23"/>
          <p:cNvSpPr txBox="1"/>
          <p:nvPr/>
        </p:nvSpPr>
        <p:spPr>
          <a:xfrm>
            <a:off x="1561886" y="3905219"/>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Inventariar dónde está instalada la raíz interna y qué emitió</a:t>
            </a:r>
          </a:p>
        </p:txBody>
      </p:sp>
      <p:sp>
        <p:nvSpPr>
          <p:cNvPr id="25" name="TextBox 24"/>
          <p:cNvSpPr txBox="1"/>
          <p:nvPr/>
        </p:nvSpPr>
        <p:spPr>
          <a:xfrm>
            <a:off x="7531638" y="3905219"/>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se puede retirar lo que no se sabe dónde está. Es la parte lenta</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83036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4</a:t>
            </a:r>
          </a:p>
        </p:txBody>
      </p:sp>
      <p:sp>
        <p:nvSpPr>
          <p:cNvPr id="28" name="TextBox 27"/>
          <p:cNvSpPr txBox="1"/>
          <p:nvPr/>
        </p:nvSpPr>
        <p:spPr>
          <a:xfrm>
            <a:off x="1561886" y="4445081"/>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Apagar TLS 1.0 y 1.1 y las suites sin confidencialidad persistente</a:t>
            </a:r>
          </a:p>
        </p:txBody>
      </p:sp>
      <p:sp>
        <p:nvSpPr>
          <p:cNvPr id="29" name="TextBox 28"/>
          <p:cNvSpPr txBox="1"/>
          <p:nvPr/>
        </p:nvSpPr>
        <p:spPr>
          <a:xfrm>
            <a:off x="7531638" y="4445081"/>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Cambio de configuración, sin costo, con ventana de prueba</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984943"/>
            <a:ext cx="83036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5</a:t>
            </a:r>
          </a:p>
        </p:txBody>
      </p:sp>
      <p:sp>
        <p:nvSpPr>
          <p:cNvPr id="32" name="TextBox 31"/>
          <p:cNvSpPr txBox="1"/>
          <p:nvPr/>
        </p:nvSpPr>
        <p:spPr>
          <a:xfrm>
            <a:off x="1561886" y="4984943"/>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Automatizar emisión, instalación y renovación</a:t>
            </a:r>
          </a:p>
        </p:txBody>
      </p:sp>
      <p:sp>
        <p:nvSpPr>
          <p:cNvPr id="33" name="TextBox 32"/>
          <p:cNvSpPr txBox="1"/>
          <p:nvPr/>
        </p:nvSpPr>
        <p:spPr>
          <a:xfrm>
            <a:off x="7531638" y="4984943"/>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 vigencias de 100 días en 2027, hacerlo a mano es garantía de caída</a:t>
            </a:r>
          </a:p>
        </p:txBody>
      </p:sp>
      <p:sp>
        <p:nvSpPr>
          <p:cNvPr id="34" name="Rectangle 33"/>
          <p:cNvSpPr/>
          <p:nvPr/>
        </p:nvSpPr>
        <p:spPr>
          <a:xfrm>
            <a:off x="566928" y="543336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524804"/>
            <a:ext cx="830366"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6</a:t>
            </a:r>
          </a:p>
        </p:txBody>
      </p:sp>
      <p:sp>
        <p:nvSpPr>
          <p:cNvPr id="36" name="TextBox 35"/>
          <p:cNvSpPr txBox="1"/>
          <p:nvPr/>
        </p:nvSpPr>
        <p:spPr>
          <a:xfrm>
            <a:off x="1561886" y="5524804"/>
            <a:ext cx="580515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Comunicar a los asociados y retirar el hábito de aceptar advertencias</a:t>
            </a:r>
          </a:p>
        </p:txBody>
      </p:sp>
      <p:sp>
        <p:nvSpPr>
          <p:cNvPr id="37" name="TextBox 36"/>
          <p:cNvSpPr txBox="1"/>
          <p:nvPr/>
        </p:nvSpPr>
        <p:spPr>
          <a:xfrm>
            <a:off x="7531638" y="5524804"/>
            <a:ext cx="3925793"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el daño que no arregla la tecnología</a:t>
            </a:r>
          </a:p>
        </p:txBody>
      </p:sp>
      <p:sp>
        <p:nvSpPr>
          <p:cNvPr id="38" name="Rectangle 37"/>
          <p:cNvSpPr/>
          <p:nvPr/>
        </p:nvSpPr>
        <p:spPr>
          <a:xfrm>
            <a:off x="566928" y="583570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89056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39  MODELO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000" b="0">
                <a:solidFill>
                  <a:srgbClr val="000000"/>
                </a:solidFill>
                <a:latin typeface="Arial Black"/>
              </a:rPr>
              <a:t>EL INVENTARIO DE CERTIFICADOS: UN MODELO PARA LA ENTREGA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Así se ve un inventario de certificados bien armado. Las filas son las que el caso permite suponer; las columnas son las que el comité necesita para decidir.</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6460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CERTIFICADO</a:t>
            </a:r>
          </a:p>
        </p:txBody>
      </p:sp>
      <p:sp>
        <p:nvSpPr>
          <p:cNvPr id="12" name="TextBox 11"/>
          <p:cNvSpPr txBox="1"/>
          <p:nvPr/>
        </p:nvSpPr>
        <p:spPr>
          <a:xfrm>
            <a:off x="3377545" y="2423159"/>
            <a:ext cx="2177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EMISOR</a:t>
            </a:r>
          </a:p>
        </p:txBody>
      </p:sp>
      <p:sp>
        <p:nvSpPr>
          <p:cNvPr id="13" name="TextBox 12"/>
          <p:cNvSpPr txBox="1"/>
          <p:nvPr/>
        </p:nvSpPr>
        <p:spPr>
          <a:xfrm>
            <a:off x="5719726" y="2423159"/>
            <a:ext cx="161546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VENCE</a:t>
            </a:r>
          </a:p>
        </p:txBody>
      </p:sp>
      <p:sp>
        <p:nvSpPr>
          <p:cNvPr id="14" name="TextBox 13"/>
          <p:cNvSpPr txBox="1"/>
          <p:nvPr/>
        </p:nvSpPr>
        <p:spPr>
          <a:xfrm>
            <a:off x="7499784" y="2423159"/>
            <a:ext cx="161546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RESPONSABLE</a:t>
            </a:r>
          </a:p>
        </p:txBody>
      </p:sp>
      <p:sp>
        <p:nvSpPr>
          <p:cNvPr id="15" name="TextBox 14"/>
          <p:cNvSpPr txBox="1"/>
          <p:nvPr/>
        </p:nvSpPr>
        <p:spPr>
          <a:xfrm>
            <a:off x="9279842" y="2423159"/>
            <a:ext cx="2177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ESTADO</a:t>
            </a:r>
          </a:p>
        </p:txBody>
      </p:sp>
      <p:sp>
        <p:nvSpPr>
          <p:cNvPr id="16" name="Rectangle 15"/>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825495"/>
            <a:ext cx="264602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portal.coopaburra.com</a:t>
            </a:r>
          </a:p>
        </p:txBody>
      </p:sp>
      <p:sp>
        <p:nvSpPr>
          <p:cNvPr id="18" name="TextBox 17"/>
          <p:cNvSpPr txBox="1"/>
          <p:nvPr/>
        </p:nvSpPr>
        <p:spPr>
          <a:xfrm>
            <a:off x="3377545" y="2825495"/>
            <a:ext cx="2177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Autoridad interna de 2019</a:t>
            </a:r>
          </a:p>
        </p:txBody>
      </p:sp>
      <p:sp>
        <p:nvSpPr>
          <p:cNvPr id="19" name="TextBox 18"/>
          <p:cNvSpPr txBox="1"/>
          <p:nvPr/>
        </p:nvSpPr>
        <p:spPr>
          <a:xfrm>
            <a:off x="5719726" y="2825495"/>
            <a:ext cx="161546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14 de junio de 2026</a:t>
            </a:r>
          </a:p>
        </p:txBody>
      </p:sp>
      <p:sp>
        <p:nvSpPr>
          <p:cNvPr id="20" name="TextBox 19"/>
          <p:cNvSpPr txBox="1"/>
          <p:nvPr/>
        </p:nvSpPr>
        <p:spPr>
          <a:xfrm>
            <a:off x="7499784" y="2825495"/>
            <a:ext cx="161546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Nadie asignado</a:t>
            </a:r>
          </a:p>
        </p:txBody>
      </p:sp>
      <p:sp>
        <p:nvSpPr>
          <p:cNvPr id="21" name="TextBox 20"/>
          <p:cNvSpPr txBox="1"/>
          <p:nvPr/>
        </p:nvSpPr>
        <p:spPr>
          <a:xfrm>
            <a:off x="9279842" y="2825495"/>
            <a:ext cx="2177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Crítico: reemplazar antes de junio</a:t>
            </a:r>
          </a:p>
        </p:txBody>
      </p:sp>
      <p:sp>
        <p:nvSpPr>
          <p:cNvPr id="22" name="Rectangle 21"/>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365357"/>
            <a:ext cx="2646025"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Correo de la cooperativa</a:t>
            </a:r>
          </a:p>
        </p:txBody>
      </p:sp>
      <p:sp>
        <p:nvSpPr>
          <p:cNvPr id="24" name="TextBox 23"/>
          <p:cNvSpPr txBox="1"/>
          <p:nvPr/>
        </p:nvSpPr>
        <p:spPr>
          <a:xfrm>
            <a:off x="3377545" y="3365357"/>
            <a:ext cx="2177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25" name="TextBox 24"/>
          <p:cNvSpPr txBox="1"/>
          <p:nvPr/>
        </p:nvSpPr>
        <p:spPr>
          <a:xfrm>
            <a:off x="5719726" y="3365357"/>
            <a:ext cx="161546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26" name="TextBox 25"/>
          <p:cNvSpPr txBox="1"/>
          <p:nvPr/>
        </p:nvSpPr>
        <p:spPr>
          <a:xfrm>
            <a:off x="7499784" y="3365357"/>
            <a:ext cx="161546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27" name="TextBox 26"/>
          <p:cNvSpPr txBox="1"/>
          <p:nvPr/>
        </p:nvSpPr>
        <p:spPr>
          <a:xfrm>
            <a:off x="9279842" y="3365357"/>
            <a:ext cx="2177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Desconocido</a:t>
            </a:r>
          </a:p>
        </p:txBody>
      </p:sp>
      <p:sp>
        <p:nvSpPr>
          <p:cNvPr id="28" name="Rectangle 27"/>
          <p:cNvSpPr/>
          <p:nvPr/>
        </p:nvSpPr>
        <p:spPr>
          <a:xfrm>
            <a:off x="566928" y="36945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3785981"/>
            <a:ext cx="264602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Canal de los cajeros al centro de datos</a:t>
            </a:r>
          </a:p>
        </p:txBody>
      </p:sp>
      <p:sp>
        <p:nvSpPr>
          <p:cNvPr id="30" name="TextBox 29"/>
          <p:cNvSpPr txBox="1"/>
          <p:nvPr/>
        </p:nvSpPr>
        <p:spPr>
          <a:xfrm>
            <a:off x="3377545" y="3785981"/>
            <a:ext cx="2177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31" name="TextBox 30"/>
          <p:cNvSpPr txBox="1"/>
          <p:nvPr/>
        </p:nvSpPr>
        <p:spPr>
          <a:xfrm>
            <a:off x="5719726" y="3785981"/>
            <a:ext cx="161546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32" name="TextBox 31"/>
          <p:cNvSpPr txBox="1"/>
          <p:nvPr/>
        </p:nvSpPr>
        <p:spPr>
          <a:xfrm>
            <a:off x="7499784" y="3785981"/>
            <a:ext cx="161546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Proveedor de cajeros</a:t>
            </a:r>
          </a:p>
        </p:txBody>
      </p:sp>
      <p:sp>
        <p:nvSpPr>
          <p:cNvPr id="33" name="TextBox 32"/>
          <p:cNvSpPr txBox="1"/>
          <p:nvPr/>
        </p:nvSpPr>
        <p:spPr>
          <a:xfrm>
            <a:off x="9279842" y="3785981"/>
            <a:ext cx="2177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Desconocido</a:t>
            </a:r>
          </a:p>
        </p:txBody>
      </p:sp>
      <p:sp>
        <p:nvSpPr>
          <p:cNvPr id="34" name="Rectangle 33"/>
          <p:cNvSpPr/>
          <p:nvPr/>
        </p:nvSpPr>
        <p:spPr>
          <a:xfrm>
            <a:off x="566928" y="42344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325843"/>
            <a:ext cx="2646025"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Firma de la aplicación móvil</a:t>
            </a:r>
          </a:p>
        </p:txBody>
      </p:sp>
      <p:sp>
        <p:nvSpPr>
          <p:cNvPr id="36" name="TextBox 35"/>
          <p:cNvSpPr txBox="1"/>
          <p:nvPr/>
        </p:nvSpPr>
        <p:spPr>
          <a:xfrm>
            <a:off x="3377545" y="4325843"/>
            <a:ext cx="2177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fábrica o la cooperativa?</a:t>
            </a:r>
          </a:p>
        </p:txBody>
      </p:sp>
      <p:sp>
        <p:nvSpPr>
          <p:cNvPr id="37" name="TextBox 36"/>
          <p:cNvSpPr txBox="1"/>
          <p:nvPr/>
        </p:nvSpPr>
        <p:spPr>
          <a:xfrm>
            <a:off x="5719726" y="4325843"/>
            <a:ext cx="161546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38" name="TextBox 37"/>
          <p:cNvSpPr txBox="1"/>
          <p:nvPr/>
        </p:nvSpPr>
        <p:spPr>
          <a:xfrm>
            <a:off x="7499784" y="4325843"/>
            <a:ext cx="161546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39" name="TextBox 38"/>
          <p:cNvSpPr txBox="1"/>
          <p:nvPr/>
        </p:nvSpPr>
        <p:spPr>
          <a:xfrm>
            <a:off x="9279842" y="4325843"/>
            <a:ext cx="2177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Pregunta obligatoria</a:t>
            </a:r>
          </a:p>
        </p:txBody>
      </p:sp>
      <p:sp>
        <p:nvSpPr>
          <p:cNvPr id="40" name="Rectangle 39"/>
          <p:cNvSpPr/>
          <p:nvPr/>
        </p:nvSpPr>
        <p:spPr>
          <a:xfrm>
            <a:off x="566928" y="46550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746467"/>
            <a:ext cx="2646025"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Redes privadas con las sedes</a:t>
            </a:r>
          </a:p>
        </p:txBody>
      </p:sp>
      <p:sp>
        <p:nvSpPr>
          <p:cNvPr id="42" name="TextBox 41"/>
          <p:cNvSpPr txBox="1"/>
          <p:nvPr/>
        </p:nvSpPr>
        <p:spPr>
          <a:xfrm>
            <a:off x="3377545" y="4746467"/>
            <a:ext cx="2177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43" name="TextBox 42"/>
          <p:cNvSpPr txBox="1"/>
          <p:nvPr/>
        </p:nvSpPr>
        <p:spPr>
          <a:xfrm>
            <a:off x="5719726" y="4746467"/>
            <a:ext cx="161546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averiguar</a:t>
            </a:r>
          </a:p>
        </p:txBody>
      </p:sp>
      <p:sp>
        <p:nvSpPr>
          <p:cNvPr id="44" name="TextBox 43"/>
          <p:cNvSpPr txBox="1"/>
          <p:nvPr/>
        </p:nvSpPr>
        <p:spPr>
          <a:xfrm>
            <a:off x="7499784" y="4746467"/>
            <a:ext cx="1615465"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Redes</a:t>
            </a:r>
          </a:p>
        </p:txBody>
      </p:sp>
      <p:sp>
        <p:nvSpPr>
          <p:cNvPr id="45" name="TextBox 44"/>
          <p:cNvSpPr txBox="1"/>
          <p:nvPr/>
        </p:nvSpPr>
        <p:spPr>
          <a:xfrm>
            <a:off x="9279842" y="4746467"/>
            <a:ext cx="2177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Desconocido</a:t>
            </a:r>
          </a:p>
        </p:txBody>
      </p:sp>
      <p:sp>
        <p:nvSpPr>
          <p:cNvPr id="46" name="Rectangle 45"/>
          <p:cNvSpPr/>
          <p:nvPr/>
        </p:nvSpPr>
        <p:spPr>
          <a:xfrm>
            <a:off x="566928" y="50756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66928" y="513051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5432267"/>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4505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ESTA TABLA LE DICE AL COMITÉ</a:t>
            </a:r>
          </a:p>
        </p:txBody>
      </p:sp>
      <p:sp>
        <p:nvSpPr>
          <p:cNvPr id="50" name="TextBox 49"/>
          <p:cNvSpPr txBox="1"/>
          <p:nvPr/>
        </p:nvSpPr>
        <p:spPr>
          <a:xfrm>
            <a:off x="804672" y="5688299"/>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sola fila conocida y cuatro por averiguar. </a:t>
            </a:r>
            <a:r>
              <a:rPr sz="1150" b="1">
                <a:solidFill>
                  <a:srgbClr val="2A2A2A"/>
                </a:solidFill>
                <a:latin typeface="Arial"/>
              </a:rPr>
              <a:t>Eso no es un inventario incompleto: es el hallazgo H8 en forma de tabla</a:t>
            </a:r>
            <a:r>
              <a:rPr sz="1150" b="0">
                <a:solidFill>
                  <a:srgbClr val="2A2A2A"/>
                </a:solidFill>
                <a:latin typeface="Arial"/>
              </a:rPr>
              <a:t>, y cada «por averiguar» tiene que tener responsable y fecha en la hoja de ruta.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40  RETIRO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CÓMO SE RETIRA UNA RAÍZ INTERNA SIN TUMBAR NADA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47</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Retirar la autoridad de 2019 es un proyecto, no un comando. Este es el orden que evita apagar servicios por accidente.</a:t>
            </a:r>
          </a:p>
        </p:txBody>
      </p:sp>
      <p:sp>
        <p:nvSpPr>
          <p:cNvPr id="10" name="TextBox 9"/>
          <p:cNvSpPr txBox="1"/>
          <p:nvPr/>
        </p:nvSpPr>
        <p:spPr>
          <a:xfrm>
            <a:off x="566928" y="211226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13055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Inventariar dónde está instalada y qué emitió</a:t>
            </a:r>
          </a:p>
        </p:txBody>
      </p:sp>
      <p:sp>
        <p:nvSpPr>
          <p:cNvPr id="12" name="TextBox 11"/>
          <p:cNvSpPr txBox="1"/>
          <p:nvPr/>
        </p:nvSpPr>
        <p:spPr>
          <a:xfrm>
            <a:off x="1280160" y="23682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Equipos, servidores, cajeros y aplicaciones que confían en ella, y cada certificado vigente que firmó. Sin esto, cualquier paso siguiente rompe algo.</a:t>
            </a:r>
          </a:p>
        </p:txBody>
      </p:sp>
      <p:sp>
        <p:nvSpPr>
          <p:cNvPr id="13" name="TextBox 12"/>
          <p:cNvSpPr txBox="1"/>
          <p:nvPr/>
        </p:nvSpPr>
        <p:spPr>
          <a:xfrm>
            <a:off x="566928" y="284378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286207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Montar el reemplazo con el oficio completo</a:t>
            </a:r>
          </a:p>
        </p:txBody>
      </p:sp>
      <p:sp>
        <p:nvSpPr>
          <p:cNvPr id="15" name="TextBox 14"/>
          <p:cNvSpPr txBox="1"/>
          <p:nvPr/>
        </p:nvSpPr>
        <p:spPr>
          <a:xfrm>
            <a:off x="1280160" y="3099815"/>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Una autoridad interna nueva con la raíz en módulo de hardware y ceremonia, o certificados públicos donde sirvan.</a:t>
            </a:r>
          </a:p>
        </p:txBody>
      </p:sp>
      <p:sp>
        <p:nvSpPr>
          <p:cNvPr id="16" name="TextBox 15"/>
          <p:cNvSpPr txBox="1"/>
          <p:nvPr/>
        </p:nvSpPr>
        <p:spPr>
          <a:xfrm>
            <a:off x="566928" y="357530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59359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Reemitir y reemplazar, servicio por servicio</a:t>
            </a:r>
          </a:p>
        </p:txBody>
      </p:sp>
      <p:sp>
        <p:nvSpPr>
          <p:cNvPr id="18" name="TextBox 17"/>
          <p:cNvSpPr txBox="1"/>
          <p:nvPr/>
        </p:nvSpPr>
        <p:spPr>
          <a:xfrm>
            <a:off x="1280160" y="3831335"/>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En ventanas de mantenimiento, con prueba y plan de reversa. Primero lo que ven los asociados.</a:t>
            </a:r>
          </a:p>
        </p:txBody>
      </p:sp>
      <p:sp>
        <p:nvSpPr>
          <p:cNvPr id="19" name="TextBox 18"/>
          <p:cNvSpPr txBox="1"/>
          <p:nvPr/>
        </p:nvSpPr>
        <p:spPr>
          <a:xfrm>
            <a:off x="566928" y="430682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32511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Revocar lo emitido por la raíz vieja y retirarla de los almacenes de confianza</a:t>
            </a:r>
          </a:p>
        </p:txBody>
      </p:sp>
      <p:sp>
        <p:nvSpPr>
          <p:cNvPr id="21" name="TextBox 20"/>
          <p:cNvSpPr txBox="1"/>
          <p:nvPr/>
        </p:nvSpPr>
        <p:spPr>
          <a:xfrm>
            <a:off x="1280160" y="456285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Solo cuando nada dependa de ella: retirarla antes tumba servicios; retirarla tarde deja la puerta abierta.</a:t>
            </a:r>
          </a:p>
        </p:txBody>
      </p:sp>
      <p:sp>
        <p:nvSpPr>
          <p:cNvPr id="22" name="TextBox 21"/>
          <p:cNvSpPr txBox="1"/>
          <p:nvPr/>
        </p:nvSpPr>
        <p:spPr>
          <a:xfrm>
            <a:off x="566928" y="503834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3" name="TextBox 22"/>
          <p:cNvSpPr txBox="1"/>
          <p:nvPr/>
        </p:nvSpPr>
        <p:spPr>
          <a:xfrm>
            <a:off x="1280160" y="505663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Preservar la llave vieja como evidencia</a:t>
            </a:r>
          </a:p>
        </p:txBody>
      </p:sp>
      <p:sp>
        <p:nvSpPr>
          <p:cNvPr id="24" name="TextBox 23"/>
          <p:cNvSpPr txBox="1"/>
          <p:nvPr/>
        </p:nvSpPr>
        <p:spPr>
          <a:xfrm>
            <a:off x="1280160" y="529437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No se destruye mientras exista la posibilidad de un incidente que investigar.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06</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LABORATORIO 5</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Cincuenta minutos · Inspeccionar, construir y romper una cadena, con Python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41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CUATRO EJERCICIOS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49</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1 · Inspeccionar</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Descarguen el certificado de un sitio real y extraigan: emisor, vigencia, nombres alternativos, usos y puntos de revocación. Comparen con la evidencia A.</a:t>
            </a:r>
          </a:p>
        </p:txBody>
      </p:sp>
      <p:sp>
        <p:nvSpPr>
          <p:cNvPr id="12" name="TextBox 11"/>
          <p:cNvSpPr txBox="1"/>
          <p:nvPr/>
        </p:nvSpPr>
        <p:spPr>
          <a:xfrm>
            <a:off x="566928" y="238658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40487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2 · Construir su propia autoridad</a:t>
            </a:r>
          </a:p>
        </p:txBody>
      </p:sp>
      <p:sp>
        <p:nvSpPr>
          <p:cNvPr id="14" name="TextBox 13"/>
          <p:cNvSpPr txBox="1"/>
          <p:nvPr/>
        </p:nvSpPr>
        <p:spPr>
          <a:xfrm>
            <a:off x="1280160" y="2642615"/>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Creen una raíz, emitan un certificado de servidor y háganlo funcionar. Van a reproducir exactamente lo que hizo Coopaburrá en 2019, y a sentir por qué es fácil.</a:t>
            </a:r>
          </a:p>
        </p:txBody>
      </p:sp>
      <p:sp>
        <p:nvSpPr>
          <p:cNvPr id="15" name="TextBox 14"/>
          <p:cNvSpPr txBox="1"/>
          <p:nvPr/>
        </p:nvSpPr>
        <p:spPr>
          <a:xfrm>
            <a:off x="566928" y="317296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19125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3 · Romperla</a:t>
            </a:r>
          </a:p>
        </p:txBody>
      </p:sp>
      <p:sp>
        <p:nvSpPr>
          <p:cNvPr id="17" name="TextBox 16"/>
          <p:cNvSpPr txBox="1"/>
          <p:nvPr/>
        </p:nvSpPr>
        <p:spPr>
          <a:xfrm>
            <a:off x="1280160" y="342900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 esa misma raíz, emitan un certificado para un dominio que no es suyo. Instalen la raíz en su navegador y observen que no aparece ninguna advertencia.</a:t>
            </a:r>
          </a:p>
        </p:txBody>
      </p:sp>
      <p:sp>
        <p:nvSpPr>
          <p:cNvPr id="18" name="TextBox 17"/>
          <p:cNvSpPr txBox="1"/>
          <p:nvPr/>
        </p:nvSpPr>
        <p:spPr>
          <a:xfrm>
            <a:off x="566928" y="395935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97763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4 · Diagnosticar el canal</a:t>
            </a:r>
          </a:p>
        </p:txBody>
      </p:sp>
      <p:sp>
        <p:nvSpPr>
          <p:cNvPr id="20" name="TextBox 19"/>
          <p:cNvSpPr txBox="1"/>
          <p:nvPr/>
        </p:nvSpPr>
        <p:spPr>
          <a:xfrm>
            <a:off x="1280160" y="421538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Revisen versiones y suites de un servidor y produzcan el listado de lo que habría que apagar, con la justificación de cada línea.</a:t>
            </a:r>
          </a:p>
        </p:txBody>
      </p:sp>
      <p:sp>
        <p:nvSpPr>
          <p:cNvPr id="21" name="Rectangle 20"/>
          <p:cNvSpPr/>
          <p:nvPr/>
        </p:nvSpPr>
        <p:spPr>
          <a:xfrm>
            <a:off x="566928" y="4928616"/>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94690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EJERCICIO 3 ES EL QUE HAY QUE ENTENDER</a:t>
            </a:r>
          </a:p>
        </p:txBody>
      </p:sp>
      <p:sp>
        <p:nvSpPr>
          <p:cNvPr id="23" name="TextBox 22"/>
          <p:cNvSpPr txBox="1"/>
          <p:nvPr/>
        </p:nvSpPr>
        <p:spPr>
          <a:xfrm>
            <a:off x="804672" y="5184648"/>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Cuando vean su navegador aceptar sin chistar un certificado que ustedes mismos emitieron para un dominio ajeno, van a entender el hallazgo H5 mejor que con cualquier explicación. </a:t>
            </a:r>
            <a:r>
              <a:rPr sz="1150" b="1">
                <a:solidFill>
                  <a:srgbClr val="2A2A2A"/>
                </a:solidFill>
                <a:latin typeface="Arial"/>
              </a:rPr>
              <a:t>Háganlo solo en su equipo y retiren la raíz al terminar.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42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COMANDOS DE ARRANQUE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50</a:t>
            </a:r>
          </a:p>
        </p:txBody>
      </p:sp>
      <p:sp>
        <p:nvSpPr>
          <p:cNvPr id="9" name="Rectangle 8"/>
          <p:cNvSpPr/>
          <p:nvPr/>
        </p:nvSpPr>
        <p:spPr>
          <a:xfrm>
            <a:off x="566928" y="1554480"/>
            <a:ext cx="11055096" cy="309432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645920"/>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5 · PUNTO DE PARTIDA</a:t>
            </a:r>
          </a:p>
        </p:txBody>
      </p:sp>
      <p:sp>
        <p:nvSpPr>
          <p:cNvPr id="11" name="TextBox 10"/>
          <p:cNvSpPr txBox="1"/>
          <p:nvPr/>
        </p:nvSpPr>
        <p:spPr>
          <a:xfrm>
            <a:off x="768096" y="1883664"/>
            <a:ext cx="10652760" cy="2673705"/>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Inspeccionar el certificado de un sitio</a:t>
            </a:r>
          </a:p>
          <a:p>
            <a:pPr algn="l">
              <a:lnSpc>
                <a:spcPct val="130000"/>
              </a:lnSpc>
              <a:spcAft>
                <a:spcPts val="0"/>
              </a:spcAft>
            </a:pPr>
            <a:r>
              <a:rPr sz="950" b="0">
                <a:solidFill>
                  <a:srgbClr val="000000"/>
                </a:solidFill>
                <a:latin typeface="Consolas"/>
              </a:rPr>
              <a:t>openssl s_client -connect ejemplo.com:443 -servername ejemplo.com &lt;/dev/null \</a:t>
            </a:r>
          </a:p>
          <a:p>
            <a:pPr algn="l">
              <a:lnSpc>
                <a:spcPct val="130000"/>
              </a:lnSpc>
              <a:spcAft>
                <a:spcPts val="0"/>
              </a:spcAft>
            </a:pPr>
            <a:r>
              <a:rPr sz="950" b="0">
                <a:solidFill>
                  <a:srgbClr val="000000"/>
                </a:solidFill>
                <a:latin typeface="Consolas"/>
              </a:rPr>
              <a:t>  | openssl x509 -noout -text</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Crear una raíz propia y emitir un certificado de servidor</a:t>
            </a:r>
          </a:p>
          <a:p>
            <a:pPr algn="l">
              <a:lnSpc>
                <a:spcPct val="130000"/>
              </a:lnSpc>
              <a:spcAft>
                <a:spcPts val="0"/>
              </a:spcAft>
            </a:pPr>
            <a:r>
              <a:rPr sz="950" b="0">
                <a:solidFill>
                  <a:srgbClr val="000000"/>
                </a:solidFill>
                <a:latin typeface="Consolas"/>
              </a:rPr>
              <a:t>openssl req -x509 -newkey rsa:4096 -keyout raiz.key -out raiz.crt -days 3650</a:t>
            </a:r>
          </a:p>
          <a:p>
            <a:pPr algn="l">
              <a:lnSpc>
                <a:spcPct val="130000"/>
              </a:lnSpc>
              <a:spcAft>
                <a:spcPts val="0"/>
              </a:spcAft>
            </a:pPr>
            <a:r>
              <a:rPr sz="950" b="0">
                <a:solidFill>
                  <a:srgbClr val="000000"/>
                </a:solidFill>
                <a:latin typeface="Consolas"/>
              </a:rPr>
              <a:t>openssl req -newkey rsa:2048 -keyout servidor.key -out servidor.csr -nodes</a:t>
            </a:r>
          </a:p>
          <a:p>
            <a:pPr algn="l">
              <a:lnSpc>
                <a:spcPct val="130000"/>
              </a:lnSpc>
              <a:spcAft>
                <a:spcPts val="0"/>
              </a:spcAft>
            </a:pPr>
            <a:r>
              <a:rPr sz="950" b="0">
                <a:solidFill>
                  <a:srgbClr val="000000"/>
                </a:solidFill>
                <a:latin typeface="Consolas"/>
              </a:rPr>
              <a:t>openssl x509 -req -in servidor.csr -CA raiz.crt -CAkey raiz.key \</a:t>
            </a:r>
          </a:p>
          <a:p>
            <a:pPr algn="l">
              <a:lnSpc>
                <a:spcPct val="130000"/>
              </a:lnSpc>
              <a:spcAft>
                <a:spcPts val="0"/>
              </a:spcAft>
            </a:pPr>
            <a:r>
              <a:rPr sz="950" b="0">
                <a:solidFill>
                  <a:srgbClr val="000000"/>
                </a:solidFill>
                <a:latin typeface="Consolas"/>
              </a:rPr>
              <a:t>  -CAcreateserial -out servidor.crt -days 365</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Verificar una cadena y revisar versiones y suites</a:t>
            </a:r>
          </a:p>
          <a:p>
            <a:pPr algn="l">
              <a:lnSpc>
                <a:spcPct val="130000"/>
              </a:lnSpc>
              <a:spcAft>
                <a:spcPts val="0"/>
              </a:spcAft>
            </a:pPr>
            <a:r>
              <a:rPr sz="950" b="0">
                <a:solidFill>
                  <a:srgbClr val="000000"/>
                </a:solidFill>
                <a:latin typeface="Consolas"/>
              </a:rPr>
              <a:t>openssl verify -CAfile raiz.crt servidor.crt</a:t>
            </a:r>
          </a:p>
          <a:p>
            <a:pPr algn="l">
              <a:lnSpc>
                <a:spcPct val="130000"/>
              </a:lnSpc>
              <a:spcAft>
                <a:spcPts val="0"/>
              </a:spcAft>
            </a:pPr>
            <a:r>
              <a:rPr sz="950" b="0">
                <a:solidFill>
                  <a:srgbClr val="000000"/>
                </a:solidFill>
                <a:latin typeface="Consolas"/>
              </a:rPr>
              <a:t>nmap --script ssl-enum-ciphers -p 443 ejemplo.com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43  PYTHON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LABORATORIO 5 · EL EJERCICIO EN PYTHON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ejercicio 1 con la biblioteca estándar y la librería cryptography: descargar un certificado real y leer sus campos sin pasar por el navegador.</a:t>
            </a:r>
          </a:p>
        </p:txBody>
      </p:sp>
      <p:sp>
        <p:nvSpPr>
          <p:cNvPr id="10" name="Rectangle 9"/>
          <p:cNvSpPr/>
          <p:nvPr/>
        </p:nvSpPr>
        <p:spPr>
          <a:xfrm>
            <a:off x="566928" y="2304287"/>
            <a:ext cx="11055096" cy="267736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5 · PYTHON 3 + CRYPTOGRAPHY</a:t>
            </a:r>
          </a:p>
        </p:txBody>
      </p:sp>
      <p:sp>
        <p:nvSpPr>
          <p:cNvPr id="12" name="TextBox 11"/>
          <p:cNvSpPr txBox="1"/>
          <p:nvPr/>
        </p:nvSpPr>
        <p:spPr>
          <a:xfrm>
            <a:off x="768096" y="2633471"/>
            <a:ext cx="10652760" cy="225673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import ssl</a:t>
            </a:r>
          </a:p>
          <a:p>
            <a:pPr algn="l">
              <a:lnSpc>
                <a:spcPct val="130000"/>
              </a:lnSpc>
              <a:spcAft>
                <a:spcPts val="0"/>
              </a:spcAft>
            </a:pPr>
            <a:r>
              <a:rPr sz="950" b="0">
                <a:solidFill>
                  <a:srgbClr val="000000"/>
                </a:solidFill>
                <a:latin typeface="Consolas"/>
              </a:rPr>
              <a:t>from cryptography import x509</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pem = ssl.get_server_certificate(("www.iue.edu.co", 443))</a:t>
            </a:r>
          </a:p>
          <a:p>
            <a:pPr algn="l">
              <a:lnSpc>
                <a:spcPct val="130000"/>
              </a:lnSpc>
              <a:spcAft>
                <a:spcPts val="0"/>
              </a:spcAft>
            </a:pPr>
            <a:r>
              <a:rPr sz="950" b="0">
                <a:solidFill>
                  <a:srgbClr val="000000"/>
                </a:solidFill>
                <a:latin typeface="Consolas"/>
              </a:rPr>
              <a:t>cert = x509.load_pem_x509_certificate(pem.encode())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print("Emisor:  ", cert.issuer.rfc4514_string())</a:t>
            </a:r>
          </a:p>
          <a:p>
            <a:pPr algn="l">
              <a:lnSpc>
                <a:spcPct val="130000"/>
              </a:lnSpc>
              <a:spcAft>
                <a:spcPts val="0"/>
              </a:spcAft>
            </a:pPr>
            <a:r>
              <a:rPr sz="950" b="0">
                <a:solidFill>
                  <a:srgbClr val="000000"/>
                </a:solidFill>
                <a:latin typeface="Consolas"/>
              </a:rPr>
              <a:t>print("Vigencia:", cert.not_valid_before_utc, "→", cert.not_valid_after_utc)</a:t>
            </a:r>
          </a:p>
          <a:p>
            <a:pPr algn="l">
              <a:lnSpc>
                <a:spcPct val="130000"/>
              </a:lnSpc>
              <a:spcAft>
                <a:spcPts val="0"/>
              </a:spcAft>
            </a:pPr>
            <a:r>
              <a:rPr sz="950" b="0">
                <a:solidFill>
                  <a:srgbClr val="000000"/>
                </a:solidFill>
                <a:latin typeface="Consolas"/>
              </a:rPr>
              <a:t>nombres = cert.extensions.get_extension_for_class(x509.SubjectAlternativeName)</a:t>
            </a:r>
          </a:p>
          <a:p>
            <a:pPr algn="l">
              <a:lnSpc>
                <a:spcPct val="130000"/>
              </a:lnSpc>
              <a:spcAft>
                <a:spcPts val="0"/>
              </a:spcAft>
            </a:pPr>
            <a:r>
              <a:rPr sz="950" b="0">
                <a:solidFill>
                  <a:srgbClr val="000000"/>
                </a:solidFill>
                <a:latin typeface="Consolas"/>
              </a:rPr>
              <a:t>print("Ampara:  ", nombres.value.get_values_for_type(x509.DNSName))</a:t>
            </a:r>
          </a:p>
          <a:p>
            <a:pPr algn="l">
              <a:lnSpc>
                <a:spcPct val="130000"/>
              </a:lnSpc>
              <a:spcAft>
                <a:spcPts val="0"/>
              </a:spcAft>
            </a:pPr>
            <a:r>
              <a:rPr sz="950" b="0">
                <a:solidFill>
                  <a:srgbClr val="000000"/>
                </a:solidFill>
                <a:latin typeface="Consolas"/>
              </a:rPr>
              <a:t>print("Firma:   ", cert.signature_hash_algorithm.name)</a:t>
            </a:r>
          </a:p>
        </p:txBody>
      </p:sp>
      <p:sp>
        <p:nvSpPr>
          <p:cNvPr id="13" name="Rectangle 12"/>
          <p:cNvSpPr/>
          <p:nvPr/>
        </p:nvSpPr>
        <p:spPr>
          <a:xfrm>
            <a:off x="566928" y="5237683"/>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25597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VA EN EL INFORME</a:t>
            </a:r>
          </a:p>
        </p:txBody>
      </p:sp>
      <p:sp>
        <p:nvSpPr>
          <p:cNvPr id="15" name="TextBox 14"/>
          <p:cNvSpPr txBox="1"/>
          <p:nvPr/>
        </p:nvSpPr>
        <p:spPr>
          <a:xfrm>
            <a:off x="804672" y="5493715"/>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Comparen los campos con la evidencia A: emisor, vigencia, nombres amparados y algoritmo de firma. </a:t>
            </a:r>
            <a:r>
              <a:rPr sz="1150" b="1">
                <a:solidFill>
                  <a:srgbClr val="2A2A2A"/>
                </a:solidFill>
                <a:latin typeface="Arial"/>
              </a:rPr>
              <a:t>Después carguen el certificado que emitieron con su propia raíz en el ejercicio 2</a:t>
            </a:r>
            <a:r>
              <a:rPr sz="1150" b="0">
                <a:solidFill>
                  <a:srgbClr val="2A2A2A"/>
                </a:solidFill>
                <a:latin typeface="Arial"/>
              </a:rPr>
              <a:t> y expliquen qué campo haría que un navegador lo rechazara, y cuál no.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44  SÍNTESIS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LLEVAMOS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52</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 certificado es una afirmación firmada, y vale lo que valga quien la firma</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No cifra, no protege: ata una llave pública a una identidad.</a:t>
            </a:r>
          </a:p>
        </p:txBody>
      </p:sp>
      <p:sp>
        <p:nvSpPr>
          <p:cNvPr id="12" name="TextBox 11"/>
          <p:cNvSpPr txBox="1"/>
          <p:nvPr/>
        </p:nvSpPr>
        <p:spPr>
          <a:xfrm>
            <a:off x="566928" y="231343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3172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confianza no se resuelve, se desplaza</a:t>
            </a:r>
          </a:p>
        </p:txBody>
      </p:sp>
      <p:sp>
        <p:nvSpPr>
          <p:cNvPr id="14" name="TextBox 13"/>
          <p:cNvSpPr txBox="1"/>
          <p:nvPr/>
        </p:nvSpPr>
        <p:spPr>
          <a:xfrm>
            <a:off x="1280160" y="256946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 muchas llaves desconocidas a unas pocas raíces conocidas y auditadas.</a:t>
            </a:r>
          </a:p>
        </p:txBody>
      </p:sp>
      <p:sp>
        <p:nvSpPr>
          <p:cNvPr id="15" name="TextBox 14"/>
          <p:cNvSpPr txBox="1"/>
          <p:nvPr/>
        </p:nvSpPr>
        <p:spPr>
          <a:xfrm>
            <a:off x="566928" y="302666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4495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revocación funciona mal, y por eso la vigencia se acorta</a:t>
            </a:r>
          </a:p>
        </p:txBody>
      </p:sp>
      <p:sp>
        <p:nvSpPr>
          <p:cNvPr id="17" name="TextBox 16"/>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 398 días a 47 en pocos años. Eso obliga a automatizar.</a:t>
            </a:r>
          </a:p>
        </p:txBody>
      </p:sp>
      <p:sp>
        <p:nvSpPr>
          <p:cNvPr id="18" name="TextBox 17"/>
          <p:cNvSpPr txBox="1"/>
          <p:nvPr/>
        </p:nvSpPr>
        <p:spPr>
          <a:xfrm>
            <a:off x="566928" y="37398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7581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candado no dice que el sitio sea legítimo</a:t>
            </a:r>
          </a:p>
        </p:txBody>
      </p:sp>
      <p:sp>
        <p:nvSpPr>
          <p:cNvPr id="20" name="TextBox 19"/>
          <p:cNvSpPr txBox="1"/>
          <p:nvPr/>
        </p:nvSpPr>
        <p:spPr>
          <a:xfrm>
            <a:off x="1280160" y="39959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Dice que el canal está cifrado con quien sea que esté al otro lado.</a:t>
            </a:r>
          </a:p>
        </p:txBody>
      </p:sp>
      <p:sp>
        <p:nvSpPr>
          <p:cNvPr id="21" name="TextBox 20"/>
          <p:cNvSpPr txBox="1"/>
          <p:nvPr/>
        </p:nvSpPr>
        <p:spPr>
          <a:xfrm>
            <a:off x="566928" y="445312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2" name="TextBox 21"/>
          <p:cNvSpPr txBox="1"/>
          <p:nvPr/>
        </p:nvSpPr>
        <p:spPr>
          <a:xfrm>
            <a:off x="1280160" y="447141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Montar una autoridad propia es asumir un oficio completo</a:t>
            </a:r>
          </a:p>
        </p:txBody>
      </p:sp>
      <p:sp>
        <p:nvSpPr>
          <p:cNvPr id="23" name="TextBox 22"/>
          <p:cNvSpPr txBox="1"/>
          <p:nvPr/>
        </p:nvSpPr>
        <p:spPr>
          <a:xfrm>
            <a:off x="1280160" y="470916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Y el oficio, no el algoritmo, es lo que Coopaburrá no hizo.</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45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QUINTA PARTE DEL PRODUCTO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 entrega al inicio de la sesión 6, junto con la sustentación. Cierra el hallazgo H7: el valor probatorio de los créditos hipotecarios a veinte años.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SECCIÓN</a:t>
            </a:r>
          </a:p>
        </p:txBody>
      </p:sp>
      <p:sp>
        <p:nvSpPr>
          <p:cNvPr id="12" name="TextBox 11"/>
          <p:cNvSpPr txBox="1"/>
          <p:nvPr/>
        </p:nvSpPr>
        <p:spPr>
          <a:xfrm>
            <a:off x="4325660" y="2423159"/>
            <a:ext cx="713177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DEBE CONTENER</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Diagnóstico jurídico y técnico de H7</a:t>
            </a:r>
          </a:p>
        </p:txBody>
      </p:sp>
      <p:sp>
        <p:nvSpPr>
          <p:cNvPr id="15" name="TextBox 14"/>
          <p:cNvSpPr txBox="1"/>
          <p:nvPr/>
        </p:nvSpPr>
        <p:spPr>
          <a:xfrm>
            <a:off x="4325660" y="2825495"/>
            <a:ext cx="713177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qué la imagen escaneada no satisface los requisitos de una firma confiable, con las cuatro preguntas del juez respondidas</a:t>
            </a:r>
          </a:p>
        </p:txBody>
      </p:sp>
      <p:sp>
        <p:nvSpPr>
          <p:cNvPr id="16" name="Rectangle 15"/>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65357"/>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Esquema propuesto para las firmas nuevas</a:t>
            </a:r>
          </a:p>
        </p:txBody>
      </p:sp>
      <p:sp>
        <p:nvSpPr>
          <p:cNvPr id="18" name="TextBox 17"/>
          <p:cNvSpPr txBox="1"/>
          <p:nvPr/>
        </p:nvSpPr>
        <p:spPr>
          <a:xfrm>
            <a:off x="4325660" y="3365357"/>
            <a:ext cx="713177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digital con entidad acreditada, sello de tiempo de tercero y formato de conservación de larga duración</a:t>
            </a:r>
          </a:p>
        </p:txBody>
      </p:sp>
      <p:sp>
        <p:nvSpPr>
          <p:cNvPr id="19" name="Rectangle 18"/>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905219"/>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Qué se hace con la cartera ya firmada</a:t>
            </a:r>
          </a:p>
        </p:txBody>
      </p:sp>
      <p:sp>
        <p:nvSpPr>
          <p:cNvPr id="21" name="TextBox 20"/>
          <p:cNvSpPr txBox="1"/>
          <p:nvPr/>
        </p:nvSpPr>
        <p:spPr>
          <a:xfrm>
            <a:off x="4325660" y="3905219"/>
            <a:ext cx="713177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decisión difícil. Resellar, dejar, o documentar el riesgo y provisionarlo. Con el argumento, no solo la elección</a:t>
            </a:r>
          </a:p>
        </p:txBody>
      </p:sp>
      <p:sp>
        <p:nvSpPr>
          <p:cNvPr id="22" name="Rectangle 21"/>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445081"/>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Costo y viabilidad</a:t>
            </a:r>
          </a:p>
        </p:txBody>
      </p:sp>
      <p:sp>
        <p:nvSpPr>
          <p:cNvPr id="24" name="TextBox 23"/>
          <p:cNvSpPr txBox="1"/>
          <p:nvPr/>
        </p:nvSpPr>
        <p:spPr>
          <a:xfrm>
            <a:off x="4325660" y="4445081"/>
            <a:ext cx="713177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Costo por documento y por año de conservación, y qué preguntas hay que hacerle al proveedor antes de contratar</a:t>
            </a:r>
          </a:p>
        </p:txBody>
      </p:sp>
      <p:sp>
        <p:nvSpPr>
          <p:cNvPr id="25" name="Rectangle 24"/>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46  CIERRE</a:t>
            </a:r>
          </a:p>
        </p:txBody>
      </p:sp>
      <p:sp>
        <p:nvSpPr>
          <p:cNvPr id="4" name="TextBox 3"/>
          <p:cNvSpPr txBox="1"/>
          <p:nvPr/>
        </p:nvSpPr>
        <p:spPr>
          <a:xfrm>
            <a:off x="566928" y="731520"/>
            <a:ext cx="11055096" cy="868680"/>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TRABAJO INDEPENDIENTE</a:t>
            </a:r>
          </a:p>
          <a:p>
            <a:pPr algn="l">
              <a:lnSpc>
                <a:spcPct val="108000"/>
              </a:lnSpc>
              <a:spcAft>
                <a:spcPts val="0"/>
              </a:spcAft>
            </a:pPr>
            <a:r>
              <a:rPr sz="2300" b="0">
                <a:solidFill>
                  <a:srgbClr val="000000"/>
                </a:solidFill>
                <a:latin typeface="Arial Black"/>
              </a:rPr>
              <a:t>HASTA LA SESIÓN 6</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54</a:t>
            </a:r>
          </a:p>
        </p:txBody>
      </p:sp>
      <p:sp>
        <p:nvSpPr>
          <p:cNvPr id="9" name="Rectangle 8"/>
          <p:cNvSpPr/>
          <p:nvPr/>
        </p:nvSpPr>
        <p:spPr>
          <a:xfrm>
            <a:off x="566928" y="179222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11 h</a:t>
            </a:r>
          </a:p>
        </p:txBody>
      </p:sp>
      <p:sp>
        <p:nvSpPr>
          <p:cNvPr id="11" name="TextBox 10"/>
          <p:cNvSpPr txBox="1"/>
          <p:nvPr/>
        </p:nvSpPr>
        <p:spPr>
          <a:xfrm>
            <a:off x="566928"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TOTAL ENTRE</a:t>
            </a:r>
          </a:p>
          <a:p>
            <a:pPr algn="l">
              <a:lnSpc>
                <a:spcPct val="125000"/>
              </a:lnSpc>
              <a:spcAft>
                <a:spcPts val="0"/>
              </a:spcAft>
            </a:pPr>
            <a:r>
              <a:rPr sz="730" b="1" spc="130">
                <a:solidFill>
                  <a:srgbClr val="3A3A3A"/>
                </a:solidFill>
                <a:latin typeface="Consolas"/>
              </a:rPr>
              <a:t>MARTES Y JUEVES</a:t>
            </a:r>
          </a:p>
        </p:txBody>
      </p:sp>
      <p:sp>
        <p:nvSpPr>
          <p:cNvPr id="12" name="Rectangle 11"/>
          <p:cNvSpPr/>
          <p:nvPr/>
        </p:nvSpPr>
        <p:spPr>
          <a:xfrm>
            <a:off x="4142232"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3 h</a:t>
            </a:r>
          </a:p>
        </p:txBody>
      </p:sp>
      <p:sp>
        <p:nvSpPr>
          <p:cNvPr id="14" name="TextBox 13"/>
          <p:cNvSpPr txBox="1"/>
          <p:nvPr/>
        </p:nvSpPr>
        <p:spPr>
          <a:xfrm>
            <a:off x="4251960"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LECTURA</a:t>
            </a:r>
          </a:p>
          <a:p>
            <a:pPr algn="l">
              <a:lnSpc>
                <a:spcPct val="125000"/>
              </a:lnSpc>
              <a:spcAft>
                <a:spcPts val="0"/>
              </a:spcAft>
            </a:pPr>
            <a:r>
              <a:rPr sz="730" b="1" spc="130">
                <a:solidFill>
                  <a:srgbClr val="3A3A3A"/>
                </a:solidFill>
                <a:latin typeface="Consolas"/>
              </a:rPr>
              <a:t>PREVIA</a:t>
            </a:r>
          </a:p>
        </p:txBody>
      </p:sp>
      <p:sp>
        <p:nvSpPr>
          <p:cNvPr id="15" name="Rectangle 14"/>
          <p:cNvSpPr/>
          <p:nvPr/>
        </p:nvSpPr>
        <p:spPr>
          <a:xfrm>
            <a:off x="7827264"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1920240"/>
            <a:ext cx="3502152"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8 h</a:t>
            </a:r>
          </a:p>
        </p:txBody>
      </p:sp>
      <p:sp>
        <p:nvSpPr>
          <p:cNvPr id="17" name="TextBox 16"/>
          <p:cNvSpPr txBox="1"/>
          <p:nvPr/>
        </p:nvSpPr>
        <p:spPr>
          <a:xfrm>
            <a:off x="7936992"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ENTREGA 5 Y PREPARACIÓN</a:t>
            </a:r>
          </a:p>
          <a:p>
            <a:pPr algn="l">
              <a:lnSpc>
                <a:spcPct val="125000"/>
              </a:lnSpc>
              <a:spcAft>
                <a:spcPts val="0"/>
              </a:spcAft>
            </a:pPr>
            <a:r>
              <a:rPr sz="730" b="1" spc="130">
                <a:solidFill>
                  <a:srgbClr val="3A3A3A"/>
                </a:solidFill>
                <a:latin typeface="Consolas"/>
              </a:rPr>
              <a:t>DE LA SUSTENTACIÓN</a:t>
            </a:r>
          </a:p>
        </p:txBody>
      </p:sp>
      <p:sp>
        <p:nvSpPr>
          <p:cNvPr id="18" name="Rectangle 17"/>
          <p:cNvSpPr/>
          <p:nvPr/>
        </p:nvSpPr>
        <p:spPr>
          <a:xfrm>
            <a:off x="566928" y="296265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6"/>
            <a:ext cx="11055096" cy="274320"/>
          </a:xfrm>
          <a:prstGeom prst="rect">
            <a:avLst/>
          </a:prstGeom>
          <a:noFill/>
        </p:spPr>
        <p:txBody>
          <a:bodyPr wrap="square" lIns="0" rIns="0" tIns="0" bIns="0">
            <a:spAutoFit/>
          </a:bodyPr>
          <a:lstStyle/>
          <a:p>
            <a:pPr algn="l">
              <a:spcAft>
                <a:spcPts val="0"/>
              </a:spcAft>
            </a:pPr>
            <a:r>
              <a:rPr sz="1350" b="1">
                <a:solidFill>
                  <a:srgbClr val="000000"/>
                </a:solidFill>
                <a:latin typeface="Arial"/>
              </a:rPr>
              <a:t>Lectura previa · 3 horas</a:t>
            </a:r>
          </a:p>
        </p:txBody>
      </p:sp>
      <p:sp>
        <p:nvSpPr>
          <p:cNvPr id="20" name="TextBox 19"/>
          <p:cNvSpPr txBox="1"/>
          <p:nvPr/>
        </p:nvSpPr>
        <p:spPr>
          <a:xfrm>
            <a:off x="566928" y="3520439"/>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NIST SP 800-57, parte 1</a:t>
            </a:r>
          </a:p>
        </p:txBody>
      </p:sp>
      <p:sp>
        <p:nvSpPr>
          <p:cNvPr id="21" name="TextBox 20"/>
          <p:cNvSpPr txBox="1"/>
          <p:nvPr/>
        </p:nvSpPr>
        <p:spPr>
          <a:xfrm>
            <a:off x="3401568" y="3520439"/>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Recommendation for Key Management, secciones 5 y 7: periodos criptográficos y estados de una llave. 1,5 horas.</a:t>
            </a:r>
          </a:p>
        </p:txBody>
      </p:sp>
      <p:sp>
        <p:nvSpPr>
          <p:cNvPr id="22" name="Rectangle 21"/>
          <p:cNvSpPr/>
          <p:nvPr/>
        </p:nvSpPr>
        <p:spPr>
          <a:xfrm>
            <a:off x="566928" y="401421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05655"/>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NIST IR 8547, borrador</a:t>
            </a:r>
          </a:p>
        </p:txBody>
      </p:sp>
      <p:sp>
        <p:nvSpPr>
          <p:cNvPr id="24" name="TextBox 23"/>
          <p:cNvSpPr txBox="1"/>
          <p:nvPr/>
        </p:nvSpPr>
        <p:spPr>
          <a:xfrm>
            <a:off x="3401568" y="4105655"/>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Transition to Post-Quantum Cryptography Standards: el calendario de retiro de RSA y de las curvas. Una hora.</a:t>
            </a:r>
          </a:p>
        </p:txBody>
      </p:sp>
      <p:sp>
        <p:nvSpPr>
          <p:cNvPr id="25" name="Rectangle 24"/>
          <p:cNvSpPr/>
          <p:nvPr/>
        </p:nvSpPr>
        <p:spPr>
          <a:xfrm>
            <a:off x="566928" y="4599431"/>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90871"/>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CNSA 2.0</a:t>
            </a:r>
          </a:p>
        </p:txBody>
      </p:sp>
      <p:sp>
        <p:nvSpPr>
          <p:cNvPr id="27" name="TextBox 26"/>
          <p:cNvSpPr txBox="1"/>
          <p:nvPr/>
        </p:nvSpPr>
        <p:spPr>
          <a:xfrm>
            <a:off x="3401568" y="4690871"/>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Commercial National Security Algorithm Suite 2.0: algoritmos y fechas por tipo de sistema. Media hora.</a:t>
            </a:r>
          </a:p>
        </p:txBody>
      </p:sp>
      <p:sp>
        <p:nvSpPr>
          <p:cNvPr id="28" name="Rectangle 27"/>
          <p:cNvSpPr/>
          <p:nvPr/>
        </p:nvSpPr>
        <p:spPr>
          <a:xfrm>
            <a:off x="566928" y="5184647"/>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CONDICIÓN DE ENTRADA A LA SESIÓN 6</a:t>
            </a:r>
          </a:p>
        </p:txBody>
      </p:sp>
      <p:sp>
        <p:nvSpPr>
          <p:cNvPr id="31" name="TextBox 30"/>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jueves se recibe la parte 5 y se sustenta la hoja de ruta. Las 8 horas de elaboración son la entrega 5 (6 h, en equipo) y la preparación de la sustentación (2 h): diez minutos por equipo, ante el comité.</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47  ADELANTO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VIENE EL JUEVES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Sesión 6: el cierre del módulo. Gestión de llaves, conservación a veinte años, transición post-cuántica y sustentación ante el comité.</a:t>
            </a:r>
          </a:p>
        </p:txBody>
      </p:sp>
      <p:sp>
        <p:nvSpPr>
          <p:cNvPr id="10" name="Rectangle 9"/>
          <p:cNvSpPr/>
          <p:nvPr/>
        </p:nvSpPr>
        <p:spPr>
          <a:xfrm>
            <a:off x="566928" y="2304287"/>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BLOQUE 11 · LA LLAVE COMO ACTIVO</a:t>
            </a:r>
          </a:p>
        </p:txBody>
      </p:sp>
      <p:sp>
        <p:nvSpPr>
          <p:cNvPr id="12" name="TextBox 11"/>
          <p:cNvSpPr txBox="1"/>
          <p:nvPr/>
        </p:nvSpPr>
        <p:spPr>
          <a:xfrm>
            <a:off x="786384" y="2633471"/>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Ciclo de vida completo: generación, custodia, rotación, retiro y destrucción.</a:t>
            </a:r>
          </a:p>
          <a:p>
            <a:pPr algn="l">
              <a:lnSpc>
                <a:spcPct val="128000"/>
              </a:lnSpc>
              <a:spcAft>
                <a:spcPts val="700"/>
              </a:spcAft>
            </a:pPr>
            <a:r>
              <a:rPr sz="1150" b="0">
                <a:solidFill>
                  <a:srgbClr val="000000"/>
                </a:solidFill>
                <a:latin typeface="Arial"/>
              </a:rPr>
              <a:t>Ceremonias, doble control y custodios. El hallazgo H6: las llaves de los 32 cajeros, cargadas en 2019 y nunca rotadas.</a:t>
            </a:r>
          </a:p>
          <a:p>
            <a:pPr algn="l">
              <a:lnSpc>
                <a:spcPct val="128000"/>
              </a:lnSpc>
              <a:spcAft>
                <a:spcPts val="700"/>
              </a:spcAft>
            </a:pPr>
            <a:r>
              <a:rPr sz="1150" b="0">
                <a:solidFill>
                  <a:srgbClr val="000000"/>
                </a:solidFill>
                <a:latin typeface="Arial"/>
              </a:rPr>
              <a:t>Y la conservación a veinte años, que es donde se cierra H7.</a:t>
            </a:r>
          </a:p>
        </p:txBody>
      </p:sp>
      <p:sp>
        <p:nvSpPr>
          <p:cNvPr id="13" name="Rectangle 12"/>
          <p:cNvSpPr/>
          <p:nvPr/>
        </p:nvSpPr>
        <p:spPr>
          <a:xfrm>
            <a:off x="6268212" y="2304287"/>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BLOQUE 12 · LO QUE VIENE DESPUÉS</a:t>
            </a:r>
          </a:p>
        </p:txBody>
      </p:sp>
      <p:sp>
        <p:nvSpPr>
          <p:cNvPr id="15" name="TextBox 14"/>
          <p:cNvSpPr txBox="1"/>
          <p:nvPr/>
        </p:nvSpPr>
        <p:spPr>
          <a:xfrm>
            <a:off x="6487668" y="2633471"/>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transición post-cuántica: qué se está estandarizando, qué plazos manejan los gobiernos y qué significa grabar hoy para descifrar mañana.</a:t>
            </a:r>
          </a:p>
          <a:p>
            <a:pPr algn="l">
              <a:lnSpc>
                <a:spcPct val="128000"/>
              </a:lnSpc>
              <a:spcAft>
                <a:spcPts val="700"/>
              </a:spcAft>
            </a:pPr>
            <a:r>
              <a:rPr sz="1150" b="0">
                <a:solidFill>
                  <a:srgbClr val="000000"/>
                </a:solidFill>
                <a:latin typeface="Arial"/>
              </a:rPr>
              <a:t>Criptoagilidad: diseñar para poder cambiar de algoritmo sin rehacer el sistema.</a:t>
            </a:r>
          </a:p>
          <a:p>
            <a:pPr algn="l">
              <a:lnSpc>
                <a:spcPct val="128000"/>
              </a:lnSpc>
              <a:spcAft>
                <a:spcPts val="700"/>
              </a:spcAft>
            </a:pPr>
            <a:r>
              <a:rPr sz="1150" b="0">
                <a:solidFill>
                  <a:srgbClr val="000000"/>
                </a:solidFill>
                <a:latin typeface="Arial"/>
              </a:rPr>
              <a:t>Y la sustentación de la hoja de ruta ante el comité.</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48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1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56</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ACME</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Automatic Certificate Management Environment — Protocolo para pedir y renovar certificados sin intervención humana. RFC 8555.</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CAA</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Certification Authority Authorization — Registro DNS que indica qué entidades pueden emitir certificados para un dominio.</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CA/B Forum / SC</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CA/Browser Forum / Server Certificate — El foro de entidades y navegadores, y su grupo de certificados de servidor.</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CRL</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Certificate Revocation List — Lista de certificados revocados que publica cada entidad de certificación.</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DER / PEM / CSR</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Distinguished Encoding Rules / Privacy-Enhanced Mail / Certificate Signing Request — Formatos del certificado y de su solicitud.</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DNS</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Domain Name System — Sistema de nombres de dominio. Aloja los registros CAA y los desafíos de ACME.</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HKDF / AES-GCM</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Derivación de llaves y cifrado autenticado: las piezas simétricas de TLS 1.3. Sesiones 2 y 3.</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HSTS / HTTP</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HTTP Strict Transport Security / Hypertext Transfer Protocol — La cabecera que obliga al navegador a usar solo cifrado.</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IETF / RFC</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Internet Engineering Task Force / Request for Comments — El organismo de estándares de internet y su serie de documentos.</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IPsec / IKEv2</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Internet Protocol Security / Internet Key Exchange versión 2 — Protocolos de redes privadas virtuales entre sedes.</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49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2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57</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ML-KEM</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Module-Lattice-Based Key-Encapsulation Mechanism — Encapsulamiento de llave post-cuántico de FIPS 203. Sesión 6.</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NIST / SP / IR</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National Institute of Standards and Technology / Special Publication / Interagency Report — El instituto y dos de sus series.</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PGP / SSH</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Pretty Good Privacy / Secure Shell — Correo cifrado con red de confianza, y acceso remoto con confianza en el primer uso.</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ONAC</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Organismo Nacional de Acreditación de Colombia — Acredita a las entidades que emiten certificados de persona.</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PKCS #12</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Public-Key Cryptography Standards #12 — Formato que guarda certificado y llave privada juntos: .p12 o .pfx.</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RSA / SHA-1 / SHA-256</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Algoritmo de llave pública (sesión 4) y funciones resumen (sesión 3) con que se firman los certificados.</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TLS</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Transport Layer Security — El protocolo del canal seguro. Las versiones 1.0 y 1.1 están retiradas desde 2021.</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USENIX</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Asociación estadounidense de sistemas informáticos; su simposio de seguridad publica investigación de referencia.</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X25519 / X25519MLKEM768</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Acuerdo de llave sobre la curva 25519, y su versión híbrida con ML-KEM-768, activa por defecto en los navegadores.</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X.509</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Norma de la Unión Internacional de Telecomunicaciones que define el formato de los certificados digitales.</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50  FUENTES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REFERENCIAS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5</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58</a:t>
            </a:r>
          </a:p>
        </p:txBody>
      </p:sp>
      <p:sp>
        <p:nvSpPr>
          <p:cNvPr id="9" name="TextBox 8"/>
          <p:cNvSpPr txBox="1"/>
          <p:nvPr/>
        </p:nvSpPr>
        <p:spPr>
          <a:xfrm>
            <a:off x="566928" y="1572768"/>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Cooper, D. et al. (2008).</a:t>
            </a:r>
          </a:p>
        </p:txBody>
      </p:sp>
      <p:sp>
        <p:nvSpPr>
          <p:cNvPr id="10" name="TextBox 9"/>
          <p:cNvSpPr txBox="1"/>
          <p:nvPr/>
        </p:nvSpPr>
        <p:spPr>
          <a:xfrm>
            <a:off x="3081528" y="1572768"/>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5280: Internet X.509 public key infrastructure certificate and CRL profile. IETF.</a:t>
            </a:r>
          </a:p>
        </p:txBody>
      </p:sp>
      <p:sp>
        <p:nvSpPr>
          <p:cNvPr id="11" name="TextBox 10"/>
          <p:cNvSpPr txBox="1"/>
          <p:nvPr/>
        </p:nvSpPr>
        <p:spPr>
          <a:xfrm>
            <a:off x="8385048" y="1572768"/>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Campos y extensiones del certificado</a:t>
            </a:r>
          </a:p>
        </p:txBody>
      </p:sp>
      <p:sp>
        <p:nvSpPr>
          <p:cNvPr id="12" name="Rectangle 11"/>
          <p:cNvSpPr/>
          <p:nvPr/>
        </p:nvSpPr>
        <p:spPr>
          <a:xfrm>
            <a:off x="566928" y="1990779"/>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82219"/>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Rescorla, E. (2018).</a:t>
            </a:r>
          </a:p>
        </p:txBody>
      </p:sp>
      <p:sp>
        <p:nvSpPr>
          <p:cNvPr id="14" name="TextBox 13"/>
          <p:cNvSpPr txBox="1"/>
          <p:nvPr/>
        </p:nvSpPr>
        <p:spPr>
          <a:xfrm>
            <a:off x="3081528" y="2082219"/>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8446: The transport layer security (TLS) protocol version 1.3. IETF.</a:t>
            </a:r>
          </a:p>
        </p:txBody>
      </p:sp>
      <p:sp>
        <p:nvSpPr>
          <p:cNvPr id="15" name="TextBox 14"/>
          <p:cNvSpPr txBox="1"/>
          <p:nvPr/>
        </p:nvSpPr>
        <p:spPr>
          <a:xfrm>
            <a:off x="8385048" y="2082219"/>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El apretón de manos, mensaje por mensaje</a:t>
            </a:r>
          </a:p>
        </p:txBody>
      </p:sp>
      <p:sp>
        <p:nvSpPr>
          <p:cNvPr id="16" name="Rectangle 15"/>
          <p:cNvSpPr/>
          <p:nvPr/>
        </p:nvSpPr>
        <p:spPr>
          <a:xfrm>
            <a:off x="566928" y="250023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591670"/>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Moriarty, K. y Farrell, S. (2021).</a:t>
            </a:r>
          </a:p>
        </p:txBody>
      </p:sp>
      <p:sp>
        <p:nvSpPr>
          <p:cNvPr id="18" name="TextBox 17"/>
          <p:cNvSpPr txBox="1"/>
          <p:nvPr/>
        </p:nvSpPr>
        <p:spPr>
          <a:xfrm>
            <a:off x="3081528" y="2591670"/>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8996: Deprecating TLS 1.0 and TLS 1.1. IETF.</a:t>
            </a:r>
          </a:p>
        </p:txBody>
      </p:sp>
      <p:sp>
        <p:nvSpPr>
          <p:cNvPr id="19" name="TextBox 18"/>
          <p:cNvSpPr txBox="1"/>
          <p:nvPr/>
        </p:nvSpPr>
        <p:spPr>
          <a:xfrm>
            <a:off x="8385048" y="2591670"/>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Retiro de las versiones antiguas</a:t>
            </a:r>
          </a:p>
        </p:txBody>
      </p:sp>
      <p:sp>
        <p:nvSpPr>
          <p:cNvPr id="20" name="Rectangle 19"/>
          <p:cNvSpPr/>
          <p:nvPr/>
        </p:nvSpPr>
        <p:spPr>
          <a:xfrm>
            <a:off x="566928" y="3009682"/>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01122"/>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IETF. (2019).</a:t>
            </a:r>
          </a:p>
        </p:txBody>
      </p:sp>
      <p:sp>
        <p:nvSpPr>
          <p:cNvPr id="22" name="TextBox 21"/>
          <p:cNvSpPr txBox="1"/>
          <p:nvPr/>
        </p:nvSpPr>
        <p:spPr>
          <a:xfrm>
            <a:off x="3081528" y="3101122"/>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8555: Automatic Certificate Management Environment (ACME) y RFC 8659: DNS CAA.</a:t>
            </a:r>
          </a:p>
        </p:txBody>
      </p:sp>
      <p:sp>
        <p:nvSpPr>
          <p:cNvPr id="23" name="TextBox 22"/>
          <p:cNvSpPr txBox="1"/>
          <p:nvPr/>
        </p:nvSpPr>
        <p:spPr>
          <a:xfrm>
            <a:off x="8385048" y="3101122"/>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Automatización y control de la emisión</a:t>
            </a:r>
          </a:p>
        </p:txBody>
      </p:sp>
      <p:sp>
        <p:nvSpPr>
          <p:cNvPr id="24" name="Rectangle 23"/>
          <p:cNvSpPr/>
          <p:nvPr/>
        </p:nvSpPr>
        <p:spPr>
          <a:xfrm>
            <a:off x="566928" y="3519133"/>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610573"/>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CA/Browser Forum. (2025).</a:t>
            </a:r>
          </a:p>
        </p:txBody>
      </p:sp>
      <p:sp>
        <p:nvSpPr>
          <p:cNvPr id="26" name="TextBox 25"/>
          <p:cNvSpPr txBox="1"/>
          <p:nvPr/>
        </p:nvSpPr>
        <p:spPr>
          <a:xfrm>
            <a:off x="3081528" y="3610573"/>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Ballot SC-081v3: Introduce schedule of reducing validity and data reuse periods.</a:t>
            </a:r>
          </a:p>
        </p:txBody>
      </p:sp>
      <p:sp>
        <p:nvSpPr>
          <p:cNvPr id="27" name="TextBox 26"/>
          <p:cNvSpPr txBox="1"/>
          <p:nvPr/>
        </p:nvSpPr>
        <p:spPr>
          <a:xfrm>
            <a:off x="8385048" y="3610573"/>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Vigencias de 200, 100 y 47 días</a:t>
            </a:r>
          </a:p>
        </p:txBody>
      </p:sp>
      <p:sp>
        <p:nvSpPr>
          <p:cNvPr id="28" name="Rectangle 27"/>
          <p:cNvSpPr/>
          <p:nvPr/>
        </p:nvSpPr>
        <p:spPr>
          <a:xfrm>
            <a:off x="566928" y="402858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120025"/>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Akhawe, D. y Felt, A. P. (2013).</a:t>
            </a:r>
          </a:p>
        </p:txBody>
      </p:sp>
      <p:sp>
        <p:nvSpPr>
          <p:cNvPr id="30" name="TextBox 29"/>
          <p:cNvSpPr txBox="1"/>
          <p:nvPr/>
        </p:nvSpPr>
        <p:spPr>
          <a:xfrm>
            <a:off x="3081528" y="4120025"/>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Alice in Warningland: A large-scale field study of browser security warning effectiveness. USENIX Security Symposium.</a:t>
            </a:r>
          </a:p>
        </p:txBody>
      </p:sp>
      <p:sp>
        <p:nvSpPr>
          <p:cNvPr id="31" name="TextBox 30"/>
          <p:cNvSpPr txBox="1"/>
          <p:nvPr/>
        </p:nvSpPr>
        <p:spPr>
          <a:xfrm>
            <a:off x="8385048" y="4120025"/>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La habituación a las advertencias</a:t>
            </a:r>
          </a:p>
        </p:txBody>
      </p:sp>
      <p:sp>
        <p:nvSpPr>
          <p:cNvPr id="32" name="Rectangle 31"/>
          <p:cNvSpPr/>
          <p:nvPr/>
        </p:nvSpPr>
        <p:spPr>
          <a:xfrm>
            <a:off x="566928" y="4538036"/>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629476"/>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Hodges, J., Jackson, C. y Barth, A. (2012).</a:t>
            </a:r>
          </a:p>
        </p:txBody>
      </p:sp>
      <p:sp>
        <p:nvSpPr>
          <p:cNvPr id="34" name="TextBox 33"/>
          <p:cNvSpPr txBox="1"/>
          <p:nvPr/>
        </p:nvSpPr>
        <p:spPr>
          <a:xfrm>
            <a:off x="3081528" y="4629476"/>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6797: HTTP Strict Transport Security (HSTS). IETF.</a:t>
            </a:r>
          </a:p>
        </p:txBody>
      </p:sp>
      <p:sp>
        <p:nvSpPr>
          <p:cNvPr id="35" name="TextBox 34"/>
          <p:cNvSpPr txBox="1"/>
          <p:nvPr/>
        </p:nvSpPr>
        <p:spPr>
          <a:xfrm>
            <a:off x="8385048" y="4629476"/>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Que el navegador no acepte menos</a:t>
            </a:r>
          </a:p>
        </p:txBody>
      </p:sp>
      <p:sp>
        <p:nvSpPr>
          <p:cNvPr id="36" name="Rectangle 35"/>
          <p:cNvSpPr/>
          <p:nvPr/>
        </p:nvSpPr>
        <p:spPr>
          <a:xfrm>
            <a:off x="566928" y="5047488"/>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ACCESO A LAS FUENTES</a:t>
            </a:r>
          </a:p>
        </p:txBody>
      </p:sp>
      <p:sp>
        <p:nvSpPr>
          <p:cNvPr id="39" name="TextBox 38"/>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Los RFC, las decisiones del CA/Browser Forum y el artículo de USENIX son de acceso libre en las páginas de cada organización.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