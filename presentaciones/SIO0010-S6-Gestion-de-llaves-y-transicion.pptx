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1.png"/>
          <p:cNvPicPr>
            <a:picLocks noChangeAspect="1"/>
          </p:cNvPicPr>
          <p:nvPr/>
        </p:nvPicPr>
        <p:blipFill>
          <a:blip r:embed="rId2"/>
          <a:stretch>
            <a:fillRect/>
          </a:stretch>
        </p:blipFill>
        <p:spPr>
          <a:xfrm>
            <a:off x="566928" y="502920"/>
            <a:ext cx="1417320" cy="612648"/>
          </a:xfrm>
          <a:prstGeom prst="rect">
            <a:avLst/>
          </a:prstGeom>
        </p:spPr>
      </p:pic>
      <p:sp>
        <p:nvSpPr>
          <p:cNvPr id="3" name="Rectangle 2"/>
          <p:cNvSpPr/>
          <p:nvPr/>
        </p:nvSpPr>
        <p:spPr>
          <a:xfrm>
            <a:off x="566928" y="1783080"/>
            <a:ext cx="11055096" cy="5486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75104"/>
            <a:ext cx="11055096" cy="237744"/>
          </a:xfrm>
          <a:prstGeom prst="rect">
            <a:avLst/>
          </a:prstGeom>
          <a:noFill/>
        </p:spPr>
        <p:txBody>
          <a:bodyPr wrap="square" lIns="0" rIns="0" tIns="0" bIns="0">
            <a:spAutoFit/>
          </a:bodyPr>
          <a:lstStyle/>
          <a:p>
            <a:pPr algn="l">
              <a:spcAft>
                <a:spcPts val="0"/>
              </a:spcAft>
            </a:pPr>
            <a:r>
              <a:rPr sz="850" b="1" spc="220">
                <a:solidFill>
                  <a:srgbClr val="5C5C5C"/>
                </a:solidFill>
                <a:latin typeface="Consolas"/>
              </a:rPr>
              <a:t>SESIÓN 6 DE 6 · 5 HORAS · BLOQUE 11: 2H15 · DESCANSO 30 MIN · BLOQUE 12: 2H15</a:t>
            </a:r>
          </a:p>
        </p:txBody>
      </p:sp>
      <p:sp>
        <p:nvSpPr>
          <p:cNvPr id="5" name="TextBox 4"/>
          <p:cNvSpPr txBox="1"/>
          <p:nvPr/>
        </p:nvSpPr>
        <p:spPr>
          <a:xfrm>
            <a:off x="566928" y="2286000"/>
            <a:ext cx="9601200" cy="2148840"/>
          </a:xfrm>
          <a:prstGeom prst="rect">
            <a:avLst/>
          </a:prstGeom>
          <a:noFill/>
        </p:spPr>
        <p:txBody>
          <a:bodyPr wrap="square" lIns="0" rIns="0" tIns="0" bIns="0">
            <a:spAutoFit/>
          </a:bodyPr>
          <a:lstStyle/>
          <a:p>
            <a:pPr algn="l">
              <a:lnSpc>
                <a:spcPct val="105000"/>
              </a:lnSpc>
              <a:spcAft>
                <a:spcPts val="0"/>
              </a:spcAft>
            </a:pPr>
            <a:r>
              <a:rPr sz="4000" b="0">
                <a:solidFill>
                  <a:srgbClr val="000000"/>
                </a:solidFill>
                <a:latin typeface="Arial Black"/>
              </a:rPr>
              <a:t>GESTIÓN DE LLAVES</a:t>
            </a:r>
          </a:p>
          <a:p>
            <a:pPr algn="l">
              <a:lnSpc>
                <a:spcPct val="105000"/>
              </a:lnSpc>
              <a:spcAft>
                <a:spcPts val="0"/>
              </a:spcAft>
            </a:pPr>
            <a:r>
              <a:rPr sz="4000" b="0">
                <a:solidFill>
                  <a:srgbClr val="000000"/>
                </a:solidFill>
                <a:latin typeface="Arial Black"/>
              </a:rPr>
              <a:t>Y LO QUE VIENE</a:t>
            </a:r>
          </a:p>
        </p:txBody>
      </p:sp>
      <p:sp>
        <p:nvSpPr>
          <p:cNvPr id="6" name="Rectangle 5"/>
          <p:cNvSpPr/>
          <p:nvPr/>
        </p:nvSpPr>
        <p:spPr>
          <a:xfrm>
            <a:off x="566928" y="4590288"/>
            <a:ext cx="1554480" cy="5486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846320"/>
            <a:ext cx="10424160" cy="365760"/>
          </a:xfrm>
          <a:prstGeom prst="rect">
            <a:avLst/>
          </a:prstGeom>
          <a:noFill/>
        </p:spPr>
        <p:txBody>
          <a:bodyPr wrap="square" lIns="0" rIns="0" tIns="0" bIns="0">
            <a:spAutoFit/>
          </a:bodyPr>
          <a:lstStyle/>
          <a:p>
            <a:pPr algn="l">
              <a:spcAft>
                <a:spcPts val="0"/>
              </a:spcAft>
            </a:pPr>
            <a:r>
              <a:rPr sz="1400" b="1">
                <a:solidFill>
                  <a:srgbClr val="000000"/>
                </a:solidFill>
                <a:latin typeface="Arial"/>
              </a:rPr>
              <a:t>LA LLAVE ES UN ACTIVO. TIENE DUEÑO, TIENE FECHA Y TIENE SUCESOR.</a:t>
            </a:r>
          </a:p>
        </p:txBody>
      </p:sp>
      <p:sp>
        <p:nvSpPr>
          <p:cNvPr id="8" name="TextBox 7"/>
          <p:cNvSpPr txBox="1"/>
          <p:nvPr/>
        </p:nvSpPr>
        <p:spPr>
          <a:xfrm>
            <a:off x="566928" y="5285232"/>
            <a:ext cx="10424160" cy="502920"/>
          </a:xfrm>
          <a:prstGeom prst="rect">
            <a:avLst/>
          </a:prstGeom>
          <a:noFill/>
        </p:spPr>
        <p:txBody>
          <a:bodyPr wrap="square" lIns="0" rIns="0" tIns="0" bIns="0">
            <a:spAutoFit/>
          </a:bodyPr>
          <a:lstStyle/>
          <a:p>
            <a:pPr algn="l">
              <a:lnSpc>
                <a:spcPct val="125000"/>
              </a:lnSpc>
              <a:spcAft>
                <a:spcPts val="0"/>
              </a:spcAft>
            </a:pPr>
            <a:r>
              <a:rPr sz="1100" b="0">
                <a:solidFill>
                  <a:srgbClr val="5C5C5C"/>
                </a:solidFill>
                <a:latin typeface="Arial"/>
              </a:rPr>
              <a:t>SIO0010 · Técnicas Criptográficas · Especialización en Seguridad de la Información de las Organizaciones · Facultad de Ingeniería · Institución Universitaria de Envigado</a:t>
            </a:r>
          </a:p>
        </p:txBody>
      </p:sp>
      <p:sp>
        <p:nvSpPr>
          <p:cNvPr id="9" name="Rectangle 8"/>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1-1.png"/>
          <p:cNvPicPr>
            <a:picLocks noChangeAspect="1"/>
          </p:cNvPicPr>
          <p:nvPr/>
        </p:nvPicPr>
        <p:blipFill>
          <a:blip r:embed="rId2"/>
          <a:stretch>
            <a:fillRect/>
          </a:stretch>
        </p:blipFill>
        <p:spPr>
          <a:xfrm>
            <a:off x="566928" y="6336792"/>
            <a:ext cx="566928" cy="246888"/>
          </a:xfrm>
          <a:prstGeom prst="rect">
            <a:avLst/>
          </a:prstGeom>
        </p:spPr>
      </p:pic>
      <p:sp>
        <p:nvSpPr>
          <p:cNvPr id="11" name="TextBox 10"/>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12" name="TextBox 11"/>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01</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EL CIERRE DEL MÓDULO</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Lo que falta para que las cinco sesiones anteriores se sostengan en el tiempo</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01  AGENDA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AGENDA DE LA SESIÓN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última sesión tiene tres partes: la gestión de las llaves, que es lo que hace durable todo lo anterior; lo que viene después de la criptografía actual; y la sustentación ante el comité.</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37472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BLOQUE</a:t>
            </a:r>
          </a:p>
        </p:txBody>
      </p:sp>
      <p:sp>
        <p:nvSpPr>
          <p:cNvPr id="12" name="TextBox 11"/>
          <p:cNvSpPr txBox="1"/>
          <p:nvPr/>
        </p:nvSpPr>
        <p:spPr>
          <a:xfrm>
            <a:off x="2106245" y="2423159"/>
            <a:ext cx="123478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MINUTOS</a:t>
            </a:r>
          </a:p>
        </p:txBody>
      </p:sp>
      <p:sp>
        <p:nvSpPr>
          <p:cNvPr id="13" name="TextBox 12"/>
          <p:cNvSpPr txBox="1"/>
          <p:nvPr/>
        </p:nvSpPr>
        <p:spPr>
          <a:xfrm>
            <a:off x="3505624" y="2423159"/>
            <a:ext cx="599267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CONTENIDO</a:t>
            </a:r>
          </a:p>
        </p:txBody>
      </p:sp>
      <p:sp>
        <p:nvSpPr>
          <p:cNvPr id="14" name="TextBox 13"/>
          <p:cNvSpPr txBox="1"/>
          <p:nvPr/>
        </p:nvSpPr>
        <p:spPr>
          <a:xfrm>
            <a:off x="9662893" y="2423159"/>
            <a:ext cx="17945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MODALIDAD</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1374725" cy="30193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11</a:t>
            </a:r>
          </a:p>
        </p:txBody>
      </p:sp>
      <p:sp>
        <p:nvSpPr>
          <p:cNvPr id="17" name="TextBox 16"/>
          <p:cNvSpPr txBox="1"/>
          <p:nvPr/>
        </p:nvSpPr>
        <p:spPr>
          <a:xfrm>
            <a:off x="2106245" y="2825495"/>
            <a:ext cx="1234787"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10</a:t>
            </a:r>
          </a:p>
        </p:txBody>
      </p:sp>
      <p:sp>
        <p:nvSpPr>
          <p:cNvPr id="18" name="TextBox 17"/>
          <p:cNvSpPr txBox="1"/>
          <p:nvPr/>
        </p:nvSpPr>
        <p:spPr>
          <a:xfrm>
            <a:off x="3505624" y="2825495"/>
            <a:ext cx="5992676"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Recepción de la entrega 5</a:t>
            </a:r>
          </a:p>
        </p:txBody>
      </p:sp>
      <p:sp>
        <p:nvSpPr>
          <p:cNvPr id="19" name="TextBox 18"/>
          <p:cNvSpPr txBox="1"/>
          <p:nvPr/>
        </p:nvSpPr>
        <p:spPr>
          <a:xfrm>
            <a:off x="9662893" y="2825495"/>
            <a:ext cx="1794538"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Taller</a:t>
            </a:r>
          </a:p>
        </p:txBody>
      </p:sp>
      <p:sp>
        <p:nvSpPr>
          <p:cNvPr id="20" name="Rectangle 19"/>
          <p:cNvSpPr/>
          <p:nvPr/>
        </p:nvSpPr>
        <p:spPr>
          <a:xfrm>
            <a:off x="566928" y="309085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82294"/>
            <a:ext cx="1374725"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2" name="TextBox 21"/>
          <p:cNvSpPr txBox="1"/>
          <p:nvPr/>
        </p:nvSpPr>
        <p:spPr>
          <a:xfrm>
            <a:off x="2106245" y="3182294"/>
            <a:ext cx="1234787"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10 – 75</a:t>
            </a:r>
          </a:p>
        </p:txBody>
      </p:sp>
      <p:sp>
        <p:nvSpPr>
          <p:cNvPr id="23" name="TextBox 22"/>
          <p:cNvSpPr txBox="1"/>
          <p:nvPr/>
        </p:nvSpPr>
        <p:spPr>
          <a:xfrm>
            <a:off x="3505624" y="3182294"/>
            <a:ext cx="5992676"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como activo: NIST SP 800-57, ceremonias, módulos de hardware y tokenización</a:t>
            </a:r>
          </a:p>
        </p:txBody>
      </p:sp>
      <p:sp>
        <p:nvSpPr>
          <p:cNvPr id="24" name="TextBox 23"/>
          <p:cNvSpPr txBox="1"/>
          <p:nvPr/>
        </p:nvSpPr>
        <p:spPr>
          <a:xfrm>
            <a:off x="9662893" y="3182294"/>
            <a:ext cx="1794538"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25" name="Rectangle 24"/>
          <p:cNvSpPr/>
          <p:nvPr/>
        </p:nvSpPr>
        <p:spPr>
          <a:xfrm>
            <a:off x="566928" y="344765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39093"/>
            <a:ext cx="1374725"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27" name="TextBox 26"/>
          <p:cNvSpPr txBox="1"/>
          <p:nvPr/>
        </p:nvSpPr>
        <p:spPr>
          <a:xfrm>
            <a:off x="2106245" y="3539093"/>
            <a:ext cx="1234787"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75 – 105</a:t>
            </a:r>
          </a:p>
        </p:txBody>
      </p:sp>
      <p:sp>
        <p:nvSpPr>
          <p:cNvPr id="28" name="TextBox 27"/>
          <p:cNvSpPr txBox="1"/>
          <p:nvPr/>
        </p:nvSpPr>
        <p:spPr>
          <a:xfrm>
            <a:off x="3505624" y="3539093"/>
            <a:ext cx="5992676"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 6, en Python</a:t>
            </a:r>
          </a:p>
        </p:txBody>
      </p:sp>
      <p:sp>
        <p:nvSpPr>
          <p:cNvPr id="29" name="TextBox 28"/>
          <p:cNvSpPr txBox="1"/>
          <p:nvPr/>
        </p:nvSpPr>
        <p:spPr>
          <a:xfrm>
            <a:off x="9662893" y="3539093"/>
            <a:ext cx="1794538"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Laboratorio</a:t>
            </a:r>
          </a:p>
        </p:txBody>
      </p:sp>
      <p:sp>
        <p:nvSpPr>
          <p:cNvPr id="30" name="Rectangle 29"/>
          <p:cNvSpPr/>
          <p:nvPr/>
        </p:nvSpPr>
        <p:spPr>
          <a:xfrm>
            <a:off x="566928" y="380445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895892"/>
            <a:ext cx="1374725"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2" name="TextBox 31"/>
          <p:cNvSpPr txBox="1"/>
          <p:nvPr/>
        </p:nvSpPr>
        <p:spPr>
          <a:xfrm>
            <a:off x="2106245" y="3895892"/>
            <a:ext cx="1234787"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105 – 135</a:t>
            </a:r>
          </a:p>
        </p:txBody>
      </p:sp>
      <p:sp>
        <p:nvSpPr>
          <p:cNvPr id="33" name="TextBox 32"/>
          <p:cNvSpPr txBox="1"/>
          <p:nvPr/>
        </p:nvSpPr>
        <p:spPr>
          <a:xfrm>
            <a:off x="3505624" y="3895892"/>
            <a:ext cx="5992676"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Conservación a veinte años y cierre del hallazgo H7</a:t>
            </a:r>
          </a:p>
        </p:txBody>
      </p:sp>
      <p:sp>
        <p:nvSpPr>
          <p:cNvPr id="34" name="TextBox 33"/>
          <p:cNvSpPr txBox="1"/>
          <p:nvPr/>
        </p:nvSpPr>
        <p:spPr>
          <a:xfrm>
            <a:off x="9662893" y="3895892"/>
            <a:ext cx="1794538"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35" name="Rectangle 34"/>
          <p:cNvSpPr/>
          <p:nvPr/>
        </p:nvSpPr>
        <p:spPr>
          <a:xfrm>
            <a:off x="566928" y="41612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4252691"/>
            <a:ext cx="1374725" cy="30193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Descanso</a:t>
            </a:r>
          </a:p>
        </p:txBody>
      </p:sp>
      <p:sp>
        <p:nvSpPr>
          <p:cNvPr id="37" name="TextBox 36"/>
          <p:cNvSpPr txBox="1"/>
          <p:nvPr/>
        </p:nvSpPr>
        <p:spPr>
          <a:xfrm>
            <a:off x="2106245" y="4252691"/>
            <a:ext cx="1234787"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30</a:t>
            </a:r>
          </a:p>
        </p:txBody>
      </p:sp>
      <p:sp>
        <p:nvSpPr>
          <p:cNvPr id="38" name="TextBox 37"/>
          <p:cNvSpPr txBox="1"/>
          <p:nvPr/>
        </p:nvSpPr>
        <p:spPr>
          <a:xfrm>
            <a:off x="3505624" y="4252691"/>
            <a:ext cx="5992676"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39" name="TextBox 38"/>
          <p:cNvSpPr txBox="1"/>
          <p:nvPr/>
        </p:nvSpPr>
        <p:spPr>
          <a:xfrm>
            <a:off x="9662893" y="4252691"/>
            <a:ext cx="1794538"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0" name="Rectangle 39"/>
          <p:cNvSpPr/>
          <p:nvPr/>
        </p:nvSpPr>
        <p:spPr>
          <a:xfrm>
            <a:off x="566928" y="451805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4609490"/>
            <a:ext cx="1374725" cy="30193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Bloque 12</a:t>
            </a:r>
          </a:p>
        </p:txBody>
      </p:sp>
      <p:sp>
        <p:nvSpPr>
          <p:cNvPr id="42" name="TextBox 41"/>
          <p:cNvSpPr txBox="1"/>
          <p:nvPr/>
        </p:nvSpPr>
        <p:spPr>
          <a:xfrm>
            <a:off x="2106245" y="4609490"/>
            <a:ext cx="1234787"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0 – 40</a:t>
            </a:r>
          </a:p>
        </p:txBody>
      </p:sp>
      <p:sp>
        <p:nvSpPr>
          <p:cNvPr id="43" name="TextBox 42"/>
          <p:cNvSpPr txBox="1"/>
          <p:nvPr/>
        </p:nvSpPr>
        <p:spPr>
          <a:xfrm>
            <a:off x="3505624" y="4609490"/>
            <a:ext cx="5992676"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Transición post-cuántica: CNSA 2.0, NIST IR 8547 y criptoagilidad</a:t>
            </a:r>
          </a:p>
        </p:txBody>
      </p:sp>
      <p:sp>
        <p:nvSpPr>
          <p:cNvPr id="44" name="TextBox 43"/>
          <p:cNvSpPr txBox="1"/>
          <p:nvPr/>
        </p:nvSpPr>
        <p:spPr>
          <a:xfrm>
            <a:off x="9662893" y="4609490"/>
            <a:ext cx="1794538"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45" name="Rectangle 44"/>
          <p:cNvSpPr/>
          <p:nvPr/>
        </p:nvSpPr>
        <p:spPr>
          <a:xfrm>
            <a:off x="566928" y="487484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4966289"/>
            <a:ext cx="1374725"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47" name="TextBox 46"/>
          <p:cNvSpPr txBox="1"/>
          <p:nvPr/>
        </p:nvSpPr>
        <p:spPr>
          <a:xfrm>
            <a:off x="2106245" y="4966289"/>
            <a:ext cx="1234787"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40 – 55</a:t>
            </a:r>
          </a:p>
        </p:txBody>
      </p:sp>
      <p:sp>
        <p:nvSpPr>
          <p:cNvPr id="48" name="TextBox 47"/>
          <p:cNvSpPr txBox="1"/>
          <p:nvPr/>
        </p:nvSpPr>
        <p:spPr>
          <a:xfrm>
            <a:off x="3505624" y="4966289"/>
            <a:ext cx="5992676"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Quiz 2 · Sesiones 4, 5 y 6</a:t>
            </a:r>
          </a:p>
        </p:txBody>
      </p:sp>
      <p:sp>
        <p:nvSpPr>
          <p:cNvPr id="49" name="TextBox 48"/>
          <p:cNvSpPr txBox="1"/>
          <p:nvPr/>
        </p:nvSpPr>
        <p:spPr>
          <a:xfrm>
            <a:off x="9662893" y="4966289"/>
            <a:ext cx="1794538"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Evaluación</a:t>
            </a:r>
          </a:p>
        </p:txBody>
      </p:sp>
      <p:sp>
        <p:nvSpPr>
          <p:cNvPr id="50" name="Rectangle 49"/>
          <p:cNvSpPr/>
          <p:nvPr/>
        </p:nvSpPr>
        <p:spPr>
          <a:xfrm>
            <a:off x="566928" y="523164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66928" y="5323088"/>
            <a:ext cx="1374725"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52" name="TextBox 51"/>
          <p:cNvSpPr txBox="1"/>
          <p:nvPr/>
        </p:nvSpPr>
        <p:spPr>
          <a:xfrm>
            <a:off x="2106245" y="5323088"/>
            <a:ext cx="1234787"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55 – 125</a:t>
            </a:r>
          </a:p>
        </p:txBody>
      </p:sp>
      <p:sp>
        <p:nvSpPr>
          <p:cNvPr id="53" name="TextBox 52"/>
          <p:cNvSpPr txBox="1"/>
          <p:nvPr/>
        </p:nvSpPr>
        <p:spPr>
          <a:xfrm>
            <a:off x="3505624" y="5323088"/>
            <a:ext cx="5992676"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Sustentación de la hoja de ruta ante el comité</a:t>
            </a:r>
          </a:p>
        </p:txBody>
      </p:sp>
      <p:sp>
        <p:nvSpPr>
          <p:cNvPr id="54" name="TextBox 53"/>
          <p:cNvSpPr txBox="1"/>
          <p:nvPr/>
        </p:nvSpPr>
        <p:spPr>
          <a:xfrm>
            <a:off x="9662893" y="5323088"/>
            <a:ext cx="1794538"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Sustentación</a:t>
            </a:r>
          </a:p>
        </p:txBody>
      </p:sp>
      <p:sp>
        <p:nvSpPr>
          <p:cNvPr id="55" name="Rectangle 54"/>
          <p:cNvSpPr/>
          <p:nvPr/>
        </p:nvSpPr>
        <p:spPr>
          <a:xfrm>
            <a:off x="566928" y="558844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66928" y="5679887"/>
            <a:ext cx="1374725"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
            </a:r>
          </a:p>
        </p:txBody>
      </p:sp>
      <p:sp>
        <p:nvSpPr>
          <p:cNvPr id="57" name="TextBox 56"/>
          <p:cNvSpPr txBox="1"/>
          <p:nvPr/>
        </p:nvSpPr>
        <p:spPr>
          <a:xfrm>
            <a:off x="2106245" y="5679887"/>
            <a:ext cx="1234787"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125 – 135</a:t>
            </a:r>
          </a:p>
        </p:txBody>
      </p:sp>
      <p:sp>
        <p:nvSpPr>
          <p:cNvPr id="58" name="TextBox 57"/>
          <p:cNvSpPr txBox="1"/>
          <p:nvPr/>
        </p:nvSpPr>
        <p:spPr>
          <a:xfrm>
            <a:off x="3505624" y="5679887"/>
            <a:ext cx="5992676"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Cierre del módulo</a:t>
            </a:r>
          </a:p>
        </p:txBody>
      </p:sp>
      <p:sp>
        <p:nvSpPr>
          <p:cNvPr id="59" name="TextBox 58"/>
          <p:cNvSpPr txBox="1"/>
          <p:nvPr/>
        </p:nvSpPr>
        <p:spPr>
          <a:xfrm>
            <a:off x="9662893" y="5679887"/>
            <a:ext cx="1794538" cy="30193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Magistral</a:t>
            </a:r>
          </a:p>
        </p:txBody>
      </p:sp>
      <p:sp>
        <p:nvSpPr>
          <p:cNvPr id="60" name="Rectangle 59"/>
          <p:cNvSpPr/>
          <p:nvPr/>
        </p:nvSpPr>
        <p:spPr>
          <a:xfrm>
            <a:off x="566928" y="594524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66928" y="600010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02  HILO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LAS SEIS SESIONES, EN UNA SOLA FRASE CADA UNA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Antes de la última pieza conviene ver el hilo completo. Cada sesión respondió una pregunta y dejó una abierta, y la siguiente la recogió.</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SESIÓN</a:t>
            </a:r>
          </a:p>
        </p:txBody>
      </p:sp>
      <p:sp>
        <p:nvSpPr>
          <p:cNvPr id="12" name="TextBox 11"/>
          <p:cNvSpPr txBox="1"/>
          <p:nvPr/>
        </p:nvSpPr>
        <p:spPr>
          <a:xfrm>
            <a:off x="3441252" y="2423159"/>
            <a:ext cx="492075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RESOLVIÓ</a:t>
            </a:r>
          </a:p>
        </p:txBody>
      </p:sp>
      <p:sp>
        <p:nvSpPr>
          <p:cNvPr id="13" name="TextBox 12"/>
          <p:cNvSpPr txBox="1"/>
          <p:nvPr/>
        </p:nvSpPr>
        <p:spPr>
          <a:xfrm>
            <a:off x="8526597" y="2423159"/>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DEJÓ ABIERTO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70973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1 · Panorama</a:t>
            </a:r>
          </a:p>
        </p:txBody>
      </p:sp>
      <p:sp>
        <p:nvSpPr>
          <p:cNvPr id="16" name="TextBox 15"/>
          <p:cNvSpPr txBox="1"/>
          <p:nvPr/>
        </p:nvSpPr>
        <p:spPr>
          <a:xfrm>
            <a:off x="3441252" y="2825495"/>
            <a:ext cx="4920752"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Qué servicios presta la criptografía y por qué hay que inventariar</a:t>
            </a:r>
          </a:p>
        </p:txBody>
      </p:sp>
      <p:sp>
        <p:nvSpPr>
          <p:cNvPr id="17" name="TextBox 16"/>
          <p:cNvSpPr txBox="1"/>
          <p:nvPr/>
        </p:nvSpPr>
        <p:spPr>
          <a:xfrm>
            <a:off x="8526597" y="2825495"/>
            <a:ext cx="293083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sabemos proteger el dato guardado</a:t>
            </a:r>
          </a:p>
        </p:txBody>
      </p:sp>
      <p:sp>
        <p:nvSpPr>
          <p:cNvPr id="18" name="Rectangle 17"/>
          <p:cNvSpPr/>
          <p:nvPr/>
        </p:nvSpPr>
        <p:spPr>
          <a:xfrm>
            <a:off x="566928" y="31181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09543"/>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2 · Simétrico</a:t>
            </a:r>
          </a:p>
        </p:txBody>
      </p:sp>
      <p:sp>
        <p:nvSpPr>
          <p:cNvPr id="20" name="TextBox 19"/>
          <p:cNvSpPr txBox="1"/>
          <p:nvPr/>
        </p:nvSpPr>
        <p:spPr>
          <a:xfrm>
            <a:off x="3441252" y="3209543"/>
            <a:ext cx="492075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Cifrar volúmenes, y por qué el modo importa más que el algoritmo</a:t>
            </a:r>
          </a:p>
        </p:txBody>
      </p:sp>
      <p:sp>
        <p:nvSpPr>
          <p:cNvPr id="21" name="TextBox 20"/>
          <p:cNvSpPr txBox="1"/>
          <p:nvPr/>
        </p:nvSpPr>
        <p:spPr>
          <a:xfrm>
            <a:off x="8526597" y="3209543"/>
            <a:ext cx="293083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llave compartida no prueba quién hizo qué</a:t>
            </a:r>
          </a:p>
        </p:txBody>
      </p:sp>
      <p:sp>
        <p:nvSpPr>
          <p:cNvPr id="22" name="Rectangle 21"/>
          <p:cNvSpPr/>
          <p:nvPr/>
        </p:nvSpPr>
        <p:spPr>
          <a:xfrm>
            <a:off x="566928" y="36579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749405"/>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3 · Resúmenes</a:t>
            </a:r>
          </a:p>
        </p:txBody>
      </p:sp>
      <p:sp>
        <p:nvSpPr>
          <p:cNvPr id="24" name="TextBox 23"/>
          <p:cNvSpPr txBox="1"/>
          <p:nvPr/>
        </p:nvSpPr>
        <p:spPr>
          <a:xfrm>
            <a:off x="3441252" y="3749405"/>
            <a:ext cx="492075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Integridad, contraseñas y autenticación de mensajes</a:t>
            </a:r>
          </a:p>
        </p:txBody>
      </p:sp>
      <p:sp>
        <p:nvSpPr>
          <p:cNvPr id="25" name="TextBox 24"/>
          <p:cNvSpPr txBox="1"/>
          <p:nvPr/>
        </p:nvSpPr>
        <p:spPr>
          <a:xfrm>
            <a:off x="8526597" y="3749405"/>
            <a:ext cx="293083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código con llave compartida no da no repudio</a:t>
            </a:r>
          </a:p>
        </p:txBody>
      </p:sp>
      <p:sp>
        <p:nvSpPr>
          <p:cNvPr id="26" name="Rectangle 25"/>
          <p:cNvSpPr/>
          <p:nvPr/>
        </p:nvSpPr>
        <p:spPr>
          <a:xfrm>
            <a:off x="566928" y="41978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289267"/>
            <a:ext cx="270973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4 · Llave pública</a:t>
            </a:r>
          </a:p>
        </p:txBody>
      </p:sp>
      <p:sp>
        <p:nvSpPr>
          <p:cNvPr id="28" name="TextBox 27"/>
          <p:cNvSpPr txBox="1"/>
          <p:nvPr/>
        </p:nvSpPr>
        <p:spPr>
          <a:xfrm>
            <a:off x="3441252" y="4289267"/>
            <a:ext cx="4920752"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Firma digital: el único mecanismo con no repudio</a:t>
            </a:r>
          </a:p>
        </p:txBody>
      </p:sp>
      <p:sp>
        <p:nvSpPr>
          <p:cNvPr id="29" name="TextBox 28"/>
          <p:cNvSpPr txBox="1"/>
          <p:nvPr/>
        </p:nvSpPr>
        <p:spPr>
          <a:xfrm>
            <a:off x="8526597" y="4289267"/>
            <a:ext cx="293083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 quién es esa llave pública?</a:t>
            </a:r>
          </a:p>
        </p:txBody>
      </p:sp>
      <p:sp>
        <p:nvSpPr>
          <p:cNvPr id="30" name="Rectangle 29"/>
          <p:cNvSpPr/>
          <p:nvPr/>
        </p:nvSpPr>
        <p:spPr>
          <a:xfrm>
            <a:off x="566928" y="45818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673315"/>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5 · Certificados</a:t>
            </a:r>
          </a:p>
        </p:txBody>
      </p:sp>
      <p:sp>
        <p:nvSpPr>
          <p:cNvPr id="32" name="TextBox 31"/>
          <p:cNvSpPr txBox="1"/>
          <p:nvPr/>
        </p:nvSpPr>
        <p:spPr>
          <a:xfrm>
            <a:off x="3441252" y="4673315"/>
            <a:ext cx="492075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Cadena de confianza, canal seguro y ciclo del certificado</a:t>
            </a:r>
          </a:p>
        </p:txBody>
      </p:sp>
      <p:sp>
        <p:nvSpPr>
          <p:cNvPr id="33" name="TextBox 32"/>
          <p:cNvSpPr txBox="1"/>
          <p:nvPr/>
        </p:nvSpPr>
        <p:spPr>
          <a:xfrm>
            <a:off x="8526597" y="4673315"/>
            <a:ext cx="293083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¿Quién custodia las llaves, y por cuánto tiempo?</a:t>
            </a:r>
          </a:p>
        </p:txBody>
      </p:sp>
      <p:sp>
        <p:nvSpPr>
          <p:cNvPr id="34" name="Rectangle 33"/>
          <p:cNvSpPr/>
          <p:nvPr/>
        </p:nvSpPr>
        <p:spPr>
          <a:xfrm>
            <a:off x="566928" y="512173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213177"/>
            <a:ext cx="2709732" cy="32918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6 · Hoy</a:t>
            </a:r>
          </a:p>
        </p:txBody>
      </p:sp>
      <p:sp>
        <p:nvSpPr>
          <p:cNvPr id="36" name="TextBox 35"/>
          <p:cNvSpPr txBox="1"/>
          <p:nvPr/>
        </p:nvSpPr>
        <p:spPr>
          <a:xfrm>
            <a:off x="3441252" y="5213177"/>
            <a:ext cx="4920752"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Gestión de llaves, conservación y transición</a:t>
            </a:r>
          </a:p>
        </p:txBody>
      </p:sp>
      <p:sp>
        <p:nvSpPr>
          <p:cNvPr id="37" name="TextBox 36"/>
          <p:cNvSpPr txBox="1"/>
          <p:nvPr/>
        </p:nvSpPr>
        <p:spPr>
          <a:xfrm>
            <a:off x="8526597" y="5213177"/>
            <a:ext cx="293083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es la sustentación</a:t>
            </a:r>
          </a:p>
        </p:txBody>
      </p:sp>
      <p:sp>
        <p:nvSpPr>
          <p:cNvPr id="38" name="Rectangle 37"/>
          <p:cNvSpPr/>
          <p:nvPr/>
        </p:nvSpPr>
        <p:spPr>
          <a:xfrm>
            <a:off x="566928" y="550578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556064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03  ENTREGA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RECEPCIÓN DE LA ENTREGA 5</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Diez minutos. Se recibe el análisis del valor probatorio de los créditos y se revisan dos puntos que conviene tener claros antes de la sustentación.</a:t>
            </a:r>
          </a:p>
        </p:txBody>
      </p:sp>
      <p:sp>
        <p:nvSpPr>
          <p:cNvPr id="10" name="Rectangle 9"/>
          <p:cNvSpPr/>
          <p:nvPr/>
        </p:nvSpPr>
        <p:spPr>
          <a:xfrm>
            <a:off x="566928"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LA DECISIÓN QUE NO SE PUEDE ESQUIVAR</a:t>
            </a:r>
          </a:p>
        </p:txBody>
      </p:sp>
      <p:sp>
        <p:nvSpPr>
          <p:cNvPr id="12" name="TextBox 11"/>
          <p:cNvSpPr txBox="1"/>
          <p:nvPr/>
        </p:nvSpPr>
        <p:spPr>
          <a:xfrm>
            <a:off x="786384"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Hay cartera vigente firmada con una imagen escaneada. Ninguna solución técnica la arregla hacia atrás.</a:t>
            </a:r>
          </a:p>
          <a:p>
            <a:pPr algn="l">
              <a:lnSpc>
                <a:spcPct val="128000"/>
              </a:lnSpc>
              <a:spcAft>
                <a:spcPts val="700"/>
              </a:spcAft>
            </a:pPr>
            <a:r>
              <a:rPr sz="1150" b="0">
                <a:solidFill>
                  <a:srgbClr val="000000"/>
                </a:solidFill>
                <a:latin typeface="Arial"/>
              </a:rPr>
              <a:t>Las tres salidas posibles son: resellar lo que se pueda, aceptar el riesgo documentándolo, o provisionarlo contablemente.</a:t>
            </a:r>
          </a:p>
          <a:p>
            <a:pPr algn="l">
              <a:lnSpc>
                <a:spcPct val="128000"/>
              </a:lnSpc>
              <a:spcAft>
                <a:spcPts val="700"/>
              </a:spcAft>
            </a:pPr>
            <a:r>
              <a:rPr sz="1150" b="1">
                <a:solidFill>
                  <a:srgbClr val="000000"/>
                </a:solidFill>
                <a:latin typeface="Arial"/>
              </a:rPr>
              <a:t>Un informe que no elige una no está terminado</a:t>
            </a:r>
            <a:r>
              <a:rPr sz="1150" b="0">
                <a:solidFill>
                  <a:srgbClr val="000000"/>
                </a:solidFill>
                <a:latin typeface="Arial"/>
              </a:rPr>
              <a:t>, y en la sustentación el comité va a preguntar por ella.</a:t>
            </a:r>
          </a:p>
        </p:txBody>
      </p:sp>
      <p:sp>
        <p:nvSpPr>
          <p:cNvPr id="13" name="Rectangle 12"/>
          <p:cNvSpPr/>
          <p:nvPr/>
        </p:nvSpPr>
        <p:spPr>
          <a:xfrm>
            <a:off x="6268212"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COSTO POR DOCUMENTO</a:t>
            </a:r>
          </a:p>
        </p:txBody>
      </p:sp>
      <p:sp>
        <p:nvSpPr>
          <p:cNvPr id="15" name="TextBox 14"/>
          <p:cNvSpPr txBox="1"/>
          <p:nvPr/>
        </p:nvSpPr>
        <p:spPr>
          <a:xfrm>
            <a:off x="6487668"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Los equipos que cotizaron descubrieron que el costo no está en la firma: está en la conservación año tras año.</a:t>
            </a:r>
          </a:p>
          <a:p>
            <a:pPr algn="l">
              <a:lnSpc>
                <a:spcPct val="128000"/>
              </a:lnSpc>
              <a:spcAft>
                <a:spcPts val="700"/>
              </a:spcAft>
            </a:pPr>
            <a:r>
              <a:rPr sz="1150" b="0">
                <a:solidFill>
                  <a:srgbClr val="000000"/>
                </a:solidFill>
                <a:latin typeface="Arial"/>
              </a:rPr>
              <a:t>Firmar es un gasto único; conservar con validez comprobable durante veinte años es un gasto recurrente.</a:t>
            </a:r>
          </a:p>
          <a:p>
            <a:pPr algn="l">
              <a:lnSpc>
                <a:spcPct val="128000"/>
              </a:lnSpc>
              <a:spcAft>
                <a:spcPts val="700"/>
              </a:spcAft>
            </a:pPr>
            <a:r>
              <a:rPr sz="1150" b="0">
                <a:solidFill>
                  <a:srgbClr val="000000"/>
                </a:solidFill>
                <a:latin typeface="Arial"/>
              </a:rPr>
              <a:t>Ese cambio de mentalidad, de compra a servicio, es lo que hay que llevarle al comité.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02</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LA LLAVE COMO ACTIVO</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Generación, custodia, rotación y retiro: el oficio que Coopaburrá no hizo</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04  CICLO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LAS SIETE ETAPAS DE LA VIDA DE UNA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Ninguna de estas etapas es criptográfica. Todas son de gestión, y es en ellas donde fallan los sistemas reales, incluido el de este caso.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ETAPA</a:t>
            </a:r>
          </a:p>
        </p:txBody>
      </p:sp>
      <p:sp>
        <p:nvSpPr>
          <p:cNvPr id="12" name="TextBox 11"/>
          <p:cNvSpPr txBox="1"/>
          <p:nvPr/>
        </p:nvSpPr>
        <p:spPr>
          <a:xfrm>
            <a:off x="2999049" y="2423159"/>
            <a:ext cx="469965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HAY QUE DEFINIR</a:t>
            </a:r>
          </a:p>
        </p:txBody>
      </p:sp>
      <p:sp>
        <p:nvSpPr>
          <p:cNvPr id="13" name="TextBox 12"/>
          <p:cNvSpPr txBox="1"/>
          <p:nvPr/>
        </p:nvSpPr>
        <p:spPr>
          <a:xfrm>
            <a:off x="7863291" y="2423159"/>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PASA SI NO SE DEFINE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267529"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Generación</a:t>
            </a:r>
          </a:p>
        </p:txBody>
      </p:sp>
      <p:sp>
        <p:nvSpPr>
          <p:cNvPr id="16" name="TextBox 15"/>
          <p:cNvSpPr txBox="1"/>
          <p:nvPr/>
        </p:nvSpPr>
        <p:spPr>
          <a:xfrm>
            <a:off x="2999049" y="2825495"/>
            <a:ext cx="4699650"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Dónde se genera y con qué fuente de aleatoriedad</a:t>
            </a:r>
          </a:p>
        </p:txBody>
      </p:sp>
      <p:sp>
        <p:nvSpPr>
          <p:cNvPr id="17" name="TextBox 16"/>
          <p:cNvSpPr txBox="1"/>
          <p:nvPr/>
        </p:nvSpPr>
        <p:spPr>
          <a:xfrm>
            <a:off x="7863291" y="2825495"/>
            <a:ext cx="3594140"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Llaves predecibles, y no se sabe hasta que es tarde</a:t>
            </a:r>
          </a:p>
        </p:txBody>
      </p:sp>
      <p:sp>
        <p:nvSpPr>
          <p:cNvPr id="18" name="Rectangle 17"/>
          <p:cNvSpPr/>
          <p:nvPr/>
        </p:nvSpPr>
        <p:spPr>
          <a:xfrm>
            <a:off x="566928" y="30998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91255"/>
            <a:ext cx="2267529"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Registro</a:t>
            </a:r>
          </a:p>
        </p:txBody>
      </p:sp>
      <p:sp>
        <p:nvSpPr>
          <p:cNvPr id="20" name="TextBox 19"/>
          <p:cNvSpPr txBox="1"/>
          <p:nvPr/>
        </p:nvSpPr>
        <p:spPr>
          <a:xfrm>
            <a:off x="2999049" y="3191255"/>
            <a:ext cx="4699650"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Identificador, propósito, responsable y fecha de vencimiento</a:t>
            </a:r>
          </a:p>
        </p:txBody>
      </p:sp>
      <p:sp>
        <p:nvSpPr>
          <p:cNvPr id="21" name="TextBox 20"/>
          <p:cNvSpPr txBox="1"/>
          <p:nvPr/>
        </p:nvSpPr>
        <p:spPr>
          <a:xfrm>
            <a:off x="7863291" y="3191255"/>
            <a:ext cx="3594140"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hallazgo H8: nadie sabe qué llaves existen</a:t>
            </a:r>
          </a:p>
        </p:txBody>
      </p:sp>
      <p:sp>
        <p:nvSpPr>
          <p:cNvPr id="22" name="Rectangle 21"/>
          <p:cNvSpPr/>
          <p:nvPr/>
        </p:nvSpPr>
        <p:spPr>
          <a:xfrm>
            <a:off x="566928" y="34655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57015"/>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Distribución</a:t>
            </a:r>
          </a:p>
        </p:txBody>
      </p:sp>
      <p:sp>
        <p:nvSpPr>
          <p:cNvPr id="24" name="TextBox 23"/>
          <p:cNvSpPr txBox="1"/>
          <p:nvPr/>
        </p:nvSpPr>
        <p:spPr>
          <a:xfrm>
            <a:off x="2999049" y="3557015"/>
            <a:ext cx="469965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Cómo llega a donde se usa sin exponerse</a:t>
            </a:r>
          </a:p>
        </p:txBody>
      </p:sp>
      <p:sp>
        <p:nvSpPr>
          <p:cNvPr id="25" name="TextBox 24"/>
          <p:cNvSpPr txBox="1"/>
          <p:nvPr/>
        </p:nvSpPr>
        <p:spPr>
          <a:xfrm>
            <a:off x="7863291" y="3557015"/>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del respaldo en un archivo de texto al lado</a:t>
            </a:r>
          </a:p>
        </p:txBody>
      </p:sp>
      <p:sp>
        <p:nvSpPr>
          <p:cNvPr id="26" name="Rectangle 25"/>
          <p:cNvSpPr/>
          <p:nvPr/>
        </p:nvSpPr>
        <p:spPr>
          <a:xfrm>
            <a:off x="566928" y="400543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96877"/>
            <a:ext cx="2267529"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Uso</a:t>
            </a:r>
          </a:p>
        </p:txBody>
      </p:sp>
      <p:sp>
        <p:nvSpPr>
          <p:cNvPr id="28" name="TextBox 27"/>
          <p:cNvSpPr txBox="1"/>
          <p:nvPr/>
        </p:nvSpPr>
        <p:spPr>
          <a:xfrm>
            <a:off x="2999049" y="4096877"/>
            <a:ext cx="4699650"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llave, un propósito. Y quién puede invocarla</a:t>
            </a:r>
          </a:p>
        </p:txBody>
      </p:sp>
      <p:sp>
        <p:nvSpPr>
          <p:cNvPr id="29" name="TextBox 28"/>
          <p:cNvSpPr txBox="1"/>
          <p:nvPr/>
        </p:nvSpPr>
        <p:spPr>
          <a:xfrm>
            <a:off x="7863291" y="4096877"/>
            <a:ext cx="3594140"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sola llave para 142.000 asociados desde 2023</a:t>
            </a:r>
          </a:p>
        </p:txBody>
      </p:sp>
      <p:sp>
        <p:nvSpPr>
          <p:cNvPr id="30" name="Rectangle 29"/>
          <p:cNvSpPr/>
          <p:nvPr/>
        </p:nvSpPr>
        <p:spPr>
          <a:xfrm>
            <a:off x="566928" y="43711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462637"/>
            <a:ext cx="2267529" cy="31089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Rotación</a:t>
            </a:r>
          </a:p>
        </p:txBody>
      </p:sp>
      <p:sp>
        <p:nvSpPr>
          <p:cNvPr id="32" name="TextBox 31"/>
          <p:cNvSpPr txBox="1"/>
          <p:nvPr/>
        </p:nvSpPr>
        <p:spPr>
          <a:xfrm>
            <a:off x="2999049" y="4462637"/>
            <a:ext cx="4699650"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Cada cuánto y con qué procedimiento sin cortar el servicio</a:t>
            </a:r>
          </a:p>
        </p:txBody>
      </p:sp>
      <p:sp>
        <p:nvSpPr>
          <p:cNvPr id="33" name="TextBox 32"/>
          <p:cNvSpPr txBox="1"/>
          <p:nvPr/>
        </p:nvSpPr>
        <p:spPr>
          <a:xfrm>
            <a:off x="7863291" y="4462637"/>
            <a:ext cx="3594140"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Las llaves de los 32 cajeros: siete años sin rotar</a:t>
            </a:r>
          </a:p>
        </p:txBody>
      </p:sp>
      <p:sp>
        <p:nvSpPr>
          <p:cNvPr id="34" name="Rectangle 33"/>
          <p:cNvSpPr/>
          <p:nvPr/>
        </p:nvSpPr>
        <p:spPr>
          <a:xfrm>
            <a:off x="566928" y="473695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4828397"/>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Retiro</a:t>
            </a:r>
          </a:p>
        </p:txBody>
      </p:sp>
      <p:sp>
        <p:nvSpPr>
          <p:cNvPr id="36" name="TextBox 35"/>
          <p:cNvSpPr txBox="1"/>
          <p:nvPr/>
        </p:nvSpPr>
        <p:spPr>
          <a:xfrm>
            <a:off x="2999049" y="4828397"/>
            <a:ext cx="469965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Cuándo deja de usarse para proteger, pero sigue guardada para descifrar lo viejo</a:t>
            </a:r>
          </a:p>
        </p:txBody>
      </p:sp>
      <p:sp>
        <p:nvSpPr>
          <p:cNvPr id="37" name="TextBox 36"/>
          <p:cNvSpPr txBox="1"/>
          <p:nvPr/>
        </p:nvSpPr>
        <p:spPr>
          <a:xfrm>
            <a:off x="7863291" y="4828397"/>
            <a:ext cx="359414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Datos antiguos que ya nadie puede leer</a:t>
            </a:r>
          </a:p>
        </p:txBody>
      </p:sp>
      <p:sp>
        <p:nvSpPr>
          <p:cNvPr id="38" name="Rectangle 37"/>
          <p:cNvSpPr/>
          <p:nvPr/>
        </p:nvSpPr>
        <p:spPr>
          <a:xfrm>
            <a:off x="566928" y="527681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 y="5368259"/>
            <a:ext cx="2267529"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Destrucción</a:t>
            </a:r>
          </a:p>
        </p:txBody>
      </p:sp>
      <p:sp>
        <p:nvSpPr>
          <p:cNvPr id="40" name="TextBox 39"/>
          <p:cNvSpPr txBox="1"/>
          <p:nvPr/>
        </p:nvSpPr>
        <p:spPr>
          <a:xfrm>
            <a:off x="2999049" y="5368259"/>
            <a:ext cx="4699650"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Cuándo se borra de verdad, y con qué constancia</a:t>
            </a:r>
          </a:p>
        </p:txBody>
      </p:sp>
      <p:sp>
        <p:nvSpPr>
          <p:cNvPr id="41" name="TextBox 40"/>
          <p:cNvSpPr txBox="1"/>
          <p:nvPr/>
        </p:nvSpPr>
        <p:spPr>
          <a:xfrm>
            <a:off x="7863291" y="5368259"/>
            <a:ext cx="3594140"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borra una llave que todavía protegía datos vivos</a:t>
            </a:r>
          </a:p>
        </p:txBody>
      </p:sp>
      <p:sp>
        <p:nvSpPr>
          <p:cNvPr id="42" name="Rectangle 41"/>
          <p:cNvSpPr/>
          <p:nvPr/>
        </p:nvSpPr>
        <p:spPr>
          <a:xfrm>
            <a:off x="566928" y="56425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 y="56974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05  GENERACIÓN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DE DÓNDE SALE LA ALEATORIEDAD</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 la tercera vez en el módulo que la aleatoriedad decide todo, y vale la pena cerrar el tema con los dos casos donde de verdad falla en producción.</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EL ARRANQUE EN FRÍO</a:t>
            </a:r>
          </a:p>
        </p:txBody>
      </p:sp>
      <p:sp>
        <p:nvSpPr>
          <p:cNvPr id="11" name="TextBox 10"/>
          <p:cNvSpPr txBox="1"/>
          <p:nvPr/>
        </p:nvSpPr>
        <p:spPr>
          <a:xfrm>
            <a:off x="566928" y="2578607"/>
            <a:ext cx="5253228" cy="16916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servidor recién encendido, o una máquina virtual recién creada, todavía no ha acumulado suficiente entropía.</a:t>
            </a:r>
          </a:p>
          <a:p>
            <a:pPr algn="l">
              <a:lnSpc>
                <a:spcPct val="128000"/>
              </a:lnSpc>
              <a:spcAft>
                <a:spcPts val="700"/>
              </a:spcAft>
            </a:pPr>
            <a:r>
              <a:rPr sz="1150" b="0">
                <a:solidFill>
                  <a:srgbClr val="000000"/>
                </a:solidFill>
                <a:latin typeface="Arial"/>
              </a:rPr>
              <a:t>Las llaves generadas en ese primer instante pueden ser predecibles.</a:t>
            </a:r>
          </a:p>
          <a:p>
            <a:pPr algn="l">
              <a:lnSpc>
                <a:spcPct val="128000"/>
              </a:lnSpc>
              <a:spcAft>
                <a:spcPts val="700"/>
              </a:spcAft>
            </a:pPr>
            <a:r>
              <a:rPr sz="1150" b="0">
                <a:solidFill>
                  <a:srgbClr val="000000"/>
                </a:solidFill>
                <a:latin typeface="Arial"/>
              </a:rPr>
              <a:t>Se han encontrado en internet miles de llaves de servidores que compartían factores, justamente por esto.</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LOS EQUIPOS EMBEBIDOS</a:t>
            </a:r>
          </a:p>
        </p:txBody>
      </p:sp>
      <p:sp>
        <p:nvSpPr>
          <p:cNvPr id="13" name="TextBox 12"/>
          <p:cNvSpPr txBox="1"/>
          <p:nvPr/>
        </p:nvSpPr>
        <p:spPr>
          <a:xfrm>
            <a:off x="6368796" y="2578607"/>
            <a:ext cx="5253228" cy="16916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cajero, un lector de tarjetas o un dispositivo industrial no tienen teclado, ni ratón, ni disco con actividad variada.</a:t>
            </a:r>
          </a:p>
          <a:p>
            <a:pPr algn="l">
              <a:lnSpc>
                <a:spcPct val="128000"/>
              </a:lnSpc>
              <a:spcAft>
                <a:spcPts val="700"/>
              </a:spcAft>
            </a:pPr>
            <a:r>
              <a:rPr sz="1150" b="0">
                <a:solidFill>
                  <a:srgbClr val="000000"/>
                </a:solidFill>
                <a:latin typeface="Arial"/>
              </a:rPr>
              <a:t>Sin una fuente de hardware dedicada, su aleatoriedad es pobre y repetible entre equipos del mismo lote.</a:t>
            </a:r>
          </a:p>
          <a:p>
            <a:pPr algn="l">
              <a:lnSpc>
                <a:spcPct val="128000"/>
              </a:lnSpc>
              <a:spcAft>
                <a:spcPts val="700"/>
              </a:spcAft>
            </a:pPr>
            <a:r>
              <a:rPr sz="1150" b="1">
                <a:solidFill>
                  <a:srgbClr val="000000"/>
                </a:solidFill>
                <a:latin typeface="Arial"/>
              </a:rPr>
              <a:t>Para los 32 cajeros, esta pregunta es obligatoria</a:t>
            </a:r>
            <a:r>
              <a:rPr sz="1150" b="0">
                <a:solidFill>
                  <a:srgbClr val="000000"/>
                </a:solidFill>
                <a:latin typeface="Arial"/>
              </a:rPr>
              <a:t>: ¿dónde se generaron esas llaves y con qué fuente?</a:t>
            </a:r>
          </a:p>
        </p:txBody>
      </p:sp>
      <p:sp>
        <p:nvSpPr>
          <p:cNvPr id="14" name="Rectangle 13"/>
          <p:cNvSpPr/>
          <p:nvPr/>
        </p:nvSpPr>
        <p:spPr>
          <a:xfrm>
            <a:off x="6085332" y="2304287"/>
            <a:ext cx="9144" cy="1965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06  CUSTODIA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CEREMONIA DE LLAVES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09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Una ceremonia es un procedimiento documentado para generar o cargar una llave crítica de forma que nadie, individualmente, la conozca ni pueda usarla. Suena solemne y es, sobre todo, un acta.</a:t>
            </a:r>
          </a:p>
        </p:txBody>
      </p:sp>
      <p:sp>
        <p:nvSpPr>
          <p:cNvPr id="10" name="TextBox 9"/>
          <p:cNvSpPr txBox="1"/>
          <p:nvPr/>
        </p:nvSpPr>
        <p:spPr>
          <a:xfrm>
            <a:off x="566928" y="235000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6829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Custodios nombrados, con suplentes y con acta</a:t>
            </a:r>
          </a:p>
        </p:txBody>
      </p:sp>
      <p:sp>
        <p:nvSpPr>
          <p:cNvPr id="12" name="TextBox 11"/>
          <p:cNvSpPr txBox="1"/>
          <p:nvPr/>
        </p:nvSpPr>
        <p:spPr>
          <a:xfrm>
            <a:off x="1280160" y="2606039"/>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Personas identificadas por rol, no por nombre propio, para que la salida de alguien no deje la llave huérfana. Es exactamente lo que le pasó a Coopaburrá.</a:t>
            </a:r>
          </a:p>
        </p:txBody>
      </p:sp>
      <p:sp>
        <p:nvSpPr>
          <p:cNvPr id="13" name="TextBox 12"/>
          <p:cNvSpPr txBox="1"/>
          <p:nvPr/>
        </p:nvSpPr>
        <p:spPr>
          <a:xfrm>
            <a:off x="566928" y="311810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13639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Doble control y conocimiento dividido</a:t>
            </a:r>
          </a:p>
        </p:txBody>
      </p:sp>
      <p:sp>
        <p:nvSpPr>
          <p:cNvPr id="15" name="TextBox 14"/>
          <p:cNvSpPr txBox="1"/>
          <p:nvPr/>
        </p:nvSpPr>
        <p:spPr>
          <a:xfrm>
            <a:off x="1280160" y="3374135"/>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Doble control: hacen falta al menos dos personas para ejecutar la operación. Conocimiento dividido: ninguna de ellas conoce la llave completa.</a:t>
            </a:r>
          </a:p>
        </p:txBody>
      </p:sp>
      <p:sp>
        <p:nvSpPr>
          <p:cNvPr id="16" name="TextBox 15"/>
          <p:cNvSpPr txBox="1"/>
          <p:nvPr/>
        </p:nvSpPr>
        <p:spPr>
          <a:xfrm>
            <a:off x="566928" y="3886199"/>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904487"/>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Guion previo, testigos y registro de cada paso</a:t>
            </a:r>
          </a:p>
        </p:txBody>
      </p:sp>
      <p:sp>
        <p:nvSpPr>
          <p:cNvPr id="18" name="TextBox 17"/>
          <p:cNvSpPr txBox="1"/>
          <p:nvPr/>
        </p:nvSpPr>
        <p:spPr>
          <a:xfrm>
            <a:off x="1280160" y="4142231"/>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Se escribe antes lo que se va a hacer, se ejecuta con testigos y se firma el acta al terminar, con las huellas de verificación.</a:t>
            </a:r>
          </a:p>
        </p:txBody>
      </p:sp>
      <p:sp>
        <p:nvSpPr>
          <p:cNvPr id="19" name="TextBox 18"/>
          <p:cNvSpPr txBox="1"/>
          <p:nvPr/>
        </p:nvSpPr>
        <p:spPr>
          <a:xfrm>
            <a:off x="566928" y="46542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67258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Resguardo de las partes en custodias separadas</a:t>
            </a:r>
          </a:p>
        </p:txBody>
      </p:sp>
      <p:sp>
        <p:nvSpPr>
          <p:cNvPr id="21" name="TextBox 20"/>
          <p:cNvSpPr txBox="1"/>
          <p:nvPr/>
        </p:nvSpPr>
        <p:spPr>
          <a:xfrm>
            <a:off x="1280160" y="49103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Sobres o dispositivos sellados, en cajas fuertes distintas, con control de apertura. Reunir las partes exige reunir a las personas.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07  TÉCNICA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REPARTIR UN SECRETO ENTRE VARIAS PERSONAS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conocimiento dividido tiene una solución matemática elegante que conviene conocer, porque aparece en toda documentación de módulos de hardware.</a:t>
            </a:r>
          </a:p>
        </p:txBody>
      </p:sp>
      <p:sp>
        <p:nvSpPr>
          <p:cNvPr id="10" name="Rectangle 9"/>
          <p:cNvSpPr/>
          <p:nvPr/>
        </p:nvSpPr>
        <p:spPr>
          <a:xfrm>
            <a:off x="566928" y="2304287"/>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UMBRAL K DE N</a:t>
            </a:r>
          </a:p>
        </p:txBody>
      </p:sp>
      <p:sp>
        <p:nvSpPr>
          <p:cNvPr id="12" name="TextBox 11"/>
          <p:cNvSpPr txBox="1"/>
          <p:nvPr/>
        </p:nvSpPr>
        <p:spPr>
          <a:xfrm>
            <a:off x="768096" y="2633471"/>
            <a:ext cx="10652760" cy="20482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Un secreto se puede partir en n partes de modo que hagan falta k</a:t>
            </a:r>
          </a:p>
          <a:p>
            <a:pPr algn="l">
              <a:lnSpc>
                <a:spcPct val="130000"/>
              </a:lnSpc>
              <a:spcAft>
                <a:spcPts val="0"/>
              </a:spcAft>
            </a:pPr>
            <a:r>
              <a:rPr sz="950" b="0">
                <a:solidFill>
                  <a:srgbClr val="000000"/>
                </a:solidFill>
                <a:latin typeface="Consolas"/>
              </a:rPr>
              <a:t>de ellas para reconstruirlo, y que con k-1 no se sepa absolutamente nada.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Ejemplo típico:  5 custodios, se necesitan 3 para reconstruir.</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Tolera que dos custodios no estén disponibles.</a:t>
            </a:r>
          </a:p>
          <a:p>
            <a:pPr algn="l">
              <a:lnSpc>
                <a:spcPct val="130000"/>
              </a:lnSpc>
              <a:spcAft>
                <a:spcPts val="0"/>
              </a:spcAft>
            </a:pPr>
            <a:r>
              <a:rPr sz="950" b="0">
                <a:solidFill>
                  <a:srgbClr val="000000"/>
                </a:solidFill>
                <a:latin typeface="Consolas"/>
              </a:rPr>
              <a:t>  Resiste que dos custodios se pongan de acuerdo para robarla.</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No es partir la llave en pedazos: con k-1 partes no hay ninguna ventaja,</a:t>
            </a:r>
          </a:p>
          <a:p>
            <a:pPr algn="l">
              <a:lnSpc>
                <a:spcPct val="130000"/>
              </a:lnSpc>
              <a:spcAft>
                <a:spcPts val="0"/>
              </a:spcAft>
            </a:pPr>
            <a:r>
              <a:rPr sz="950" b="0">
                <a:solidFill>
                  <a:srgbClr val="000000"/>
                </a:solidFill>
                <a:latin typeface="Consolas"/>
              </a:rPr>
              <a:t>ni siquiera parcial. Esa es la diferencia con cortar un papel en cinco.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08  JERARQUÍA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POR QUÉ NO SE CIFRA TODO CON LA MISMA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forma estándar de organizar llaves en una entidad es en niveles, y entenderla resuelve la pregunta práctica de cómo se rota sin descifrar y volver a cifrar toda la base.</a:t>
            </a:r>
          </a:p>
        </p:txBody>
      </p:sp>
      <p:sp>
        <p:nvSpPr>
          <p:cNvPr id="10" name="Rectangle 9"/>
          <p:cNvSpPr/>
          <p:nvPr/>
        </p:nvSpPr>
        <p:spPr>
          <a:xfrm>
            <a:off x="566928" y="2304287"/>
            <a:ext cx="11055096" cy="24688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TRES NIVELES</a:t>
            </a:r>
          </a:p>
        </p:txBody>
      </p:sp>
      <p:sp>
        <p:nvSpPr>
          <p:cNvPr id="12" name="TextBox 11"/>
          <p:cNvSpPr txBox="1"/>
          <p:nvPr/>
        </p:nvSpPr>
        <p:spPr>
          <a:xfrm>
            <a:off x="768096" y="2633471"/>
            <a:ext cx="10652760" cy="2048256"/>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LLAVE MAESTRA          en módulo de hardware, ceremonia, nunca sale</a:t>
            </a:r>
          </a:p>
          <a:p>
            <a:pPr algn="l">
              <a:lnSpc>
                <a:spcPct val="130000"/>
              </a:lnSpc>
              <a:spcAft>
                <a:spcPts val="0"/>
              </a:spcAft>
            </a:pPr>
            <a:r>
              <a:rPr sz="950" b="0">
                <a:solidFill>
                  <a:srgbClr val="000000"/>
                </a:solidFill>
                <a:latin typeface="Consolas"/>
              </a:rPr>
              <a:t>        │ protege</a:t>
            </a:r>
          </a:p>
          <a:p>
            <a:pPr algn="l">
              <a:lnSpc>
                <a:spcPct val="130000"/>
              </a:lnSpc>
              <a:spcAft>
                <a:spcPts val="0"/>
              </a:spcAft>
            </a:pPr>
            <a:r>
              <a:rPr sz="950" b="0">
                <a:solidFill>
                  <a:srgbClr val="000000"/>
                </a:solidFill>
                <a:latin typeface="Consolas"/>
              </a:rPr>
              <a:t>  LLAVE DE LLAVES        cifra las llaves de datos; rota anualmente</a:t>
            </a:r>
          </a:p>
          <a:p>
            <a:pPr algn="l">
              <a:lnSpc>
                <a:spcPct val="130000"/>
              </a:lnSpc>
              <a:spcAft>
                <a:spcPts val="0"/>
              </a:spcAft>
            </a:pPr>
            <a:r>
              <a:rPr sz="950" b="0">
                <a:solidFill>
                  <a:srgbClr val="000000"/>
                </a:solidFill>
                <a:latin typeface="Consolas"/>
              </a:rPr>
              <a:t>        │ protege</a:t>
            </a:r>
          </a:p>
          <a:p>
            <a:pPr algn="l">
              <a:lnSpc>
                <a:spcPct val="130000"/>
              </a:lnSpc>
              <a:spcAft>
                <a:spcPts val="0"/>
              </a:spcAft>
            </a:pPr>
            <a:r>
              <a:rPr sz="950" b="0">
                <a:solidFill>
                  <a:srgbClr val="000000"/>
                </a:solidFill>
                <a:latin typeface="Consolas"/>
              </a:rPr>
              <a:t>  LLAVES DE DATOS        una por campo, por archivo o por cliente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Rotar la llave de llaves = volver a cifrar unas pocas llaves pequeñas.</a:t>
            </a:r>
          </a:p>
          <a:p>
            <a:pPr algn="l">
              <a:lnSpc>
                <a:spcPct val="130000"/>
              </a:lnSpc>
              <a:spcAft>
                <a:spcPts val="0"/>
              </a:spcAft>
            </a:pPr>
            <a:r>
              <a:rPr sz="950" b="0">
                <a:solidFill>
                  <a:srgbClr val="000000"/>
                </a:solidFill>
                <a:latin typeface="Consolas"/>
              </a:rPr>
              <a:t>Rotar la llave maestra   = ceremonia, pero no toca ni un solo dato.</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Sin jerarquía, rotar significa descifrar y recifrar 142.000 registros.</a:t>
            </a:r>
          </a:p>
        </p:txBody>
      </p:sp>
      <p:sp>
        <p:nvSpPr>
          <p:cNvPr id="13" name="Rectangle 12"/>
          <p:cNvSpPr/>
          <p:nvPr/>
        </p:nvSpPr>
        <p:spPr>
          <a:xfrm>
            <a:off x="566928" y="5029200"/>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047488"/>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RESPUESTA A LA OBJECIÓN MÁS FRECUENTE</a:t>
            </a:r>
          </a:p>
        </p:txBody>
      </p:sp>
      <p:sp>
        <p:nvSpPr>
          <p:cNvPr id="15" name="TextBox 14"/>
          <p:cNvSpPr txBox="1"/>
          <p:nvPr/>
        </p:nvSpPr>
        <p:spPr>
          <a:xfrm>
            <a:off x="804672" y="5285232"/>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Cuando alguien diga que rotar llaves es inviable porque habría que recifrarlo todo, la respuesta es esta diapositiva: </a:t>
            </a:r>
            <a:r>
              <a:rPr sz="1150" b="1">
                <a:solidFill>
                  <a:srgbClr val="2A2A2A"/>
                </a:solidFill>
                <a:latin typeface="Arial"/>
              </a:rPr>
              <a:t>con una jerarquía de llaves, rotar es barato</a:t>
            </a:r>
            <a:r>
              <a:rPr sz="1150" b="0">
                <a:solidFill>
                  <a:srgbClr val="2A2A2A"/>
                </a:solidFill>
                <a:latin typeface="Arial"/>
              </a:rPr>
              <a:t>. Lo inviable es no haberla diseñado.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09  ROTACIÓN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CADA CUÁNTO SE ROTA Y CÓMO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12</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TIPO DE LLAVE</a:t>
            </a:r>
          </a:p>
        </p:txBody>
      </p:sp>
      <p:sp>
        <p:nvSpPr>
          <p:cNvPr id="11" name="TextBox 10"/>
          <p:cNvSpPr txBox="1"/>
          <p:nvPr/>
        </p:nvSpPr>
        <p:spPr>
          <a:xfrm>
            <a:off x="3662354" y="1673352"/>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PERIODO SEGÚN SP 800-57</a:t>
            </a:r>
          </a:p>
        </p:txBody>
      </p:sp>
      <p:sp>
        <p:nvSpPr>
          <p:cNvPr id="12" name="TextBox 11"/>
          <p:cNvSpPr txBox="1"/>
          <p:nvPr/>
        </p:nvSpPr>
        <p:spPr>
          <a:xfrm>
            <a:off x="6757781" y="1673352"/>
            <a:ext cx="469965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CÓMO SE ROTA SIN CORTAR EL SERVICIO</a:t>
            </a:r>
          </a:p>
        </p:txBody>
      </p:sp>
      <p:sp>
        <p:nvSpPr>
          <p:cNvPr id="13" name="Rectangle 12"/>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75688"/>
            <a:ext cx="293083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 de sesión</a:t>
            </a:r>
          </a:p>
        </p:txBody>
      </p:sp>
      <p:sp>
        <p:nvSpPr>
          <p:cNvPr id="15" name="TextBox 14"/>
          <p:cNvSpPr txBox="1"/>
          <p:nvPr/>
        </p:nvSpPr>
        <p:spPr>
          <a:xfrm>
            <a:off x="3662354" y="2075688"/>
            <a:ext cx="2930834"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Cada conexión</a:t>
            </a:r>
          </a:p>
        </p:txBody>
      </p:sp>
      <p:sp>
        <p:nvSpPr>
          <p:cNvPr id="16" name="TextBox 15"/>
          <p:cNvSpPr txBox="1"/>
          <p:nvPr/>
        </p:nvSpPr>
        <p:spPr>
          <a:xfrm>
            <a:off x="6757781" y="2075688"/>
            <a:ext cx="4699650"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Automático: es lo que hace el canal seguro</a:t>
            </a:r>
          </a:p>
        </p:txBody>
      </p:sp>
      <p:sp>
        <p:nvSpPr>
          <p:cNvPr id="17" name="Rectangle 16"/>
          <p:cNvSpPr/>
          <p:nvPr/>
        </p:nvSpPr>
        <p:spPr>
          <a:xfrm>
            <a:off x="566928" y="2386584"/>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478024"/>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 de datos</a:t>
            </a:r>
          </a:p>
        </p:txBody>
      </p:sp>
      <p:sp>
        <p:nvSpPr>
          <p:cNvPr id="19" name="TextBox 18"/>
          <p:cNvSpPr txBox="1"/>
          <p:nvPr/>
        </p:nvSpPr>
        <p:spPr>
          <a:xfrm>
            <a:off x="3662354" y="2478024"/>
            <a:ext cx="293083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dos años para cifrar, o ante incidente</a:t>
            </a:r>
          </a:p>
        </p:txBody>
      </p:sp>
      <p:sp>
        <p:nvSpPr>
          <p:cNvPr id="20" name="TextBox 19"/>
          <p:cNvSpPr txBox="1"/>
          <p:nvPr/>
        </p:nvSpPr>
        <p:spPr>
          <a:xfrm>
            <a:off x="6757781" y="2478024"/>
            <a:ext cx="469965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cifra lo nuevo con la llave nueva y se conserva la vieja para leer lo anterior</a:t>
            </a:r>
          </a:p>
        </p:txBody>
      </p:sp>
      <p:sp>
        <p:nvSpPr>
          <p:cNvPr id="21" name="Rectangle 20"/>
          <p:cNvSpPr/>
          <p:nvPr/>
        </p:nvSpPr>
        <p:spPr>
          <a:xfrm>
            <a:off x="566928" y="292644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017885"/>
            <a:ext cx="293083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 de llaves</a:t>
            </a:r>
          </a:p>
        </p:txBody>
      </p:sp>
      <p:sp>
        <p:nvSpPr>
          <p:cNvPr id="23" name="TextBox 22"/>
          <p:cNvSpPr txBox="1"/>
          <p:nvPr/>
        </p:nvSpPr>
        <p:spPr>
          <a:xfrm>
            <a:off x="3662354" y="3017885"/>
            <a:ext cx="2930834"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dos años; anual es buena práctica</a:t>
            </a:r>
          </a:p>
        </p:txBody>
      </p:sp>
      <p:sp>
        <p:nvSpPr>
          <p:cNvPr id="24" name="TextBox 23"/>
          <p:cNvSpPr txBox="1"/>
          <p:nvPr/>
        </p:nvSpPr>
        <p:spPr>
          <a:xfrm>
            <a:off x="6757781" y="3017885"/>
            <a:ext cx="4699650"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recifran solo las llaves de datos: minutos, no días</a:t>
            </a:r>
          </a:p>
        </p:txBody>
      </p:sp>
      <p:sp>
        <p:nvSpPr>
          <p:cNvPr id="25" name="Rectangle 24"/>
          <p:cNvSpPr/>
          <p:nvPr/>
        </p:nvSpPr>
        <p:spPr>
          <a:xfrm>
            <a:off x="566928" y="332878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420221"/>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 raíz del módulo de hardware</a:t>
            </a:r>
          </a:p>
        </p:txBody>
      </p:sp>
      <p:sp>
        <p:nvSpPr>
          <p:cNvPr id="27" name="TextBox 26"/>
          <p:cNvSpPr txBox="1"/>
          <p:nvPr/>
        </p:nvSpPr>
        <p:spPr>
          <a:xfrm>
            <a:off x="3662354" y="3420221"/>
            <a:ext cx="293083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dos años, como toda llave que cifra llaves</a:t>
            </a:r>
          </a:p>
        </p:txBody>
      </p:sp>
      <p:sp>
        <p:nvSpPr>
          <p:cNvPr id="28" name="TextBox 27"/>
          <p:cNvSpPr txBox="1"/>
          <p:nvPr/>
        </p:nvSpPr>
        <p:spPr>
          <a:xfrm>
            <a:off x="6757781" y="3420221"/>
            <a:ext cx="469965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Ceremonia. No se toca ni un solo dato</a:t>
            </a:r>
          </a:p>
        </p:txBody>
      </p:sp>
      <p:sp>
        <p:nvSpPr>
          <p:cNvPr id="29" name="Rectangle 28"/>
          <p:cNvSpPr/>
          <p:nvPr/>
        </p:nvSpPr>
        <p:spPr>
          <a:xfrm>
            <a:off x="566928" y="386864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3960083"/>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Llaves de dispositivos</a:t>
            </a:r>
          </a:p>
        </p:txBody>
      </p:sp>
      <p:sp>
        <p:nvSpPr>
          <p:cNvPr id="31" name="TextBox 30"/>
          <p:cNvSpPr txBox="1"/>
          <p:nvPr/>
        </p:nvSpPr>
        <p:spPr>
          <a:xfrm>
            <a:off x="3662354" y="3960083"/>
            <a:ext cx="293083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 que diga el fabricante. Aquí, dos años</a:t>
            </a:r>
          </a:p>
        </p:txBody>
      </p:sp>
      <p:sp>
        <p:nvSpPr>
          <p:cNvPr id="32" name="TextBox 31"/>
          <p:cNvSpPr txBox="1"/>
          <p:nvPr/>
        </p:nvSpPr>
        <p:spPr>
          <a:xfrm>
            <a:off x="6757781" y="3960083"/>
            <a:ext cx="469965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lotes, con ventana de mantenimiento. Los 32 cajeros llevan siete años</a:t>
            </a:r>
          </a:p>
        </p:txBody>
      </p:sp>
      <p:sp>
        <p:nvSpPr>
          <p:cNvPr id="33" name="Rectangle 32"/>
          <p:cNvSpPr/>
          <p:nvPr/>
        </p:nvSpPr>
        <p:spPr>
          <a:xfrm>
            <a:off x="566928" y="440850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4499945"/>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Pareja de firma de una persona</a:t>
            </a:r>
          </a:p>
        </p:txBody>
      </p:sp>
      <p:sp>
        <p:nvSpPr>
          <p:cNvPr id="35" name="TextBox 34"/>
          <p:cNvSpPr txBox="1"/>
          <p:nvPr/>
        </p:nvSpPr>
        <p:spPr>
          <a:xfrm>
            <a:off x="3662354" y="4499945"/>
            <a:ext cx="293083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vigencia del certificado</a:t>
            </a:r>
          </a:p>
        </p:txBody>
      </p:sp>
      <p:sp>
        <p:nvSpPr>
          <p:cNvPr id="36" name="TextBox 35"/>
          <p:cNvSpPr txBox="1"/>
          <p:nvPr/>
        </p:nvSpPr>
        <p:spPr>
          <a:xfrm>
            <a:off x="6757781" y="4499945"/>
            <a:ext cx="4699650"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emite una nueva; las firmas antiguas siguen siendo válidas si hay sello de tiempo</a:t>
            </a:r>
          </a:p>
        </p:txBody>
      </p:sp>
      <p:sp>
        <p:nvSpPr>
          <p:cNvPr id="37" name="Rectangle 36"/>
          <p:cNvSpPr/>
          <p:nvPr/>
        </p:nvSpPr>
        <p:spPr>
          <a:xfrm>
            <a:off x="566928" y="494836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00323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10  NORMA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LOS PERIODOS CRIPTOGRÁFICOS DE NIST SP 800-57</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norma de referencia para el ciclo de vida de las llaves. Su tabla de periodos criptográficos es lo que cualquier auditor espera ver citado en una política de llaves.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TIPO DE LLAVE</a:t>
            </a:r>
          </a:p>
        </p:txBody>
      </p:sp>
      <p:sp>
        <p:nvSpPr>
          <p:cNvPr id="12" name="TextBox 11"/>
          <p:cNvSpPr txBox="1"/>
          <p:nvPr/>
        </p:nvSpPr>
        <p:spPr>
          <a:xfrm>
            <a:off x="4767864" y="2423159"/>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USO PARA PROTEGER</a:t>
            </a:r>
          </a:p>
        </p:txBody>
      </p:sp>
      <p:sp>
        <p:nvSpPr>
          <p:cNvPr id="13" name="TextBox 12"/>
          <p:cNvSpPr txBox="1"/>
          <p:nvPr/>
        </p:nvSpPr>
        <p:spPr>
          <a:xfrm>
            <a:off x="7421087"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USO PARA LEER O VERIFICAR</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4036344"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Simétrica de cifrado de datos</a:t>
            </a:r>
          </a:p>
        </p:txBody>
      </p:sp>
      <p:sp>
        <p:nvSpPr>
          <p:cNvPr id="16" name="TextBox 15"/>
          <p:cNvSpPr txBox="1"/>
          <p:nvPr/>
        </p:nvSpPr>
        <p:spPr>
          <a:xfrm>
            <a:off x="4767864" y="2825495"/>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2 años</a:t>
            </a:r>
          </a:p>
        </p:txBody>
      </p:sp>
      <p:sp>
        <p:nvSpPr>
          <p:cNvPr id="17" name="TextBox 16"/>
          <p:cNvSpPr txBox="1"/>
          <p:nvPr/>
        </p:nvSpPr>
        <p:spPr>
          <a:xfrm>
            <a:off x="7421087" y="2825495"/>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3 años más, solo para descifrar</a:t>
            </a:r>
          </a:p>
        </p:txBody>
      </p:sp>
      <p:sp>
        <p:nvSpPr>
          <p:cNvPr id="18" name="Rectangle 17"/>
          <p:cNvSpPr/>
          <p:nvPr/>
        </p:nvSpPr>
        <p:spPr>
          <a:xfrm>
            <a:off x="566928" y="31181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09543"/>
            <a:ext cx="4036344"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Simétrica que cifra otras llaves</a:t>
            </a:r>
          </a:p>
        </p:txBody>
      </p:sp>
      <p:sp>
        <p:nvSpPr>
          <p:cNvPr id="20" name="TextBox 19"/>
          <p:cNvSpPr txBox="1"/>
          <p:nvPr/>
        </p:nvSpPr>
        <p:spPr>
          <a:xfrm>
            <a:off x="4767864" y="3209543"/>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2 años</a:t>
            </a:r>
          </a:p>
        </p:txBody>
      </p:sp>
      <p:sp>
        <p:nvSpPr>
          <p:cNvPr id="21" name="TextBox 20"/>
          <p:cNvSpPr txBox="1"/>
          <p:nvPr/>
        </p:nvSpPr>
        <p:spPr>
          <a:xfrm>
            <a:off x="7421087" y="3209543"/>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3 años más</a:t>
            </a:r>
          </a:p>
        </p:txBody>
      </p:sp>
      <p:sp>
        <p:nvSpPr>
          <p:cNvPr id="22" name="Rectangle 21"/>
          <p:cNvSpPr/>
          <p:nvPr/>
        </p:nvSpPr>
        <p:spPr>
          <a:xfrm>
            <a:off x="566928" y="35021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93591"/>
            <a:ext cx="4036344" cy="32918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Simétrica de autenticación · la de H2</a:t>
            </a:r>
          </a:p>
        </p:txBody>
      </p:sp>
      <p:sp>
        <p:nvSpPr>
          <p:cNvPr id="24" name="TextBox 23"/>
          <p:cNvSpPr txBox="1"/>
          <p:nvPr/>
        </p:nvSpPr>
        <p:spPr>
          <a:xfrm>
            <a:off x="4767864" y="3593591"/>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2 años</a:t>
            </a:r>
          </a:p>
        </p:txBody>
      </p:sp>
      <p:sp>
        <p:nvSpPr>
          <p:cNvPr id="25" name="TextBox 24"/>
          <p:cNvSpPr txBox="1"/>
          <p:nvPr/>
        </p:nvSpPr>
        <p:spPr>
          <a:xfrm>
            <a:off x="7421087" y="3593591"/>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Hasta 3 años más. La de Coopaburrá lleva tres sin rotar</a:t>
            </a:r>
          </a:p>
        </p:txBody>
      </p:sp>
      <p:sp>
        <p:nvSpPr>
          <p:cNvPr id="26" name="Rectangle 25"/>
          <p:cNvSpPr/>
          <p:nvPr/>
        </p:nvSpPr>
        <p:spPr>
          <a:xfrm>
            <a:off x="566928" y="388619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977639"/>
            <a:ext cx="4036344"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Privada de firma</a:t>
            </a:r>
          </a:p>
        </p:txBody>
      </p:sp>
      <p:sp>
        <p:nvSpPr>
          <p:cNvPr id="28" name="TextBox 27"/>
          <p:cNvSpPr txBox="1"/>
          <p:nvPr/>
        </p:nvSpPr>
        <p:spPr>
          <a:xfrm>
            <a:off x="4767864" y="3977639"/>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 a 3 años</a:t>
            </a:r>
          </a:p>
        </p:txBody>
      </p:sp>
      <p:sp>
        <p:nvSpPr>
          <p:cNvPr id="29" name="TextBox 28"/>
          <p:cNvSpPr txBox="1"/>
          <p:nvPr/>
        </p:nvSpPr>
        <p:spPr>
          <a:xfrm>
            <a:off x="7421087" y="3977639"/>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pública verifica por más tiempo, según su tamaño</a:t>
            </a:r>
          </a:p>
        </p:txBody>
      </p:sp>
      <p:sp>
        <p:nvSpPr>
          <p:cNvPr id="30" name="Rectangle 29"/>
          <p:cNvSpPr/>
          <p:nvPr/>
        </p:nvSpPr>
        <p:spPr>
          <a:xfrm>
            <a:off x="566928" y="427024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361687"/>
            <a:ext cx="4036344"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Maestra simétrica de derivación</a:t>
            </a:r>
          </a:p>
        </p:txBody>
      </p:sp>
      <p:sp>
        <p:nvSpPr>
          <p:cNvPr id="32" name="TextBox 31"/>
          <p:cNvSpPr txBox="1"/>
          <p:nvPr/>
        </p:nvSpPr>
        <p:spPr>
          <a:xfrm>
            <a:off x="4767864" y="4361687"/>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Alrededor de 1 año</a:t>
            </a:r>
          </a:p>
        </p:txBody>
      </p:sp>
      <p:sp>
        <p:nvSpPr>
          <p:cNvPr id="33" name="TextBox 32"/>
          <p:cNvSpPr txBox="1"/>
          <p:nvPr/>
        </p:nvSpPr>
        <p:spPr>
          <a:xfrm>
            <a:off x="7421087" y="4361687"/>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t>
            </a:r>
          </a:p>
        </p:txBody>
      </p:sp>
      <p:sp>
        <p:nvSpPr>
          <p:cNvPr id="34" name="Rectangle 33"/>
          <p:cNvSpPr/>
          <p:nvPr/>
        </p:nvSpPr>
        <p:spPr>
          <a:xfrm>
            <a:off x="566928" y="46542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4745735"/>
            <a:ext cx="4036344"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Efímera de acuerdo de llave</a:t>
            </a:r>
          </a:p>
        </p:txBody>
      </p:sp>
      <p:sp>
        <p:nvSpPr>
          <p:cNvPr id="36" name="TextBox 35"/>
          <p:cNvSpPr txBox="1"/>
          <p:nvPr/>
        </p:nvSpPr>
        <p:spPr>
          <a:xfrm>
            <a:off x="4767864" y="4745735"/>
            <a:ext cx="2488631"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 sola transacción</a:t>
            </a:r>
          </a:p>
        </p:txBody>
      </p:sp>
      <p:sp>
        <p:nvSpPr>
          <p:cNvPr id="37" name="TextBox 36"/>
          <p:cNvSpPr txBox="1"/>
          <p:nvPr/>
        </p:nvSpPr>
        <p:spPr>
          <a:xfrm>
            <a:off x="7421087" y="4745735"/>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t>
            </a:r>
          </a:p>
        </p:txBody>
      </p:sp>
      <p:sp>
        <p:nvSpPr>
          <p:cNvPr id="38" name="Rectangle 37"/>
          <p:cNvSpPr/>
          <p:nvPr/>
        </p:nvSpPr>
        <p:spPr>
          <a:xfrm>
            <a:off x="566928" y="503834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509320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5394959"/>
            <a:ext cx="45720" cy="56692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541324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LOS DOS PERIODOS DE UNA MISMA LLAVE</a:t>
            </a:r>
          </a:p>
        </p:txBody>
      </p:sp>
      <p:sp>
        <p:nvSpPr>
          <p:cNvPr id="42" name="TextBox 41"/>
          <p:cNvSpPr txBox="1"/>
          <p:nvPr/>
        </p:nvSpPr>
        <p:spPr>
          <a:xfrm>
            <a:off x="804672" y="5650991"/>
            <a:ext cx="10780776" cy="29260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llave de datos deja de cifrar a los dos años, pero se conserva para descifrar lo ya cifrado. </a:t>
            </a:r>
            <a:r>
              <a:rPr sz="1150" b="1">
                <a:solidFill>
                  <a:srgbClr val="2A2A2A"/>
                </a:solidFill>
                <a:latin typeface="Arial"/>
              </a:rPr>
              <a:t>Rotar no es borrar.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11  NORMA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SEIS ESTADOS DE UNA LLAVE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SP 800-57 define seis estados y las transiciones permitidas entre ellos. Registrar el estado de cada llave es lo que convierte el inventario en un instrumento de gestión.</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ESTADO</a:t>
            </a:r>
          </a:p>
        </p:txBody>
      </p:sp>
      <p:sp>
        <p:nvSpPr>
          <p:cNvPr id="12" name="TextBox 11"/>
          <p:cNvSpPr txBox="1"/>
          <p:nvPr/>
        </p:nvSpPr>
        <p:spPr>
          <a:xfrm>
            <a:off x="2999049" y="2423159"/>
            <a:ext cx="42574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SE PUEDE HACER CON LA LLAVE</a:t>
            </a:r>
          </a:p>
        </p:txBody>
      </p:sp>
      <p:sp>
        <p:nvSpPr>
          <p:cNvPr id="13" name="TextBox 12"/>
          <p:cNvSpPr txBox="1"/>
          <p:nvPr/>
        </p:nvSpPr>
        <p:spPr>
          <a:xfrm>
            <a:off x="7421087"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EJEMPLO EN EL CASO</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267529"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Pre-activación</a:t>
            </a:r>
          </a:p>
        </p:txBody>
      </p:sp>
      <p:sp>
        <p:nvSpPr>
          <p:cNvPr id="16" name="TextBox 15"/>
          <p:cNvSpPr txBox="1"/>
          <p:nvPr/>
        </p:nvSpPr>
        <p:spPr>
          <a:xfrm>
            <a:off x="2999049" y="2825495"/>
            <a:ext cx="425744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todavía: existe, pero su uso no está autorizado</a:t>
            </a:r>
          </a:p>
        </p:txBody>
      </p:sp>
      <p:sp>
        <p:nvSpPr>
          <p:cNvPr id="17" name="TextBox 16"/>
          <p:cNvSpPr txBox="1"/>
          <p:nvPr/>
        </p:nvSpPr>
        <p:spPr>
          <a:xfrm>
            <a:off x="7421087" y="2825495"/>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nueva de los cajeros, generada y aún sin cargar</a:t>
            </a:r>
          </a:p>
        </p:txBody>
      </p:sp>
      <p:sp>
        <p:nvSpPr>
          <p:cNvPr id="18" name="Rectangle 17"/>
          <p:cNvSpPr/>
          <p:nvPr/>
        </p:nvSpPr>
        <p:spPr>
          <a:xfrm>
            <a:off x="566928" y="31181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209543"/>
            <a:ext cx="2267529"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Activa</a:t>
            </a:r>
          </a:p>
        </p:txBody>
      </p:sp>
      <p:sp>
        <p:nvSpPr>
          <p:cNvPr id="20" name="TextBox 19"/>
          <p:cNvSpPr txBox="1"/>
          <p:nvPr/>
        </p:nvSpPr>
        <p:spPr>
          <a:xfrm>
            <a:off x="2999049" y="3209543"/>
            <a:ext cx="425744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Cifrar y firmar, y también descifrar y verificar</a:t>
            </a:r>
          </a:p>
        </p:txBody>
      </p:sp>
      <p:sp>
        <p:nvSpPr>
          <p:cNvPr id="21" name="TextBox 20"/>
          <p:cNvSpPr txBox="1"/>
          <p:nvPr/>
        </p:nvSpPr>
        <p:spPr>
          <a:xfrm>
            <a:off x="7421087" y="3209543"/>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del respaldo, hoy</a:t>
            </a:r>
          </a:p>
        </p:txBody>
      </p:sp>
      <p:sp>
        <p:nvSpPr>
          <p:cNvPr id="22" name="Rectangle 21"/>
          <p:cNvSpPr/>
          <p:nvPr/>
        </p:nvSpPr>
        <p:spPr>
          <a:xfrm>
            <a:off x="566928" y="350215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93591"/>
            <a:ext cx="2267529"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Suspendida</a:t>
            </a:r>
          </a:p>
        </p:txBody>
      </p:sp>
      <p:sp>
        <p:nvSpPr>
          <p:cNvPr id="24" name="TextBox 23"/>
          <p:cNvSpPr txBox="1"/>
          <p:nvPr/>
        </p:nvSpPr>
        <p:spPr>
          <a:xfrm>
            <a:off x="2999049" y="3593591"/>
            <a:ext cx="4257446"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temporalmente, mientras se investiga</a:t>
            </a:r>
          </a:p>
        </p:txBody>
      </p:sp>
      <p:sp>
        <p:nvSpPr>
          <p:cNvPr id="25" name="TextBox 24"/>
          <p:cNvSpPr txBox="1"/>
          <p:nvPr/>
        </p:nvSpPr>
        <p:spPr>
          <a:xfrm>
            <a:off x="7421087" y="3593591"/>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teléfono reportado como perdido, mientras se confirma</a:t>
            </a:r>
          </a:p>
        </p:txBody>
      </p:sp>
      <p:sp>
        <p:nvSpPr>
          <p:cNvPr id="26" name="Rectangle 25"/>
          <p:cNvSpPr/>
          <p:nvPr/>
        </p:nvSpPr>
        <p:spPr>
          <a:xfrm>
            <a:off x="566928" y="388619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977639"/>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Desactivada</a:t>
            </a:r>
          </a:p>
        </p:txBody>
      </p:sp>
      <p:sp>
        <p:nvSpPr>
          <p:cNvPr id="28" name="TextBox 27"/>
          <p:cNvSpPr txBox="1"/>
          <p:nvPr/>
        </p:nvSpPr>
        <p:spPr>
          <a:xfrm>
            <a:off x="2999049" y="3977639"/>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descifrar o verificar lo que ya existía</a:t>
            </a:r>
          </a:p>
        </p:txBody>
      </p:sp>
      <p:sp>
        <p:nvSpPr>
          <p:cNvPr id="29" name="TextBox 28"/>
          <p:cNvSpPr txBox="1"/>
          <p:nvPr/>
        </p:nvSpPr>
        <p:spPr>
          <a:xfrm>
            <a:off x="7421087" y="3977639"/>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 de datos rotada, que se guarda para leer lo viejo</a:t>
            </a:r>
          </a:p>
        </p:txBody>
      </p:sp>
      <p:sp>
        <p:nvSpPr>
          <p:cNvPr id="30" name="Rectangle 29"/>
          <p:cNvSpPr/>
          <p:nvPr/>
        </p:nvSpPr>
        <p:spPr>
          <a:xfrm>
            <a:off x="566928" y="442606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517501"/>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Comprometida</a:t>
            </a:r>
          </a:p>
        </p:txBody>
      </p:sp>
      <p:sp>
        <p:nvSpPr>
          <p:cNvPr id="32" name="TextBox 31"/>
          <p:cNvSpPr txBox="1"/>
          <p:nvPr/>
        </p:nvSpPr>
        <p:spPr>
          <a:xfrm>
            <a:off x="2999049" y="4517501"/>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lo necesario para gestionar el incidente</a:t>
            </a:r>
          </a:p>
        </p:txBody>
      </p:sp>
      <p:sp>
        <p:nvSpPr>
          <p:cNvPr id="33" name="TextBox 32"/>
          <p:cNvSpPr txBox="1"/>
          <p:nvPr/>
        </p:nvSpPr>
        <p:spPr>
          <a:xfrm>
            <a:off x="7421087" y="4517501"/>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raíz interna de 2019, según la conclusión de la sesión 5</a:t>
            </a:r>
          </a:p>
        </p:txBody>
      </p:sp>
      <p:sp>
        <p:nvSpPr>
          <p:cNvPr id="34" name="Rectangle 33"/>
          <p:cNvSpPr/>
          <p:nvPr/>
        </p:nvSpPr>
        <p:spPr>
          <a:xfrm>
            <a:off x="566928" y="496592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057363"/>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Destruida</a:t>
            </a:r>
          </a:p>
        </p:txBody>
      </p:sp>
      <p:sp>
        <p:nvSpPr>
          <p:cNvPr id="36" name="TextBox 35"/>
          <p:cNvSpPr txBox="1"/>
          <p:nvPr/>
        </p:nvSpPr>
        <p:spPr>
          <a:xfrm>
            <a:off x="2999049" y="5057363"/>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Nada: ya no existe, y queda constancia</a:t>
            </a:r>
          </a:p>
        </p:txBody>
      </p:sp>
      <p:sp>
        <p:nvSpPr>
          <p:cNvPr id="37" name="TextBox 36"/>
          <p:cNvSpPr txBox="1"/>
          <p:nvPr/>
        </p:nvSpPr>
        <p:spPr>
          <a:xfrm>
            <a:off x="7421087" y="5057363"/>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Lo que nunca debe pasarle a una llave que aún protege datos vivos</a:t>
            </a:r>
          </a:p>
        </p:txBody>
      </p:sp>
      <p:sp>
        <p:nvSpPr>
          <p:cNvPr id="38" name="Rectangle 37"/>
          <p:cNvSpPr/>
          <p:nvPr/>
        </p:nvSpPr>
        <p:spPr>
          <a:xfrm>
            <a:off x="566928" y="550578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556064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12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EL HALLAZGO H6, LEÍDO CON TODO LO ANTERIOR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15</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514185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LO QUE DICE EL HALLAZGO</a:t>
            </a:r>
          </a:p>
        </p:txBody>
      </p:sp>
      <p:sp>
        <p:nvSpPr>
          <p:cNvPr id="11" name="TextBox 10"/>
          <p:cNvSpPr txBox="1"/>
          <p:nvPr/>
        </p:nvSpPr>
        <p:spPr>
          <a:xfrm>
            <a:off x="5873374" y="1673352"/>
            <a:ext cx="558405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ETAPA DEL CICLO FALTÓ</a:t>
            </a:r>
          </a:p>
        </p:txBody>
      </p:sp>
      <p:sp>
        <p:nvSpPr>
          <p:cNvPr id="12" name="Rectangle 11"/>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75688"/>
            <a:ext cx="5141854"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Se cargaron manualmente en la puesta en marcha, en 2019</a:t>
            </a:r>
          </a:p>
        </p:txBody>
      </p:sp>
      <p:sp>
        <p:nvSpPr>
          <p:cNvPr id="14" name="TextBox 13"/>
          <p:cNvSpPr txBox="1"/>
          <p:nvPr/>
        </p:nvSpPr>
        <p:spPr>
          <a:xfrm>
            <a:off x="5873374" y="2075688"/>
            <a:ext cx="5584057"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Generación y distribución: no consta dónde se generaron ni con qué fuente</a:t>
            </a:r>
          </a:p>
        </p:txBody>
      </p:sp>
      <p:sp>
        <p:nvSpPr>
          <p:cNvPr id="15" name="Rectangle 14"/>
          <p:cNvSpPr/>
          <p:nvPr/>
        </p:nvSpPr>
        <p:spPr>
          <a:xfrm>
            <a:off x="566928" y="244144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532888"/>
            <a:ext cx="5141854"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Lo ejecutaron dos personas, una ya no trabaja allí</a:t>
            </a:r>
          </a:p>
        </p:txBody>
      </p:sp>
      <p:sp>
        <p:nvSpPr>
          <p:cNvPr id="17" name="TextBox 16"/>
          <p:cNvSpPr txBox="1"/>
          <p:nvPr/>
        </p:nvSpPr>
        <p:spPr>
          <a:xfrm>
            <a:off x="5873374" y="2532888"/>
            <a:ext cx="5584057"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Custodia: había dos personas, pero no custodios por rol ni suplentes</a:t>
            </a:r>
          </a:p>
        </p:txBody>
      </p:sp>
      <p:sp>
        <p:nvSpPr>
          <p:cNvPr id="18" name="Rectangle 17"/>
          <p:cNvSpPr/>
          <p:nvPr/>
        </p:nvSpPr>
        <p:spPr>
          <a:xfrm>
            <a:off x="566928" y="289864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990088"/>
            <a:ext cx="514185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No hay registro de ceremonia</a:t>
            </a:r>
          </a:p>
        </p:txBody>
      </p:sp>
      <p:sp>
        <p:nvSpPr>
          <p:cNvPr id="20" name="TextBox 19"/>
          <p:cNvSpPr txBox="1"/>
          <p:nvPr/>
        </p:nvSpPr>
        <p:spPr>
          <a:xfrm>
            <a:off x="5873374" y="2990088"/>
            <a:ext cx="558405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Registro: sin acta no se puede probar quién conoció la llave, ni descartar una copia</a:t>
            </a:r>
          </a:p>
        </p:txBody>
      </p:sp>
      <p:sp>
        <p:nvSpPr>
          <p:cNvPr id="21" name="Rectangle 20"/>
          <p:cNvSpPr/>
          <p:nvPr/>
        </p:nvSpPr>
        <p:spPr>
          <a:xfrm>
            <a:off x="566928" y="34385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529949"/>
            <a:ext cx="5141854"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Ni custodios designados, ni doble control</a:t>
            </a:r>
          </a:p>
        </p:txBody>
      </p:sp>
      <p:sp>
        <p:nvSpPr>
          <p:cNvPr id="23" name="TextBox 22"/>
          <p:cNvSpPr txBox="1"/>
          <p:nvPr/>
        </p:nvSpPr>
        <p:spPr>
          <a:xfrm>
            <a:off x="5873374" y="3529949"/>
            <a:ext cx="5584057"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Uso: una sola persona pudo haber operado la llave completa</a:t>
            </a:r>
          </a:p>
        </p:txBody>
      </p:sp>
      <p:sp>
        <p:nvSpPr>
          <p:cNvPr id="24" name="Rectangle 23"/>
          <p:cNvSpPr/>
          <p:nvPr/>
        </p:nvSpPr>
        <p:spPr>
          <a:xfrm>
            <a:off x="566928" y="38957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987149"/>
            <a:ext cx="5141854"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Ni fecha de rotación. El fabricante recomienda dos años; van siete</a:t>
            </a:r>
          </a:p>
        </p:txBody>
      </p:sp>
      <p:sp>
        <p:nvSpPr>
          <p:cNvPr id="26" name="TextBox 25"/>
          <p:cNvSpPr txBox="1"/>
          <p:nvPr/>
        </p:nvSpPr>
        <p:spPr>
          <a:xfrm>
            <a:off x="5873374" y="3987149"/>
            <a:ext cx="5584057"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Rotación: el procedimiento no existe, así que la fecha nunca llegó</a:t>
            </a:r>
          </a:p>
        </p:txBody>
      </p:sp>
      <p:sp>
        <p:nvSpPr>
          <p:cNvPr id="27" name="Rectangle 26"/>
          <p:cNvSpPr/>
          <p:nvPr/>
        </p:nvSpPr>
        <p:spPr>
          <a:xfrm>
            <a:off x="566928" y="43529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40777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4709525"/>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472781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HAY QUE ESCRIBIR EN EL INFORME</a:t>
            </a:r>
          </a:p>
        </p:txBody>
      </p:sp>
      <p:sp>
        <p:nvSpPr>
          <p:cNvPr id="31" name="TextBox 30"/>
          <p:cNvSpPr txBox="1"/>
          <p:nvPr/>
        </p:nvSpPr>
        <p:spPr>
          <a:xfrm>
            <a:off x="804672" y="4965557"/>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hallazgo no es que las llaves sean débiles: </a:t>
            </a:r>
            <a:r>
              <a:rPr sz="1150" b="1">
                <a:solidFill>
                  <a:srgbClr val="2A2A2A"/>
                </a:solidFill>
                <a:latin typeface="Arial"/>
              </a:rPr>
              <a:t>puede que sean perfectamente fuertes</a:t>
            </a:r>
            <a:r>
              <a:rPr sz="1150" b="0">
                <a:solidFill>
                  <a:srgbClr val="2A2A2A"/>
                </a:solidFill>
                <a:latin typeface="Arial"/>
              </a:rPr>
              <a:t>. El hallazgo es que no existe forma de afirmar quién las conoce. Y con 32 cajeros propios, eso es una exposición que la Superintendencia va a preguntar.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1887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LA PRIMERA TESIS DE LA SESIÓN</a:t>
            </a:r>
          </a:p>
        </p:txBody>
      </p:sp>
      <p:sp>
        <p:nvSpPr>
          <p:cNvPr id="3" name="TextBox 2"/>
          <p:cNvSpPr txBox="1"/>
          <p:nvPr/>
        </p:nvSpPr>
        <p:spPr>
          <a:xfrm>
            <a:off x="566928" y="1554480"/>
            <a:ext cx="10607040" cy="2743200"/>
          </a:xfrm>
          <a:prstGeom prst="rect">
            <a:avLst/>
          </a:prstGeom>
          <a:noFill/>
        </p:spPr>
        <p:txBody>
          <a:bodyPr wrap="square" lIns="0" rIns="0" tIns="0" bIns="0">
            <a:spAutoFit/>
          </a:bodyPr>
          <a:lstStyle/>
          <a:p>
            <a:pPr algn="l">
              <a:lnSpc>
                <a:spcPct val="112000"/>
              </a:lnSpc>
              <a:spcAft>
                <a:spcPts val="0"/>
              </a:spcAft>
            </a:pPr>
            <a:r>
              <a:rPr sz="3000" b="0">
                <a:solidFill>
                  <a:srgbClr val="000000"/>
                </a:solidFill>
                <a:latin typeface="Arial Black"/>
              </a:rPr>
              <a:t>UNA LLAVE SIN DUEÑO,</a:t>
            </a:r>
          </a:p>
          <a:p>
            <a:pPr algn="l">
              <a:lnSpc>
                <a:spcPct val="112000"/>
              </a:lnSpc>
              <a:spcAft>
                <a:spcPts val="0"/>
              </a:spcAft>
            </a:pPr>
            <a:r>
              <a:rPr sz="3000" b="0">
                <a:solidFill>
                  <a:srgbClr val="000000"/>
                </a:solidFill>
                <a:latin typeface="Arial Black"/>
              </a:rPr>
              <a:t>SIN FECHA Y SIN ACTA</a:t>
            </a:r>
          </a:p>
          <a:p>
            <a:pPr algn="l">
              <a:lnSpc>
                <a:spcPct val="112000"/>
              </a:lnSpc>
              <a:spcAft>
                <a:spcPts val="0"/>
              </a:spcAft>
            </a:pPr>
            <a:r>
              <a:rPr sz="3000" b="0">
                <a:solidFill>
                  <a:srgbClr val="000000"/>
                </a:solidFill>
                <a:latin typeface="Arial Black"/>
              </a:rPr>
              <a:t>NO ES UN CONTROL:</a:t>
            </a:r>
          </a:p>
          <a:p>
            <a:pPr algn="l">
              <a:lnSpc>
                <a:spcPct val="112000"/>
              </a:lnSpc>
              <a:spcAft>
                <a:spcPts val="0"/>
              </a:spcAft>
            </a:pPr>
            <a:r>
              <a:rPr sz="3000" b="0">
                <a:solidFill>
                  <a:srgbClr val="000000"/>
                </a:solidFill>
                <a:latin typeface="Arial Black"/>
              </a:rPr>
              <a:t>ES UNA DEUDA.</a:t>
            </a:r>
          </a:p>
        </p:txBody>
      </p:sp>
      <p:sp>
        <p:nvSpPr>
          <p:cNvPr id="4" name="Rectangle 3"/>
          <p:cNvSpPr/>
          <p:nvPr/>
        </p:nvSpPr>
        <p:spPr>
          <a:xfrm>
            <a:off x="566928" y="4617720"/>
            <a:ext cx="1554480" cy="457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864608"/>
            <a:ext cx="10607040" cy="1005840"/>
          </a:xfrm>
          <a:prstGeom prst="rect">
            <a:avLst/>
          </a:prstGeom>
          <a:noFill/>
        </p:spPr>
        <p:txBody>
          <a:bodyPr wrap="square" lIns="0" rIns="0" tIns="0" bIns="0">
            <a:spAutoFit/>
          </a:bodyPr>
          <a:lstStyle/>
          <a:p>
            <a:pPr algn="l">
              <a:lnSpc>
                <a:spcPct val="135000"/>
              </a:lnSpc>
              <a:spcAft>
                <a:spcPts val="0"/>
              </a:spcAft>
            </a:pPr>
            <a:r>
              <a:rPr sz="1200" b="0">
                <a:solidFill>
                  <a:srgbClr val="2A2A2A"/>
                </a:solidFill>
                <a:latin typeface="Arial"/>
              </a:rPr>
              <a:t>Los cinco hallazgos de gestión de este caso — la llave del código, la del respaldo, la de la autoridad interna, las de los cajeros y la ausencia de inventario — tienen la misma forma. En todos, el algoritmo era correcto y lo que faltaba era alguien que respondiera por la llave, una fecha en la que dejara de valer y un documento que probara quién la conoció. Eso no se compra: se gobierna. Y es exactamente lo que el comité les está pidiendo.</a:t>
            </a:r>
          </a:p>
        </p:txBody>
      </p:sp>
      <p:sp>
        <p:nvSpPr>
          <p:cNvPr id="6" name="Rectangle 5"/>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1-1.png"/>
          <p:cNvPicPr>
            <a:picLocks noChangeAspect="1"/>
          </p:cNvPicPr>
          <p:nvPr/>
        </p:nvPicPr>
        <p:blipFill>
          <a:blip r:embed="rId2"/>
          <a:stretch>
            <a:fillRect/>
          </a:stretch>
        </p:blipFill>
        <p:spPr>
          <a:xfrm>
            <a:off x="566928" y="6336792"/>
            <a:ext cx="566928" cy="246888"/>
          </a:xfrm>
          <a:prstGeom prst="rect">
            <a:avLst/>
          </a:prstGeom>
        </p:spPr>
      </p:pic>
      <p:sp>
        <p:nvSpPr>
          <p:cNvPr id="8" name="TextBox 7"/>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9" name="TextBox 8"/>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13  HARDWARE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MÓDULOS DE HARDWARE: QUÉ SE COMPRA REALMENTE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Cuando alguien propone comprar un módulo de hardware, lo que hay que preguntar no es la marca: es el nivel certificado, porque de ahí depende si sirve para lo que se quiere.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171477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NIVEL</a:t>
            </a:r>
          </a:p>
        </p:txBody>
      </p:sp>
      <p:sp>
        <p:nvSpPr>
          <p:cNvPr id="12" name="TextBox 11"/>
          <p:cNvSpPr txBox="1"/>
          <p:nvPr/>
        </p:nvSpPr>
        <p:spPr>
          <a:xfrm>
            <a:off x="2446294" y="2423159"/>
            <a:ext cx="503130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GARANTIZA</a:t>
            </a:r>
          </a:p>
        </p:txBody>
      </p:sp>
      <p:sp>
        <p:nvSpPr>
          <p:cNvPr id="13" name="TextBox 12"/>
          <p:cNvSpPr txBox="1"/>
          <p:nvPr/>
        </p:nvSpPr>
        <p:spPr>
          <a:xfrm>
            <a:off x="7642189"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PARA QUÉ ALCANZA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171477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Nivel 1</a:t>
            </a:r>
          </a:p>
        </p:txBody>
      </p:sp>
      <p:sp>
        <p:nvSpPr>
          <p:cNvPr id="16" name="TextBox 15"/>
          <p:cNvSpPr txBox="1"/>
          <p:nvPr/>
        </p:nvSpPr>
        <p:spPr>
          <a:xfrm>
            <a:off x="2446294" y="2825495"/>
            <a:ext cx="503130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Requisitos criptográficos básicos. Puede ser puro software</a:t>
            </a:r>
          </a:p>
        </p:txBody>
      </p:sp>
      <p:sp>
        <p:nvSpPr>
          <p:cNvPr id="17" name="TextBox 16"/>
          <p:cNvSpPr txBox="1"/>
          <p:nvPr/>
        </p:nvSpPr>
        <p:spPr>
          <a:xfrm>
            <a:off x="7642189" y="2825495"/>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Cumplimiento formal. No protege la llave de quien administre el equipo</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1714774" cy="43891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Nivel 2</a:t>
            </a:r>
          </a:p>
        </p:txBody>
      </p:sp>
      <p:sp>
        <p:nvSpPr>
          <p:cNvPr id="20" name="TextBox 19"/>
          <p:cNvSpPr txBox="1"/>
          <p:nvPr/>
        </p:nvSpPr>
        <p:spPr>
          <a:xfrm>
            <a:off x="2446294" y="3365357"/>
            <a:ext cx="5031303"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Evidencia física de manipulación y autenticación por rol</a:t>
            </a:r>
          </a:p>
        </p:txBody>
      </p:sp>
      <p:sp>
        <p:nvSpPr>
          <p:cNvPr id="21" name="TextBox 20"/>
          <p:cNvSpPr txBox="1"/>
          <p:nvPr/>
        </p:nvSpPr>
        <p:spPr>
          <a:xfrm>
            <a:off x="7642189" y="3365357"/>
            <a:ext cx="3815242" cy="43891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Entornos controlados con vigilancia física</a:t>
            </a:r>
          </a:p>
        </p:txBody>
      </p:sp>
      <p:sp>
        <p:nvSpPr>
          <p:cNvPr id="22" name="Rectangle 21"/>
          <p:cNvSpPr/>
          <p:nvPr/>
        </p:nvSpPr>
        <p:spPr>
          <a:xfrm>
            <a:off x="566928" y="376769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859133"/>
            <a:ext cx="1714774"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Nivel 3</a:t>
            </a:r>
          </a:p>
        </p:txBody>
      </p:sp>
      <p:sp>
        <p:nvSpPr>
          <p:cNvPr id="24" name="TextBox 23"/>
          <p:cNvSpPr txBox="1"/>
          <p:nvPr/>
        </p:nvSpPr>
        <p:spPr>
          <a:xfrm>
            <a:off x="2446294" y="3859133"/>
            <a:ext cx="503130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Resistencia física activa: ante intrusión, borra las llaves. Autenticación por identidad</a:t>
            </a:r>
          </a:p>
        </p:txBody>
      </p:sp>
      <p:sp>
        <p:nvSpPr>
          <p:cNvPr id="25" name="TextBox 24"/>
          <p:cNvSpPr txBox="1"/>
          <p:nvPr/>
        </p:nvSpPr>
        <p:spPr>
          <a:xfrm>
            <a:off x="7642189" y="3859133"/>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el nivel habitual del sector financiero, y el que aplica a este caso</a:t>
            </a:r>
          </a:p>
        </p:txBody>
      </p:sp>
      <p:sp>
        <p:nvSpPr>
          <p:cNvPr id="26" name="Rectangle 25"/>
          <p:cNvSpPr/>
          <p:nvPr/>
        </p:nvSpPr>
        <p:spPr>
          <a:xfrm>
            <a:off x="566928" y="43075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398995"/>
            <a:ext cx="171477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Nivel 4</a:t>
            </a:r>
          </a:p>
        </p:txBody>
      </p:sp>
      <p:sp>
        <p:nvSpPr>
          <p:cNvPr id="28" name="TextBox 27"/>
          <p:cNvSpPr txBox="1"/>
          <p:nvPr/>
        </p:nvSpPr>
        <p:spPr>
          <a:xfrm>
            <a:off x="2446294" y="4398995"/>
            <a:ext cx="503130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Protección total, incluida la detección de ataques por temperatura o voltaje</a:t>
            </a:r>
          </a:p>
        </p:txBody>
      </p:sp>
      <p:sp>
        <p:nvSpPr>
          <p:cNvPr id="29" name="TextBox 28"/>
          <p:cNvSpPr txBox="1"/>
          <p:nvPr/>
        </p:nvSpPr>
        <p:spPr>
          <a:xfrm>
            <a:off x="7642189" y="4398995"/>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Entornos hostiles o de altísima exigencia. Rara vez necesario</a:t>
            </a:r>
          </a:p>
        </p:txBody>
      </p:sp>
      <p:sp>
        <p:nvSpPr>
          <p:cNvPr id="30" name="Rectangle 29"/>
          <p:cNvSpPr/>
          <p:nvPr/>
        </p:nvSpPr>
        <p:spPr>
          <a:xfrm>
            <a:off x="566928" y="48474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0228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04033"/>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2232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PREGUNTA QUE DESARMA UNA PROPUESTA COMERCIAL</a:t>
            </a:r>
          </a:p>
        </p:txBody>
      </p:sp>
      <p:sp>
        <p:nvSpPr>
          <p:cNvPr id="34" name="TextBox 33"/>
          <p:cNvSpPr txBox="1"/>
          <p:nvPr/>
        </p:nvSpPr>
        <p:spPr>
          <a:xfrm>
            <a:off x="804672" y="5460065"/>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llave se genera dentro del módulo y no puede salir nunca, o se genera fuera y se importa? </a:t>
            </a:r>
            <a:r>
              <a:rPr sz="1150" b="1">
                <a:solidFill>
                  <a:srgbClr val="2A2A2A"/>
                </a:solidFill>
                <a:latin typeface="Arial"/>
              </a:rPr>
              <a:t>Si puede salir, el módulo es un lugar cómodo donde guardarla, no una garantía de custodia exclusiva.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14  NUBE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CUSTODIA DE LLAVES EN LA NUBE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Casi ninguna organización monta hoy su propio módulo: lo alquila. Eso está bien, y cambia las preguntas que hay que hacer, no la responsabilidad.</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MODELO</a:t>
            </a:r>
          </a:p>
        </p:txBody>
      </p:sp>
      <p:sp>
        <p:nvSpPr>
          <p:cNvPr id="12" name="TextBox 11"/>
          <p:cNvSpPr txBox="1"/>
          <p:nvPr/>
        </p:nvSpPr>
        <p:spPr>
          <a:xfrm>
            <a:off x="3883456"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QUIÉN CONTROLA LA LLAVE</a:t>
            </a:r>
          </a:p>
        </p:txBody>
      </p:sp>
      <p:sp>
        <p:nvSpPr>
          <p:cNvPr id="13" name="TextBox 12"/>
          <p:cNvSpPr txBox="1"/>
          <p:nvPr/>
        </p:nvSpPr>
        <p:spPr>
          <a:xfrm>
            <a:off x="8084393"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CUÁNDO CONVIENE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Llaves administradas por el proveedor</a:t>
            </a:r>
          </a:p>
        </p:txBody>
      </p:sp>
      <p:sp>
        <p:nvSpPr>
          <p:cNvPr id="16" name="TextBox 15"/>
          <p:cNvSpPr txBox="1"/>
          <p:nvPr/>
        </p:nvSpPr>
        <p:spPr>
          <a:xfrm>
            <a:off x="3883456" y="2825495"/>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proveedor, por completo. El cliente solo elige activarlo</a:t>
            </a:r>
          </a:p>
        </p:txBody>
      </p:sp>
      <p:sp>
        <p:nvSpPr>
          <p:cNvPr id="17" name="TextBox 16"/>
          <p:cNvSpPr txBox="1"/>
          <p:nvPr/>
        </p:nvSpPr>
        <p:spPr>
          <a:xfrm>
            <a:off x="8084393" y="2825495"/>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Datos de sensibilidad baja o media, cuando lo que se busca es no tener que operar nada</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Llaves del cliente dentro del servicio</a:t>
            </a:r>
          </a:p>
        </p:txBody>
      </p:sp>
      <p:sp>
        <p:nvSpPr>
          <p:cNvPr id="20" name="TextBox 19"/>
          <p:cNvSpPr txBox="1"/>
          <p:nvPr/>
        </p:nvSpPr>
        <p:spPr>
          <a:xfrm>
            <a:off x="3883456" y="3365357"/>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cliente define políticas, permisos y rotación; el proveedor opera el módulo</a:t>
            </a:r>
          </a:p>
        </p:txBody>
      </p:sp>
      <p:sp>
        <p:nvSpPr>
          <p:cNvPr id="21" name="TextBox 20"/>
          <p:cNvSpPr txBox="1"/>
          <p:nvPr/>
        </p:nvSpPr>
        <p:spPr>
          <a:xfrm>
            <a:off x="8084393" y="3365357"/>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punto de equilibrio habitual, y el razonable para Coopaburrá</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 propia importada</a:t>
            </a:r>
          </a:p>
        </p:txBody>
      </p:sp>
      <p:sp>
        <p:nvSpPr>
          <p:cNvPr id="24" name="TextBox 23"/>
          <p:cNvSpPr txBox="1"/>
          <p:nvPr/>
        </p:nvSpPr>
        <p:spPr>
          <a:xfrm>
            <a:off x="3883456" y="3905219"/>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cliente la genera en su propia ceremonia y la importa</a:t>
            </a:r>
          </a:p>
        </p:txBody>
      </p:sp>
      <p:sp>
        <p:nvSpPr>
          <p:cNvPr id="25" name="TextBox 24"/>
          <p:cNvSpPr txBox="1"/>
          <p:nvPr/>
        </p:nvSpPr>
        <p:spPr>
          <a:xfrm>
            <a:off x="8084393" y="3905219"/>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Cuando hay que poder demostrar el origen de la llave ante un supervisor</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Módulo externo bajo control propio</a:t>
            </a:r>
          </a:p>
        </p:txBody>
      </p:sp>
      <p:sp>
        <p:nvSpPr>
          <p:cNvPr id="28" name="TextBox 27"/>
          <p:cNvSpPr txBox="1"/>
          <p:nvPr/>
        </p:nvSpPr>
        <p:spPr>
          <a:xfrm>
            <a:off x="3883456" y="4445081"/>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cliente, incluso frente al proveedor de nube</a:t>
            </a:r>
          </a:p>
        </p:txBody>
      </p:sp>
      <p:sp>
        <p:nvSpPr>
          <p:cNvPr id="29" name="TextBox 28"/>
          <p:cNvSpPr txBox="1"/>
          <p:nvPr/>
        </p:nvSpPr>
        <p:spPr>
          <a:xfrm>
            <a:off x="8084393" y="4445081"/>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Datos que no pueden quedar accesibles al proveedor por requisito legal o contractual</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50119"/>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6840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LAS CUATRO PREGUNTAS PARA EL CONTRATO</a:t>
            </a:r>
          </a:p>
        </p:txBody>
      </p:sp>
      <p:sp>
        <p:nvSpPr>
          <p:cNvPr id="34" name="TextBox 33"/>
          <p:cNvSpPr txBox="1"/>
          <p:nvPr/>
        </p:nvSpPr>
        <p:spPr>
          <a:xfrm>
            <a:off x="804672" y="5506151"/>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¿En qué país reside la llave? ¿Puede el proveedor acceder a ella, y bajo qué orden judicial? ¿Qué registro de uso queda y quién lo audita? ¿Y qué pasa con las llaves el día que se termine el contrato? </a:t>
            </a:r>
            <a:r>
              <a:rPr sz="1150" b="1">
                <a:solidFill>
                  <a:srgbClr val="2A2A2A"/>
                </a:solidFill>
                <a:latin typeface="Arial"/>
              </a:rPr>
              <a:t>Delegar la operación no delega la responsabilidad ante la Superintendencia.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15  TÉCNICA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TOKENIZACIÓN: SUSTITUIR EN VEZ DE CIFRAR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19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técnica que más reduce el riesgo cuando el dato no se necesita en claro para operar. En lugar de cifrarlo, se reemplaza por un sustituto que no tiene ninguna relación matemática con él.</a:t>
            </a:r>
          </a:p>
        </p:txBody>
      </p:sp>
      <p:sp>
        <p:nvSpPr>
          <p:cNvPr id="10" name="Rectangle 9"/>
          <p:cNvSpPr/>
          <p:nvPr/>
        </p:nvSpPr>
        <p:spPr>
          <a:xfrm>
            <a:off x="566928" y="2304287"/>
            <a:ext cx="11055096" cy="1634947"/>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TOKENIZACIÓN CON BÓVEDA</a:t>
            </a:r>
          </a:p>
        </p:txBody>
      </p:sp>
      <p:sp>
        <p:nvSpPr>
          <p:cNvPr id="12" name="TextBox 11"/>
          <p:cNvSpPr txBox="1"/>
          <p:nvPr/>
        </p:nvSpPr>
        <p:spPr>
          <a:xfrm>
            <a:off x="768096" y="2633471"/>
            <a:ext cx="10652760" cy="1214323"/>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Número de tarjeta:   4000 1234 5678 9010</a:t>
            </a:r>
          </a:p>
          <a:p>
            <a:pPr algn="l">
              <a:lnSpc>
                <a:spcPct val="130000"/>
              </a:lnSpc>
              <a:spcAft>
                <a:spcPts val="0"/>
              </a:spcAft>
            </a:pPr>
            <a:r>
              <a:rPr sz="950" b="0">
                <a:solidFill>
                  <a:srgbClr val="000000"/>
                </a:solidFill>
                <a:latin typeface="Consolas"/>
              </a:rPr>
              <a:t>Token:               4000 1293 8841 9010     ← mismo formato, sin relación con el original</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La correspondencia entre token y dato real vive en una bóveda, separada y custodiada.</a:t>
            </a:r>
          </a:p>
          <a:p>
            <a:pPr algn="l">
              <a:lnSpc>
                <a:spcPct val="130000"/>
              </a:lnSpc>
              <a:spcAft>
                <a:spcPts val="0"/>
              </a:spcAft>
            </a:pPr>
            <a:r>
              <a:rPr sz="950" b="0">
                <a:solidFill>
                  <a:srgbClr val="000000"/>
                </a:solidFill>
                <a:latin typeface="Consolas"/>
              </a:rPr>
              <a:t>Los demás sistemas solo ven el token: pueden operar, conciliar y reportar</a:t>
            </a:r>
          </a:p>
          <a:p>
            <a:pPr algn="l">
              <a:lnSpc>
                <a:spcPct val="130000"/>
              </a:lnSpc>
              <a:spcAft>
                <a:spcPts val="0"/>
              </a:spcAft>
            </a:pPr>
            <a:r>
              <a:rPr sz="950" b="0">
                <a:solidFill>
                  <a:srgbClr val="000000"/>
                </a:solidFill>
                <a:latin typeface="Consolas"/>
              </a:rPr>
              <a:t>sin haber tenido nunca el dato real.</a:t>
            </a:r>
          </a:p>
        </p:txBody>
      </p:sp>
      <p:sp>
        <p:nvSpPr>
          <p:cNvPr id="13" name="Rectangle 12"/>
          <p:cNvSpPr/>
          <p:nvPr/>
        </p:nvSpPr>
        <p:spPr>
          <a:xfrm>
            <a:off x="566928" y="4195267"/>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21355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DOS VARIANTES</a:t>
            </a:r>
          </a:p>
        </p:txBody>
      </p:sp>
      <p:sp>
        <p:nvSpPr>
          <p:cNvPr id="15" name="TextBox 14"/>
          <p:cNvSpPr txBox="1"/>
          <p:nvPr/>
        </p:nvSpPr>
        <p:spPr>
          <a:xfrm>
            <a:off x="804672" y="4451299"/>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Con bóveda: una tabla protegida guarda la correspondencia. Sin bóveda: el token se calcula con un cifrado que conserva el formato, como el FF1 de la NIST SP 800-38G. </a:t>
            </a:r>
            <a:r>
              <a:rPr sz="1150" b="1">
                <a:solidFill>
                  <a:srgbClr val="2A2A2A"/>
                </a:solidFill>
                <a:latin typeface="Arial"/>
              </a:rPr>
              <a:t>La primera es más simple de razonar; la segunda escala mejor</a:t>
            </a:r>
            <a:r>
              <a:rPr sz="1150" b="0">
                <a:solidFill>
                  <a:srgbClr val="2A2A2A"/>
                </a:solidFill>
                <a:latin typeface="Arial"/>
              </a:rPr>
              <a:t>, y exige custodiar una llave.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16  TÉCNICA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TOKENIZACIÓN FRENTE A CIFRADO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20</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No compiten: resuelven problemas distintos. La pregunta que decide es si el sistema necesita el dato real para hacer su trabajo.</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CRITERIO</a:t>
            </a:r>
          </a:p>
        </p:txBody>
      </p:sp>
      <p:sp>
        <p:nvSpPr>
          <p:cNvPr id="12" name="TextBox 11"/>
          <p:cNvSpPr txBox="1"/>
          <p:nvPr/>
        </p:nvSpPr>
        <p:spPr>
          <a:xfrm>
            <a:off x="3441252" y="2185415"/>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CIFRADO</a:t>
            </a:r>
          </a:p>
        </p:txBody>
      </p:sp>
      <p:sp>
        <p:nvSpPr>
          <p:cNvPr id="13" name="TextBox 12"/>
          <p:cNvSpPr txBox="1"/>
          <p:nvPr/>
        </p:nvSpPr>
        <p:spPr>
          <a:xfrm>
            <a:off x="7421087" y="2185415"/>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TOKENIZACIÓN</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270973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Relación con el dato</a:t>
            </a:r>
          </a:p>
        </p:txBody>
      </p:sp>
      <p:sp>
        <p:nvSpPr>
          <p:cNvPr id="16" name="TextBox 15"/>
          <p:cNvSpPr txBox="1"/>
          <p:nvPr/>
        </p:nvSpPr>
        <p:spPr>
          <a:xfrm>
            <a:off x="3441252" y="2587751"/>
            <a:ext cx="3815242"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Matemática: con la llave se recupera</a:t>
            </a:r>
          </a:p>
        </p:txBody>
      </p:sp>
      <p:sp>
        <p:nvSpPr>
          <p:cNvPr id="17" name="TextBox 16"/>
          <p:cNvSpPr txBox="1"/>
          <p:nvPr/>
        </p:nvSpPr>
        <p:spPr>
          <a:xfrm>
            <a:off x="7421087" y="2587751"/>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Ninguna: solo la bóveda conoce la correspondencia</a:t>
            </a:r>
          </a:p>
        </p:txBody>
      </p:sp>
      <p:sp>
        <p:nvSpPr>
          <p:cNvPr id="18" name="Rectangle 17"/>
          <p:cNvSpPr/>
          <p:nvPr/>
        </p:nvSpPr>
        <p:spPr>
          <a:xfrm>
            <a:off x="566928" y="288035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971799"/>
            <a:ext cx="270973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Formato</a:t>
            </a:r>
          </a:p>
        </p:txBody>
      </p:sp>
      <p:sp>
        <p:nvSpPr>
          <p:cNvPr id="20" name="TextBox 19"/>
          <p:cNvSpPr txBox="1"/>
          <p:nvPr/>
        </p:nvSpPr>
        <p:spPr>
          <a:xfrm>
            <a:off x="3441252" y="2971799"/>
            <a:ext cx="3815242"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resultado es otro tipo de dato, más largo</a:t>
            </a:r>
          </a:p>
        </p:txBody>
      </p:sp>
      <p:sp>
        <p:nvSpPr>
          <p:cNvPr id="21" name="TextBox 20"/>
          <p:cNvSpPr txBox="1"/>
          <p:nvPr/>
        </p:nvSpPr>
        <p:spPr>
          <a:xfrm>
            <a:off x="7421087" y="2971799"/>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Puede conservar el formato: los sistemas no cambian</a:t>
            </a:r>
          </a:p>
        </p:txBody>
      </p:sp>
      <p:sp>
        <p:nvSpPr>
          <p:cNvPr id="22" name="Rectangle 21"/>
          <p:cNvSpPr/>
          <p:nvPr/>
        </p:nvSpPr>
        <p:spPr>
          <a:xfrm>
            <a:off x="566928" y="326440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355847"/>
            <a:ext cx="270973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Si se roba lo protegido</a:t>
            </a:r>
          </a:p>
        </p:txBody>
      </p:sp>
      <p:sp>
        <p:nvSpPr>
          <p:cNvPr id="24" name="TextBox 23"/>
          <p:cNvSpPr txBox="1"/>
          <p:nvPr/>
        </p:nvSpPr>
        <p:spPr>
          <a:xfrm>
            <a:off x="3441252" y="3355847"/>
            <a:ext cx="3815242"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 salvo mientras la llave lo esté</a:t>
            </a:r>
          </a:p>
        </p:txBody>
      </p:sp>
      <p:sp>
        <p:nvSpPr>
          <p:cNvPr id="25" name="TextBox 24"/>
          <p:cNvSpPr txBox="1"/>
          <p:nvPr/>
        </p:nvSpPr>
        <p:spPr>
          <a:xfrm>
            <a:off x="7421087" y="3355847"/>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token no sirve de nada fuera del sistema</a:t>
            </a:r>
          </a:p>
        </p:txBody>
      </p:sp>
      <p:sp>
        <p:nvSpPr>
          <p:cNvPr id="26" name="Rectangle 25"/>
          <p:cNvSpPr/>
          <p:nvPr/>
        </p:nvSpPr>
        <p:spPr>
          <a:xfrm>
            <a:off x="566928" y="364845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739895"/>
            <a:ext cx="2709732" cy="32918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Qué hay que custodiar</a:t>
            </a:r>
          </a:p>
        </p:txBody>
      </p:sp>
      <p:sp>
        <p:nvSpPr>
          <p:cNvPr id="28" name="TextBox 27"/>
          <p:cNvSpPr txBox="1"/>
          <p:nvPr/>
        </p:nvSpPr>
        <p:spPr>
          <a:xfrm>
            <a:off x="3441252" y="3739895"/>
            <a:ext cx="3815242"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llave</a:t>
            </a:r>
          </a:p>
        </p:txBody>
      </p:sp>
      <p:sp>
        <p:nvSpPr>
          <p:cNvPr id="29" name="TextBox 28"/>
          <p:cNvSpPr txBox="1"/>
          <p:nvPr/>
        </p:nvSpPr>
        <p:spPr>
          <a:xfrm>
            <a:off x="7421087" y="3739895"/>
            <a:ext cx="4036344" cy="32918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bóveda, o la llave si es sin bóveda</a:t>
            </a:r>
          </a:p>
        </p:txBody>
      </p:sp>
      <p:sp>
        <p:nvSpPr>
          <p:cNvPr id="30" name="Rectangle 29"/>
          <p:cNvSpPr/>
          <p:nvPr/>
        </p:nvSpPr>
        <p:spPr>
          <a:xfrm>
            <a:off x="566928" y="4032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123943"/>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Alcance de auditoría</a:t>
            </a:r>
          </a:p>
        </p:txBody>
      </p:sp>
      <p:sp>
        <p:nvSpPr>
          <p:cNvPr id="32" name="TextBox 31"/>
          <p:cNvSpPr txBox="1"/>
          <p:nvPr/>
        </p:nvSpPr>
        <p:spPr>
          <a:xfrm>
            <a:off x="3441252" y="4123943"/>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Todo sistema que tenga la llave</a:t>
            </a:r>
          </a:p>
        </p:txBody>
      </p:sp>
      <p:sp>
        <p:nvSpPr>
          <p:cNvPr id="33" name="TextBox 32"/>
          <p:cNvSpPr txBox="1"/>
          <p:nvPr/>
        </p:nvSpPr>
        <p:spPr>
          <a:xfrm>
            <a:off x="7421087" y="4123943"/>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la bóveda y lo que la consulta: el resto sale del alcance</a:t>
            </a:r>
          </a:p>
        </p:txBody>
      </p:sp>
      <p:sp>
        <p:nvSpPr>
          <p:cNvPr id="34" name="Rectangle 33"/>
          <p:cNvSpPr/>
          <p:nvPr/>
        </p:nvSpPr>
        <p:spPr>
          <a:xfrm>
            <a:off x="566928" y="45723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4663805"/>
            <a:ext cx="2709732"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Mejor para</a:t>
            </a:r>
          </a:p>
        </p:txBody>
      </p:sp>
      <p:sp>
        <p:nvSpPr>
          <p:cNvPr id="36" name="TextBox 35"/>
          <p:cNvSpPr txBox="1"/>
          <p:nvPr/>
        </p:nvSpPr>
        <p:spPr>
          <a:xfrm>
            <a:off x="3441252" y="4663805"/>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Datos que se usan en claro con frecuencia</a:t>
            </a:r>
          </a:p>
        </p:txBody>
      </p:sp>
      <p:sp>
        <p:nvSpPr>
          <p:cNvPr id="37" name="TextBox 36"/>
          <p:cNvSpPr txBox="1"/>
          <p:nvPr/>
        </p:nvSpPr>
        <p:spPr>
          <a:xfrm>
            <a:off x="7421087" y="4663805"/>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Identificadores que se guardan y se comparan, pero casi nunca se leen</a:t>
            </a:r>
          </a:p>
        </p:txBody>
      </p:sp>
      <p:sp>
        <p:nvSpPr>
          <p:cNvPr id="38" name="Rectangle 37"/>
          <p:cNvSpPr/>
          <p:nvPr/>
        </p:nvSpPr>
        <p:spPr>
          <a:xfrm>
            <a:off x="566928" y="51122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66928" y="516709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17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TOKENIZACIÓN EN COOPABURRÁ</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21</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Tres datos del caso donde la tokenización resuelve mejor que el cifrado, y uno donde no tiene sentido.</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DATO</a:t>
            </a:r>
          </a:p>
        </p:txBody>
      </p:sp>
      <p:sp>
        <p:nvSpPr>
          <p:cNvPr id="12" name="TextBox 11"/>
          <p:cNvSpPr txBox="1"/>
          <p:nvPr/>
        </p:nvSpPr>
        <p:spPr>
          <a:xfrm>
            <a:off x="4325660" y="2185415"/>
            <a:ext cx="326248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¿QUIÉN LO NECESITA EN CLARO?</a:t>
            </a:r>
          </a:p>
        </p:txBody>
      </p:sp>
      <p:sp>
        <p:nvSpPr>
          <p:cNvPr id="13" name="TextBox 12"/>
          <p:cNvSpPr txBox="1"/>
          <p:nvPr/>
        </p:nvSpPr>
        <p:spPr>
          <a:xfrm>
            <a:off x="7752740" y="2185415"/>
            <a:ext cx="370469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RECOMENDACIÓN</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Número de tarjeta de los asociados</a:t>
            </a:r>
          </a:p>
        </p:txBody>
      </p:sp>
      <p:sp>
        <p:nvSpPr>
          <p:cNvPr id="16" name="TextBox 15"/>
          <p:cNvSpPr txBox="1"/>
          <p:nvPr/>
        </p:nvSpPr>
        <p:spPr>
          <a:xfrm>
            <a:off x="4325660" y="2587751"/>
            <a:ext cx="326248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Solo el autorizador de transacciones</a:t>
            </a:r>
          </a:p>
        </p:txBody>
      </p:sp>
      <p:sp>
        <p:nvSpPr>
          <p:cNvPr id="17" name="TextBox 16"/>
          <p:cNvSpPr txBox="1"/>
          <p:nvPr/>
        </p:nvSpPr>
        <p:spPr>
          <a:xfrm>
            <a:off x="7752740" y="2587751"/>
            <a:ext cx="370469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Tokenizar: saca de la norma de tarjetas a todos los demás sistemas</a:t>
            </a:r>
          </a:p>
        </p:txBody>
      </p:sp>
      <p:sp>
        <p:nvSpPr>
          <p:cNvPr id="18" name="Rectangle 17"/>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27613"/>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Cédula en analítica y en archivos para terceros</a:t>
            </a:r>
          </a:p>
        </p:txBody>
      </p:sp>
      <p:sp>
        <p:nvSpPr>
          <p:cNvPr id="20" name="TextBox 19"/>
          <p:cNvSpPr txBox="1"/>
          <p:nvPr/>
        </p:nvSpPr>
        <p:spPr>
          <a:xfrm>
            <a:off x="4325660" y="3127613"/>
            <a:ext cx="326248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Nadie: basta un identificador estable</a:t>
            </a:r>
          </a:p>
        </p:txBody>
      </p:sp>
      <p:sp>
        <p:nvSpPr>
          <p:cNvPr id="21" name="TextBox 20"/>
          <p:cNvSpPr txBox="1"/>
          <p:nvPr/>
        </p:nvSpPr>
        <p:spPr>
          <a:xfrm>
            <a:off x="7752740" y="3127613"/>
            <a:ext cx="370469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Tokenizar. Resumirla no sirve: se revierte, como en la sesión 3</a:t>
            </a:r>
          </a:p>
        </p:txBody>
      </p:sp>
      <p:sp>
        <p:nvSpPr>
          <p:cNvPr id="22" name="Rectangle 21"/>
          <p:cNvSpPr/>
          <p:nvPr/>
        </p:nvSpPr>
        <p:spPr>
          <a:xfrm>
            <a:off x="566928" y="35760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7475"/>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Cédula en el core</a:t>
            </a:r>
          </a:p>
        </p:txBody>
      </p:sp>
      <p:sp>
        <p:nvSpPr>
          <p:cNvPr id="24" name="TextBox 23"/>
          <p:cNvSpPr txBox="1"/>
          <p:nvPr/>
        </p:nvSpPr>
        <p:spPr>
          <a:xfrm>
            <a:off x="4325660" y="3667475"/>
            <a:ext cx="326248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Varios procesos, todos los días</a:t>
            </a:r>
          </a:p>
        </p:txBody>
      </p:sp>
      <p:sp>
        <p:nvSpPr>
          <p:cNvPr id="25" name="TextBox 24"/>
          <p:cNvSpPr txBox="1"/>
          <p:nvPr/>
        </p:nvSpPr>
        <p:spPr>
          <a:xfrm>
            <a:off x="7752740" y="3667475"/>
            <a:ext cx="370469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de campo con índice ciego, como en la sesión 2</a:t>
            </a:r>
          </a:p>
        </p:txBody>
      </p:sp>
      <p:sp>
        <p:nvSpPr>
          <p:cNvPr id="26" name="Rectangle 25"/>
          <p:cNvSpPr/>
          <p:nvPr/>
        </p:nvSpPr>
        <p:spPr>
          <a:xfrm>
            <a:off x="566928" y="41158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207337"/>
            <a:ext cx="359414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Saldo</a:t>
            </a:r>
          </a:p>
        </p:txBody>
      </p:sp>
      <p:sp>
        <p:nvSpPr>
          <p:cNvPr id="28" name="TextBox 27"/>
          <p:cNvSpPr txBox="1"/>
          <p:nvPr/>
        </p:nvSpPr>
        <p:spPr>
          <a:xfrm>
            <a:off x="4325660" y="4207337"/>
            <a:ext cx="3262487"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operación completa, todo el tiempo</a:t>
            </a:r>
          </a:p>
        </p:txBody>
      </p:sp>
      <p:sp>
        <p:nvSpPr>
          <p:cNvPr id="29" name="TextBox 28"/>
          <p:cNvSpPr txBox="1"/>
          <p:nvPr/>
        </p:nvSpPr>
        <p:spPr>
          <a:xfrm>
            <a:off x="7752740" y="4207337"/>
            <a:ext cx="370469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Cifrado de campo y control de acceso; tokenizarlo no tiene sentido</a:t>
            </a:r>
          </a:p>
        </p:txBody>
      </p:sp>
      <p:sp>
        <p:nvSpPr>
          <p:cNvPr id="30" name="Rectangle 29"/>
          <p:cNvSpPr/>
          <p:nvPr/>
        </p:nvSpPr>
        <p:spPr>
          <a:xfrm>
            <a:off x="566928" y="465575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71062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012375"/>
            <a:ext cx="45720" cy="71323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03066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ARGUMENTO ANTE EL COMITÉ</a:t>
            </a:r>
          </a:p>
        </p:txBody>
      </p:sp>
      <p:sp>
        <p:nvSpPr>
          <p:cNvPr id="34" name="TextBox 33"/>
          <p:cNvSpPr txBox="1"/>
          <p:nvPr/>
        </p:nvSpPr>
        <p:spPr>
          <a:xfrm>
            <a:off x="804672" y="5268407"/>
            <a:ext cx="10780776" cy="43891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Tokenizar la tarjeta </a:t>
            </a:r>
            <a:r>
              <a:rPr sz="1150" b="1">
                <a:solidFill>
                  <a:srgbClr val="2A2A2A"/>
                </a:solidFill>
                <a:latin typeface="Arial"/>
              </a:rPr>
              <a:t>reduce el número de sistemas que audita la norma de tarjetas</a:t>
            </a:r>
            <a:r>
              <a:rPr sz="1150" b="0">
                <a:solidFill>
                  <a:srgbClr val="2A2A2A"/>
                </a:solidFill>
                <a:latin typeface="Arial"/>
              </a:rPr>
              <a:t>, y con eso su costo anual. Es de las pocas medidas de seguridad que se pueden presentar como ahorro.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18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LA LLAVE DEL RESPALDO, VISTA DESDE LA GESTIÓN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hallazgo H4 lo diagnosticaron en la sesión 2. Ahora ya se puede decir dónde debería estar esa llave y por qué, que es lo que el informe necesita.</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POR QUÉ ESTÁ DONDE ESTÁ</a:t>
            </a:r>
          </a:p>
        </p:txBody>
      </p:sp>
      <p:sp>
        <p:nvSpPr>
          <p:cNvPr id="11" name="TextBox 10"/>
          <p:cNvSpPr txBox="1"/>
          <p:nvPr/>
        </p:nvSpPr>
        <p:spPr>
          <a:xfrm>
            <a:off x="566928" y="2578607"/>
            <a:ext cx="5253228" cy="17373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Porque el guion de respaldo debe ejecutarse solo, de madrugada, sin intervención humana.</a:t>
            </a:r>
          </a:p>
          <a:p>
            <a:pPr algn="l">
              <a:lnSpc>
                <a:spcPct val="128000"/>
              </a:lnSpc>
              <a:spcAft>
                <a:spcPts val="700"/>
              </a:spcAft>
            </a:pPr>
            <a:r>
              <a:rPr sz="1150" b="0">
                <a:solidFill>
                  <a:srgbClr val="000000"/>
                </a:solidFill>
                <a:latin typeface="Arial"/>
              </a:rPr>
              <a:t>Es una necesidad operativa real, y por eso la solución no puede ser simplemente quitar el archivo.</a:t>
            </a:r>
          </a:p>
          <a:p>
            <a:pPr algn="l">
              <a:lnSpc>
                <a:spcPct val="128000"/>
              </a:lnSpc>
              <a:spcAft>
                <a:spcPts val="700"/>
              </a:spcAft>
            </a:pPr>
            <a:r>
              <a:rPr sz="1150" b="0">
                <a:solidFill>
                  <a:srgbClr val="000000"/>
                </a:solidFill>
                <a:latin typeface="Arial"/>
              </a:rPr>
              <a:t>Quien lo diseñó no fue negligente: resolvió el problema que tenía delante sin el marco que ustedes ya tienen.</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DÓNDE DEBERÍA ESTAR</a:t>
            </a:r>
          </a:p>
        </p:txBody>
      </p:sp>
      <p:sp>
        <p:nvSpPr>
          <p:cNvPr id="13" name="TextBox 12"/>
          <p:cNvSpPr txBox="1"/>
          <p:nvPr/>
        </p:nvSpPr>
        <p:spPr>
          <a:xfrm>
            <a:off x="6368796" y="2578607"/>
            <a:ext cx="5253228" cy="17373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En un servicio de gestión de llaves, al que el proceso de respaldo se autentica </a:t>
            </a:r>
            <a:r>
              <a:rPr sz="1150" b="1">
                <a:solidFill>
                  <a:srgbClr val="000000"/>
                </a:solidFill>
                <a:latin typeface="Arial"/>
              </a:rPr>
              <a:t>como proceso</a:t>
            </a:r>
            <a:r>
              <a:rPr sz="1150" b="0">
                <a:solidFill>
                  <a:srgbClr val="000000"/>
                </a:solidFill>
                <a:latin typeface="Arial"/>
              </a:rPr>
              <a:t>, con permiso solo para cifrar.</a:t>
            </a:r>
          </a:p>
          <a:p>
            <a:pPr algn="l">
              <a:lnSpc>
                <a:spcPct val="128000"/>
              </a:lnSpc>
              <a:spcAft>
                <a:spcPts val="700"/>
              </a:spcAft>
            </a:pPr>
            <a:r>
              <a:rPr sz="1150" b="0">
                <a:solidFill>
                  <a:srgbClr val="000000"/>
                </a:solidFill>
                <a:latin typeface="Arial"/>
              </a:rPr>
              <a:t>Y con una llave distinta para descifrar, cuyo uso exija aprobación de una persona y quede registrado.</a:t>
            </a:r>
          </a:p>
          <a:p>
            <a:pPr algn="l">
              <a:lnSpc>
                <a:spcPct val="128000"/>
              </a:lnSpc>
              <a:spcAft>
                <a:spcPts val="700"/>
              </a:spcAft>
            </a:pPr>
            <a:r>
              <a:rPr sz="1150" b="0">
                <a:solidFill>
                  <a:srgbClr val="000000"/>
                </a:solidFill>
                <a:latin typeface="Arial"/>
              </a:rPr>
              <a:t>Así, quien tenga el archivo de respaldo no puede leerlo, y quien pueda leerlo no tiene el archivo. Eso es separación de funciones.</a:t>
            </a:r>
          </a:p>
        </p:txBody>
      </p:sp>
      <p:sp>
        <p:nvSpPr>
          <p:cNvPr id="14" name="Rectangle 13"/>
          <p:cNvSpPr/>
          <p:nvPr/>
        </p:nvSpPr>
        <p:spPr>
          <a:xfrm>
            <a:off x="6085332" y="2304287"/>
            <a:ext cx="9144" cy="2011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19  INCIDENTE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QUÉ SE HACE CUANDO UNA LLAVE SE COMPROMETE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23</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Rotar por calendario es rutina. Rotar por incidente es otra cosa, y conviene tener el procedimiento escrito antes de necesitarlo.</a:t>
            </a:r>
          </a:p>
        </p:txBody>
      </p:sp>
      <p:sp>
        <p:nvSpPr>
          <p:cNvPr id="10" name="TextBox 9"/>
          <p:cNvSpPr txBox="1"/>
          <p:nvPr/>
        </p:nvSpPr>
        <p:spPr>
          <a:xfrm>
            <a:off x="566928" y="211226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13055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Declarar, revocar y reemplazar</a:t>
            </a:r>
          </a:p>
        </p:txBody>
      </p:sp>
      <p:sp>
        <p:nvSpPr>
          <p:cNvPr id="12" name="TextBox 11"/>
          <p:cNvSpPr txBox="1"/>
          <p:nvPr/>
        </p:nvSpPr>
        <p:spPr>
          <a:xfrm>
            <a:off x="1280160" y="236829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En ese orden y sin improvisar. Revocar el certificado asociado, emitir la llave nueva y distribuirla por el procedimiento previsto.</a:t>
            </a:r>
          </a:p>
        </p:txBody>
      </p:sp>
      <p:sp>
        <p:nvSpPr>
          <p:cNvPr id="13" name="TextBox 12"/>
          <p:cNvSpPr txBox="1"/>
          <p:nvPr/>
        </p:nvSpPr>
        <p:spPr>
          <a:xfrm>
            <a:off x="566928" y="2880359"/>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2898647"/>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Determinar el alcance: qué protegió esa llave y durante cuánto tiempo</a:t>
            </a:r>
          </a:p>
        </p:txBody>
      </p:sp>
      <p:sp>
        <p:nvSpPr>
          <p:cNvPr id="15" name="TextBox 14"/>
          <p:cNvSpPr txBox="1"/>
          <p:nvPr/>
        </p:nvSpPr>
        <p:spPr>
          <a:xfrm>
            <a:off x="1280160" y="3136391"/>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Sin inventario este paso es imposible, y es el que decide todo lo demás. Es la razón práctica por la que H8 va primero.</a:t>
            </a:r>
          </a:p>
        </p:txBody>
      </p:sp>
      <p:sp>
        <p:nvSpPr>
          <p:cNvPr id="16" name="TextBox 15"/>
          <p:cNvSpPr txBox="1"/>
          <p:nvPr/>
        </p:nvSpPr>
        <p:spPr>
          <a:xfrm>
            <a:off x="566928" y="3648455"/>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66674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Reclasificar lo protegido</a:t>
            </a:r>
          </a:p>
        </p:txBody>
      </p:sp>
      <p:sp>
        <p:nvSpPr>
          <p:cNvPr id="18" name="TextBox 17"/>
          <p:cNvSpPr txBox="1"/>
          <p:nvPr/>
        </p:nvSpPr>
        <p:spPr>
          <a:xfrm>
            <a:off x="1280160" y="3904487"/>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Lo cifrado con esa llave se considera expuesto. Lo firmado en el periodo se considera dudoso, salvo que haya sello de tiempo que acote la ventana.</a:t>
            </a:r>
          </a:p>
        </p:txBody>
      </p:sp>
      <p:sp>
        <p:nvSpPr>
          <p:cNvPr id="19" name="TextBox 18"/>
          <p:cNvSpPr txBox="1"/>
          <p:nvPr/>
        </p:nvSpPr>
        <p:spPr>
          <a:xfrm>
            <a:off x="566928" y="4416552"/>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434840"/>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Preservar evidencia y notificar</a:t>
            </a:r>
          </a:p>
        </p:txBody>
      </p:sp>
      <p:sp>
        <p:nvSpPr>
          <p:cNvPr id="21" name="TextBox 20"/>
          <p:cNvSpPr txBox="1"/>
          <p:nvPr/>
        </p:nvSpPr>
        <p:spPr>
          <a:xfrm>
            <a:off x="1280160" y="467258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equipo comprometido no se formatea: se preserva. Y hay obligaciones de notificación a titulares y al supervisor que no las decide el área técnica.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03</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LABORATORIO 6</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Treinta minutos · Repartir un secreto, rotar sin recifrar y tokenizar, en Python</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20  LABORATORIO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TRES EJERCICIOS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25</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1 · Repartir la llave de los cajeros entre cinco custodios</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Con un umbral de tres, repartan una llave de 128 bits, reconstrúyanla con tres partes y comprueben que con dos no se obtiene nada.</a:t>
            </a:r>
          </a:p>
        </p:txBody>
      </p:sp>
      <p:sp>
        <p:nvSpPr>
          <p:cNvPr id="12" name="TextBox 11"/>
          <p:cNvSpPr txBox="1"/>
          <p:nvPr/>
        </p:nvSpPr>
        <p:spPr>
          <a:xfrm>
            <a:off x="566928" y="2441448"/>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459736"/>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2 · Rotar la llave maestra sin tocar los datos</a:t>
            </a:r>
          </a:p>
        </p:txBody>
      </p:sp>
      <p:sp>
        <p:nvSpPr>
          <p:cNvPr id="14" name="TextBox 13"/>
          <p:cNvSpPr txBox="1"/>
          <p:nvPr/>
        </p:nvSpPr>
        <p:spPr>
          <a:xfrm>
            <a:off x="1280160" y="269748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Cifren mil registros en sobre, roten la llave que cifra las llaves y verifiquen que todos siguen legibles. Midan cuánto tardó frente a recifrarlo todo.</a:t>
            </a:r>
          </a:p>
        </p:txBody>
      </p:sp>
      <p:sp>
        <p:nvSpPr>
          <p:cNvPr id="15" name="TextBox 14"/>
          <p:cNvSpPr txBox="1"/>
          <p:nvPr/>
        </p:nvSpPr>
        <p:spPr>
          <a:xfrm>
            <a:off x="566928" y="32826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300984"/>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Ejercicio 3 · Tokenizar las cédulas de un archivo de analítica</a:t>
            </a:r>
          </a:p>
        </p:txBody>
      </p:sp>
      <p:sp>
        <p:nvSpPr>
          <p:cNvPr id="17" name="TextBox 16"/>
          <p:cNvSpPr txBox="1"/>
          <p:nvPr/>
        </p:nvSpPr>
        <p:spPr>
          <a:xfrm>
            <a:off x="1280160" y="35387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Reemplacen cada cédula por un token aleatorio, guarden la correspondencia aparte y expliquen qué puede hacer un tercero con el archivo y qué no.</a:t>
            </a:r>
          </a:p>
        </p:txBody>
      </p:sp>
      <p:sp>
        <p:nvSpPr>
          <p:cNvPr id="18" name="Rectangle 17"/>
          <p:cNvSpPr/>
          <p:nvPr/>
        </p:nvSpPr>
        <p:spPr>
          <a:xfrm>
            <a:off x="566928" y="4306824"/>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325112"/>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SE ENTREGA</a:t>
            </a:r>
          </a:p>
        </p:txBody>
      </p:sp>
      <p:sp>
        <p:nvSpPr>
          <p:cNvPr id="20" name="TextBox 19"/>
          <p:cNvSpPr txBox="1"/>
          <p:nvPr/>
        </p:nvSpPr>
        <p:spPr>
          <a:xfrm>
            <a:off x="804672" y="4562856"/>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Una página por equipo con los tres resultados y, sobre todo, </a:t>
            </a:r>
            <a:r>
              <a:rPr sz="1150" b="1">
                <a:solidFill>
                  <a:srgbClr val="2A2A2A"/>
                </a:solidFill>
                <a:latin typeface="Arial"/>
              </a:rPr>
              <a:t>la respuesta del ejercicio 3</a:t>
            </a:r>
            <a:r>
              <a:rPr sz="1150" b="0">
                <a:solidFill>
                  <a:srgbClr val="2A2A2A"/>
                </a:solidFill>
                <a:latin typeface="Arial"/>
              </a:rPr>
              <a:t>: va directo a la recomendación de la entrega final.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21  PYTHON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LABORATORIO 6 · EL EJERCICIO EN PYTHON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26</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Los tres ejercicios con la biblioteca estándar, cryptography y pycryptodome, que trae una implementación del reparto de Shamir.</a:t>
            </a:r>
          </a:p>
        </p:txBody>
      </p:sp>
      <p:sp>
        <p:nvSpPr>
          <p:cNvPr id="10" name="Rectangle 9"/>
          <p:cNvSpPr/>
          <p:nvPr/>
        </p:nvSpPr>
        <p:spPr>
          <a:xfrm>
            <a:off x="566928" y="2066543"/>
            <a:ext cx="11055096" cy="267736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157984"/>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LABORATORIO 6 · PYTHON 3 + CRYPTOGRAPHY + PYCRYPTODOME</a:t>
            </a:r>
          </a:p>
        </p:txBody>
      </p:sp>
      <p:sp>
        <p:nvSpPr>
          <p:cNvPr id="12" name="TextBox 11"/>
          <p:cNvSpPr txBox="1"/>
          <p:nvPr/>
        </p:nvSpPr>
        <p:spPr>
          <a:xfrm>
            <a:off x="768096" y="2395727"/>
            <a:ext cx="10652760" cy="225673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pip install cryptography pycryptodome</a:t>
            </a:r>
          </a:p>
          <a:p>
            <a:pPr algn="l">
              <a:lnSpc>
                <a:spcPct val="130000"/>
              </a:lnSpc>
              <a:spcAft>
                <a:spcPts val="0"/>
              </a:spcAft>
            </a:pPr>
            <a:r>
              <a:rPr sz="950" b="0">
                <a:solidFill>
                  <a:srgbClr val="000000"/>
                </a:solidFill>
                <a:latin typeface="Consolas"/>
              </a:rPr>
              <a:t>import os, secrets</a:t>
            </a:r>
          </a:p>
          <a:p>
            <a:pPr algn="l">
              <a:lnSpc>
                <a:spcPct val="130000"/>
              </a:lnSpc>
              <a:spcAft>
                <a:spcPts val="0"/>
              </a:spcAft>
            </a:pPr>
            <a:r>
              <a:rPr sz="950" b="0">
                <a:solidFill>
                  <a:srgbClr val="000000"/>
                </a:solidFill>
                <a:latin typeface="Consolas"/>
              </a:rPr>
              <a:t>from Crypto.Protocol.SecretSharing import Shamir</a:t>
            </a:r>
          </a:p>
          <a:p>
            <a:pPr algn="l">
              <a:lnSpc>
                <a:spcPct val="130000"/>
              </a:lnSpc>
              <a:spcAft>
                <a:spcPts val="0"/>
              </a:spcAft>
            </a:pPr>
            <a:r>
              <a:rPr sz="950" b="0">
                <a:solidFill>
                  <a:srgbClr val="000000"/>
                </a:solidFill>
                <a:latin typeface="Consolas"/>
              </a:rPr>
              <a:t>from cryptography.hazmat.primitives.keywrap import aes_key_wrap, aes_key_unwrap</a:t>
            </a:r>
          </a:p>
          <a:p>
            <a:pPr algn="l">
              <a:lnSpc>
                <a:spcPct val="130000"/>
              </a:lnSpc>
              <a:spcAft>
                <a:spcPts val="0"/>
              </a:spcAft>
            </a:pPr>
            <a:r>
              <a:rPr sz="950" b="0">
                <a:solidFill>
                  <a:srgbClr val="000000"/>
                </a:solidFill>
                <a:latin typeface="Consolas"/>
              </a:rPr>
              <a:t>llave_cajeros = os.urandom(16)</a:t>
            </a:r>
          </a:p>
          <a:p>
            <a:pPr algn="l">
              <a:lnSpc>
                <a:spcPct val="130000"/>
              </a:lnSpc>
              <a:spcAft>
                <a:spcPts val="0"/>
              </a:spcAft>
            </a:pPr>
            <a:r>
              <a:rPr sz="950" b="0">
                <a:solidFill>
                  <a:srgbClr val="000000"/>
                </a:solidFill>
                <a:latin typeface="Consolas"/>
              </a:rPr>
              <a:t>partes = Shamir.split(3, 5, llave_cajeros)              # cinco custodios, umbral de tres</a:t>
            </a:r>
          </a:p>
          <a:p>
            <a:pPr algn="l">
              <a:lnSpc>
                <a:spcPct val="130000"/>
              </a:lnSpc>
              <a:spcAft>
                <a:spcPts val="0"/>
              </a:spcAft>
            </a:pPr>
            <a:r>
              <a:rPr sz="950" b="0">
                <a:solidFill>
                  <a:srgbClr val="000000"/>
                </a:solidFill>
                <a:latin typeface="Consolas"/>
              </a:rPr>
              <a:t>assert Shamir.combine(partes[:3]) == llave_cajeros        # tres partes bastan</a:t>
            </a:r>
          </a:p>
          <a:p>
            <a:pPr algn="l">
              <a:lnSpc>
                <a:spcPct val="130000"/>
              </a:lnSpc>
              <a:spcAft>
                <a:spcPts val="0"/>
              </a:spcAft>
            </a:pPr>
            <a:r>
              <a:rPr sz="950" b="0">
                <a:solidFill>
                  <a:srgbClr val="000000"/>
                </a:solidFill>
                <a:latin typeface="Consolas"/>
              </a:rPr>
              <a:t>kek_vieja, kek_nueva = os.urandom(32), os.urandom(32)</a:t>
            </a:r>
          </a:p>
          <a:p>
            <a:pPr algn="l">
              <a:lnSpc>
                <a:spcPct val="130000"/>
              </a:lnSpc>
              <a:spcAft>
                <a:spcPts val="0"/>
              </a:spcAft>
            </a:pPr>
            <a:r>
              <a:rPr sz="950" b="0">
                <a:solidFill>
                  <a:srgbClr val="000000"/>
                </a:solidFill>
                <a:latin typeface="Consolas"/>
              </a:rPr>
              <a:t>dek_envuelta = aes_key_wrap(kek_vieja, os.urandom(32))</a:t>
            </a:r>
          </a:p>
          <a:p>
            <a:pPr algn="l">
              <a:lnSpc>
                <a:spcPct val="130000"/>
              </a:lnSpc>
              <a:spcAft>
                <a:spcPts val="0"/>
              </a:spcAft>
            </a:pPr>
            <a:r>
              <a:rPr sz="950" b="0">
                <a:solidFill>
                  <a:srgbClr val="000000"/>
                </a:solidFill>
                <a:latin typeface="Consolas"/>
              </a:rPr>
              <a:t>dek_rotada = aes_key_wrap(kek_nueva, aes_key_unwrap(kek_vieja, dek_envuelta))</a:t>
            </a:r>
          </a:p>
          <a:p>
            <a:pPr algn="l">
              <a:lnSpc>
                <a:spcPct val="130000"/>
              </a:lnSpc>
              <a:spcAft>
                <a:spcPts val="0"/>
              </a:spcAft>
            </a:pPr>
            <a:r>
              <a:rPr sz="950" b="0">
                <a:solidFill>
                  <a:srgbClr val="000000"/>
                </a:solidFill>
                <a:latin typeface="Consolas"/>
              </a:rPr>
              <a:t>token = secrets.token_hex(8)                             # sustituto sin relación con la cédula</a:t>
            </a:r>
          </a:p>
        </p:txBody>
      </p:sp>
      <p:sp>
        <p:nvSpPr>
          <p:cNvPr id="13" name="Rectangle 12"/>
          <p:cNvSpPr/>
          <p:nvPr/>
        </p:nvSpPr>
        <p:spPr>
          <a:xfrm>
            <a:off x="566928" y="4999939"/>
            <a:ext cx="45720" cy="65836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01822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PREGUNTA DEL EJERCICIO 2</a:t>
            </a:r>
          </a:p>
        </p:txBody>
      </p:sp>
      <p:sp>
        <p:nvSpPr>
          <p:cNvPr id="15" name="TextBox 14"/>
          <p:cNvSpPr txBox="1"/>
          <p:nvPr/>
        </p:nvSpPr>
        <p:spPr>
          <a:xfrm>
            <a:off x="804672" y="5255971"/>
            <a:ext cx="10780776" cy="38404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¿Qué cambió en la base al rotar la llave maestra? Solo las llaves envueltas, de 40 bytes cada una. </a:t>
            </a:r>
            <a:r>
              <a:rPr sz="1150" b="1">
                <a:solidFill>
                  <a:srgbClr val="2A2A2A"/>
                </a:solidFill>
                <a:latin typeface="Arial"/>
              </a:rPr>
              <a:t>Esa es la respuesta a quien diga que rotar llaves es inviable.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04</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VEINTE AÑOS</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Cómo se conserva una prueba electrónica más tiempo del que dura su tecnología</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22  PROBLEMA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FIRMA TAMBIÉN ENVEJECE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Una firma digital perfectamente válida hoy puede ser imposible de verificar en quince años, sin que nadie haya hecho nada malo. Esta es la parte del hallazgo H7 que no se resuelve firmando.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CADUCA</a:t>
            </a:r>
          </a:p>
        </p:txBody>
      </p:sp>
      <p:sp>
        <p:nvSpPr>
          <p:cNvPr id="12" name="TextBox 11"/>
          <p:cNvSpPr txBox="1"/>
          <p:nvPr/>
        </p:nvSpPr>
        <p:spPr>
          <a:xfrm>
            <a:off x="3883456"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a:t>
            </a:r>
          </a:p>
        </p:txBody>
      </p:sp>
      <p:sp>
        <p:nvSpPr>
          <p:cNvPr id="13" name="TextBox 12"/>
          <p:cNvSpPr txBox="1"/>
          <p:nvPr/>
        </p:nvSpPr>
        <p:spPr>
          <a:xfrm>
            <a:off x="8084393"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PASA SI NO SE PREVÉ</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certificado del firmante</a:t>
            </a:r>
          </a:p>
        </p:txBody>
      </p:sp>
      <p:sp>
        <p:nvSpPr>
          <p:cNvPr id="16" name="TextBox 15"/>
          <p:cNvSpPr txBox="1"/>
          <p:nvPr/>
        </p:nvSpPr>
        <p:spPr>
          <a:xfrm>
            <a:off x="3883456" y="2825495"/>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Vence en pocos años, o se revoca antes</a:t>
            </a:r>
          </a:p>
        </p:txBody>
      </p:sp>
      <p:sp>
        <p:nvSpPr>
          <p:cNvPr id="17" name="TextBox 16"/>
          <p:cNvSpPr txBox="1"/>
          <p:nvPr/>
        </p:nvSpPr>
        <p:spPr>
          <a:xfrm>
            <a:off x="8084393" y="2825495"/>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se puede comprobar que la llave era suya en el momento de firmar</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El algoritmo</a:t>
            </a:r>
          </a:p>
        </p:txBody>
      </p:sp>
      <p:sp>
        <p:nvSpPr>
          <p:cNvPr id="20" name="TextBox 19"/>
          <p:cNvSpPr txBox="1"/>
          <p:nvPr/>
        </p:nvSpPr>
        <p:spPr>
          <a:xfrm>
            <a:off x="3883456" y="3365357"/>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SHA-1 era aceptable en 2005 y dejó de serlo. RSA 2048 tiene fecha</a:t>
            </a:r>
          </a:p>
        </p:txBody>
      </p:sp>
      <p:sp>
        <p:nvSpPr>
          <p:cNvPr id="21" name="TextBox 20"/>
          <p:cNvSpPr txBox="1"/>
          <p:nvPr/>
        </p:nvSpPr>
        <p:spPr>
          <a:xfrm>
            <a:off x="8084393" y="3365357"/>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firma deja de constituir prueba, aunque el archivo esté intacto</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información de verificación</a:t>
            </a:r>
          </a:p>
        </p:txBody>
      </p:sp>
      <p:sp>
        <p:nvSpPr>
          <p:cNvPr id="24" name="TextBox 23"/>
          <p:cNvSpPr txBox="1"/>
          <p:nvPr/>
        </p:nvSpPr>
        <p:spPr>
          <a:xfrm>
            <a:off x="3883456" y="3905219"/>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Las listas de revocación y las respuestas en línea no se guardan para siempre</a:t>
            </a:r>
          </a:p>
        </p:txBody>
      </p:sp>
      <p:sp>
        <p:nvSpPr>
          <p:cNvPr id="25" name="TextBox 24"/>
          <p:cNvSpPr txBox="1"/>
          <p:nvPr/>
        </p:nvSpPr>
        <p:spPr>
          <a:xfrm>
            <a:off x="8084393" y="3905219"/>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hay forma de reconstruir el estado del certificado en aquella fecha</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315193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formato y el soporte</a:t>
            </a:r>
          </a:p>
        </p:txBody>
      </p:sp>
      <p:sp>
        <p:nvSpPr>
          <p:cNvPr id="28" name="TextBox 27"/>
          <p:cNvSpPr txBox="1"/>
          <p:nvPr/>
        </p:nvSpPr>
        <p:spPr>
          <a:xfrm>
            <a:off x="3883456" y="4445081"/>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Veinte años son varias generaciones de software y de medios</a:t>
            </a:r>
          </a:p>
        </p:txBody>
      </p:sp>
      <p:sp>
        <p:nvSpPr>
          <p:cNvPr id="29" name="TextBox 28"/>
          <p:cNvSpPr txBox="1"/>
          <p:nvPr/>
        </p:nvSpPr>
        <p:spPr>
          <a:xfrm>
            <a:off x="8084393" y="4445081"/>
            <a:ext cx="337303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archivo existe y nadie puede abrirlo</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23  SOLUCIÓN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SELLO DE TIEMPO: QUÉ ES Y QUÉ PRUEBA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29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 la pieza que quedó pendiente desde la sesión 4, y la que convierte una firma en una prueba fechada por alguien distinto de la parte interesada.</a:t>
            </a:r>
          </a:p>
        </p:txBody>
      </p:sp>
      <p:sp>
        <p:nvSpPr>
          <p:cNvPr id="10" name="Rectangle 9"/>
          <p:cNvSpPr/>
          <p:nvPr/>
        </p:nvSpPr>
        <p:spPr>
          <a:xfrm>
            <a:off x="566928" y="2304287"/>
            <a:ext cx="11055096" cy="22603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SELLADO CRONOLÓGICO</a:t>
            </a:r>
          </a:p>
        </p:txBody>
      </p:sp>
      <p:sp>
        <p:nvSpPr>
          <p:cNvPr id="12" name="TextBox 11"/>
          <p:cNvSpPr txBox="1"/>
          <p:nvPr/>
        </p:nvSpPr>
        <p:spPr>
          <a:xfrm>
            <a:off x="768096" y="2633471"/>
            <a:ext cx="10652760" cy="1839772"/>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1. Se calcula el resumen del documento ya firmado.</a:t>
            </a:r>
          </a:p>
          <a:p>
            <a:pPr algn="l">
              <a:lnSpc>
                <a:spcPct val="130000"/>
              </a:lnSpc>
              <a:spcAft>
                <a:spcPts val="0"/>
              </a:spcAft>
            </a:pPr>
            <a:r>
              <a:rPr sz="950" b="0">
                <a:solidFill>
                  <a:srgbClr val="000000"/>
                </a:solidFill>
                <a:latin typeface="Consolas"/>
              </a:rPr>
              <a:t>  2. Se envía ese resumen — no el documento — a una autoridad de sellado.</a:t>
            </a:r>
          </a:p>
          <a:p>
            <a:pPr algn="l">
              <a:lnSpc>
                <a:spcPct val="130000"/>
              </a:lnSpc>
              <a:spcAft>
                <a:spcPts val="0"/>
              </a:spcAft>
            </a:pPr>
            <a:r>
              <a:rPr sz="950" b="0">
                <a:solidFill>
                  <a:srgbClr val="000000"/>
                </a:solidFill>
                <a:latin typeface="Consolas"/>
              </a:rPr>
              <a:t>  3. La autoridad le añade su fuente de tiempo y firma el conjunto.</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Resultado: una afirmación firmada por un tercero que dice</a:t>
            </a:r>
          </a:p>
          <a:p>
            <a:pPr algn="l">
              <a:lnSpc>
                <a:spcPct val="130000"/>
              </a:lnSpc>
              <a:spcAft>
                <a:spcPts val="0"/>
              </a:spcAft>
            </a:pPr>
            <a:r>
              <a:rPr sz="950" b="0">
                <a:solidFill>
                  <a:srgbClr val="000000"/>
                </a:solidFill>
                <a:latin typeface="Consolas"/>
              </a:rPr>
              <a:t>             "este documento existía exactamente así, en este instante".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La autoridad nunca ve el contenido: solo el resumen. La confidencialidad</a:t>
            </a:r>
          </a:p>
          <a:p>
            <a:pPr algn="l">
              <a:lnSpc>
                <a:spcPct val="130000"/>
              </a:lnSpc>
              <a:spcAft>
                <a:spcPts val="0"/>
              </a:spcAft>
            </a:pPr>
            <a:r>
              <a:rPr sz="950" b="0">
                <a:solidFill>
                  <a:srgbClr val="000000"/>
                </a:solidFill>
                <a:latin typeface="Consolas"/>
              </a:rPr>
              <a:t>del expediente se conserva intacta.</a:t>
            </a:r>
          </a:p>
        </p:txBody>
      </p:sp>
      <p:sp>
        <p:nvSpPr>
          <p:cNvPr id="13" name="Rectangle 12"/>
          <p:cNvSpPr/>
          <p:nvPr/>
        </p:nvSpPr>
        <p:spPr>
          <a:xfrm>
            <a:off x="566928" y="4820716"/>
            <a:ext cx="45720" cy="74980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839004"/>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ESTO RESUELVE EN EL CASO</a:t>
            </a:r>
          </a:p>
        </p:txBody>
      </p:sp>
      <p:sp>
        <p:nvSpPr>
          <p:cNvPr id="15" name="TextBox 14"/>
          <p:cNvSpPr txBox="1"/>
          <p:nvPr/>
        </p:nvSpPr>
        <p:spPr>
          <a:xfrm>
            <a:off x="804672" y="5076748"/>
            <a:ext cx="10780776" cy="47548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Sin sello, la fecha de la hipoteca la pone el reloj de un servidor de la cooperativa, que es parte interesada. </a:t>
            </a:r>
            <a:r>
              <a:rPr sz="1150" b="1">
                <a:solidFill>
                  <a:srgbClr val="2A2A2A"/>
                </a:solidFill>
                <a:latin typeface="Arial"/>
              </a:rPr>
              <a:t>Con sello, la fecha la certifica un tercero</a:t>
            </a:r>
            <a:r>
              <a:rPr sz="1150" b="0">
                <a:solidFill>
                  <a:srgbClr val="2A2A2A"/>
                </a:solidFill>
                <a:latin typeface="Arial"/>
              </a:rPr>
              <a:t>, y además queda probado que la firma se hizo cuando el certificado todavía estaba vigente.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24  CONSERVACIÓN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CÓMO SE CONSERVA UNA FIRMA VEINTE AÑOS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Existen formatos de firma diseñados exactamente para esto. La idea es sencilla y conviene explicarla así en el informe, sin nombres de norma.</a:t>
            </a:r>
          </a:p>
        </p:txBody>
      </p:sp>
      <p:sp>
        <p:nvSpPr>
          <p:cNvPr id="10" name="TextBox 9"/>
          <p:cNvSpPr txBox="1"/>
          <p:nvPr/>
        </p:nvSpPr>
        <p:spPr>
          <a:xfrm>
            <a:off x="566928" y="235000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6829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Se guarda todo lo necesario para verificar, junto con el documento</a:t>
            </a:r>
          </a:p>
        </p:txBody>
      </p:sp>
      <p:sp>
        <p:nvSpPr>
          <p:cNvPr id="12" name="TextBox 11"/>
          <p:cNvSpPr txBox="1"/>
          <p:nvPr/>
        </p:nvSpPr>
        <p:spPr>
          <a:xfrm>
            <a:off x="1280160" y="2606039"/>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La cadena de certificados completa y el estado de revocación de ese día. Así no hay que consultar nada en el futuro.</a:t>
            </a:r>
          </a:p>
        </p:txBody>
      </p:sp>
      <p:sp>
        <p:nvSpPr>
          <p:cNvPr id="13" name="TextBox 12"/>
          <p:cNvSpPr txBox="1"/>
          <p:nvPr/>
        </p:nvSpPr>
        <p:spPr>
          <a:xfrm>
            <a:off x="566928" y="3063239"/>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081527"/>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Se sella el conjunto con un sello de tiempo</a:t>
            </a:r>
          </a:p>
        </p:txBody>
      </p:sp>
      <p:sp>
        <p:nvSpPr>
          <p:cNvPr id="15" name="TextBox 14"/>
          <p:cNvSpPr txBox="1"/>
          <p:nvPr/>
        </p:nvSpPr>
        <p:spPr>
          <a:xfrm>
            <a:off x="1280160" y="331927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sello cubre el documento, la firma y la evidencia de verificación. Congela el estado completo en una fecha.</a:t>
            </a:r>
          </a:p>
        </p:txBody>
      </p:sp>
      <p:sp>
        <p:nvSpPr>
          <p:cNvPr id="16" name="TextBox 15"/>
          <p:cNvSpPr txBox="1"/>
          <p:nvPr/>
        </p:nvSpPr>
        <p:spPr>
          <a:xfrm>
            <a:off x="566928" y="3776471"/>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794759"/>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Antes de que el sello envejezca, se vuelve a sellar por encima</a:t>
            </a:r>
          </a:p>
        </p:txBody>
      </p:sp>
      <p:sp>
        <p:nvSpPr>
          <p:cNvPr id="18" name="TextBox 17"/>
          <p:cNvSpPr txBox="1"/>
          <p:nvPr/>
        </p:nvSpPr>
        <p:spPr>
          <a:xfrm>
            <a:off x="1280160" y="4032503"/>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Con algoritmos vigentes en ese momento. Cada sello nuevo protege a todos los anteriores, como capas.</a:t>
            </a:r>
          </a:p>
        </p:txBody>
      </p:sp>
      <p:sp>
        <p:nvSpPr>
          <p:cNvPr id="19" name="TextBox 18"/>
          <p:cNvSpPr txBox="1"/>
          <p:nvPr/>
        </p:nvSpPr>
        <p:spPr>
          <a:xfrm>
            <a:off x="566928" y="448970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50799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Se repite indefinidamente, cada pocos años</a:t>
            </a:r>
          </a:p>
        </p:txBody>
      </p:sp>
      <p:sp>
        <p:nvSpPr>
          <p:cNvPr id="21" name="TextBox 20"/>
          <p:cNvSpPr txBox="1"/>
          <p:nvPr/>
        </p:nvSpPr>
        <p:spPr>
          <a:xfrm>
            <a:off x="1280160" y="4745736"/>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Mientras se mantenga la cadena de sellos, la firma original sigue siendo verificable aunque su algoritmo ya no se use.</a:t>
            </a:r>
          </a:p>
        </p:txBody>
      </p:sp>
      <p:sp>
        <p:nvSpPr>
          <p:cNvPr id="22" name="Rectangle 21"/>
          <p:cNvSpPr/>
          <p:nvPr/>
        </p:nvSpPr>
        <p:spPr>
          <a:xfrm>
            <a:off x="566928" y="5385816"/>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40410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POR QUÉ ES UN SERVICIO Y NO UNA COMPRA</a:t>
            </a:r>
          </a:p>
        </p:txBody>
      </p:sp>
      <p:sp>
        <p:nvSpPr>
          <p:cNvPr id="24" name="TextBox 23"/>
          <p:cNvSpPr txBox="1"/>
          <p:nvPr/>
        </p:nvSpPr>
        <p:spPr>
          <a:xfrm>
            <a:off x="804672" y="5641848"/>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El resellado es una tarea periódica que alguien tiene que ejecutar durante dos décadas. </a:t>
            </a:r>
            <a:r>
              <a:rPr sz="1150" b="1">
                <a:solidFill>
                  <a:srgbClr val="2A2A2A"/>
                </a:solidFill>
                <a:latin typeface="Arial"/>
              </a:rPr>
              <a:t>Si no hay un responsable y un presupuesto anual, el esquema se rompe solo en el tercer año</a:t>
            </a:r>
            <a:r>
              <a:rPr sz="1150" b="0">
                <a:solidFill>
                  <a:srgbClr val="2A2A2A"/>
                </a:solidFill>
                <a:latin typeface="Arial"/>
              </a:rPr>
              <a:t>, y nadie se entera hasta el día del litigio.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25  NORMA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LOS NIVELES DE FIRMA PARA CONSERVAR: B, T, LT Y LTA</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31</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Los cuatro pasos de la diapositiva anterior tienen nombre en las normas europeas de firma avanzada, que son las que implementan los proveedores y las que hay que exigir en el contrato.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NIVEL</a:t>
            </a:r>
          </a:p>
        </p:txBody>
      </p:sp>
      <p:sp>
        <p:nvSpPr>
          <p:cNvPr id="12" name="TextBox 11"/>
          <p:cNvSpPr txBox="1"/>
          <p:nvPr/>
        </p:nvSpPr>
        <p:spPr>
          <a:xfrm>
            <a:off x="3220151" y="2423159"/>
            <a:ext cx="41468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AGREGA</a:t>
            </a:r>
          </a:p>
        </p:txBody>
      </p:sp>
      <p:sp>
        <p:nvSpPr>
          <p:cNvPr id="13" name="TextBox 12"/>
          <p:cNvSpPr txBox="1"/>
          <p:nvPr/>
        </p:nvSpPr>
        <p:spPr>
          <a:xfrm>
            <a:off x="7531638" y="2423159"/>
            <a:ext cx="392579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RESUELVE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488631"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B · básico</a:t>
            </a:r>
          </a:p>
        </p:txBody>
      </p:sp>
      <p:sp>
        <p:nvSpPr>
          <p:cNvPr id="16" name="TextBox 15"/>
          <p:cNvSpPr txBox="1"/>
          <p:nvPr/>
        </p:nvSpPr>
        <p:spPr>
          <a:xfrm>
            <a:off x="3220151" y="2825495"/>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firma con su certificado</a:t>
            </a:r>
          </a:p>
        </p:txBody>
      </p:sp>
      <p:sp>
        <p:nvSpPr>
          <p:cNvPr id="17" name="TextBox 16"/>
          <p:cNvSpPr txBox="1"/>
          <p:nvPr/>
        </p:nvSpPr>
        <p:spPr>
          <a:xfrm>
            <a:off x="7531638" y="2825495"/>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Integridad y autoría, mientras el certificado esté vigente</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488631"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T · con tiempo</a:t>
            </a:r>
          </a:p>
        </p:txBody>
      </p:sp>
      <p:sp>
        <p:nvSpPr>
          <p:cNvPr id="20" name="TextBox 19"/>
          <p:cNvSpPr txBox="1"/>
          <p:nvPr/>
        </p:nvSpPr>
        <p:spPr>
          <a:xfrm>
            <a:off x="3220151" y="3365357"/>
            <a:ext cx="4146895"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sello de tiempo de un tercero</a:t>
            </a:r>
          </a:p>
        </p:txBody>
      </p:sp>
      <p:sp>
        <p:nvSpPr>
          <p:cNvPr id="21" name="TextBox 20"/>
          <p:cNvSpPr txBox="1"/>
          <p:nvPr/>
        </p:nvSpPr>
        <p:spPr>
          <a:xfrm>
            <a:off x="7531638" y="3365357"/>
            <a:ext cx="3925793"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prueba de cuándo se firmó</a:t>
            </a:r>
          </a:p>
        </p:txBody>
      </p:sp>
      <p:sp>
        <p:nvSpPr>
          <p:cNvPr id="22" name="Rectangle 21"/>
          <p:cNvSpPr/>
          <p:nvPr/>
        </p:nvSpPr>
        <p:spPr>
          <a:xfrm>
            <a:off x="566928" y="37311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822557"/>
            <a:ext cx="2488631"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LT · largo plazo</a:t>
            </a:r>
          </a:p>
        </p:txBody>
      </p:sp>
      <p:sp>
        <p:nvSpPr>
          <p:cNvPr id="24" name="TextBox 23"/>
          <p:cNvSpPr txBox="1"/>
          <p:nvPr/>
        </p:nvSpPr>
        <p:spPr>
          <a:xfrm>
            <a:off x="3220151" y="3822557"/>
            <a:ext cx="4146895"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cadena y el estado de revocación, dentro del documento</a:t>
            </a:r>
          </a:p>
        </p:txBody>
      </p:sp>
      <p:sp>
        <p:nvSpPr>
          <p:cNvPr id="25" name="TextBox 24"/>
          <p:cNvSpPr txBox="1"/>
          <p:nvPr/>
        </p:nvSpPr>
        <p:spPr>
          <a:xfrm>
            <a:off x="7531638" y="3822557"/>
            <a:ext cx="3925793"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Verificar sin depender de servicios que ya no existan</a:t>
            </a:r>
          </a:p>
        </p:txBody>
      </p:sp>
      <p:sp>
        <p:nvSpPr>
          <p:cNvPr id="26" name="Rectangle 25"/>
          <p:cNvSpPr/>
          <p:nvPr/>
        </p:nvSpPr>
        <p:spPr>
          <a:xfrm>
            <a:off x="566928" y="41883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279757"/>
            <a:ext cx="2488631"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LTA · archivo</a:t>
            </a:r>
          </a:p>
        </p:txBody>
      </p:sp>
      <p:sp>
        <p:nvSpPr>
          <p:cNvPr id="28" name="TextBox 27"/>
          <p:cNvSpPr txBox="1"/>
          <p:nvPr/>
        </p:nvSpPr>
        <p:spPr>
          <a:xfrm>
            <a:off x="3220151" y="4279757"/>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Sellos de archivo sucesivos sobre todo lo anterior</a:t>
            </a:r>
          </a:p>
        </p:txBody>
      </p:sp>
      <p:sp>
        <p:nvSpPr>
          <p:cNvPr id="29" name="TextBox 28"/>
          <p:cNvSpPr txBox="1"/>
          <p:nvPr/>
        </p:nvSpPr>
        <p:spPr>
          <a:xfrm>
            <a:off x="7531638" y="4279757"/>
            <a:ext cx="392579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Mantener la prueba cuando el algoritmo original envejezca</a:t>
            </a:r>
          </a:p>
        </p:txBody>
      </p:sp>
      <p:sp>
        <p:nvSpPr>
          <p:cNvPr id="30" name="Rectangle 29"/>
          <p:cNvSpPr/>
          <p:nvPr/>
        </p:nvSpPr>
        <p:spPr>
          <a:xfrm>
            <a:off x="566928" y="47281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7830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084795"/>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103083"/>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QUÉ PEDIR EN EL CONTRATO</a:t>
            </a:r>
          </a:p>
        </p:txBody>
      </p:sp>
      <p:sp>
        <p:nvSpPr>
          <p:cNvPr id="34" name="TextBox 33"/>
          <p:cNvSpPr txBox="1"/>
          <p:nvPr/>
        </p:nvSpPr>
        <p:spPr>
          <a:xfrm>
            <a:off x="804672" y="5340827"/>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Para los pagarés de Coopaburrá: firma en PDF con nivel LTA, que en la norma se llama PAdES, </a:t>
            </a:r>
            <a:r>
              <a:rPr sz="1150" b="1">
                <a:solidFill>
                  <a:srgbClr val="2A2A2A"/>
                </a:solidFill>
                <a:latin typeface="Arial"/>
              </a:rPr>
              <a:t>y el servicio de resellado periódico incluido</a:t>
            </a:r>
            <a:r>
              <a:rPr sz="1150" b="0">
                <a:solidFill>
                  <a:srgbClr val="2A2A2A"/>
                </a:solidFill>
                <a:latin typeface="Arial"/>
              </a:rPr>
              <a:t>, con su costo anual. Pedir solo «firma digital» deja por fuera tres cuartas partes del problema.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26  CASO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HALLAZGO H7, CERRADO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32</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Con esto ya está completa la respuesta que el comité pedía en febrero. Así se ve el esquema propuesto, de principio a fin.</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469965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PIEZA</a:t>
            </a:r>
          </a:p>
        </p:txBody>
      </p:sp>
      <p:sp>
        <p:nvSpPr>
          <p:cNvPr id="12" name="TextBox 11"/>
          <p:cNvSpPr txBox="1"/>
          <p:nvPr/>
        </p:nvSpPr>
        <p:spPr>
          <a:xfrm>
            <a:off x="5431170" y="2185415"/>
            <a:ext cx="602626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APORTA AL EXPEDIENTE</a:t>
            </a:r>
          </a:p>
        </p:txBody>
      </p:sp>
      <p:sp>
        <p:nvSpPr>
          <p:cNvPr id="13" name="Rectangle 12"/>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587751"/>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Firma digital con certificado de entidad acreditada</a:t>
            </a:r>
          </a:p>
        </p:txBody>
      </p:sp>
      <p:sp>
        <p:nvSpPr>
          <p:cNvPr id="15" name="TextBox 14"/>
          <p:cNvSpPr txBox="1"/>
          <p:nvPr/>
        </p:nvSpPr>
        <p:spPr>
          <a:xfrm>
            <a:off x="5431170" y="2587751"/>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Atribución al titular, con la presunción legal que la firma electrónica genérica no tiene</a:t>
            </a:r>
          </a:p>
        </p:txBody>
      </p:sp>
      <p:sp>
        <p:nvSpPr>
          <p:cNvPr id="16" name="Rectangle 15"/>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127613"/>
            <a:ext cx="4699650"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 privada del asociado bajo su control exclusivo</a:t>
            </a:r>
          </a:p>
        </p:txBody>
      </p:sp>
      <p:sp>
        <p:nvSpPr>
          <p:cNvPr id="18" name="TextBox 17"/>
          <p:cNvSpPr txBox="1"/>
          <p:nvPr/>
        </p:nvSpPr>
        <p:spPr>
          <a:xfrm>
            <a:off x="5431170" y="3127613"/>
            <a:ext cx="602626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el requisito que convierte la firma en confiable. Sin él, lo demás no sostiene</a:t>
            </a:r>
          </a:p>
        </p:txBody>
      </p:sp>
      <p:sp>
        <p:nvSpPr>
          <p:cNvPr id="19" name="Rectangle 18"/>
          <p:cNvSpPr/>
          <p:nvPr/>
        </p:nvSpPr>
        <p:spPr>
          <a:xfrm>
            <a:off x="566928" y="34385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529949"/>
            <a:ext cx="4699650" cy="347472"/>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Sello de tiempo de un tercero</a:t>
            </a:r>
          </a:p>
        </p:txBody>
      </p:sp>
      <p:sp>
        <p:nvSpPr>
          <p:cNvPr id="21" name="TextBox 20"/>
          <p:cNvSpPr txBox="1"/>
          <p:nvPr/>
        </p:nvSpPr>
        <p:spPr>
          <a:xfrm>
            <a:off x="5431170" y="3529949"/>
            <a:ext cx="602626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Fecha cierta, independiente del reloj de la cooperativa</a:t>
            </a:r>
          </a:p>
        </p:txBody>
      </p:sp>
      <p:sp>
        <p:nvSpPr>
          <p:cNvPr id="22" name="Rectangle 21"/>
          <p:cNvSpPr/>
          <p:nvPr/>
        </p:nvSpPr>
        <p:spPr>
          <a:xfrm>
            <a:off x="566928" y="384084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32285"/>
            <a:ext cx="4699650"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Evidencia de verificación guardada con el documento</a:t>
            </a:r>
          </a:p>
        </p:txBody>
      </p:sp>
      <p:sp>
        <p:nvSpPr>
          <p:cNvPr id="24" name="TextBox 23"/>
          <p:cNvSpPr txBox="1"/>
          <p:nvPr/>
        </p:nvSpPr>
        <p:spPr>
          <a:xfrm>
            <a:off x="5431170" y="3932285"/>
            <a:ext cx="602626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Permite verificar dentro de veinte años sin consultar servicios que ya no existirán</a:t>
            </a:r>
          </a:p>
        </p:txBody>
      </p:sp>
      <p:sp>
        <p:nvSpPr>
          <p:cNvPr id="25" name="Rectangle 24"/>
          <p:cNvSpPr/>
          <p:nvPr/>
        </p:nvSpPr>
        <p:spPr>
          <a:xfrm>
            <a:off x="566928" y="424318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334621"/>
            <a:ext cx="4699650"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Resellado periódico</a:t>
            </a:r>
          </a:p>
        </p:txBody>
      </p:sp>
      <p:sp>
        <p:nvSpPr>
          <p:cNvPr id="27" name="TextBox 26"/>
          <p:cNvSpPr txBox="1"/>
          <p:nvPr/>
        </p:nvSpPr>
        <p:spPr>
          <a:xfrm>
            <a:off x="5431170" y="4334621"/>
            <a:ext cx="6026261"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Mantiene la verificabilidad cuando el algoritmo original envejezca</a:t>
            </a:r>
          </a:p>
        </p:txBody>
      </p:sp>
      <p:sp>
        <p:nvSpPr>
          <p:cNvPr id="28" name="Rectangle 27"/>
          <p:cNvSpPr/>
          <p:nvPr/>
        </p:nvSpPr>
        <p:spPr>
          <a:xfrm>
            <a:off x="566928" y="46455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736957"/>
            <a:ext cx="4699650"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Custodia con integridad demostrable</a:t>
            </a:r>
          </a:p>
        </p:txBody>
      </p:sp>
      <p:sp>
        <p:nvSpPr>
          <p:cNvPr id="30" name="TextBox 29"/>
          <p:cNvSpPr txBox="1"/>
          <p:nvPr/>
        </p:nvSpPr>
        <p:spPr>
          <a:xfrm>
            <a:off x="5431170" y="4736957"/>
            <a:ext cx="602626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El registro encadenado de la sesión 3, para que la parte interesada no sea la única fuente</a:t>
            </a:r>
          </a:p>
        </p:txBody>
      </p:sp>
      <p:sp>
        <p:nvSpPr>
          <p:cNvPr id="31" name="Rectangle 30"/>
          <p:cNvSpPr/>
          <p:nvPr/>
        </p:nvSpPr>
        <p:spPr>
          <a:xfrm>
            <a:off x="566928" y="51853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402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27  DECISIÓN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Y LO QUE YA SE FIRMÓ CON UNA IMAGEN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33</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Lo anterior sirve de aquí en adelante. Para la cartera vigente no hay solución técnica completa, y por eso es una decisión del comité y no del área de tecnología.</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OPCIÓN</a:t>
            </a:r>
          </a:p>
        </p:txBody>
      </p:sp>
      <p:sp>
        <p:nvSpPr>
          <p:cNvPr id="12" name="TextBox 11"/>
          <p:cNvSpPr txBox="1"/>
          <p:nvPr/>
        </p:nvSpPr>
        <p:spPr>
          <a:xfrm>
            <a:off x="4104558"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LOGRA</a:t>
            </a:r>
          </a:p>
        </p:txBody>
      </p:sp>
      <p:sp>
        <p:nvSpPr>
          <p:cNvPr id="13" name="TextBox 12"/>
          <p:cNvSpPr txBox="1"/>
          <p:nvPr/>
        </p:nvSpPr>
        <p:spPr>
          <a:xfrm>
            <a:off x="8084393" y="2423159"/>
            <a:ext cx="337303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NO LOGRA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373038" cy="54864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Sellar hoy los documentos existentes</a:t>
            </a:r>
          </a:p>
        </p:txBody>
      </p:sp>
      <p:sp>
        <p:nvSpPr>
          <p:cNvPr id="16" name="TextBox 15"/>
          <p:cNvSpPr txBox="1"/>
          <p:nvPr/>
        </p:nvSpPr>
        <p:spPr>
          <a:xfrm>
            <a:off x="4104558" y="2825495"/>
            <a:ext cx="3815242" cy="54864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Prueba que el documento existía así desde hoy, y congela cualquier alteración futura</a:t>
            </a:r>
          </a:p>
        </p:txBody>
      </p:sp>
      <p:sp>
        <p:nvSpPr>
          <p:cNvPr id="17" name="TextBox 16"/>
          <p:cNvSpPr txBox="1"/>
          <p:nvPr/>
        </p:nvSpPr>
        <p:spPr>
          <a:xfrm>
            <a:off x="8084393" y="2825495"/>
            <a:ext cx="3373038" cy="54864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prueba nada sobre lo ocurrido antes de hoy, que es justo lo discutible</a:t>
            </a:r>
          </a:p>
        </p:txBody>
      </p:sp>
      <p:sp>
        <p:nvSpPr>
          <p:cNvPr id="18" name="Rectangle 17"/>
          <p:cNvSpPr/>
          <p:nvPr/>
        </p:nvSpPr>
        <p:spPr>
          <a:xfrm>
            <a:off x="566928" y="333755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428999"/>
            <a:ext cx="3373038" cy="548640"/>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Volver a firmar con el asociado</a:t>
            </a:r>
          </a:p>
        </p:txBody>
      </p:sp>
      <p:sp>
        <p:nvSpPr>
          <p:cNvPr id="20" name="TextBox 19"/>
          <p:cNvSpPr txBox="1"/>
          <p:nvPr/>
        </p:nvSpPr>
        <p:spPr>
          <a:xfrm>
            <a:off x="4104558" y="3428999"/>
            <a:ext cx="3815242" cy="54864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Expediente completo y sólido</a:t>
            </a:r>
          </a:p>
        </p:txBody>
      </p:sp>
      <p:sp>
        <p:nvSpPr>
          <p:cNvPr id="21" name="TextBox 20"/>
          <p:cNvSpPr txBox="1"/>
          <p:nvPr/>
        </p:nvSpPr>
        <p:spPr>
          <a:xfrm>
            <a:off x="8084393" y="3428999"/>
            <a:ext cx="3373038" cy="54864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Costo y fricción comercial enormes. Y muchos asociados no van a volver a firmar</a:t>
            </a:r>
          </a:p>
        </p:txBody>
      </p:sp>
      <p:sp>
        <p:nvSpPr>
          <p:cNvPr id="22" name="Rectangle 21"/>
          <p:cNvSpPr/>
          <p:nvPr/>
        </p:nvSpPr>
        <p:spPr>
          <a:xfrm>
            <a:off x="566928" y="394106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032503"/>
            <a:ext cx="3373038" cy="548640"/>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Documentar el riesgo y provisionarlo</a:t>
            </a:r>
          </a:p>
        </p:txBody>
      </p:sp>
      <p:sp>
        <p:nvSpPr>
          <p:cNvPr id="24" name="TextBox 23"/>
          <p:cNvSpPr txBox="1"/>
          <p:nvPr/>
        </p:nvSpPr>
        <p:spPr>
          <a:xfrm>
            <a:off x="4104558" y="4032503"/>
            <a:ext cx="3815242" cy="54864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honesto, es defendible ante la Superintendencia y tiene un número asociado</a:t>
            </a:r>
          </a:p>
        </p:txBody>
      </p:sp>
      <p:sp>
        <p:nvSpPr>
          <p:cNvPr id="25" name="TextBox 24"/>
          <p:cNvSpPr txBox="1"/>
          <p:nvPr/>
        </p:nvSpPr>
        <p:spPr>
          <a:xfrm>
            <a:off x="8084393" y="4032503"/>
            <a:ext cx="3373038" cy="548640"/>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mejora la posición probatoria en un litigio concreto</a:t>
            </a:r>
          </a:p>
        </p:txBody>
      </p:sp>
      <p:sp>
        <p:nvSpPr>
          <p:cNvPr id="26" name="Rectangle 25"/>
          <p:cNvSpPr/>
          <p:nvPr/>
        </p:nvSpPr>
        <p:spPr>
          <a:xfrm>
            <a:off x="566928" y="4544568"/>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59943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901183"/>
            <a:ext cx="45720" cy="73152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919471"/>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RECOMENDACIÓN QUE SE ESPERA DE UN ESPECIALISTA</a:t>
            </a:r>
          </a:p>
        </p:txBody>
      </p:sp>
      <p:sp>
        <p:nvSpPr>
          <p:cNvPr id="30" name="TextBox 29"/>
          <p:cNvSpPr txBox="1"/>
          <p:nvPr/>
        </p:nvSpPr>
        <p:spPr>
          <a:xfrm>
            <a:off x="804672" y="5157216"/>
            <a:ext cx="10780776" cy="45720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Las tres a la vez, priorizadas: sellar ya lo existente porque es barato y detiene el deterioro, volver a firmar solo la cartera de mayor exposición, y provisionar el resto. </a:t>
            </a:r>
            <a:r>
              <a:rPr sz="1150" b="1">
                <a:solidFill>
                  <a:srgbClr val="2A2A2A"/>
                </a:solidFill>
                <a:latin typeface="Arial"/>
              </a:rPr>
              <a:t>Elegir una sola es lo que delata un informe superficial.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05</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LO QUE VIENE</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Bloque 12 · Transición post-cuántica y criptoagilidad</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28  PORQUÉ</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POR QUÉ ESTO NO ES UN TEMA DE CIENCIA FICCIÓN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pregunta correcta no es cuándo habrá un computador cuántico. Es si el dato que estoy protegiendo hoy seguirá siendo sensible cuando lo haya.</a:t>
            </a:r>
          </a:p>
        </p:txBody>
      </p:sp>
      <p:sp>
        <p:nvSpPr>
          <p:cNvPr id="10" name="Rectangle 9"/>
          <p:cNvSpPr/>
          <p:nvPr/>
        </p:nvSpPr>
        <p:spPr>
          <a:xfrm>
            <a:off x="566928" y="2304287"/>
            <a:ext cx="11055096" cy="2677363"/>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395727"/>
            <a:ext cx="10652760" cy="182880"/>
          </a:xfrm>
          <a:prstGeom prst="rect">
            <a:avLst/>
          </a:prstGeom>
          <a:noFill/>
        </p:spPr>
        <p:txBody>
          <a:bodyPr wrap="square" lIns="0" rIns="0" tIns="0" bIns="0">
            <a:spAutoFit/>
          </a:bodyPr>
          <a:lstStyle/>
          <a:p>
            <a:pPr algn="l">
              <a:spcAft>
                <a:spcPts val="0"/>
              </a:spcAft>
            </a:pPr>
            <a:r>
              <a:rPr sz="730" b="1" spc="150">
                <a:solidFill>
                  <a:srgbClr val="3A3A3A"/>
                </a:solidFill>
                <a:latin typeface="Consolas"/>
              </a:rPr>
              <a:t>LA CUENTA QUE HAY QUE HACER</a:t>
            </a:r>
          </a:p>
        </p:txBody>
      </p:sp>
      <p:sp>
        <p:nvSpPr>
          <p:cNvPr id="12" name="TextBox 11"/>
          <p:cNvSpPr txBox="1"/>
          <p:nvPr/>
        </p:nvSpPr>
        <p:spPr>
          <a:xfrm>
            <a:off x="768096" y="2633471"/>
            <a:ext cx="10652760" cy="2256739"/>
          </a:xfrm>
          <a:prstGeom prst="rect">
            <a:avLst/>
          </a:prstGeom>
          <a:noFill/>
        </p:spPr>
        <p:txBody>
          <a:bodyPr wrap="square" lIns="0" rIns="0" tIns="0" bIns="0">
            <a:spAutoFit/>
          </a:bodyPr>
          <a:lstStyle/>
          <a:p>
            <a:pPr algn="l">
              <a:lnSpc>
                <a:spcPct val="130000"/>
              </a:lnSpc>
              <a:spcAft>
                <a:spcPts val="0"/>
              </a:spcAft>
            </a:pPr>
            <a:r>
              <a:rPr sz="950" b="0">
                <a:solidFill>
                  <a:srgbClr val="000000"/>
                </a:solidFill>
                <a:latin typeface="Consolas"/>
              </a:rPr>
              <a:t>  vida útil del dato  +  tiempo que toma migrar   &gt;   años hasta la amenaza</a:t>
            </a:r>
          </a:p>
          <a:p>
            <a:pPr algn="l">
              <a:lnSpc>
                <a:spcPct val="130000"/>
              </a:lnSpc>
              <a:spcAft>
                <a:spcPts val="0"/>
              </a:spcAft>
            </a:pPr>
            <a:r>
              <a:rPr sz="950" b="0">
                <a:solidFill>
                  <a:srgbClr val="000000"/>
                </a:solidFill>
                <a:latin typeface="Consolas"/>
              </a:rPr>
              <a:t>                                                  ⇒   ya vamos tarde</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Para una hipoteca de Coopaburrá:</a:t>
            </a:r>
          </a:p>
          <a:p>
            <a:pPr algn="l">
              <a:lnSpc>
                <a:spcPct val="130000"/>
              </a:lnSpc>
              <a:spcAft>
                <a:spcPts val="0"/>
              </a:spcAft>
            </a:pPr>
            <a:r>
              <a:rPr sz="950" b="0">
                <a:solidFill>
                  <a:srgbClr val="000000"/>
                </a:solidFill>
                <a:latin typeface="Consolas"/>
              </a:rPr>
              <a:t>      vida útil del dato ................. 20 años</a:t>
            </a:r>
          </a:p>
          <a:p>
            <a:pPr algn="l">
              <a:lnSpc>
                <a:spcPct val="130000"/>
              </a:lnSpc>
              <a:spcAft>
                <a:spcPts val="0"/>
              </a:spcAft>
            </a:pPr>
            <a:r>
              <a:rPr sz="950" b="0">
                <a:solidFill>
                  <a:srgbClr val="000000"/>
                </a:solidFill>
                <a:latin typeface="Consolas"/>
              </a:rPr>
              <a:t>      tiempo de migración en una entidad .. 3 a 5 años</a:t>
            </a:r>
          </a:p>
          <a:p>
            <a:pPr algn="l">
              <a:lnSpc>
                <a:spcPct val="130000"/>
              </a:lnSpc>
              <a:spcAft>
                <a:spcPts val="0"/>
              </a:spcAft>
            </a:pPr>
            <a:r>
              <a:rPr sz="950" b="0">
                <a:solidFill>
                  <a:srgbClr val="000000"/>
                </a:solidFill>
                <a:latin typeface="Consolas"/>
              </a:rPr>
              <a:t>                                            ────────</a:t>
            </a:r>
          </a:p>
          <a:p>
            <a:pPr algn="l">
              <a:lnSpc>
                <a:spcPct val="130000"/>
              </a:lnSpc>
              <a:spcAft>
                <a:spcPts val="0"/>
              </a:spcAft>
            </a:pPr>
            <a:r>
              <a:rPr sz="950" b="0">
                <a:solidFill>
                  <a:srgbClr val="000000"/>
                </a:solidFill>
                <a:latin typeface="Consolas"/>
              </a:rPr>
              <a:t>                                            23 a 25 años</a:t>
            </a:r>
          </a:p>
          <a:p>
            <a:pPr algn="l">
              <a:lnSpc>
                <a:spcPct val="130000"/>
              </a:lnSpc>
              <a:spcAft>
                <a:spcPts val="0"/>
              </a:spcAft>
            </a:pPr>
            <a:r>
              <a:rPr sz="950" b="0">
                <a:solidFill>
                  <a:srgbClr val="000000"/>
                </a:solidFill>
                <a:latin typeface="Consolas"/>
              </a:rPr>
              <a:t/>
            </a:r>
          </a:p>
          <a:p>
            <a:pPr algn="l">
              <a:lnSpc>
                <a:spcPct val="130000"/>
              </a:lnSpc>
              <a:spcAft>
                <a:spcPts val="0"/>
              </a:spcAft>
            </a:pPr>
            <a:r>
              <a:rPr sz="950" b="0">
                <a:solidFill>
                  <a:srgbClr val="000000"/>
                </a:solidFill>
                <a:latin typeface="Consolas"/>
              </a:rPr>
              <a:t>  No hay que decidir si la amenaza llega antes de 2050. Hay que decidir</a:t>
            </a:r>
          </a:p>
          <a:p>
            <a:pPr algn="l">
              <a:lnSpc>
                <a:spcPct val="130000"/>
              </a:lnSpc>
              <a:spcAft>
                <a:spcPts val="0"/>
              </a:spcAft>
            </a:pPr>
            <a:r>
              <a:rPr sz="950" b="0">
                <a:solidFill>
                  <a:srgbClr val="000000"/>
                </a:solidFill>
                <a:latin typeface="Consolas"/>
              </a:rPr>
              <a:t>  qué se firma hoy sabiendo que debe resistir hasta 2046.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29  ALCANCE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SE ROMPE Y QUÉ NO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36</a:t>
            </a:r>
          </a:p>
        </p:txBody>
      </p:sp>
      <p:sp>
        <p:nvSpPr>
          <p:cNvPr id="9" name="TextBox 8"/>
          <p:cNvSpPr txBox="1"/>
          <p:nvPr/>
        </p:nvSpPr>
        <p:spPr>
          <a:xfrm>
            <a:off x="566928" y="1554480"/>
            <a:ext cx="11055096" cy="237744"/>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 la tabla que más se malinterpreta del tema. No todo cae, y saber distinguir evita gastar donde no hace falta.</a:t>
            </a:r>
          </a:p>
        </p:txBody>
      </p:sp>
      <p:sp>
        <p:nvSpPr>
          <p:cNvPr id="10" name="Rectangle 9"/>
          <p:cNvSpPr/>
          <p:nvPr/>
        </p:nvSpPr>
        <p:spPr>
          <a:xfrm>
            <a:off x="566928" y="206654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85415"/>
            <a:ext cx="348358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MECANISMO</a:t>
            </a:r>
          </a:p>
        </p:txBody>
      </p:sp>
      <p:sp>
        <p:nvSpPr>
          <p:cNvPr id="12" name="TextBox 11"/>
          <p:cNvSpPr txBox="1"/>
          <p:nvPr/>
        </p:nvSpPr>
        <p:spPr>
          <a:xfrm>
            <a:off x="4215109" y="2185415"/>
            <a:ext cx="458909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EFECTO DE UN COMPUTADOR CUÁNTICO</a:t>
            </a:r>
          </a:p>
        </p:txBody>
      </p:sp>
      <p:sp>
        <p:nvSpPr>
          <p:cNvPr id="13" name="TextBox 12"/>
          <p:cNvSpPr txBox="1"/>
          <p:nvPr/>
        </p:nvSpPr>
        <p:spPr>
          <a:xfrm>
            <a:off x="8968800" y="2185415"/>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HACER</a:t>
            </a:r>
          </a:p>
        </p:txBody>
      </p:sp>
      <p:sp>
        <p:nvSpPr>
          <p:cNvPr id="14" name="Rectangle 13"/>
          <p:cNvSpPr/>
          <p:nvPr/>
        </p:nvSpPr>
        <p:spPr>
          <a:xfrm>
            <a:off x="566928" y="2478023"/>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587751"/>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RSA, curvas elípticas, acuerdo de llave</a:t>
            </a:r>
          </a:p>
        </p:txBody>
      </p:sp>
      <p:sp>
        <p:nvSpPr>
          <p:cNvPr id="16" name="TextBox 15"/>
          <p:cNvSpPr txBox="1"/>
          <p:nvPr/>
        </p:nvSpPr>
        <p:spPr>
          <a:xfrm>
            <a:off x="4215109" y="2587751"/>
            <a:ext cx="458909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rompen por completo. Un algoritmo conocido desde 1994 los resuelve</a:t>
            </a:r>
          </a:p>
        </p:txBody>
      </p:sp>
      <p:sp>
        <p:nvSpPr>
          <p:cNvPr id="17" name="TextBox 16"/>
          <p:cNvSpPr txBox="1"/>
          <p:nvPr/>
        </p:nvSpPr>
        <p:spPr>
          <a:xfrm>
            <a:off x="8968800" y="2587751"/>
            <a:ext cx="248863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Migrar a los algoritmos nuevos. Es lo urgente</a:t>
            </a:r>
          </a:p>
        </p:txBody>
      </p:sp>
      <p:sp>
        <p:nvSpPr>
          <p:cNvPr id="18" name="Rectangle 17"/>
          <p:cNvSpPr/>
          <p:nvPr/>
        </p:nvSpPr>
        <p:spPr>
          <a:xfrm>
            <a:off x="566928" y="30361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27613"/>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Cifrado simétrico: AES</a:t>
            </a:r>
          </a:p>
        </p:txBody>
      </p:sp>
      <p:sp>
        <p:nvSpPr>
          <p:cNvPr id="20" name="TextBox 19"/>
          <p:cNvSpPr txBox="1"/>
          <p:nvPr/>
        </p:nvSpPr>
        <p:spPr>
          <a:xfrm>
            <a:off x="4215109" y="3127613"/>
            <a:ext cx="458909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debilita a la mitad, no se rompe</a:t>
            </a:r>
          </a:p>
        </p:txBody>
      </p:sp>
      <p:sp>
        <p:nvSpPr>
          <p:cNvPr id="21" name="TextBox 20"/>
          <p:cNvSpPr txBox="1"/>
          <p:nvPr/>
        </p:nvSpPr>
        <p:spPr>
          <a:xfrm>
            <a:off x="8968800" y="3127613"/>
            <a:ext cx="248863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Usar llaves de 256 bits. Con eso queda resuelto</a:t>
            </a:r>
          </a:p>
        </p:txBody>
      </p:sp>
      <p:sp>
        <p:nvSpPr>
          <p:cNvPr id="22" name="Rectangle 21"/>
          <p:cNvSpPr/>
          <p:nvPr/>
        </p:nvSpPr>
        <p:spPr>
          <a:xfrm>
            <a:off x="566928" y="35760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67475"/>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Funciones resumen</a:t>
            </a:r>
          </a:p>
        </p:txBody>
      </p:sp>
      <p:sp>
        <p:nvSpPr>
          <p:cNvPr id="24" name="TextBox 23"/>
          <p:cNvSpPr txBox="1"/>
          <p:nvPr/>
        </p:nvSpPr>
        <p:spPr>
          <a:xfrm>
            <a:off x="4215109" y="3667475"/>
            <a:ext cx="458909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debilitan, no se rompen</a:t>
            </a:r>
          </a:p>
        </p:txBody>
      </p:sp>
      <p:sp>
        <p:nvSpPr>
          <p:cNvPr id="25" name="TextBox 24"/>
          <p:cNvSpPr txBox="1"/>
          <p:nvPr/>
        </p:nvSpPr>
        <p:spPr>
          <a:xfrm>
            <a:off x="8968800" y="3667475"/>
            <a:ext cx="248863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Preferir salidas de 384 bits en adelante para datos de larga vida</a:t>
            </a:r>
          </a:p>
        </p:txBody>
      </p:sp>
      <p:sp>
        <p:nvSpPr>
          <p:cNvPr id="26" name="Rectangle 25"/>
          <p:cNvSpPr/>
          <p:nvPr/>
        </p:nvSpPr>
        <p:spPr>
          <a:xfrm>
            <a:off x="566928" y="41158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207337"/>
            <a:ext cx="348358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Firmas ya hechas</a:t>
            </a:r>
          </a:p>
        </p:txBody>
      </p:sp>
      <p:sp>
        <p:nvSpPr>
          <p:cNvPr id="28" name="TextBox 27"/>
          <p:cNvSpPr txBox="1"/>
          <p:nvPr/>
        </p:nvSpPr>
        <p:spPr>
          <a:xfrm>
            <a:off x="4215109" y="4207337"/>
            <a:ext cx="4589099"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se alteran, pero se vuelven falsificables hacia adelante</a:t>
            </a:r>
          </a:p>
        </p:txBody>
      </p:sp>
      <p:sp>
        <p:nvSpPr>
          <p:cNvPr id="29" name="TextBox 28"/>
          <p:cNvSpPr txBox="1"/>
          <p:nvPr/>
        </p:nvSpPr>
        <p:spPr>
          <a:xfrm>
            <a:off x="8968800" y="4207337"/>
            <a:ext cx="248863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Resellar con algoritmos nuevos antes de que eso ocurra</a:t>
            </a:r>
          </a:p>
        </p:txBody>
      </p:sp>
      <p:sp>
        <p:nvSpPr>
          <p:cNvPr id="30" name="Rectangle 29"/>
          <p:cNvSpPr/>
          <p:nvPr/>
        </p:nvSpPr>
        <p:spPr>
          <a:xfrm>
            <a:off x="566928" y="465575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710623"/>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30  ESTÁNDAR</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LOS ALGORITMOS YA ESTÁN PUBLICADOS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37</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Esto dejó de ser investigación en agosto de 2024. Ya hay normas publicadas y productos que las implementan, así que la pregunta pasó de si migrar a cuándo y en qué orden.</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NORMA</a:t>
            </a:r>
          </a:p>
        </p:txBody>
      </p:sp>
      <p:sp>
        <p:nvSpPr>
          <p:cNvPr id="12" name="TextBox 11"/>
          <p:cNvSpPr txBox="1"/>
          <p:nvPr/>
        </p:nvSpPr>
        <p:spPr>
          <a:xfrm>
            <a:off x="2999049" y="2423159"/>
            <a:ext cx="4478548"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ESTANDARIZA</a:t>
            </a:r>
          </a:p>
        </p:txBody>
      </p:sp>
      <p:sp>
        <p:nvSpPr>
          <p:cNvPr id="13" name="TextBox 12"/>
          <p:cNvSpPr txBox="1"/>
          <p:nvPr/>
        </p:nvSpPr>
        <p:spPr>
          <a:xfrm>
            <a:off x="7642189" y="2423159"/>
            <a:ext cx="381524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PARA QUÉ SE USA</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FIPS 203</a:t>
            </a:r>
          </a:p>
        </p:txBody>
      </p:sp>
      <p:sp>
        <p:nvSpPr>
          <p:cNvPr id="16" name="TextBox 15"/>
          <p:cNvSpPr txBox="1"/>
          <p:nvPr/>
        </p:nvSpPr>
        <p:spPr>
          <a:xfrm>
            <a:off x="2999049" y="2825495"/>
            <a:ext cx="44785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Encapsulamiento de llave, basado en retículos</a:t>
            </a:r>
          </a:p>
        </p:txBody>
      </p:sp>
      <p:sp>
        <p:nvSpPr>
          <p:cNvPr id="17" name="TextBox 16"/>
          <p:cNvSpPr txBox="1"/>
          <p:nvPr/>
        </p:nvSpPr>
        <p:spPr>
          <a:xfrm>
            <a:off x="7642189" y="2825495"/>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Reemplaza el acuerdo de llave: es lo primero que hay que migrar</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FIPS 204</a:t>
            </a:r>
          </a:p>
        </p:txBody>
      </p:sp>
      <p:sp>
        <p:nvSpPr>
          <p:cNvPr id="20" name="TextBox 19"/>
          <p:cNvSpPr txBox="1"/>
          <p:nvPr/>
        </p:nvSpPr>
        <p:spPr>
          <a:xfrm>
            <a:off x="2999049" y="3365357"/>
            <a:ext cx="44785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Firma digital basada en retículos</a:t>
            </a:r>
          </a:p>
        </p:txBody>
      </p:sp>
      <p:sp>
        <p:nvSpPr>
          <p:cNvPr id="21" name="TextBox 20"/>
          <p:cNvSpPr txBox="1"/>
          <p:nvPr/>
        </p:nvSpPr>
        <p:spPr>
          <a:xfrm>
            <a:off x="7642189" y="3365357"/>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La firma de propósito general, para la mayoría de los usos</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FIPS 205</a:t>
            </a:r>
          </a:p>
        </p:txBody>
      </p:sp>
      <p:sp>
        <p:nvSpPr>
          <p:cNvPr id="24" name="TextBox 23"/>
          <p:cNvSpPr txBox="1"/>
          <p:nvPr/>
        </p:nvSpPr>
        <p:spPr>
          <a:xfrm>
            <a:off x="2999049" y="3905219"/>
            <a:ext cx="44785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Firma digital basada en funciones resumen</a:t>
            </a:r>
          </a:p>
        </p:txBody>
      </p:sp>
      <p:sp>
        <p:nvSpPr>
          <p:cNvPr id="25" name="TextBox 24"/>
          <p:cNvSpPr txBox="1"/>
          <p:nvPr/>
        </p:nvSpPr>
        <p:spPr>
          <a:xfrm>
            <a:off x="7642189" y="3905219"/>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Más lenta y más grande, pero su seguridad descansa en supuestos muy conservadores</a:t>
            </a:r>
          </a:p>
        </p:txBody>
      </p:sp>
      <p:sp>
        <p:nvSpPr>
          <p:cNvPr id="26" name="Rectangle 25"/>
          <p:cNvSpPr/>
          <p:nvPr/>
        </p:nvSpPr>
        <p:spPr>
          <a:xfrm>
            <a:off x="566928" y="43536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445081"/>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Algoritmo de respaldo</a:t>
            </a:r>
          </a:p>
        </p:txBody>
      </p:sp>
      <p:sp>
        <p:nvSpPr>
          <p:cNvPr id="28" name="TextBox 27"/>
          <p:cNvSpPr txBox="1"/>
          <p:nvPr/>
        </p:nvSpPr>
        <p:spPr>
          <a:xfrm>
            <a:off x="2999049" y="4445081"/>
            <a:ext cx="4478548"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 segundo mecanismo de encapsulamiento, de familia matemática distinta</a:t>
            </a:r>
          </a:p>
        </p:txBody>
      </p:sp>
      <p:sp>
        <p:nvSpPr>
          <p:cNvPr id="29" name="TextBox 28"/>
          <p:cNvSpPr txBox="1"/>
          <p:nvPr/>
        </p:nvSpPr>
        <p:spPr>
          <a:xfrm>
            <a:off x="7642189" y="4445081"/>
            <a:ext cx="381524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Para no depender de un único supuesto matemático</a:t>
            </a:r>
          </a:p>
        </p:txBody>
      </p:sp>
      <p:sp>
        <p:nvSpPr>
          <p:cNvPr id="30" name="Rectangle 29"/>
          <p:cNvSpPr/>
          <p:nvPr/>
        </p:nvSpPr>
        <p:spPr>
          <a:xfrm>
            <a:off x="566928" y="489350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4836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50119"/>
            <a:ext cx="45720" cy="74980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268407"/>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EL PLAZO QUE MANEJAN LOS GOBIERNOS</a:t>
            </a:r>
          </a:p>
        </p:txBody>
      </p:sp>
      <p:sp>
        <p:nvSpPr>
          <p:cNvPr id="34" name="TextBox 33"/>
          <p:cNvSpPr txBox="1"/>
          <p:nvPr/>
        </p:nvSpPr>
        <p:spPr>
          <a:xfrm>
            <a:off x="804672" y="5506151"/>
            <a:ext cx="10780776" cy="47548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Las guías de transición de los organismos de seguridad nacional apuntan a tener los sistemas críticos migrados hacia 2035, empezando </a:t>
            </a:r>
            <a:r>
              <a:rPr sz="1150" b="1">
                <a:solidFill>
                  <a:srgbClr val="2A2A2A"/>
                </a:solidFill>
                <a:latin typeface="Arial"/>
              </a:rPr>
              <a:t>ahora</a:t>
            </a:r>
            <a:r>
              <a:rPr sz="1150" b="0">
                <a:solidFill>
                  <a:srgbClr val="2A2A2A"/>
                </a:solidFill>
                <a:latin typeface="Arial"/>
              </a:rPr>
              <a:t> por lo que protege datos de larga vida. La cartera hipotecaria de Coopaburrá entra exactamente en esa categoría.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31  CALENDARIO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CNSA 2.0: EL CALENDARIO QUE SIGUEN LOS FABRICANTES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suite de la agencia de seguridad nacional de Estados Unidos no obliga a una cooperativa colombiana, pero es el calendario que siguen los fabricantes, y por eso fija de hecho cuándo llegarán los productos.</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536295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TIPO DE SISTEMA</a:t>
            </a:r>
          </a:p>
        </p:txBody>
      </p:sp>
      <p:sp>
        <p:nvSpPr>
          <p:cNvPr id="12" name="TextBox 11"/>
          <p:cNvSpPr txBox="1"/>
          <p:nvPr/>
        </p:nvSpPr>
        <p:spPr>
          <a:xfrm>
            <a:off x="6094476" y="2423159"/>
            <a:ext cx="248863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ADMITIR Y PREFERIR</a:t>
            </a:r>
          </a:p>
        </p:txBody>
      </p:sp>
      <p:sp>
        <p:nvSpPr>
          <p:cNvPr id="13" name="TextBox 12"/>
          <p:cNvSpPr txBox="1"/>
          <p:nvPr/>
        </p:nvSpPr>
        <p:spPr>
          <a:xfrm>
            <a:off x="8747699" y="2423159"/>
            <a:ext cx="270973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USAR EXCLUSIVAMENTE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5362956" cy="31089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Firma de software y de firmware</a:t>
            </a:r>
          </a:p>
        </p:txBody>
      </p:sp>
      <p:sp>
        <p:nvSpPr>
          <p:cNvPr id="16" name="TextBox 15"/>
          <p:cNvSpPr txBox="1"/>
          <p:nvPr/>
        </p:nvSpPr>
        <p:spPr>
          <a:xfrm>
            <a:off x="6094476" y="2825495"/>
            <a:ext cx="2488631"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2025</a:t>
            </a:r>
          </a:p>
        </p:txBody>
      </p:sp>
      <p:sp>
        <p:nvSpPr>
          <p:cNvPr id="17" name="TextBox 16"/>
          <p:cNvSpPr txBox="1"/>
          <p:nvPr/>
        </p:nvSpPr>
        <p:spPr>
          <a:xfrm>
            <a:off x="8747699" y="2825495"/>
            <a:ext cx="270973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2030</a:t>
            </a:r>
          </a:p>
        </p:txBody>
      </p:sp>
      <p:sp>
        <p:nvSpPr>
          <p:cNvPr id="18" name="Rectangle 17"/>
          <p:cNvSpPr/>
          <p:nvPr/>
        </p:nvSpPr>
        <p:spPr>
          <a:xfrm>
            <a:off x="566928" y="30998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91255"/>
            <a:ext cx="5362956"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Equipos de red tradicionales</a:t>
            </a:r>
          </a:p>
        </p:txBody>
      </p:sp>
      <p:sp>
        <p:nvSpPr>
          <p:cNvPr id="20" name="TextBox 19"/>
          <p:cNvSpPr txBox="1"/>
          <p:nvPr/>
        </p:nvSpPr>
        <p:spPr>
          <a:xfrm>
            <a:off x="6094476" y="3191255"/>
            <a:ext cx="2488631"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2026</a:t>
            </a:r>
          </a:p>
        </p:txBody>
      </p:sp>
      <p:sp>
        <p:nvSpPr>
          <p:cNvPr id="21" name="TextBox 20"/>
          <p:cNvSpPr txBox="1"/>
          <p:nvPr/>
        </p:nvSpPr>
        <p:spPr>
          <a:xfrm>
            <a:off x="8747699" y="3191255"/>
            <a:ext cx="270973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2030</a:t>
            </a:r>
          </a:p>
        </p:txBody>
      </p:sp>
      <p:sp>
        <p:nvSpPr>
          <p:cNvPr id="22" name="Rectangle 21"/>
          <p:cNvSpPr/>
          <p:nvPr/>
        </p:nvSpPr>
        <p:spPr>
          <a:xfrm>
            <a:off x="566928" y="34655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57015"/>
            <a:ext cx="5362956"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Navegadores, servidores y servicios en la nube</a:t>
            </a:r>
          </a:p>
        </p:txBody>
      </p:sp>
      <p:sp>
        <p:nvSpPr>
          <p:cNvPr id="24" name="TextBox 23"/>
          <p:cNvSpPr txBox="1"/>
          <p:nvPr/>
        </p:nvSpPr>
        <p:spPr>
          <a:xfrm>
            <a:off x="6094476" y="3557015"/>
            <a:ext cx="2488631"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2025</a:t>
            </a:r>
          </a:p>
        </p:txBody>
      </p:sp>
      <p:sp>
        <p:nvSpPr>
          <p:cNvPr id="25" name="TextBox 24"/>
          <p:cNvSpPr txBox="1"/>
          <p:nvPr/>
        </p:nvSpPr>
        <p:spPr>
          <a:xfrm>
            <a:off x="8747699" y="3557015"/>
            <a:ext cx="270973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2033</a:t>
            </a:r>
          </a:p>
        </p:txBody>
      </p:sp>
      <p:sp>
        <p:nvSpPr>
          <p:cNvPr id="26" name="Rectangle 25"/>
          <p:cNvSpPr/>
          <p:nvPr/>
        </p:nvSpPr>
        <p:spPr>
          <a:xfrm>
            <a:off x="566928" y="38313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3922775"/>
            <a:ext cx="5362956"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Sistemas operativos</a:t>
            </a:r>
          </a:p>
        </p:txBody>
      </p:sp>
      <p:sp>
        <p:nvSpPr>
          <p:cNvPr id="28" name="TextBox 27"/>
          <p:cNvSpPr txBox="1"/>
          <p:nvPr/>
        </p:nvSpPr>
        <p:spPr>
          <a:xfrm>
            <a:off x="6094476" y="3922775"/>
            <a:ext cx="2488631"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2027</a:t>
            </a:r>
          </a:p>
        </p:txBody>
      </p:sp>
      <p:sp>
        <p:nvSpPr>
          <p:cNvPr id="29" name="TextBox 28"/>
          <p:cNvSpPr txBox="1"/>
          <p:nvPr/>
        </p:nvSpPr>
        <p:spPr>
          <a:xfrm>
            <a:off x="8747699" y="3922775"/>
            <a:ext cx="270973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2033</a:t>
            </a:r>
          </a:p>
        </p:txBody>
      </p:sp>
      <p:sp>
        <p:nvSpPr>
          <p:cNvPr id="30" name="Rectangle 29"/>
          <p:cNvSpPr/>
          <p:nvPr/>
        </p:nvSpPr>
        <p:spPr>
          <a:xfrm>
            <a:off x="566928" y="419709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288536"/>
            <a:ext cx="5362956"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Aplicaciones a la medida y equipos heredados</a:t>
            </a:r>
          </a:p>
        </p:txBody>
      </p:sp>
      <p:sp>
        <p:nvSpPr>
          <p:cNvPr id="32" name="TextBox 31"/>
          <p:cNvSpPr txBox="1"/>
          <p:nvPr/>
        </p:nvSpPr>
        <p:spPr>
          <a:xfrm>
            <a:off x="6094476" y="4288536"/>
            <a:ext cx="2488631"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t>
            </a:r>
          </a:p>
        </p:txBody>
      </p:sp>
      <p:sp>
        <p:nvSpPr>
          <p:cNvPr id="33" name="TextBox 32"/>
          <p:cNvSpPr txBox="1"/>
          <p:nvPr/>
        </p:nvSpPr>
        <p:spPr>
          <a:xfrm>
            <a:off x="8747699" y="4288536"/>
            <a:ext cx="2709732"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Actualizar o reemplazar hacia 2033</a:t>
            </a:r>
          </a:p>
        </p:txBody>
      </p:sp>
      <p:sp>
        <p:nvSpPr>
          <p:cNvPr id="34" name="Rectangle 33"/>
          <p:cNvSpPr/>
          <p:nvPr/>
        </p:nvSpPr>
        <p:spPr>
          <a:xfrm>
            <a:off x="566928" y="456285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61772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919472"/>
            <a:ext cx="45720" cy="841248"/>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93775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LO QUE HAY QUE LEER EN ESTA TABLA</a:t>
            </a:r>
          </a:p>
        </p:txBody>
      </p:sp>
      <p:sp>
        <p:nvSpPr>
          <p:cNvPr id="38" name="TextBox 37"/>
          <p:cNvSpPr txBox="1"/>
          <p:nvPr/>
        </p:nvSpPr>
        <p:spPr>
          <a:xfrm>
            <a:off x="804672" y="5175504"/>
            <a:ext cx="10780776" cy="566928"/>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Los cajeros y el hardware de red entran en la ola de 2030. </a:t>
            </a:r>
            <a:r>
              <a:rPr sz="1150" b="1">
                <a:solidFill>
                  <a:srgbClr val="2A2A2A"/>
                </a:solidFill>
                <a:latin typeface="Arial"/>
              </a:rPr>
              <a:t>Un equipo que Coopaburrá compre hoy seguirá en servicio en 2030</a:t>
            </a:r>
            <a:r>
              <a:rPr sz="1150" b="0">
                <a:solidFill>
                  <a:srgbClr val="2A2A2A"/>
                </a:solidFill>
                <a:latin typeface="Arial"/>
              </a:rPr>
              <a:t>: la pregunta de si admite ML-KEM-1024 y ML-DSA-87, los algoritmos de la suite, va en el pliego de esta compra, no de la próxima. La meta general es 2035.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32  CALENDARIO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NIST IR 8547: EL FIN ANUNCIADO DE RSA Y LAS CURVAS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39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El borrador del NIST de noviembre de 2024 pone fecha a lo que la sesión 4 dejó anunciado. Es la referencia que tendrá en la mano un supervisor cuando pregunte por el plan de transición.</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HITO</a:t>
            </a:r>
          </a:p>
        </p:txBody>
      </p:sp>
      <p:sp>
        <p:nvSpPr>
          <p:cNvPr id="12" name="TextBox 11"/>
          <p:cNvSpPr txBox="1"/>
          <p:nvPr/>
        </p:nvSpPr>
        <p:spPr>
          <a:xfrm>
            <a:off x="2999049" y="2423159"/>
            <a:ext cx="425744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SIGNIFICA</a:t>
            </a:r>
          </a:p>
        </p:txBody>
      </p:sp>
      <p:sp>
        <p:nvSpPr>
          <p:cNvPr id="13" name="TextBox 12"/>
          <p:cNvSpPr txBox="1"/>
          <p:nvPr/>
        </p:nvSpPr>
        <p:spPr>
          <a:xfrm>
            <a:off x="7421087"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PARA COOPABURRÁ</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Después de 2030</a:t>
            </a:r>
          </a:p>
        </p:txBody>
      </p:sp>
      <p:sp>
        <p:nvSpPr>
          <p:cNvPr id="16" name="TextBox 15"/>
          <p:cNvSpPr txBox="1"/>
          <p:nvPr/>
        </p:nvSpPr>
        <p:spPr>
          <a:xfrm>
            <a:off x="2999049" y="2825495"/>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desaprueban RSA y las curvas con seguridad de 112 bits, como RSA-2048</a:t>
            </a:r>
          </a:p>
        </p:txBody>
      </p:sp>
      <p:sp>
        <p:nvSpPr>
          <p:cNvPr id="17" name="TextBox 16"/>
          <p:cNvSpPr txBox="1"/>
          <p:nvPr/>
        </p:nvSpPr>
        <p:spPr>
          <a:xfrm>
            <a:off x="7421087" y="2825495"/>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No deben usarse en sistemas nuevos: el certificado RSA-2048 del portal entra aquí</a:t>
            </a:r>
          </a:p>
        </p:txBody>
      </p:sp>
      <p:sp>
        <p:nvSpPr>
          <p:cNvPr id="18" name="Rectangle 17"/>
          <p:cNvSpPr/>
          <p:nvPr/>
        </p:nvSpPr>
        <p:spPr>
          <a:xfrm>
            <a:off x="566928" y="32739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365357"/>
            <a:ext cx="2267529"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Después de 2035</a:t>
            </a:r>
          </a:p>
        </p:txBody>
      </p:sp>
      <p:sp>
        <p:nvSpPr>
          <p:cNvPr id="20" name="TextBox 19"/>
          <p:cNvSpPr txBox="1"/>
          <p:nvPr/>
        </p:nvSpPr>
        <p:spPr>
          <a:xfrm>
            <a:off x="2999049" y="3365357"/>
            <a:ext cx="425744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Se prohíben RSA, Diffie-Hellman y las curvas elípticas, sin importar el tamaño</a:t>
            </a:r>
          </a:p>
        </p:txBody>
      </p:sp>
      <p:sp>
        <p:nvSpPr>
          <p:cNvPr id="21" name="TextBox 20"/>
          <p:cNvSpPr txBox="1"/>
          <p:nvPr/>
        </p:nvSpPr>
        <p:spPr>
          <a:xfrm>
            <a:off x="7421087" y="3365357"/>
            <a:ext cx="4036344"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Ninguna firma de los pagarés debería depender solo de ellos</a:t>
            </a:r>
          </a:p>
        </p:txBody>
      </p:sp>
      <p:sp>
        <p:nvSpPr>
          <p:cNvPr id="22" name="Rectangle 21"/>
          <p:cNvSpPr/>
          <p:nvPr/>
        </p:nvSpPr>
        <p:spPr>
          <a:xfrm>
            <a:off x="566928" y="38137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905219"/>
            <a:ext cx="2267529" cy="47548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Mientras tanto</a:t>
            </a:r>
          </a:p>
        </p:txBody>
      </p:sp>
      <p:sp>
        <p:nvSpPr>
          <p:cNvPr id="24" name="TextBox 23"/>
          <p:cNvSpPr txBox="1"/>
          <p:nvPr/>
        </p:nvSpPr>
        <p:spPr>
          <a:xfrm>
            <a:off x="2999049" y="3905219"/>
            <a:ext cx="4257446" cy="47548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Esquemas híbridos y migración por prioridad de exposición</a:t>
            </a:r>
          </a:p>
        </p:txBody>
      </p:sp>
      <p:sp>
        <p:nvSpPr>
          <p:cNvPr id="25" name="TextBox 24"/>
          <p:cNvSpPr txBox="1"/>
          <p:nvPr/>
        </p:nvSpPr>
        <p:spPr>
          <a:xfrm>
            <a:off x="7421087" y="3905219"/>
            <a:ext cx="4036344" cy="47548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Primero lo que protege datos de vida larga: las hipotecas</a:t>
            </a:r>
          </a:p>
        </p:txBody>
      </p:sp>
      <p:sp>
        <p:nvSpPr>
          <p:cNvPr id="26" name="Rectangle 25"/>
          <p:cNvSpPr/>
          <p:nvPr/>
        </p:nvSpPr>
        <p:spPr>
          <a:xfrm>
            <a:off x="566928" y="434413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398995"/>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4700747"/>
            <a:ext cx="45720" cy="777240"/>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4719035"/>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LA DIFERENCIA ENTRE LAS DOS PALABRAS</a:t>
            </a:r>
          </a:p>
        </p:txBody>
      </p:sp>
      <p:sp>
        <p:nvSpPr>
          <p:cNvPr id="30" name="TextBox 29"/>
          <p:cNvSpPr txBox="1"/>
          <p:nvPr/>
        </p:nvSpPr>
        <p:spPr>
          <a:xfrm>
            <a:off x="804672" y="4956779"/>
            <a:ext cx="10780776" cy="502920"/>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Desaprobado significa que se tolera con el riesgo aceptado y documentado; prohibido significa que deja de cumplir. </a:t>
            </a:r>
            <a:r>
              <a:rPr sz="1150" b="1">
                <a:solidFill>
                  <a:srgbClr val="2A2A2A"/>
                </a:solidFill>
                <a:latin typeface="Arial"/>
              </a:rPr>
              <a:t>Entre 2030 y 2035 está la pista de aterrizaje</a:t>
            </a:r>
            <a:r>
              <a:rPr sz="1150" b="0">
                <a:solidFill>
                  <a:srgbClr val="2A2A2A"/>
                </a:solidFill>
                <a:latin typeface="Arial"/>
              </a:rPr>
              <a:t>, y es más corta de lo que parece para una entidad que renueva sistemas cada diez años.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33  CIFRAS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EL TAMAÑO IMPORTA: LAS LLAVES POST-CUÁNTICAS EN CIFRAS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40</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consecuencia práctica más inmediata de la transición no es de seguridad sino de tamaño. Estos son los números de los estándares, frente a lo que se usa hoy.</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403634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ESQUEMA</a:t>
            </a:r>
          </a:p>
        </p:txBody>
      </p:sp>
      <p:sp>
        <p:nvSpPr>
          <p:cNvPr id="12" name="TextBox 11"/>
          <p:cNvSpPr txBox="1"/>
          <p:nvPr/>
        </p:nvSpPr>
        <p:spPr>
          <a:xfrm>
            <a:off x="4767864" y="2423159"/>
            <a:ext cx="204642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LLAVE PÚBLICA</a:t>
            </a:r>
          </a:p>
        </p:txBody>
      </p:sp>
      <p:sp>
        <p:nvSpPr>
          <p:cNvPr id="13" name="TextBox 12"/>
          <p:cNvSpPr txBox="1"/>
          <p:nvPr/>
        </p:nvSpPr>
        <p:spPr>
          <a:xfrm>
            <a:off x="6978883" y="2423159"/>
            <a:ext cx="204642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CIFRADO O FIRMA</a:t>
            </a:r>
          </a:p>
        </p:txBody>
      </p:sp>
      <p:sp>
        <p:nvSpPr>
          <p:cNvPr id="14" name="TextBox 13"/>
          <p:cNvSpPr txBox="1"/>
          <p:nvPr/>
        </p:nvSpPr>
        <p:spPr>
          <a:xfrm>
            <a:off x="9189902" y="2423159"/>
            <a:ext cx="226752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FRENTE A HOY</a:t>
            </a:r>
          </a:p>
        </p:txBody>
      </p:sp>
      <p:sp>
        <p:nvSpPr>
          <p:cNvPr id="15" name="Rectangle 14"/>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25495"/>
            <a:ext cx="40363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X25519 · acuerdo clásico</a:t>
            </a:r>
          </a:p>
        </p:txBody>
      </p:sp>
      <p:sp>
        <p:nvSpPr>
          <p:cNvPr id="17" name="TextBox 16"/>
          <p:cNvSpPr txBox="1"/>
          <p:nvPr/>
        </p:nvSpPr>
        <p:spPr>
          <a:xfrm>
            <a:off x="4767864" y="282549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32 bytes</a:t>
            </a:r>
          </a:p>
        </p:txBody>
      </p:sp>
      <p:sp>
        <p:nvSpPr>
          <p:cNvPr id="18" name="TextBox 17"/>
          <p:cNvSpPr txBox="1"/>
          <p:nvPr/>
        </p:nvSpPr>
        <p:spPr>
          <a:xfrm>
            <a:off x="6978883" y="282549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32 bytes</a:t>
            </a:r>
          </a:p>
        </p:txBody>
      </p:sp>
      <p:sp>
        <p:nvSpPr>
          <p:cNvPr id="19" name="TextBox 18"/>
          <p:cNvSpPr txBox="1"/>
          <p:nvPr/>
        </p:nvSpPr>
        <p:spPr>
          <a:xfrm>
            <a:off x="9189902" y="2825495"/>
            <a:ext cx="2267529"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Referencia</a:t>
            </a:r>
          </a:p>
        </p:txBody>
      </p:sp>
      <p:sp>
        <p:nvSpPr>
          <p:cNvPr id="20" name="Rectangle 19"/>
          <p:cNvSpPr/>
          <p:nvPr/>
        </p:nvSpPr>
        <p:spPr>
          <a:xfrm>
            <a:off x="566928" y="30998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191255"/>
            <a:ext cx="4036344" cy="31089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ML-KEM-768 · acuerdo post-cuántico</a:t>
            </a:r>
          </a:p>
        </p:txBody>
      </p:sp>
      <p:sp>
        <p:nvSpPr>
          <p:cNvPr id="22" name="TextBox 21"/>
          <p:cNvSpPr txBox="1"/>
          <p:nvPr/>
        </p:nvSpPr>
        <p:spPr>
          <a:xfrm>
            <a:off x="4767864" y="319125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1.184 bytes</a:t>
            </a:r>
          </a:p>
        </p:txBody>
      </p:sp>
      <p:sp>
        <p:nvSpPr>
          <p:cNvPr id="23" name="TextBox 22"/>
          <p:cNvSpPr txBox="1"/>
          <p:nvPr/>
        </p:nvSpPr>
        <p:spPr>
          <a:xfrm>
            <a:off x="6978883" y="319125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1.088 bytes</a:t>
            </a:r>
          </a:p>
        </p:txBody>
      </p:sp>
      <p:sp>
        <p:nvSpPr>
          <p:cNvPr id="24" name="TextBox 23"/>
          <p:cNvSpPr txBox="1"/>
          <p:nvPr/>
        </p:nvSpPr>
        <p:spPr>
          <a:xfrm>
            <a:off x="9189902" y="3191255"/>
            <a:ext cx="2267529"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Unas 37 veces más</a:t>
            </a:r>
          </a:p>
        </p:txBody>
      </p:sp>
      <p:sp>
        <p:nvSpPr>
          <p:cNvPr id="25" name="Rectangle 24"/>
          <p:cNvSpPr/>
          <p:nvPr/>
        </p:nvSpPr>
        <p:spPr>
          <a:xfrm>
            <a:off x="566928" y="34655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57015"/>
            <a:ext cx="40363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Ed25519 · firma clásica</a:t>
            </a:r>
          </a:p>
        </p:txBody>
      </p:sp>
      <p:sp>
        <p:nvSpPr>
          <p:cNvPr id="27" name="TextBox 26"/>
          <p:cNvSpPr txBox="1"/>
          <p:nvPr/>
        </p:nvSpPr>
        <p:spPr>
          <a:xfrm>
            <a:off x="4767864" y="355701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32 bytes</a:t>
            </a:r>
          </a:p>
        </p:txBody>
      </p:sp>
      <p:sp>
        <p:nvSpPr>
          <p:cNvPr id="28" name="TextBox 27"/>
          <p:cNvSpPr txBox="1"/>
          <p:nvPr/>
        </p:nvSpPr>
        <p:spPr>
          <a:xfrm>
            <a:off x="6978883" y="355701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64 bytes</a:t>
            </a:r>
          </a:p>
        </p:txBody>
      </p:sp>
      <p:sp>
        <p:nvSpPr>
          <p:cNvPr id="29" name="TextBox 28"/>
          <p:cNvSpPr txBox="1"/>
          <p:nvPr/>
        </p:nvSpPr>
        <p:spPr>
          <a:xfrm>
            <a:off x="9189902" y="3557015"/>
            <a:ext cx="2267529"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Referencia</a:t>
            </a:r>
          </a:p>
        </p:txBody>
      </p:sp>
      <p:sp>
        <p:nvSpPr>
          <p:cNvPr id="30" name="Rectangle 29"/>
          <p:cNvSpPr/>
          <p:nvPr/>
        </p:nvSpPr>
        <p:spPr>
          <a:xfrm>
            <a:off x="566928" y="38313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922775"/>
            <a:ext cx="4036344" cy="31089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ML-DSA-65 · firma post-cuántica</a:t>
            </a:r>
          </a:p>
        </p:txBody>
      </p:sp>
      <p:sp>
        <p:nvSpPr>
          <p:cNvPr id="32" name="TextBox 31"/>
          <p:cNvSpPr txBox="1"/>
          <p:nvPr/>
        </p:nvSpPr>
        <p:spPr>
          <a:xfrm>
            <a:off x="4767864" y="392277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1.952 bytes</a:t>
            </a:r>
          </a:p>
        </p:txBody>
      </p:sp>
      <p:sp>
        <p:nvSpPr>
          <p:cNvPr id="33" name="TextBox 32"/>
          <p:cNvSpPr txBox="1"/>
          <p:nvPr/>
        </p:nvSpPr>
        <p:spPr>
          <a:xfrm>
            <a:off x="6978883" y="3922775"/>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3.309 bytes</a:t>
            </a:r>
          </a:p>
        </p:txBody>
      </p:sp>
      <p:sp>
        <p:nvSpPr>
          <p:cNvPr id="34" name="TextBox 33"/>
          <p:cNvSpPr txBox="1"/>
          <p:nvPr/>
        </p:nvSpPr>
        <p:spPr>
          <a:xfrm>
            <a:off x="9189902" y="3922775"/>
            <a:ext cx="2267529"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Unas 50 veces más en la firma</a:t>
            </a:r>
          </a:p>
        </p:txBody>
      </p:sp>
      <p:sp>
        <p:nvSpPr>
          <p:cNvPr id="35" name="Rectangle 34"/>
          <p:cNvSpPr/>
          <p:nvPr/>
        </p:nvSpPr>
        <p:spPr>
          <a:xfrm>
            <a:off x="566928" y="419709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4288536"/>
            <a:ext cx="4036344"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SLH-DSA-128s · firma conservadora</a:t>
            </a:r>
          </a:p>
        </p:txBody>
      </p:sp>
      <p:sp>
        <p:nvSpPr>
          <p:cNvPr id="37" name="TextBox 36"/>
          <p:cNvSpPr txBox="1"/>
          <p:nvPr/>
        </p:nvSpPr>
        <p:spPr>
          <a:xfrm>
            <a:off x="4767864" y="4288536"/>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32 bytes</a:t>
            </a:r>
          </a:p>
        </p:txBody>
      </p:sp>
      <p:sp>
        <p:nvSpPr>
          <p:cNvPr id="38" name="TextBox 37"/>
          <p:cNvSpPr txBox="1"/>
          <p:nvPr/>
        </p:nvSpPr>
        <p:spPr>
          <a:xfrm>
            <a:off x="6978883" y="4288536"/>
            <a:ext cx="2046427"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7.856 bytes</a:t>
            </a:r>
          </a:p>
        </p:txBody>
      </p:sp>
      <p:sp>
        <p:nvSpPr>
          <p:cNvPr id="39" name="TextBox 38"/>
          <p:cNvSpPr txBox="1"/>
          <p:nvPr/>
        </p:nvSpPr>
        <p:spPr>
          <a:xfrm>
            <a:off x="9189902" y="4288536"/>
            <a:ext cx="2267529"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Llave mínima, firma enorme</a:t>
            </a:r>
          </a:p>
        </p:txBody>
      </p:sp>
      <p:sp>
        <p:nvSpPr>
          <p:cNvPr id="40" name="Rectangle 39"/>
          <p:cNvSpPr/>
          <p:nvPr/>
        </p:nvSpPr>
        <p:spPr>
          <a:xfrm>
            <a:off x="566928" y="456285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461772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919472"/>
            <a:ext cx="45720" cy="804672"/>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2" y="4937759"/>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DÓNDE DUELE</a:t>
            </a:r>
          </a:p>
        </p:txBody>
      </p:sp>
      <p:sp>
        <p:nvSpPr>
          <p:cNvPr id="44" name="TextBox 43"/>
          <p:cNvSpPr txBox="1"/>
          <p:nvPr/>
        </p:nvSpPr>
        <p:spPr>
          <a:xfrm>
            <a:off x="804672" y="5175504"/>
            <a:ext cx="10780776" cy="530352"/>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Un certificado con firma post-cuántica ocupa varias veces más, y una cadena completa puede no caber en los primeros paquetes del apretón de manos. </a:t>
            </a:r>
            <a:r>
              <a:rPr sz="1150" b="1">
                <a:solidFill>
                  <a:srgbClr val="2A2A2A"/>
                </a:solidFill>
                <a:latin typeface="Arial"/>
              </a:rPr>
              <a:t>Los cajeros, los lectores de tarjetas y los enlaces lentos son los que más lo van a sentir</a:t>
            </a:r>
            <a:r>
              <a:rPr sz="1150" b="0">
                <a:solidFill>
                  <a:srgbClr val="2A2A2A"/>
                </a:solidFill>
                <a:latin typeface="Arial"/>
              </a:rPr>
              <a:t>, y por eso el inventario tiene que incluir el hardware.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34  MIGRACIÓN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CÓMO SE MIGRA SIN APOSTARLO TODO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41</a:t>
            </a:r>
          </a:p>
        </p:txBody>
      </p:sp>
      <p:sp>
        <p:nvSpPr>
          <p:cNvPr id="9" name="TextBox 8"/>
          <p:cNvSpPr txBox="1"/>
          <p:nvPr/>
        </p:nvSpPr>
        <p:spPr>
          <a:xfrm>
            <a:off x="566928" y="1554480"/>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MODO HÍBRIDO</a:t>
            </a:r>
          </a:p>
        </p:txBody>
      </p:sp>
      <p:sp>
        <p:nvSpPr>
          <p:cNvPr id="10" name="TextBox 9"/>
          <p:cNvSpPr txBox="1"/>
          <p:nvPr/>
        </p:nvSpPr>
        <p:spPr>
          <a:xfrm>
            <a:off x="566928" y="1828800"/>
            <a:ext cx="5253228" cy="16916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Se combinan el algoritmo clásico y el nuevo, de modo que </a:t>
            </a:r>
            <a:r>
              <a:rPr sz="1150" b="1">
                <a:solidFill>
                  <a:srgbClr val="000000"/>
                </a:solidFill>
                <a:latin typeface="Arial"/>
              </a:rPr>
              <a:t>haya que romper los dos</a:t>
            </a:r>
            <a:r>
              <a:rPr sz="1150" b="0">
                <a:solidFill>
                  <a:srgbClr val="000000"/>
                </a:solidFill>
                <a:latin typeface="Arial"/>
              </a:rPr>
              <a:t> para comprometer la comunicación.</a:t>
            </a:r>
          </a:p>
          <a:p>
            <a:pPr algn="l">
              <a:lnSpc>
                <a:spcPct val="128000"/>
              </a:lnSpc>
              <a:spcAft>
                <a:spcPts val="700"/>
              </a:spcAft>
            </a:pPr>
            <a:r>
              <a:rPr sz="1150" b="0">
                <a:solidFill>
                  <a:srgbClr val="000000"/>
                </a:solidFill>
                <a:latin typeface="Arial"/>
              </a:rPr>
              <a:t>Protege contra dos riesgos opuestos: que el clásico caiga por un avance cuántico, y que el nuevo caiga por un fallo de diseño todavía no descubierto.</a:t>
            </a:r>
          </a:p>
          <a:p>
            <a:pPr algn="l">
              <a:lnSpc>
                <a:spcPct val="128000"/>
              </a:lnSpc>
              <a:spcAft>
                <a:spcPts val="700"/>
              </a:spcAft>
            </a:pPr>
            <a:r>
              <a:rPr sz="1150" b="0">
                <a:solidFill>
                  <a:srgbClr val="000000"/>
                </a:solidFill>
                <a:latin typeface="Arial"/>
              </a:rPr>
              <a:t>Es la forma en que se está desplegando hoy en los canales seguros de internet.</a:t>
            </a:r>
          </a:p>
        </p:txBody>
      </p:sp>
      <p:sp>
        <p:nvSpPr>
          <p:cNvPr id="11" name="TextBox 10"/>
          <p:cNvSpPr txBox="1"/>
          <p:nvPr/>
        </p:nvSpPr>
        <p:spPr>
          <a:xfrm>
            <a:off x="6368796" y="1554480"/>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CAMBIA EN LA PRÁCTICA</a:t>
            </a:r>
          </a:p>
        </p:txBody>
      </p:sp>
      <p:sp>
        <p:nvSpPr>
          <p:cNvPr id="12" name="TextBox 11"/>
          <p:cNvSpPr txBox="1"/>
          <p:nvPr/>
        </p:nvSpPr>
        <p:spPr>
          <a:xfrm>
            <a:off x="6368796" y="1828800"/>
            <a:ext cx="5253228" cy="1691639"/>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Las llaves y las firmas nuevas son </a:t>
            </a:r>
            <a:r>
              <a:rPr sz="1150" b="1">
                <a:solidFill>
                  <a:srgbClr val="000000"/>
                </a:solidFill>
                <a:latin typeface="Arial"/>
              </a:rPr>
              <a:t>mucho más grandes</a:t>
            </a:r>
            <a:r>
              <a:rPr sz="1150" b="0">
                <a:solidFill>
                  <a:srgbClr val="000000"/>
                </a:solidFill>
                <a:latin typeface="Arial"/>
              </a:rPr>
              <a:t>: eso afecta al tamaño de los mensajes, a los certificados y a los dispositivos con memoria limitada.</a:t>
            </a:r>
          </a:p>
          <a:p>
            <a:pPr algn="l">
              <a:lnSpc>
                <a:spcPct val="128000"/>
              </a:lnSpc>
              <a:spcAft>
                <a:spcPts val="700"/>
              </a:spcAft>
            </a:pPr>
            <a:r>
              <a:rPr sz="1150" b="0">
                <a:solidFill>
                  <a:srgbClr val="000000"/>
                </a:solidFill>
                <a:latin typeface="Arial"/>
              </a:rPr>
              <a:t>Los cajeros, los lectores de tarjetas y el hardware embebido son los que más van a sufrir, y son los que más tardan en renovarse.</a:t>
            </a:r>
          </a:p>
          <a:p>
            <a:pPr algn="l">
              <a:lnSpc>
                <a:spcPct val="128000"/>
              </a:lnSpc>
              <a:spcAft>
                <a:spcPts val="700"/>
              </a:spcAft>
            </a:pPr>
            <a:r>
              <a:rPr sz="1150" b="0">
                <a:solidFill>
                  <a:srgbClr val="000000"/>
                </a:solidFill>
                <a:latin typeface="Arial"/>
              </a:rPr>
              <a:t>Por eso el inventario tiene que incluir el hardware, no solo el software.</a:t>
            </a:r>
          </a:p>
        </p:txBody>
      </p:sp>
      <p:sp>
        <p:nvSpPr>
          <p:cNvPr id="13" name="Rectangle 12"/>
          <p:cNvSpPr/>
          <p:nvPr/>
        </p:nvSpPr>
        <p:spPr>
          <a:xfrm>
            <a:off x="6085332" y="1554480"/>
            <a:ext cx="9144" cy="19659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35  DISEÑO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400" b="0">
                <a:solidFill>
                  <a:srgbClr val="000000"/>
                </a:solidFill>
                <a:latin typeface="Arial Black"/>
              </a:rPr>
              <a:t>CRIPTOAGILIDAD: DISEÑAR PARA PODER CAMBIAR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La lección de todo el módulo, convertida en requisito de arquitectura. Ningún algoritmo dura para siempre, así que el sistema tiene que poder cambiarlos sin rehacerse.</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536295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PRÁCTICA</a:t>
            </a:r>
          </a:p>
        </p:txBody>
      </p:sp>
      <p:sp>
        <p:nvSpPr>
          <p:cNvPr id="12" name="TextBox 11"/>
          <p:cNvSpPr txBox="1"/>
          <p:nvPr/>
        </p:nvSpPr>
        <p:spPr>
          <a:xfrm>
            <a:off x="6094476" y="2423159"/>
            <a:ext cx="536295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PERMITE</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5362956"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algoritmo no está escrito dentro del código, sino en configuración</a:t>
            </a:r>
          </a:p>
        </p:txBody>
      </p:sp>
      <p:sp>
        <p:nvSpPr>
          <p:cNvPr id="15" name="TextBox 14"/>
          <p:cNvSpPr txBox="1"/>
          <p:nvPr/>
        </p:nvSpPr>
        <p:spPr>
          <a:xfrm>
            <a:off x="6094476" y="2825495"/>
            <a:ext cx="5362956"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Cambiarlo sin recompilar ni publicar una versión nueva en la tienda</a:t>
            </a:r>
          </a:p>
        </p:txBody>
      </p:sp>
      <p:sp>
        <p:nvSpPr>
          <p:cNvPr id="16" name="Rectangle 15"/>
          <p:cNvSpPr/>
          <p:nvPr/>
        </p:nvSpPr>
        <p:spPr>
          <a:xfrm>
            <a:off x="566928" y="317296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64407"/>
            <a:ext cx="5362956" cy="384048"/>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Cada dato cifrado o firmado lleva anotado con qué se produjo</a:t>
            </a:r>
          </a:p>
        </p:txBody>
      </p:sp>
      <p:sp>
        <p:nvSpPr>
          <p:cNvPr id="18" name="TextBox 17"/>
          <p:cNvSpPr txBox="1"/>
          <p:nvPr/>
        </p:nvSpPr>
        <p:spPr>
          <a:xfrm>
            <a:off x="6094476" y="3264407"/>
            <a:ext cx="5362956"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Convivencia de dos algoritmos durante la transición, y migración gradual</a:t>
            </a:r>
          </a:p>
        </p:txBody>
      </p:sp>
      <p:sp>
        <p:nvSpPr>
          <p:cNvPr id="19" name="Rectangle 18"/>
          <p:cNvSpPr/>
          <p:nvPr/>
        </p:nvSpPr>
        <p:spPr>
          <a:xfrm>
            <a:off x="566928" y="361187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703319"/>
            <a:ext cx="5362956"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Existe un inventario que dice dónde se usa cada algoritmo</a:t>
            </a:r>
          </a:p>
        </p:txBody>
      </p:sp>
      <p:sp>
        <p:nvSpPr>
          <p:cNvPr id="21" name="TextBox 20"/>
          <p:cNvSpPr txBox="1"/>
          <p:nvPr/>
        </p:nvSpPr>
        <p:spPr>
          <a:xfrm>
            <a:off x="6094476" y="3703319"/>
            <a:ext cx="536295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Estimar el alcance de un cambio en horas, no en meses. Es el hallazgo H8 otra vez</a:t>
            </a:r>
          </a:p>
        </p:txBody>
      </p:sp>
      <p:sp>
        <p:nvSpPr>
          <p:cNvPr id="22" name="Rectangle 21"/>
          <p:cNvSpPr/>
          <p:nvPr/>
        </p:nvSpPr>
        <p:spPr>
          <a:xfrm>
            <a:off x="566928" y="415174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243181"/>
            <a:ext cx="5362956"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Las llaves tienen identificador y versión</a:t>
            </a:r>
          </a:p>
        </p:txBody>
      </p:sp>
      <p:sp>
        <p:nvSpPr>
          <p:cNvPr id="24" name="TextBox 23"/>
          <p:cNvSpPr txBox="1"/>
          <p:nvPr/>
        </p:nvSpPr>
        <p:spPr>
          <a:xfrm>
            <a:off x="6094476" y="4243181"/>
            <a:ext cx="5362956"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Rotar sin ambigüedad y saber qué llave descifra qué</a:t>
            </a:r>
          </a:p>
        </p:txBody>
      </p:sp>
      <p:sp>
        <p:nvSpPr>
          <p:cNvPr id="25" name="Rectangle 24"/>
          <p:cNvSpPr/>
          <p:nvPr/>
        </p:nvSpPr>
        <p:spPr>
          <a:xfrm>
            <a:off x="566928" y="459065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682093"/>
            <a:ext cx="5362956" cy="384048"/>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Hay pruebas automatizadas del cambio de algoritmo</a:t>
            </a:r>
          </a:p>
        </p:txBody>
      </p:sp>
      <p:sp>
        <p:nvSpPr>
          <p:cNvPr id="27" name="TextBox 26"/>
          <p:cNvSpPr txBox="1"/>
          <p:nvPr/>
        </p:nvSpPr>
        <p:spPr>
          <a:xfrm>
            <a:off x="6094476" y="4682093"/>
            <a:ext cx="5362956" cy="384048"/>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la migración sea un procedimiento ensayado y no un evento</a:t>
            </a:r>
          </a:p>
        </p:txBody>
      </p:sp>
      <p:sp>
        <p:nvSpPr>
          <p:cNvPr id="28" name="Rectangle 27"/>
          <p:cNvSpPr/>
          <p:nvPr/>
        </p:nvSpPr>
        <p:spPr>
          <a:xfrm>
            <a:off x="566928" y="502956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08442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36  ACCIÓN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DEBERÍA HACER COOPABURRÁ ESTE AÑO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43</a:t>
            </a:r>
          </a:p>
        </p:txBody>
      </p:sp>
      <p:sp>
        <p:nvSpPr>
          <p:cNvPr id="9" name="TextBox 8"/>
          <p:cNvSpPr txBox="1"/>
          <p:nvPr/>
        </p:nvSpPr>
        <p:spPr>
          <a:xfrm>
            <a:off x="566928" y="1600200"/>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0" name="TextBox 9"/>
          <p:cNvSpPr txBox="1"/>
          <p:nvPr/>
        </p:nvSpPr>
        <p:spPr>
          <a:xfrm>
            <a:off x="1280160" y="1618488"/>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Incluir el algoritmo y el tamaño de llave en el inventario criptográfico</a:t>
            </a:r>
          </a:p>
        </p:txBody>
      </p:sp>
      <p:sp>
        <p:nvSpPr>
          <p:cNvPr id="11" name="TextBox 10"/>
          <p:cNvSpPr txBox="1"/>
          <p:nvPr/>
        </p:nvSpPr>
        <p:spPr>
          <a:xfrm>
            <a:off x="1280160" y="1856232"/>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No es trabajo nuevo: es una columna más en el inventario de la entrega 1. Sin ella no se puede estimar nada.</a:t>
            </a:r>
          </a:p>
        </p:txBody>
      </p:sp>
      <p:sp>
        <p:nvSpPr>
          <p:cNvPr id="12" name="TextBox 11"/>
          <p:cNvSpPr txBox="1"/>
          <p:nvPr/>
        </p:nvSpPr>
        <p:spPr>
          <a:xfrm>
            <a:off x="566928" y="23682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3" name="TextBox 12"/>
          <p:cNvSpPr txBox="1"/>
          <p:nvPr/>
        </p:nvSpPr>
        <p:spPr>
          <a:xfrm>
            <a:off x="1280160" y="2386584"/>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Marcar los datos de vida larga</a:t>
            </a:r>
          </a:p>
        </p:txBody>
      </p:sp>
      <p:sp>
        <p:nvSpPr>
          <p:cNvPr id="14" name="TextBox 13"/>
          <p:cNvSpPr txBox="1"/>
          <p:nvPr/>
        </p:nvSpPr>
        <p:spPr>
          <a:xfrm>
            <a:off x="1280160" y="26243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Hipotecas, historia de aportes, expedientes laborales. Son los que hay que migrar primero, no los más visibles.</a:t>
            </a:r>
          </a:p>
        </p:txBody>
      </p:sp>
      <p:sp>
        <p:nvSpPr>
          <p:cNvPr id="15" name="TextBox 14"/>
          <p:cNvSpPr txBox="1"/>
          <p:nvPr/>
        </p:nvSpPr>
        <p:spPr>
          <a:xfrm>
            <a:off x="566928" y="3136391"/>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6" name="TextBox 15"/>
          <p:cNvSpPr txBox="1"/>
          <p:nvPr/>
        </p:nvSpPr>
        <p:spPr>
          <a:xfrm>
            <a:off x="1280160" y="3154679"/>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Exigir criptoagilidad en las compras y en los contratos con proveedores</a:t>
            </a:r>
          </a:p>
        </p:txBody>
      </p:sp>
      <p:sp>
        <p:nvSpPr>
          <p:cNvPr id="17" name="TextBox 16"/>
          <p:cNvSpPr txBox="1"/>
          <p:nvPr/>
        </p:nvSpPr>
        <p:spPr>
          <a:xfrm>
            <a:off x="1280160" y="3392424"/>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La fábrica de software y el proveedor de cajeros deben comprometerse por escrito a soportar los algoritmos nuevos, con fecha.</a:t>
            </a:r>
          </a:p>
        </p:txBody>
      </p:sp>
      <p:sp>
        <p:nvSpPr>
          <p:cNvPr id="18" name="TextBox 17"/>
          <p:cNvSpPr txBox="1"/>
          <p:nvPr/>
        </p:nvSpPr>
        <p:spPr>
          <a:xfrm>
            <a:off x="566928" y="390448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19" name="TextBox 18"/>
          <p:cNvSpPr txBox="1"/>
          <p:nvPr/>
        </p:nvSpPr>
        <p:spPr>
          <a:xfrm>
            <a:off x="1280160" y="392277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Usar AES-256 y resúmenes de 384 bits en todo lo nuevo</a:t>
            </a:r>
          </a:p>
        </p:txBody>
      </p:sp>
      <p:sp>
        <p:nvSpPr>
          <p:cNvPr id="20" name="TextBox 19"/>
          <p:cNvSpPr txBox="1"/>
          <p:nvPr/>
        </p:nvSpPr>
        <p:spPr>
          <a:xfrm>
            <a:off x="1280160" y="4160520"/>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Es gratis, es hoy, y quita de la lista de preocupaciones todo el lado simétrico.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37  INVENTARIO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EL INVENTARIO CRIPTOGRÁFICO MADURO</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44</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Cerramos donde empezamos. Aquel de la entrega 1 era una lista; este es el instrumento de gestión que el módulo completo justifica. Estas son las columnas que debería tener al final.</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26248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COLUMNA</a:t>
            </a:r>
          </a:p>
        </p:txBody>
      </p:sp>
      <p:sp>
        <p:nvSpPr>
          <p:cNvPr id="12" name="TextBox 11"/>
          <p:cNvSpPr txBox="1"/>
          <p:nvPr/>
        </p:nvSpPr>
        <p:spPr>
          <a:xfrm>
            <a:off x="3994007" y="2423159"/>
            <a:ext cx="4146895"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PARA QUÉ SIRVE</a:t>
            </a:r>
          </a:p>
        </p:txBody>
      </p:sp>
      <p:sp>
        <p:nvSpPr>
          <p:cNvPr id="13" name="TextBox 12"/>
          <p:cNvSpPr txBox="1"/>
          <p:nvPr/>
        </p:nvSpPr>
        <p:spPr>
          <a:xfrm>
            <a:off x="8305495" y="2423159"/>
            <a:ext cx="3151936"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PREGUNTA RESPONDE</a:t>
            </a:r>
          </a:p>
        </p:txBody>
      </p:sp>
      <p:sp>
        <p:nvSpPr>
          <p:cNvPr id="14" name="Rectangle 13"/>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2825495"/>
            <a:ext cx="3262487"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Identificador y propósito</a:t>
            </a:r>
          </a:p>
        </p:txBody>
      </p:sp>
      <p:sp>
        <p:nvSpPr>
          <p:cNvPr id="16" name="TextBox 15"/>
          <p:cNvSpPr txBox="1"/>
          <p:nvPr/>
        </p:nvSpPr>
        <p:spPr>
          <a:xfrm>
            <a:off x="3994007" y="2825495"/>
            <a:ext cx="414689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Distinguir llaves y evitar reutilización entre usos</a:t>
            </a:r>
          </a:p>
        </p:txBody>
      </p:sp>
      <p:sp>
        <p:nvSpPr>
          <p:cNvPr id="17" name="TextBox 16"/>
          <p:cNvSpPr txBox="1"/>
          <p:nvPr/>
        </p:nvSpPr>
        <p:spPr>
          <a:xfrm>
            <a:off x="8305495" y="2825495"/>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¿Cuántas llaves hay y para qué?</a:t>
            </a:r>
          </a:p>
        </p:txBody>
      </p:sp>
      <p:sp>
        <p:nvSpPr>
          <p:cNvPr id="18" name="Rectangle 17"/>
          <p:cNvSpPr/>
          <p:nvPr/>
        </p:nvSpPr>
        <p:spPr>
          <a:xfrm>
            <a:off x="566928" y="30998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91255"/>
            <a:ext cx="3262487" cy="484997"/>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Algoritmo y tamaño</a:t>
            </a:r>
          </a:p>
        </p:txBody>
      </p:sp>
      <p:sp>
        <p:nvSpPr>
          <p:cNvPr id="20" name="TextBox 19"/>
          <p:cNvSpPr txBox="1"/>
          <p:nvPr/>
        </p:nvSpPr>
        <p:spPr>
          <a:xfrm>
            <a:off x="3994007" y="3191255"/>
            <a:ext cx="4146895"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Detectar lo que está fuera de política y estimar la migración</a:t>
            </a:r>
          </a:p>
        </p:txBody>
      </p:sp>
      <p:sp>
        <p:nvSpPr>
          <p:cNvPr id="21" name="TextBox 20"/>
          <p:cNvSpPr txBox="1"/>
          <p:nvPr/>
        </p:nvSpPr>
        <p:spPr>
          <a:xfrm>
            <a:off x="8305495" y="3191255"/>
            <a:ext cx="3151936"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¿Qué hay que cambiar antes de 2030?</a:t>
            </a:r>
          </a:p>
        </p:txBody>
      </p:sp>
      <p:sp>
        <p:nvSpPr>
          <p:cNvPr id="22" name="Rectangle 21"/>
          <p:cNvSpPr/>
          <p:nvPr/>
        </p:nvSpPr>
        <p:spPr>
          <a:xfrm>
            <a:off x="566928" y="363967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731117"/>
            <a:ext cx="3262487"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Dónde reside y bajo qué custodia</a:t>
            </a:r>
          </a:p>
        </p:txBody>
      </p:sp>
      <p:sp>
        <p:nvSpPr>
          <p:cNvPr id="24" name="TextBox 23"/>
          <p:cNvSpPr txBox="1"/>
          <p:nvPr/>
        </p:nvSpPr>
        <p:spPr>
          <a:xfrm>
            <a:off x="3994007" y="3731117"/>
            <a:ext cx="414689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Saber el nivel de protección real de cada una</a:t>
            </a:r>
          </a:p>
        </p:txBody>
      </p:sp>
      <p:sp>
        <p:nvSpPr>
          <p:cNvPr id="25" name="TextBox 24"/>
          <p:cNvSpPr txBox="1"/>
          <p:nvPr/>
        </p:nvSpPr>
        <p:spPr>
          <a:xfrm>
            <a:off x="8305495" y="3731117"/>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¿Qué pasa si se compromete ese equipo?</a:t>
            </a:r>
          </a:p>
        </p:txBody>
      </p:sp>
      <p:sp>
        <p:nvSpPr>
          <p:cNvPr id="26" name="Rectangle 25"/>
          <p:cNvSpPr/>
          <p:nvPr/>
        </p:nvSpPr>
        <p:spPr>
          <a:xfrm>
            <a:off x="566928" y="400543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 y="4096877"/>
            <a:ext cx="3262487"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Responsable, por rol</a:t>
            </a:r>
          </a:p>
        </p:txBody>
      </p:sp>
      <p:sp>
        <p:nvSpPr>
          <p:cNvPr id="28" name="TextBox 27"/>
          <p:cNvSpPr txBox="1"/>
          <p:nvPr/>
        </p:nvSpPr>
        <p:spPr>
          <a:xfrm>
            <a:off x="3994007" y="4096877"/>
            <a:ext cx="414689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la salida de una persona no deje llaves huérfanas</a:t>
            </a:r>
          </a:p>
        </p:txBody>
      </p:sp>
      <p:sp>
        <p:nvSpPr>
          <p:cNvPr id="29" name="TextBox 28"/>
          <p:cNvSpPr txBox="1"/>
          <p:nvPr/>
        </p:nvSpPr>
        <p:spPr>
          <a:xfrm>
            <a:off x="8305495" y="4096877"/>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¿Quién responde por esta llave hoy?</a:t>
            </a:r>
          </a:p>
        </p:txBody>
      </p:sp>
      <p:sp>
        <p:nvSpPr>
          <p:cNvPr id="30" name="Rectangle 29"/>
          <p:cNvSpPr/>
          <p:nvPr/>
        </p:nvSpPr>
        <p:spPr>
          <a:xfrm>
            <a:off x="566928" y="43711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462637"/>
            <a:ext cx="3262487"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Fecha de creación y de rotación</a:t>
            </a:r>
          </a:p>
        </p:txBody>
      </p:sp>
      <p:sp>
        <p:nvSpPr>
          <p:cNvPr id="32" name="TextBox 31"/>
          <p:cNvSpPr txBox="1"/>
          <p:nvPr/>
        </p:nvSpPr>
        <p:spPr>
          <a:xfrm>
            <a:off x="3994007" y="4462637"/>
            <a:ext cx="414689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Convertir la rotación en una tarea programada</a:t>
            </a:r>
          </a:p>
        </p:txBody>
      </p:sp>
      <p:sp>
        <p:nvSpPr>
          <p:cNvPr id="33" name="TextBox 32"/>
          <p:cNvSpPr txBox="1"/>
          <p:nvPr/>
        </p:nvSpPr>
        <p:spPr>
          <a:xfrm>
            <a:off x="8305495" y="4462637"/>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¿Cuáles están vencidas ahora mismo?</a:t>
            </a:r>
          </a:p>
        </p:txBody>
      </p:sp>
      <p:sp>
        <p:nvSpPr>
          <p:cNvPr id="34" name="Rectangle 33"/>
          <p:cNvSpPr/>
          <p:nvPr/>
        </p:nvSpPr>
        <p:spPr>
          <a:xfrm>
            <a:off x="566928" y="473695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4828397"/>
            <a:ext cx="3262487"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Sistemas que dependen de ella</a:t>
            </a:r>
          </a:p>
        </p:txBody>
      </p:sp>
      <p:sp>
        <p:nvSpPr>
          <p:cNvPr id="36" name="TextBox 35"/>
          <p:cNvSpPr txBox="1"/>
          <p:nvPr/>
        </p:nvSpPr>
        <p:spPr>
          <a:xfrm>
            <a:off x="3994007" y="4828397"/>
            <a:ext cx="414689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Estimar el impacto de rotarla o retirarla</a:t>
            </a:r>
          </a:p>
        </p:txBody>
      </p:sp>
      <p:sp>
        <p:nvSpPr>
          <p:cNvPr id="37" name="TextBox 36"/>
          <p:cNvSpPr txBox="1"/>
          <p:nvPr/>
        </p:nvSpPr>
        <p:spPr>
          <a:xfrm>
            <a:off x="8305495" y="4828397"/>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¿Qué se cae si la cambio?</a:t>
            </a:r>
          </a:p>
        </p:txBody>
      </p:sp>
      <p:sp>
        <p:nvSpPr>
          <p:cNvPr id="38" name="Rectangle 37"/>
          <p:cNvSpPr/>
          <p:nvPr/>
        </p:nvSpPr>
        <p:spPr>
          <a:xfrm>
            <a:off x="566928" y="510271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 y="5194157"/>
            <a:ext cx="3262487" cy="31089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Vida útil del dato que protege</a:t>
            </a:r>
          </a:p>
        </p:txBody>
      </p:sp>
      <p:sp>
        <p:nvSpPr>
          <p:cNvPr id="40" name="TextBox 39"/>
          <p:cNvSpPr txBox="1"/>
          <p:nvPr/>
        </p:nvSpPr>
        <p:spPr>
          <a:xfrm>
            <a:off x="3994007" y="5194157"/>
            <a:ext cx="4146895"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Priorizar la migración post-cuántica por exposición real</a:t>
            </a:r>
          </a:p>
        </p:txBody>
      </p:sp>
      <p:sp>
        <p:nvSpPr>
          <p:cNvPr id="41" name="TextBox 40"/>
          <p:cNvSpPr txBox="1"/>
          <p:nvPr/>
        </p:nvSpPr>
        <p:spPr>
          <a:xfrm>
            <a:off x="8305495" y="5194157"/>
            <a:ext cx="3151936" cy="31089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¿Qué hay que migrar primero?</a:t>
            </a:r>
          </a:p>
        </p:txBody>
      </p:sp>
      <p:sp>
        <p:nvSpPr>
          <p:cNvPr id="42" name="Rectangle 41"/>
          <p:cNvSpPr/>
          <p:nvPr/>
        </p:nvSpPr>
        <p:spPr>
          <a:xfrm>
            <a:off x="566928" y="546847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 y="5523341"/>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38  GOBIERNO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QUÉ SE LE REPORTA AL COMITÉ CADA MES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45</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Un comité no quiere ver hallazgos todos los meses: quiere ver si la situación mejora o empeora. Seis indicadores bastan, y todos salen del inventario.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514185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INDICADOR</a:t>
            </a:r>
          </a:p>
        </p:txBody>
      </p:sp>
      <p:sp>
        <p:nvSpPr>
          <p:cNvPr id="12" name="TextBox 11"/>
          <p:cNvSpPr txBox="1"/>
          <p:nvPr/>
        </p:nvSpPr>
        <p:spPr>
          <a:xfrm>
            <a:off x="5873374" y="2423159"/>
            <a:ext cx="5584057"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 ESE Y NO OTRO</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514185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Porcentaje de llaves con responsable nombrado</a:t>
            </a:r>
          </a:p>
        </p:txBody>
      </p:sp>
      <p:sp>
        <p:nvSpPr>
          <p:cNvPr id="15" name="TextBox 14"/>
          <p:cNvSpPr txBox="1"/>
          <p:nvPr/>
        </p:nvSpPr>
        <p:spPr>
          <a:xfrm>
            <a:off x="5873374" y="2825495"/>
            <a:ext cx="5584057"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el que más rápido revela el problema de fondo, y el más barato de corregir</a:t>
            </a:r>
          </a:p>
        </p:txBody>
      </p:sp>
      <p:sp>
        <p:nvSpPr>
          <p:cNvPr id="16" name="Rectangle 15"/>
          <p:cNvSpPr/>
          <p:nvPr/>
        </p:nvSpPr>
        <p:spPr>
          <a:xfrm>
            <a:off x="566928" y="313639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27831"/>
            <a:ext cx="5141854" cy="347472"/>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Certificados que vencen en los próximos 60 días</a:t>
            </a:r>
          </a:p>
        </p:txBody>
      </p:sp>
      <p:sp>
        <p:nvSpPr>
          <p:cNvPr id="18" name="TextBox 17"/>
          <p:cNvSpPr txBox="1"/>
          <p:nvPr/>
        </p:nvSpPr>
        <p:spPr>
          <a:xfrm>
            <a:off x="5873374" y="3227831"/>
            <a:ext cx="5584057"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Convierte en rutina lo que hoy es una sorpresa cada tanto</a:t>
            </a:r>
          </a:p>
        </p:txBody>
      </p:sp>
      <p:sp>
        <p:nvSpPr>
          <p:cNvPr id="19" name="Rectangle 18"/>
          <p:cNvSpPr/>
          <p:nvPr/>
        </p:nvSpPr>
        <p:spPr>
          <a:xfrm>
            <a:off x="566928" y="353872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630167"/>
            <a:ext cx="514185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Llaves fuera de su periodo de rotación</a:t>
            </a:r>
          </a:p>
        </p:txBody>
      </p:sp>
      <p:sp>
        <p:nvSpPr>
          <p:cNvPr id="21" name="TextBox 20"/>
          <p:cNvSpPr txBox="1"/>
          <p:nvPr/>
        </p:nvSpPr>
        <p:spPr>
          <a:xfrm>
            <a:off x="5873374" y="3630167"/>
            <a:ext cx="5584057"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 esta cifra no baja, la política existe solo en el papel</a:t>
            </a:r>
          </a:p>
        </p:txBody>
      </p:sp>
      <p:sp>
        <p:nvSpPr>
          <p:cNvPr id="22" name="Rectangle 21"/>
          <p:cNvSpPr/>
          <p:nvPr/>
        </p:nvSpPr>
        <p:spPr>
          <a:xfrm>
            <a:off x="566928" y="394106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032503"/>
            <a:ext cx="514185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Algoritmos en uso fuera de la política vigente</a:t>
            </a:r>
          </a:p>
        </p:txBody>
      </p:sp>
      <p:sp>
        <p:nvSpPr>
          <p:cNvPr id="24" name="TextBox 23"/>
          <p:cNvSpPr txBox="1"/>
          <p:nvPr/>
        </p:nvSpPr>
        <p:spPr>
          <a:xfrm>
            <a:off x="5873374" y="4032503"/>
            <a:ext cx="5584057"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el tablero de la migración, incluida la post-cuántica</a:t>
            </a:r>
          </a:p>
        </p:txBody>
      </p:sp>
      <p:sp>
        <p:nvSpPr>
          <p:cNvPr id="25" name="Rectangle 24"/>
          <p:cNvSpPr/>
          <p:nvPr/>
        </p:nvSpPr>
        <p:spPr>
          <a:xfrm>
            <a:off x="566928" y="4343400"/>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434840"/>
            <a:ext cx="514185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Llaves encontradas fuera del inventario en el último barrido</a:t>
            </a:r>
          </a:p>
        </p:txBody>
      </p:sp>
      <p:sp>
        <p:nvSpPr>
          <p:cNvPr id="27" name="TextBox 26"/>
          <p:cNvSpPr txBox="1"/>
          <p:nvPr/>
        </p:nvSpPr>
        <p:spPr>
          <a:xfrm>
            <a:off x="5873374" y="4434840"/>
            <a:ext cx="5584057"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Mide si el inventario refleja la realidad o solo la intención</a:t>
            </a:r>
          </a:p>
        </p:txBody>
      </p:sp>
      <p:sp>
        <p:nvSpPr>
          <p:cNvPr id="28" name="Rectangle 27"/>
          <p:cNvSpPr/>
          <p:nvPr/>
        </p:nvSpPr>
        <p:spPr>
          <a:xfrm>
            <a:off x="566928" y="4745736"/>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837176"/>
            <a:ext cx="5141854" cy="347472"/>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Hallazgos abiertos por antigüedad</a:t>
            </a:r>
          </a:p>
        </p:txBody>
      </p:sp>
      <p:sp>
        <p:nvSpPr>
          <p:cNvPr id="30" name="TextBox 29"/>
          <p:cNvSpPr txBox="1"/>
          <p:nvPr/>
        </p:nvSpPr>
        <p:spPr>
          <a:xfrm>
            <a:off x="5873374" y="4837176"/>
            <a:ext cx="5584057" cy="347472"/>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Distingue lo que se está resolviendo de lo que solo se está registrando</a:t>
            </a:r>
          </a:p>
        </p:txBody>
      </p:sp>
      <p:sp>
        <p:nvSpPr>
          <p:cNvPr id="31" name="Rectangle 30"/>
          <p:cNvSpPr/>
          <p:nvPr/>
        </p:nvSpPr>
        <p:spPr>
          <a:xfrm>
            <a:off x="566928" y="5148072"/>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520293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39  NORMA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200" b="0">
                <a:solidFill>
                  <a:srgbClr val="000000"/>
                </a:solidFill>
                <a:latin typeface="Arial Black"/>
              </a:rPr>
              <a:t>LO QUE LE EXIGEN A COOPABURRÁ, Y DE DÓNDE SALE</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46</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Para la sustentación conviene poder decir de dónde sale cada obligación. Ustedes ya vieron el marco legal conmigo; esto es solo el recorte que aplica a este módulo.</a:t>
            </a:r>
          </a:p>
        </p:txBody>
      </p:sp>
      <p:sp>
        <p:nvSpPr>
          <p:cNvPr id="10" name="Rectangle 9"/>
          <p:cNvSpPr/>
          <p:nvPr/>
        </p:nvSpPr>
        <p:spPr>
          <a:xfrm>
            <a:off x="566928" y="230428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423159"/>
            <a:ext cx="3594140"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FUENTE</a:t>
            </a:r>
          </a:p>
        </p:txBody>
      </p:sp>
      <p:sp>
        <p:nvSpPr>
          <p:cNvPr id="12" name="TextBox 11"/>
          <p:cNvSpPr txBox="1"/>
          <p:nvPr/>
        </p:nvSpPr>
        <p:spPr>
          <a:xfrm>
            <a:off x="4325660" y="2423159"/>
            <a:ext cx="713177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EXIGE EN MATERIA CRIPTOGRÁFICA</a:t>
            </a:r>
          </a:p>
        </p:txBody>
      </p:sp>
      <p:sp>
        <p:nvSpPr>
          <p:cNvPr id="13" name="Rectangle 12"/>
          <p:cNvSpPr/>
          <p:nvPr/>
        </p:nvSpPr>
        <p:spPr>
          <a:xfrm>
            <a:off x="566928" y="2715767"/>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825495"/>
            <a:ext cx="3594140" cy="49377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Ley 527 de 1999</a:t>
            </a:r>
          </a:p>
        </p:txBody>
      </p:sp>
      <p:sp>
        <p:nvSpPr>
          <p:cNvPr id="15" name="TextBox 14"/>
          <p:cNvSpPr txBox="1"/>
          <p:nvPr/>
        </p:nvSpPr>
        <p:spPr>
          <a:xfrm>
            <a:off x="4325660" y="2825495"/>
            <a:ext cx="7131771" cy="49377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Condiciones para que un mensaje de datos y una firma tengan valor probatorio, y que la información se conserve accesible y consultable con su origen, destino y fecha</a:t>
            </a:r>
          </a:p>
        </p:txBody>
      </p:sp>
      <p:sp>
        <p:nvSpPr>
          <p:cNvPr id="16" name="Rectangle 15"/>
          <p:cNvSpPr/>
          <p:nvPr/>
        </p:nvSpPr>
        <p:spPr>
          <a:xfrm>
            <a:off x="566928" y="328269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74135"/>
            <a:ext cx="3594140" cy="49377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Régimen de protección de datos personales</a:t>
            </a:r>
          </a:p>
        </p:txBody>
      </p:sp>
      <p:sp>
        <p:nvSpPr>
          <p:cNvPr id="18" name="TextBox 17"/>
          <p:cNvSpPr txBox="1"/>
          <p:nvPr/>
        </p:nvSpPr>
        <p:spPr>
          <a:xfrm>
            <a:off x="4325660" y="3374135"/>
            <a:ext cx="7131771" cy="49377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Medidas de seguridad sobre los datos de los 142.000 asociados, y deber de informar incidentes que los afecten</a:t>
            </a:r>
          </a:p>
        </p:txBody>
      </p:sp>
      <p:sp>
        <p:nvSpPr>
          <p:cNvPr id="19" name="Rectangle 18"/>
          <p:cNvSpPr/>
          <p:nvPr/>
        </p:nvSpPr>
        <p:spPr>
          <a:xfrm>
            <a:off x="566928" y="38313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922775"/>
            <a:ext cx="3594140" cy="49377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Instrucciones de la Superintendencia Financiera</a:t>
            </a:r>
          </a:p>
        </p:txBody>
      </p:sp>
      <p:sp>
        <p:nvSpPr>
          <p:cNvPr id="21" name="TextBox 20"/>
          <p:cNvSpPr txBox="1"/>
          <p:nvPr/>
        </p:nvSpPr>
        <p:spPr>
          <a:xfrm>
            <a:off x="4325660" y="3922775"/>
            <a:ext cx="7131771" cy="49377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Requisitos mínimos de seguridad de la información y ciberseguridad para sus vigilados. Citen la circular vigente al momento del informe, no una de memoria</a:t>
            </a:r>
          </a:p>
        </p:txBody>
      </p:sp>
      <p:sp>
        <p:nvSpPr>
          <p:cNvPr id="22" name="Rectangle 21"/>
          <p:cNvSpPr/>
          <p:nvPr/>
        </p:nvSpPr>
        <p:spPr>
          <a:xfrm>
            <a:off x="566928" y="437997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471415"/>
            <a:ext cx="3594140" cy="49377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Normas de la industria de medios de pago</a:t>
            </a:r>
          </a:p>
        </p:txBody>
      </p:sp>
      <p:sp>
        <p:nvSpPr>
          <p:cNvPr id="24" name="TextBox 23"/>
          <p:cNvSpPr txBox="1"/>
          <p:nvPr/>
        </p:nvSpPr>
        <p:spPr>
          <a:xfrm>
            <a:off x="4325660" y="4471415"/>
            <a:ext cx="7131771" cy="49377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Gestión de llaves de los cajeros y protección de datos de tarjeta, con exigencias explícitas de rotación y custodia</a:t>
            </a:r>
          </a:p>
        </p:txBody>
      </p:sp>
      <p:sp>
        <p:nvSpPr>
          <p:cNvPr id="25" name="Rectangle 24"/>
          <p:cNvSpPr/>
          <p:nvPr/>
        </p:nvSpPr>
        <p:spPr>
          <a:xfrm>
            <a:off x="566928" y="492861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98347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103120"/>
            <a:ext cx="11055096" cy="237744"/>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SECCIÓN</a:t>
            </a:r>
          </a:p>
        </p:txBody>
      </p:sp>
      <p:sp>
        <p:nvSpPr>
          <p:cNvPr id="3" name="TextBox 2"/>
          <p:cNvSpPr txBox="1"/>
          <p:nvPr/>
        </p:nvSpPr>
        <p:spPr>
          <a:xfrm>
            <a:off x="566928" y="2377440"/>
            <a:ext cx="1828800" cy="1005840"/>
          </a:xfrm>
          <a:prstGeom prst="rect">
            <a:avLst/>
          </a:prstGeom>
          <a:noFill/>
        </p:spPr>
        <p:txBody>
          <a:bodyPr wrap="square" lIns="0" rIns="0" tIns="0" bIns="0">
            <a:spAutoFit/>
          </a:bodyPr>
          <a:lstStyle/>
          <a:p>
            <a:pPr algn="l">
              <a:spcAft>
                <a:spcPts val="0"/>
              </a:spcAft>
            </a:pPr>
            <a:r>
              <a:rPr sz="5400" b="0">
                <a:solidFill>
                  <a:srgbClr val="F36406"/>
                </a:solidFill>
                <a:latin typeface="Arial Black"/>
              </a:rPr>
              <a:t>06</a:t>
            </a:r>
          </a:p>
        </p:txBody>
      </p:sp>
      <p:sp>
        <p:nvSpPr>
          <p:cNvPr id="4" name="TextBox 3"/>
          <p:cNvSpPr txBox="1"/>
          <p:nvPr/>
        </p:nvSpPr>
        <p:spPr>
          <a:xfrm>
            <a:off x="566928" y="3520440"/>
            <a:ext cx="11055096" cy="640080"/>
          </a:xfrm>
          <a:prstGeom prst="rect">
            <a:avLst/>
          </a:prstGeom>
          <a:noFill/>
        </p:spPr>
        <p:txBody>
          <a:bodyPr wrap="square" lIns="0" rIns="0" tIns="0" bIns="0">
            <a:spAutoFit/>
          </a:bodyPr>
          <a:lstStyle/>
          <a:p>
            <a:pPr algn="l">
              <a:spcAft>
                <a:spcPts val="0"/>
              </a:spcAft>
            </a:pPr>
            <a:r>
              <a:rPr sz="3000" b="0">
                <a:solidFill>
                  <a:srgbClr val="000000"/>
                </a:solidFill>
                <a:latin typeface="Arial Black"/>
              </a:rPr>
              <a:t>EVALUACIÓN Y CIERRE</a:t>
            </a:r>
          </a:p>
        </p:txBody>
      </p:sp>
      <p:sp>
        <p:nvSpPr>
          <p:cNvPr id="5" name="Rectangle 4"/>
          <p:cNvSpPr/>
          <p:nvPr/>
        </p:nvSpPr>
        <p:spPr>
          <a:xfrm>
            <a:off x="566928" y="4315968"/>
            <a:ext cx="1554480"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526280"/>
            <a:ext cx="10058400" cy="457200"/>
          </a:xfrm>
          <a:prstGeom prst="rect">
            <a:avLst/>
          </a:prstGeom>
          <a:noFill/>
        </p:spPr>
        <p:txBody>
          <a:bodyPr wrap="square" lIns="0" rIns="0" tIns="0" bIns="0">
            <a:spAutoFit/>
          </a:bodyPr>
          <a:lstStyle/>
          <a:p>
            <a:pPr algn="l">
              <a:lnSpc>
                <a:spcPct val="130000"/>
              </a:lnSpc>
              <a:spcAft>
                <a:spcPts val="0"/>
              </a:spcAft>
            </a:pPr>
            <a:r>
              <a:rPr sz="1200" b="0">
                <a:solidFill>
                  <a:srgbClr val="5C5C5C"/>
                </a:solidFill>
                <a:latin typeface="Arial"/>
              </a:rPr>
              <a:t>Quiz 2, sustentación de la hoja de ruta y cierre del módulo</a:t>
            </a:r>
          </a:p>
        </p:txBody>
      </p:sp>
      <p:sp>
        <p:nvSpPr>
          <p:cNvPr id="7" name="Rectangle 6"/>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1-1.png"/>
          <p:cNvPicPr>
            <a:picLocks noChangeAspect="1"/>
          </p:cNvPicPr>
          <p:nvPr/>
        </p:nvPicPr>
        <p:blipFill>
          <a:blip r:embed="rId2"/>
          <a:stretch>
            <a:fillRect/>
          </a:stretch>
        </p:blipFill>
        <p:spPr>
          <a:xfrm>
            <a:off x="566928" y="6336792"/>
            <a:ext cx="566928" cy="246888"/>
          </a:xfrm>
          <a:prstGeom prst="rect">
            <a:avLst/>
          </a:prstGeom>
        </p:spPr>
      </p:pic>
      <p:sp>
        <p:nvSpPr>
          <p:cNvPr id="9" name="TextBox 8"/>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10" name="TextBox 9"/>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40  QUIZ</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QUIZ 2 · QUINCE MINUTOS</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48</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Cubre las sesiones 4, 5 y 6. Mismo formato del primero: preguntas de criterio, no de memoria. Ninguna pregunta se responde recordando un nombre.</a:t>
            </a:r>
          </a:p>
        </p:txBody>
      </p:sp>
      <p:sp>
        <p:nvSpPr>
          <p:cNvPr id="10" name="Rectangle 9"/>
          <p:cNvSpPr/>
          <p:nvPr/>
        </p:nvSpPr>
        <p:spPr>
          <a:xfrm>
            <a:off x="566928"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ENTRA</a:t>
            </a:r>
          </a:p>
        </p:txBody>
      </p:sp>
      <p:sp>
        <p:nvSpPr>
          <p:cNvPr id="12" name="TextBox 11"/>
          <p:cNvSpPr txBox="1"/>
          <p:nvPr/>
        </p:nvSpPr>
        <p:spPr>
          <a:xfrm>
            <a:off x="786384"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Llave pública y firma digital: qué prueba y qué no.</a:t>
            </a:r>
          </a:p>
          <a:p>
            <a:pPr algn="l">
              <a:lnSpc>
                <a:spcPct val="128000"/>
              </a:lnSpc>
              <a:spcAft>
                <a:spcPts val="700"/>
              </a:spcAft>
            </a:pPr>
            <a:r>
              <a:rPr sz="1150" b="0">
                <a:solidFill>
                  <a:srgbClr val="000000"/>
                </a:solidFill>
                <a:latin typeface="Arial"/>
              </a:rPr>
              <a:t>Certificados: la cadena, las comprobaciones y el ciclo de vida.</a:t>
            </a:r>
          </a:p>
          <a:p>
            <a:pPr algn="l">
              <a:lnSpc>
                <a:spcPct val="128000"/>
              </a:lnSpc>
              <a:spcAft>
                <a:spcPts val="700"/>
              </a:spcAft>
            </a:pPr>
            <a:r>
              <a:rPr sz="1150" b="0">
                <a:solidFill>
                  <a:srgbClr val="000000"/>
                </a:solidFill>
                <a:latin typeface="Arial"/>
              </a:rPr>
              <a:t>Canal seguro: versiones, confidencialidad persistente y límites.</a:t>
            </a:r>
          </a:p>
          <a:p>
            <a:pPr algn="l">
              <a:lnSpc>
                <a:spcPct val="128000"/>
              </a:lnSpc>
              <a:spcAft>
                <a:spcPts val="700"/>
              </a:spcAft>
            </a:pPr>
            <a:r>
              <a:rPr sz="1150" b="0">
                <a:solidFill>
                  <a:srgbClr val="000000"/>
                </a:solidFill>
                <a:latin typeface="Arial"/>
              </a:rPr>
              <a:t>Gestión de llaves: ciclo, ceremonias, jerarquía y rotación.</a:t>
            </a:r>
          </a:p>
          <a:p>
            <a:pPr algn="l">
              <a:lnSpc>
                <a:spcPct val="128000"/>
              </a:lnSpc>
              <a:spcAft>
                <a:spcPts val="700"/>
              </a:spcAft>
            </a:pPr>
            <a:r>
              <a:rPr sz="1150" b="0">
                <a:solidFill>
                  <a:srgbClr val="000000"/>
                </a:solidFill>
                <a:latin typeface="Arial"/>
              </a:rPr>
              <a:t>Conservación y transición post-cuántica.</a:t>
            </a:r>
          </a:p>
        </p:txBody>
      </p:sp>
      <p:sp>
        <p:nvSpPr>
          <p:cNvPr id="13" name="Rectangle 12"/>
          <p:cNvSpPr/>
          <p:nvPr/>
        </p:nvSpPr>
        <p:spPr>
          <a:xfrm>
            <a:off x="6268212" y="2304287"/>
            <a:ext cx="5353812" cy="1920240"/>
          </a:xfrm>
          <a:prstGeom prst="rect">
            <a:avLst/>
          </a:prstGeom>
          <a:solidFill>
            <a:srgbClr val="FFFFFF"/>
          </a:solidFill>
          <a:ln w="1778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414015"/>
            <a:ext cx="4914900"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CÓMO SE PREGUNTA</a:t>
            </a:r>
          </a:p>
        </p:txBody>
      </p:sp>
      <p:sp>
        <p:nvSpPr>
          <p:cNvPr id="15" name="TextBox 14"/>
          <p:cNvSpPr txBox="1"/>
          <p:nvPr/>
        </p:nvSpPr>
        <p:spPr>
          <a:xfrm>
            <a:off x="6487668" y="2633471"/>
            <a:ext cx="4914900" cy="146304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Un escenario corto y una decisión que justificar.</a:t>
            </a:r>
          </a:p>
          <a:p>
            <a:pPr algn="l">
              <a:lnSpc>
                <a:spcPct val="128000"/>
              </a:lnSpc>
              <a:spcAft>
                <a:spcPts val="700"/>
              </a:spcAft>
            </a:pPr>
            <a:r>
              <a:rPr sz="1150" b="0">
                <a:solidFill>
                  <a:srgbClr val="000000"/>
                </a:solidFill>
                <a:latin typeface="Arial"/>
              </a:rPr>
              <a:t>Por ejemplo: un proveedor propone algo, ¿qué le preguntan antes de aceptarlo y por qué?</a:t>
            </a:r>
          </a:p>
          <a:p>
            <a:pPr algn="l">
              <a:lnSpc>
                <a:spcPct val="128000"/>
              </a:lnSpc>
              <a:spcAft>
                <a:spcPts val="700"/>
              </a:spcAft>
            </a:pPr>
            <a:r>
              <a:rPr sz="1150" b="1">
                <a:solidFill>
                  <a:srgbClr val="000000"/>
                </a:solidFill>
                <a:latin typeface="Arial"/>
              </a:rPr>
              <a:t>Se evalúa el criterio y la justificación.</a:t>
            </a:r>
            <a:r>
              <a:rPr sz="1150" b="0">
                <a:solidFill>
                  <a:srgbClr val="000000"/>
                </a:solidFill>
                <a:latin typeface="Arial"/>
              </a:rPr>
              <a:t> Una respuesta correcta sin argumento vale la mitad.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41  SUSTENTACIÓN</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 SUSTENTACIÓN ANTE EL COMITÉ</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49</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Setenta minutos. Cada equipo presenta durante diez y responde durante dos. No es una exposición académica: es una reunión de comité, y el auditorio actúa como tal.</a:t>
            </a:r>
          </a:p>
        </p:txBody>
      </p:sp>
      <p:sp>
        <p:nvSpPr>
          <p:cNvPr id="10" name="TextBox 9"/>
          <p:cNvSpPr txBox="1"/>
          <p:nvPr/>
        </p:nvSpPr>
        <p:spPr>
          <a:xfrm>
            <a:off x="566928" y="2350007"/>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01</a:t>
            </a:r>
          </a:p>
        </p:txBody>
      </p:sp>
      <p:sp>
        <p:nvSpPr>
          <p:cNvPr id="11" name="TextBox 10"/>
          <p:cNvSpPr txBox="1"/>
          <p:nvPr/>
        </p:nvSpPr>
        <p:spPr>
          <a:xfrm>
            <a:off x="1280160" y="2368295"/>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Se presenta la hoja de ruta, no el diagnóstico</a:t>
            </a:r>
          </a:p>
        </p:txBody>
      </p:sp>
      <p:sp>
        <p:nvSpPr>
          <p:cNvPr id="12" name="TextBox 11"/>
          <p:cNvSpPr txBox="1"/>
          <p:nvPr/>
        </p:nvSpPr>
        <p:spPr>
          <a:xfrm>
            <a:off x="1280160" y="2606039"/>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El comité ya conoce los hallazgos. Lo que no sabe es qué hacer primero, con $180 millones y cuatro horas de ventana semanal.</a:t>
            </a:r>
          </a:p>
        </p:txBody>
      </p:sp>
      <p:sp>
        <p:nvSpPr>
          <p:cNvPr id="13" name="TextBox 12"/>
          <p:cNvSpPr txBox="1"/>
          <p:nvPr/>
        </p:nvSpPr>
        <p:spPr>
          <a:xfrm>
            <a:off x="566928" y="3118103"/>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02</a:t>
            </a:r>
          </a:p>
        </p:txBody>
      </p:sp>
      <p:sp>
        <p:nvSpPr>
          <p:cNvPr id="14" name="TextBox 13"/>
          <p:cNvSpPr txBox="1"/>
          <p:nvPr/>
        </p:nvSpPr>
        <p:spPr>
          <a:xfrm>
            <a:off x="1280160" y="3136391"/>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Cada acción va con costo, plazo, responsable y riesgo que mitiga</a:t>
            </a:r>
          </a:p>
        </p:txBody>
      </p:sp>
      <p:sp>
        <p:nvSpPr>
          <p:cNvPr id="15" name="TextBox 14"/>
          <p:cNvSpPr txBox="1"/>
          <p:nvPr/>
        </p:nvSpPr>
        <p:spPr>
          <a:xfrm>
            <a:off x="1280160" y="3374135"/>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Una acción sin esas cuatro columnas no se puede aprobar, y por lo tanto no cuenta.</a:t>
            </a:r>
          </a:p>
        </p:txBody>
      </p:sp>
      <p:sp>
        <p:nvSpPr>
          <p:cNvPr id="16" name="TextBox 15"/>
          <p:cNvSpPr txBox="1"/>
          <p:nvPr/>
        </p:nvSpPr>
        <p:spPr>
          <a:xfrm>
            <a:off x="566928" y="3886199"/>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03</a:t>
            </a:r>
          </a:p>
        </p:txBody>
      </p:sp>
      <p:sp>
        <p:nvSpPr>
          <p:cNvPr id="17" name="TextBox 16"/>
          <p:cNvSpPr txBox="1"/>
          <p:nvPr/>
        </p:nvSpPr>
        <p:spPr>
          <a:xfrm>
            <a:off x="1280160" y="3904487"/>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El orden hay que defenderlo, no solo enunciarlo</a:t>
            </a:r>
          </a:p>
        </p:txBody>
      </p:sp>
      <p:sp>
        <p:nvSpPr>
          <p:cNvPr id="18" name="TextBox 17"/>
          <p:cNvSpPr txBox="1"/>
          <p:nvPr/>
        </p:nvSpPr>
        <p:spPr>
          <a:xfrm>
            <a:off x="1280160" y="4142231"/>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La pregunta que va a llegar siempre es por qué esto antes que aquello. Prepárenla.</a:t>
            </a:r>
          </a:p>
        </p:txBody>
      </p:sp>
      <p:sp>
        <p:nvSpPr>
          <p:cNvPr id="19" name="TextBox 18"/>
          <p:cNvSpPr txBox="1"/>
          <p:nvPr/>
        </p:nvSpPr>
        <p:spPr>
          <a:xfrm>
            <a:off x="566928" y="4654296"/>
            <a:ext cx="566928" cy="457200"/>
          </a:xfrm>
          <a:prstGeom prst="rect">
            <a:avLst/>
          </a:prstGeom>
          <a:noFill/>
        </p:spPr>
        <p:txBody>
          <a:bodyPr wrap="square" lIns="0" rIns="0" tIns="0" bIns="0">
            <a:spAutoFit/>
          </a:bodyPr>
          <a:lstStyle/>
          <a:p>
            <a:pPr algn="l">
              <a:spcAft>
                <a:spcPts val="0"/>
              </a:spcAft>
            </a:pPr>
            <a:r>
              <a:rPr sz="1900" b="0">
                <a:solidFill>
                  <a:srgbClr val="F36406"/>
                </a:solidFill>
                <a:latin typeface="Arial Black"/>
              </a:rPr>
              <a:t>04</a:t>
            </a:r>
          </a:p>
        </p:txBody>
      </p:sp>
      <p:sp>
        <p:nvSpPr>
          <p:cNvPr id="20" name="TextBox 19"/>
          <p:cNvSpPr txBox="1"/>
          <p:nvPr/>
        </p:nvSpPr>
        <p:spPr>
          <a:xfrm>
            <a:off x="1280160" y="4672583"/>
            <a:ext cx="10341864" cy="237744"/>
          </a:xfrm>
          <a:prstGeom prst="rect">
            <a:avLst/>
          </a:prstGeom>
          <a:noFill/>
        </p:spPr>
        <p:txBody>
          <a:bodyPr wrap="square" lIns="0" rIns="0" tIns="0" bIns="0">
            <a:spAutoFit/>
          </a:bodyPr>
          <a:lstStyle/>
          <a:p>
            <a:pPr algn="l">
              <a:spcAft>
                <a:spcPts val="0"/>
              </a:spcAft>
            </a:pPr>
            <a:r>
              <a:rPr sz="1200" b="1">
                <a:solidFill>
                  <a:srgbClr val="000000"/>
                </a:solidFill>
                <a:latin typeface="Arial"/>
              </a:rPr>
              <a:t>Y hay que responder la pregunta del apoderado</a:t>
            </a:r>
          </a:p>
        </p:txBody>
      </p:sp>
      <p:sp>
        <p:nvSpPr>
          <p:cNvPr id="21" name="TextBox 20"/>
          <p:cNvSpPr txBox="1"/>
          <p:nvPr/>
        </p:nvSpPr>
        <p:spPr>
          <a:xfrm>
            <a:off x="1280160" y="4910328"/>
            <a:ext cx="10341864" cy="402336"/>
          </a:xfrm>
          <a:prstGeom prst="rect">
            <a:avLst/>
          </a:prstGeom>
          <a:noFill/>
        </p:spPr>
        <p:txBody>
          <a:bodyPr wrap="square" lIns="0" rIns="0" tIns="0" bIns="0">
            <a:spAutoFit/>
          </a:bodyPr>
          <a:lstStyle/>
          <a:p>
            <a:pPr algn="l">
              <a:lnSpc>
                <a:spcPct val="125000"/>
              </a:lnSpc>
              <a:spcAft>
                <a:spcPts val="0"/>
              </a:spcAft>
            </a:pPr>
            <a:r>
              <a:rPr sz="1100" b="0">
                <a:solidFill>
                  <a:srgbClr val="2A2A2A"/>
                </a:solidFill>
                <a:latin typeface="Arial"/>
              </a:rPr>
              <a:t>La misma de la sesión 1: cómo se demuestra que una operación la autorizó su titular. Si al final del módulo no se responde en un minuto, algo falló.</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42  RÚBRICA</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CÓMO SE CALIFICA LA SUSTENTACIÓN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50</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2930834"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CRITERIO</a:t>
            </a:r>
          </a:p>
        </p:txBody>
      </p:sp>
      <p:sp>
        <p:nvSpPr>
          <p:cNvPr id="11" name="TextBox 10"/>
          <p:cNvSpPr txBox="1"/>
          <p:nvPr/>
        </p:nvSpPr>
        <p:spPr>
          <a:xfrm>
            <a:off x="3662354" y="1673352"/>
            <a:ext cx="6247363"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QUÉ SE MIRA</a:t>
            </a:r>
          </a:p>
        </p:txBody>
      </p:sp>
      <p:sp>
        <p:nvSpPr>
          <p:cNvPr id="12" name="TextBox 11"/>
          <p:cNvSpPr txBox="1"/>
          <p:nvPr/>
        </p:nvSpPr>
        <p:spPr>
          <a:xfrm>
            <a:off x="10074310" y="1673352"/>
            <a:ext cx="1383121"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PESO</a:t>
            </a:r>
          </a:p>
        </p:txBody>
      </p:sp>
      <p:sp>
        <p:nvSpPr>
          <p:cNvPr id="13" name="Rectangle 12"/>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075688"/>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Corrección técnica</a:t>
            </a:r>
          </a:p>
        </p:txBody>
      </p:sp>
      <p:sp>
        <p:nvSpPr>
          <p:cNvPr id="15" name="TextBox 14"/>
          <p:cNvSpPr txBox="1"/>
          <p:nvPr/>
        </p:nvSpPr>
        <p:spPr>
          <a:xfrm>
            <a:off x="3662354" y="2075688"/>
            <a:ext cx="624736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lo afirmado sea cierto y que los mecanismos propuestos resuelvan lo que se dice que resuelven</a:t>
            </a:r>
          </a:p>
        </p:txBody>
      </p:sp>
      <p:sp>
        <p:nvSpPr>
          <p:cNvPr id="16" name="TextBox 15"/>
          <p:cNvSpPr txBox="1"/>
          <p:nvPr/>
        </p:nvSpPr>
        <p:spPr>
          <a:xfrm>
            <a:off x="10074310" y="2075688"/>
            <a:ext cx="138312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25%</a:t>
            </a:r>
          </a:p>
        </p:txBody>
      </p:sp>
      <p:sp>
        <p:nvSpPr>
          <p:cNvPr id="17" name="Rectangle 16"/>
          <p:cNvSpPr/>
          <p:nvPr/>
        </p:nvSpPr>
        <p:spPr>
          <a:xfrm>
            <a:off x="566928" y="25241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2615549"/>
            <a:ext cx="2930834" cy="420624"/>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Priorización justificada</a:t>
            </a:r>
          </a:p>
        </p:txBody>
      </p:sp>
      <p:sp>
        <p:nvSpPr>
          <p:cNvPr id="19" name="TextBox 18"/>
          <p:cNvSpPr txBox="1"/>
          <p:nvPr/>
        </p:nvSpPr>
        <p:spPr>
          <a:xfrm>
            <a:off x="3662354" y="2615549"/>
            <a:ext cx="6247363"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el orden responda a exposición y a plazo, no a facilidad. Y que se defienda</a:t>
            </a:r>
          </a:p>
        </p:txBody>
      </p:sp>
      <p:sp>
        <p:nvSpPr>
          <p:cNvPr id="20" name="TextBox 19"/>
          <p:cNvSpPr txBox="1"/>
          <p:nvPr/>
        </p:nvSpPr>
        <p:spPr>
          <a:xfrm>
            <a:off x="10074310" y="2615549"/>
            <a:ext cx="1383121"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25%</a:t>
            </a:r>
          </a:p>
        </p:txBody>
      </p:sp>
      <p:sp>
        <p:nvSpPr>
          <p:cNvPr id="21" name="Rectangle 20"/>
          <p:cNvSpPr/>
          <p:nvPr/>
        </p:nvSpPr>
        <p:spPr>
          <a:xfrm>
            <a:off x="566928" y="2999597"/>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091037"/>
            <a:ext cx="2930834"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Viabilidad</a:t>
            </a:r>
          </a:p>
        </p:txBody>
      </p:sp>
      <p:sp>
        <p:nvSpPr>
          <p:cNvPr id="23" name="TextBox 22"/>
          <p:cNvSpPr txBox="1"/>
          <p:nvPr/>
        </p:nvSpPr>
        <p:spPr>
          <a:xfrm>
            <a:off x="3662354" y="3091037"/>
            <a:ext cx="6247363"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Presupuesto, ventana de mantenimiento, dependencia de proveedores y capacidad del equipo</a:t>
            </a:r>
          </a:p>
        </p:txBody>
      </p:sp>
      <p:sp>
        <p:nvSpPr>
          <p:cNvPr id="24" name="TextBox 23"/>
          <p:cNvSpPr txBox="1"/>
          <p:nvPr/>
        </p:nvSpPr>
        <p:spPr>
          <a:xfrm>
            <a:off x="10074310" y="3091037"/>
            <a:ext cx="1383121"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a:t>
            </a:r>
          </a:p>
        </p:txBody>
      </p:sp>
      <p:sp>
        <p:nvSpPr>
          <p:cNvPr id="25" name="Rectangle 24"/>
          <p:cNvSpPr/>
          <p:nvPr/>
        </p:nvSpPr>
        <p:spPr>
          <a:xfrm>
            <a:off x="566928" y="347508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566525"/>
            <a:ext cx="2930834" cy="420624"/>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Defensa ante preguntas</a:t>
            </a:r>
          </a:p>
        </p:txBody>
      </p:sp>
      <p:sp>
        <p:nvSpPr>
          <p:cNvPr id="27" name="TextBox 26"/>
          <p:cNvSpPr txBox="1"/>
          <p:nvPr/>
        </p:nvSpPr>
        <p:spPr>
          <a:xfrm>
            <a:off x="3662354" y="3566525"/>
            <a:ext cx="6247363"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Que se distinga lo que se sabe de lo que se supone, y que se acepte lo que no se sabe</a:t>
            </a:r>
          </a:p>
        </p:txBody>
      </p:sp>
      <p:sp>
        <p:nvSpPr>
          <p:cNvPr id="28" name="TextBox 27"/>
          <p:cNvSpPr txBox="1"/>
          <p:nvPr/>
        </p:nvSpPr>
        <p:spPr>
          <a:xfrm>
            <a:off x="10074310" y="3566525"/>
            <a:ext cx="1383121" cy="420624"/>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20%</a:t>
            </a:r>
          </a:p>
        </p:txBody>
      </p:sp>
      <p:sp>
        <p:nvSpPr>
          <p:cNvPr id="29" name="Rectangle 28"/>
          <p:cNvSpPr/>
          <p:nvPr/>
        </p:nvSpPr>
        <p:spPr>
          <a:xfrm>
            <a:off x="566928" y="395057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4042013"/>
            <a:ext cx="2930834"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Comunicación al comité</a:t>
            </a:r>
          </a:p>
        </p:txBody>
      </p:sp>
      <p:sp>
        <p:nvSpPr>
          <p:cNvPr id="31" name="TextBox 30"/>
          <p:cNvSpPr txBox="1"/>
          <p:nvPr/>
        </p:nvSpPr>
        <p:spPr>
          <a:xfrm>
            <a:off x="3662354" y="4042013"/>
            <a:ext cx="6247363"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Sin jerga, con cifras y con una recomendación explícita. El comité decide, ustedes recomiendan</a:t>
            </a:r>
          </a:p>
        </p:txBody>
      </p:sp>
      <p:sp>
        <p:nvSpPr>
          <p:cNvPr id="32" name="TextBox 31"/>
          <p:cNvSpPr txBox="1"/>
          <p:nvPr/>
        </p:nvSpPr>
        <p:spPr>
          <a:xfrm>
            <a:off x="10074310" y="4042013"/>
            <a:ext cx="1383121"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10%</a:t>
            </a:r>
          </a:p>
        </p:txBody>
      </p:sp>
      <p:sp>
        <p:nvSpPr>
          <p:cNvPr id="33" name="Rectangle 32"/>
          <p:cNvSpPr/>
          <p:nvPr/>
        </p:nvSpPr>
        <p:spPr>
          <a:xfrm>
            <a:off x="566928" y="4490435"/>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545299"/>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43  SÍNTESIS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LAS SEIS IDEAS QUE DEBERÍAN QUEDAR</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51</a:t>
            </a:r>
          </a:p>
        </p:txBody>
      </p:sp>
      <p:sp>
        <p:nvSpPr>
          <p:cNvPr id="9" name="Rectangle 8"/>
          <p:cNvSpPr/>
          <p:nvPr/>
        </p:nvSpPr>
        <p:spPr>
          <a:xfrm>
            <a:off x="566928" y="1554480"/>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673352"/>
            <a:ext cx="4589099"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LA IDEA</a:t>
            </a:r>
          </a:p>
        </p:txBody>
      </p:sp>
      <p:sp>
        <p:nvSpPr>
          <p:cNvPr id="11" name="TextBox 10"/>
          <p:cNvSpPr txBox="1"/>
          <p:nvPr/>
        </p:nvSpPr>
        <p:spPr>
          <a:xfrm>
            <a:off x="5320619" y="1673352"/>
            <a:ext cx="6136812" cy="274320"/>
          </a:xfrm>
          <a:prstGeom prst="rect">
            <a:avLst/>
          </a:prstGeom>
          <a:noFill/>
        </p:spPr>
        <p:txBody>
          <a:bodyPr wrap="square" lIns="0" rIns="0" tIns="0" bIns="0">
            <a:spAutoFit/>
          </a:bodyPr>
          <a:lstStyle/>
          <a:p>
            <a:pPr algn="l">
              <a:spcAft>
                <a:spcPts val="0"/>
              </a:spcAft>
            </a:pPr>
            <a:r>
              <a:rPr sz="730" b="1" spc="130">
                <a:solidFill>
                  <a:srgbClr val="3A3A3A"/>
                </a:solidFill>
                <a:latin typeface="Consolas"/>
              </a:rPr>
              <a:t>POR QUÉ</a:t>
            </a:r>
          </a:p>
        </p:txBody>
      </p:sp>
      <p:sp>
        <p:nvSpPr>
          <p:cNvPr id="12" name="Rectangle 11"/>
          <p:cNvSpPr/>
          <p:nvPr/>
        </p:nvSpPr>
        <p:spPr>
          <a:xfrm>
            <a:off x="566928" y="1965960"/>
            <a:ext cx="11055096" cy="9144"/>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075688"/>
            <a:ext cx="458909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El algoritmo casi nunca es el problema</a:t>
            </a:r>
          </a:p>
        </p:txBody>
      </p:sp>
      <p:sp>
        <p:nvSpPr>
          <p:cNvPr id="14" name="TextBox 13"/>
          <p:cNvSpPr txBox="1"/>
          <p:nvPr/>
        </p:nvSpPr>
        <p:spPr>
          <a:xfrm>
            <a:off x="5320619" y="2075688"/>
            <a:ext cx="613681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En los ocho hallazgos del caso ninguno era un algoritmo roto: todos eran de uso, de custodia o de gestión</a:t>
            </a:r>
          </a:p>
        </p:txBody>
      </p:sp>
      <p:sp>
        <p:nvSpPr>
          <p:cNvPr id="15" name="Rectangle 14"/>
          <p:cNvSpPr/>
          <p:nvPr/>
        </p:nvSpPr>
        <p:spPr>
          <a:xfrm>
            <a:off x="566928" y="25241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615549"/>
            <a:ext cx="4589099"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Cada servicio exige un mecanismo distinto</a:t>
            </a:r>
          </a:p>
        </p:txBody>
      </p:sp>
      <p:sp>
        <p:nvSpPr>
          <p:cNvPr id="17" name="TextBox 16"/>
          <p:cNvSpPr txBox="1"/>
          <p:nvPr/>
        </p:nvSpPr>
        <p:spPr>
          <a:xfrm>
            <a:off x="5320619" y="2615549"/>
            <a:ext cx="613681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Confidencialidad, integridad, autenticación y no repudio no se resuelven con lo mismo</a:t>
            </a:r>
          </a:p>
        </p:txBody>
      </p:sp>
      <p:sp>
        <p:nvSpPr>
          <p:cNvPr id="18" name="Rectangle 17"/>
          <p:cNvSpPr/>
          <p:nvPr/>
        </p:nvSpPr>
        <p:spPr>
          <a:xfrm>
            <a:off x="566928" y="29813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072749"/>
            <a:ext cx="4589099" cy="402336"/>
          </a:xfrm>
          <a:prstGeom prst="rect">
            <a:avLst/>
          </a:prstGeom>
          <a:noFill/>
        </p:spPr>
        <p:txBody>
          <a:bodyPr wrap="square" lIns="0" rIns="0" tIns="0" bIns="0">
            <a:spAutoFit/>
          </a:bodyPr>
          <a:lstStyle/>
          <a:p>
            <a:pPr algn="l">
              <a:lnSpc>
                <a:spcPct val="120000"/>
              </a:lnSpc>
              <a:spcAft>
                <a:spcPts val="0"/>
              </a:spcAft>
            </a:pPr>
            <a:r>
              <a:rPr sz="1100" b="1">
                <a:solidFill>
                  <a:srgbClr val="F36406"/>
                </a:solidFill>
                <a:latin typeface="Arial"/>
              </a:rPr>
              <a:t>El no repudio exige una llave privada por persona</a:t>
            </a:r>
          </a:p>
        </p:txBody>
      </p:sp>
      <p:sp>
        <p:nvSpPr>
          <p:cNvPr id="20" name="TextBox 19"/>
          <p:cNvSpPr txBox="1"/>
          <p:nvPr/>
        </p:nvSpPr>
        <p:spPr>
          <a:xfrm>
            <a:off x="5320619" y="3072749"/>
            <a:ext cx="613681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Es una decisión de arquitectura, no de configuración, y por eso la toma el comité</a:t>
            </a:r>
          </a:p>
        </p:txBody>
      </p:sp>
      <p:sp>
        <p:nvSpPr>
          <p:cNvPr id="21" name="Rectangle 20"/>
          <p:cNvSpPr/>
          <p:nvPr/>
        </p:nvSpPr>
        <p:spPr>
          <a:xfrm>
            <a:off x="566928" y="3438509"/>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529949"/>
            <a:ext cx="458909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La confianza se desplaza, no desaparece</a:t>
            </a:r>
          </a:p>
        </p:txBody>
      </p:sp>
      <p:sp>
        <p:nvSpPr>
          <p:cNvPr id="23" name="TextBox 22"/>
          <p:cNvSpPr txBox="1"/>
          <p:nvPr/>
        </p:nvSpPr>
        <p:spPr>
          <a:xfrm>
            <a:off x="5320619" y="3529949"/>
            <a:ext cx="613681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Certificados, entidades acreditadas y sellos de tiempo son formas de repartirla, no de eliminarla</a:t>
            </a:r>
          </a:p>
        </p:txBody>
      </p:sp>
      <p:sp>
        <p:nvSpPr>
          <p:cNvPr id="24" name="Rectangle 23"/>
          <p:cNvSpPr/>
          <p:nvPr/>
        </p:nvSpPr>
        <p:spPr>
          <a:xfrm>
            <a:off x="566928" y="397837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069811"/>
            <a:ext cx="4589099" cy="402336"/>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Una llave sin dueño ni fecha es una deuda</a:t>
            </a:r>
          </a:p>
        </p:txBody>
      </p:sp>
      <p:sp>
        <p:nvSpPr>
          <p:cNvPr id="26" name="TextBox 25"/>
          <p:cNvSpPr txBox="1"/>
          <p:nvPr/>
        </p:nvSpPr>
        <p:spPr>
          <a:xfrm>
            <a:off x="5320619" y="4069811"/>
            <a:ext cx="6136812" cy="402336"/>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Y el inventario es la medida más barata y más rentable de todo el módulo</a:t>
            </a:r>
          </a:p>
        </p:txBody>
      </p:sp>
      <p:sp>
        <p:nvSpPr>
          <p:cNvPr id="27" name="Rectangle 26"/>
          <p:cNvSpPr/>
          <p:nvPr/>
        </p:nvSpPr>
        <p:spPr>
          <a:xfrm>
            <a:off x="566928" y="4435571"/>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527011"/>
            <a:ext cx="4589099" cy="484997"/>
          </a:xfrm>
          <a:prstGeom prst="rect">
            <a:avLst/>
          </a:prstGeom>
          <a:noFill/>
        </p:spPr>
        <p:txBody>
          <a:bodyPr wrap="square" lIns="0" rIns="0" tIns="0" bIns="0">
            <a:spAutoFit/>
          </a:bodyPr>
          <a:lstStyle/>
          <a:p>
            <a:pPr algn="l">
              <a:lnSpc>
                <a:spcPct val="120000"/>
              </a:lnSpc>
              <a:spcAft>
                <a:spcPts val="0"/>
              </a:spcAft>
            </a:pPr>
            <a:r>
              <a:rPr sz="1100" b="1">
                <a:solidFill>
                  <a:srgbClr val="000000"/>
                </a:solidFill>
                <a:latin typeface="Arial"/>
              </a:rPr>
              <a:t>Nada de esto dura para siempre</a:t>
            </a:r>
          </a:p>
        </p:txBody>
      </p:sp>
      <p:sp>
        <p:nvSpPr>
          <p:cNvPr id="29" name="TextBox 28"/>
          <p:cNvSpPr txBox="1"/>
          <p:nvPr/>
        </p:nvSpPr>
        <p:spPr>
          <a:xfrm>
            <a:off x="5320619" y="4527011"/>
            <a:ext cx="6136812" cy="484997"/>
          </a:xfrm>
          <a:prstGeom prst="rect">
            <a:avLst/>
          </a:prstGeom>
          <a:noFill/>
        </p:spPr>
        <p:txBody>
          <a:bodyPr wrap="square" lIns="0" rIns="0" tIns="0" bIns="0">
            <a:spAutoFit/>
          </a:bodyPr>
          <a:lstStyle/>
          <a:p>
            <a:pPr algn="l">
              <a:lnSpc>
                <a:spcPct val="120000"/>
              </a:lnSpc>
              <a:spcAft>
                <a:spcPts val="0"/>
              </a:spcAft>
            </a:pPr>
            <a:r>
              <a:rPr sz="1100" b="0">
                <a:solidFill>
                  <a:srgbClr val="000000"/>
                </a:solidFill>
                <a:latin typeface="Arial"/>
              </a:rPr>
              <a:t>Por eso se diseña para poder cambiar. La criptoagilidad es la conclusión, no un tema adicional</a:t>
            </a:r>
          </a:p>
        </p:txBody>
      </p:sp>
      <p:sp>
        <p:nvSpPr>
          <p:cNvPr id="30" name="Rectangle 29"/>
          <p:cNvSpPr/>
          <p:nvPr/>
        </p:nvSpPr>
        <p:spPr>
          <a:xfrm>
            <a:off x="566928" y="4975433"/>
            <a:ext cx="11055096" cy="7315"/>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030297"/>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44  CIERRE</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LO QUE SE LLEVAN</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52</a:t>
            </a:r>
          </a:p>
        </p:txBody>
      </p:sp>
      <p:sp>
        <p:nvSpPr>
          <p:cNvPr id="9" name="TextBox 8"/>
          <p:cNvSpPr txBox="1"/>
          <p:nvPr/>
        </p:nvSpPr>
        <p:spPr>
          <a:xfrm>
            <a:off x="566928" y="1554480"/>
            <a:ext cx="11055096" cy="475488"/>
          </a:xfrm>
          <a:prstGeom prst="rect">
            <a:avLst/>
          </a:prstGeom>
          <a:noFill/>
        </p:spPr>
        <p:txBody>
          <a:bodyPr wrap="square" lIns="0" rIns="0" tIns="0" bIns="0">
            <a:spAutoFit/>
          </a:bodyPr>
          <a:lstStyle/>
          <a:p>
            <a:pPr algn="l">
              <a:lnSpc>
                <a:spcPct val="135000"/>
              </a:lnSpc>
              <a:spcAft>
                <a:spcPts val="0"/>
              </a:spcAft>
            </a:pPr>
            <a:r>
              <a:rPr sz="1250" b="0">
                <a:solidFill>
                  <a:srgbClr val="2A2A2A"/>
                </a:solidFill>
                <a:latin typeface="Arial"/>
              </a:rPr>
              <a:t>Este módulo no los convierte en criptógrafos, y ese nunca fue el objetivo. Los convierte en algo que las organizaciones necesitan más y encuentran menos.</a:t>
            </a:r>
          </a:p>
        </p:txBody>
      </p:sp>
      <p:sp>
        <p:nvSpPr>
          <p:cNvPr id="10" name="TextBox 9"/>
          <p:cNvSpPr txBox="1"/>
          <p:nvPr/>
        </p:nvSpPr>
        <p:spPr>
          <a:xfrm>
            <a:off x="566928"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NO SABEN HACER, Y ESTÁ BIEN</a:t>
            </a:r>
          </a:p>
        </p:txBody>
      </p:sp>
      <p:sp>
        <p:nvSpPr>
          <p:cNvPr id="11" name="TextBox 10"/>
          <p:cNvSpPr txBox="1"/>
          <p:nvPr/>
        </p:nvSpPr>
        <p:spPr>
          <a:xfrm>
            <a:off x="566928" y="2578607"/>
            <a:ext cx="5253228" cy="17373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No saben diseñar un algoritmo, ni implementarlo, ni auditar una biblioteca criptográfica.</a:t>
            </a:r>
          </a:p>
          <a:p>
            <a:pPr algn="l">
              <a:lnSpc>
                <a:spcPct val="128000"/>
              </a:lnSpc>
              <a:spcAft>
                <a:spcPts val="700"/>
              </a:spcAft>
            </a:pPr>
            <a:r>
              <a:rPr sz="1150" b="0">
                <a:solidFill>
                  <a:srgbClr val="000000"/>
                </a:solidFill>
                <a:latin typeface="Arial"/>
              </a:rPr>
              <a:t>Eso es un oficio distinto, con años de formación específica, y la regla profesional es no intentarlo.</a:t>
            </a:r>
          </a:p>
        </p:txBody>
      </p:sp>
      <p:sp>
        <p:nvSpPr>
          <p:cNvPr id="12" name="TextBox 11"/>
          <p:cNvSpPr txBox="1"/>
          <p:nvPr/>
        </p:nvSpPr>
        <p:spPr>
          <a:xfrm>
            <a:off x="6368796" y="2304287"/>
            <a:ext cx="5253228" cy="201168"/>
          </a:xfrm>
          <a:prstGeom prst="rect">
            <a:avLst/>
          </a:prstGeom>
          <a:noFill/>
        </p:spPr>
        <p:txBody>
          <a:bodyPr wrap="square" lIns="0" rIns="0" tIns="0" bIns="0">
            <a:spAutoFit/>
          </a:bodyPr>
          <a:lstStyle/>
          <a:p>
            <a:pPr algn="l">
              <a:spcAft>
                <a:spcPts val="0"/>
              </a:spcAft>
            </a:pPr>
            <a:r>
              <a:rPr sz="800" b="1" spc="190">
                <a:solidFill>
                  <a:srgbClr val="000000"/>
                </a:solidFill>
                <a:latin typeface="Consolas"/>
              </a:rPr>
              <a:t>// LO QUE SÍ SABEN HACER</a:t>
            </a:r>
          </a:p>
        </p:txBody>
      </p:sp>
      <p:sp>
        <p:nvSpPr>
          <p:cNvPr id="13" name="TextBox 12"/>
          <p:cNvSpPr txBox="1"/>
          <p:nvPr/>
        </p:nvSpPr>
        <p:spPr>
          <a:xfrm>
            <a:off x="6368796" y="2578607"/>
            <a:ext cx="5253228" cy="1737360"/>
          </a:xfrm>
          <a:prstGeom prst="rect">
            <a:avLst/>
          </a:prstGeom>
          <a:noFill/>
        </p:spPr>
        <p:txBody>
          <a:bodyPr wrap="square" lIns="0" rIns="0" tIns="0" bIns="0">
            <a:spAutoFit/>
          </a:bodyPr>
          <a:lstStyle/>
          <a:p>
            <a:pPr algn="l">
              <a:lnSpc>
                <a:spcPct val="128000"/>
              </a:lnSpc>
              <a:spcAft>
                <a:spcPts val="700"/>
              </a:spcAft>
            </a:pPr>
            <a:r>
              <a:rPr sz="1150" b="0">
                <a:solidFill>
                  <a:srgbClr val="000000"/>
                </a:solidFill>
                <a:latin typeface="Arial"/>
              </a:rPr>
              <a:t>Leer una configuración y decir qué protege y qué no.</a:t>
            </a:r>
          </a:p>
          <a:p>
            <a:pPr algn="l">
              <a:lnSpc>
                <a:spcPct val="128000"/>
              </a:lnSpc>
              <a:spcAft>
                <a:spcPts val="700"/>
              </a:spcAft>
            </a:pPr>
            <a:r>
              <a:rPr sz="1150" b="0">
                <a:solidFill>
                  <a:srgbClr val="000000"/>
                </a:solidFill>
                <a:latin typeface="Arial"/>
              </a:rPr>
              <a:t>Distinguir lo que un mecanismo prueba de lo que no prueba, y decirlo delante de un abogado.</a:t>
            </a:r>
          </a:p>
          <a:p>
            <a:pPr algn="l">
              <a:lnSpc>
                <a:spcPct val="128000"/>
              </a:lnSpc>
              <a:spcAft>
                <a:spcPts val="700"/>
              </a:spcAft>
            </a:pPr>
            <a:r>
              <a:rPr sz="1150" b="0">
                <a:solidFill>
                  <a:srgbClr val="000000"/>
                </a:solidFill>
                <a:latin typeface="Arial"/>
              </a:rPr>
              <a:t>Preguntarle a un proveedor lo que hay que preguntarle antes de firmar.</a:t>
            </a:r>
          </a:p>
          <a:p>
            <a:pPr algn="l">
              <a:lnSpc>
                <a:spcPct val="128000"/>
              </a:lnSpc>
              <a:spcAft>
                <a:spcPts val="700"/>
              </a:spcAft>
            </a:pPr>
            <a:r>
              <a:rPr sz="1150" b="0">
                <a:solidFill>
                  <a:srgbClr val="000000"/>
                </a:solidFill>
                <a:latin typeface="Arial"/>
              </a:rPr>
              <a:t>Y priorizar una inversión con criterio y defenderla ante un comité.</a:t>
            </a:r>
          </a:p>
          <a:p>
            <a:pPr algn="l">
              <a:lnSpc>
                <a:spcPct val="128000"/>
              </a:lnSpc>
              <a:spcAft>
                <a:spcPts val="700"/>
              </a:spcAft>
            </a:pPr>
            <a:r>
              <a:rPr sz="1150" b="1">
                <a:solidFill>
                  <a:srgbClr val="000000"/>
                </a:solidFill>
                <a:latin typeface="Arial"/>
              </a:rPr>
              <a:t>Eso es exactamente lo que le faltaba a Coopaburrá en febrero.</a:t>
            </a:r>
          </a:p>
        </p:txBody>
      </p:sp>
      <p:sp>
        <p:nvSpPr>
          <p:cNvPr id="14" name="Rectangle 13"/>
          <p:cNvSpPr/>
          <p:nvPr/>
        </p:nvSpPr>
        <p:spPr>
          <a:xfrm>
            <a:off x="6085332" y="2304287"/>
            <a:ext cx="9144" cy="2011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45  CIERRE</a:t>
            </a:r>
          </a:p>
        </p:txBody>
      </p:sp>
      <p:sp>
        <p:nvSpPr>
          <p:cNvPr id="4" name="TextBox 3"/>
          <p:cNvSpPr txBox="1"/>
          <p:nvPr/>
        </p:nvSpPr>
        <p:spPr>
          <a:xfrm>
            <a:off x="566928" y="731520"/>
            <a:ext cx="11055096" cy="868680"/>
          </a:xfrm>
          <a:prstGeom prst="rect">
            <a:avLst/>
          </a:prstGeom>
          <a:noFill/>
        </p:spPr>
        <p:txBody>
          <a:bodyPr wrap="square" lIns="0" rIns="0" tIns="0" bIns="0">
            <a:spAutoFit/>
          </a:bodyPr>
          <a:lstStyle/>
          <a:p>
            <a:pPr algn="l">
              <a:lnSpc>
                <a:spcPct val="108000"/>
              </a:lnSpc>
              <a:spcAft>
                <a:spcPts val="0"/>
              </a:spcAft>
            </a:pPr>
            <a:r>
              <a:rPr sz="2300" b="0">
                <a:solidFill>
                  <a:srgbClr val="000000"/>
                </a:solidFill>
                <a:latin typeface="Arial Black"/>
              </a:rPr>
              <a:t>TRABAJO INDEPENDIENTE</a:t>
            </a:r>
          </a:p>
          <a:p>
            <a:pPr algn="l">
              <a:lnSpc>
                <a:spcPct val="108000"/>
              </a:lnSpc>
              <a:spcAft>
                <a:spcPts val="0"/>
              </a:spcAft>
            </a:pPr>
            <a:r>
              <a:rPr sz="2300" b="0">
                <a:solidFill>
                  <a:srgbClr val="000000"/>
                </a:solidFill>
                <a:latin typeface="Arial Black"/>
              </a:rPr>
              <a:t>DESPUÉS DE LA SESIÓN 6</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53</a:t>
            </a:r>
          </a:p>
        </p:txBody>
      </p:sp>
      <p:sp>
        <p:nvSpPr>
          <p:cNvPr id="9" name="Rectangle 8"/>
          <p:cNvSpPr/>
          <p:nvPr/>
        </p:nvSpPr>
        <p:spPr>
          <a:xfrm>
            <a:off x="566928" y="1792224"/>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12 h</a:t>
            </a:r>
          </a:p>
        </p:txBody>
      </p:sp>
      <p:sp>
        <p:nvSpPr>
          <p:cNvPr id="11" name="TextBox 10"/>
          <p:cNvSpPr txBox="1"/>
          <p:nvPr/>
        </p:nvSpPr>
        <p:spPr>
          <a:xfrm>
            <a:off x="566928"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HASTA LA ENTREGA</a:t>
            </a:r>
          </a:p>
          <a:p>
            <a:pPr algn="l">
              <a:lnSpc>
                <a:spcPct val="125000"/>
              </a:lnSpc>
              <a:spcAft>
                <a:spcPts val="0"/>
              </a:spcAft>
            </a:pPr>
            <a:r>
              <a:rPr sz="730" b="1" spc="130">
                <a:solidFill>
                  <a:srgbClr val="3A3A3A"/>
                </a:solidFill>
                <a:latin typeface="Consolas"/>
              </a:rPr>
              <a:t>FINAL, A LOS 8 DÍAS</a:t>
            </a:r>
          </a:p>
        </p:txBody>
      </p:sp>
      <p:sp>
        <p:nvSpPr>
          <p:cNvPr id="12" name="Rectangle 11"/>
          <p:cNvSpPr/>
          <p:nvPr/>
        </p:nvSpPr>
        <p:spPr>
          <a:xfrm>
            <a:off x="4142232"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51960" y="1920240"/>
            <a:ext cx="3502152" cy="548640"/>
          </a:xfrm>
          <a:prstGeom prst="rect">
            <a:avLst/>
          </a:prstGeom>
          <a:noFill/>
        </p:spPr>
        <p:txBody>
          <a:bodyPr wrap="square" lIns="0" rIns="0" tIns="0" bIns="0">
            <a:spAutoFit/>
          </a:bodyPr>
          <a:lstStyle/>
          <a:p>
            <a:pPr algn="l">
              <a:spcAft>
                <a:spcPts val="0"/>
              </a:spcAft>
            </a:pPr>
            <a:r>
              <a:rPr sz="2800" b="0">
                <a:solidFill>
                  <a:srgbClr val="000000"/>
                </a:solidFill>
                <a:latin typeface="Arial Black"/>
              </a:rPr>
              <a:t>2 h</a:t>
            </a:r>
          </a:p>
        </p:txBody>
      </p:sp>
      <p:sp>
        <p:nvSpPr>
          <p:cNvPr id="14" name="TextBox 13"/>
          <p:cNvSpPr txBox="1"/>
          <p:nvPr/>
        </p:nvSpPr>
        <p:spPr>
          <a:xfrm>
            <a:off x="4251960"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LECTURA</a:t>
            </a:r>
          </a:p>
          <a:p>
            <a:pPr algn="l">
              <a:lnSpc>
                <a:spcPct val="125000"/>
              </a:lnSpc>
              <a:spcAft>
                <a:spcPts val="0"/>
              </a:spcAft>
            </a:pPr>
            <a:r>
              <a:rPr sz="730" b="1" spc="130">
                <a:solidFill>
                  <a:srgbClr val="3A3A3A"/>
                </a:solidFill>
                <a:latin typeface="Consolas"/>
              </a:rPr>
              <a:t>DE CIERRE</a:t>
            </a:r>
          </a:p>
        </p:txBody>
      </p:sp>
      <p:sp>
        <p:nvSpPr>
          <p:cNvPr id="15" name="Rectangle 14"/>
          <p:cNvSpPr/>
          <p:nvPr/>
        </p:nvSpPr>
        <p:spPr>
          <a:xfrm>
            <a:off x="7827264" y="1901952"/>
            <a:ext cx="9144" cy="98755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1920240"/>
            <a:ext cx="3502152" cy="548640"/>
          </a:xfrm>
          <a:prstGeom prst="rect">
            <a:avLst/>
          </a:prstGeom>
          <a:noFill/>
        </p:spPr>
        <p:txBody>
          <a:bodyPr wrap="square" lIns="0" rIns="0" tIns="0" bIns="0">
            <a:spAutoFit/>
          </a:bodyPr>
          <a:lstStyle/>
          <a:p>
            <a:pPr algn="l">
              <a:spcAft>
                <a:spcPts val="0"/>
              </a:spcAft>
            </a:pPr>
            <a:r>
              <a:rPr sz="2800" b="0">
                <a:solidFill>
                  <a:srgbClr val="F36406"/>
                </a:solidFill>
                <a:latin typeface="Arial Black"/>
              </a:rPr>
              <a:t>10 h</a:t>
            </a:r>
          </a:p>
        </p:txBody>
      </p:sp>
      <p:sp>
        <p:nvSpPr>
          <p:cNvPr id="17" name="TextBox 16"/>
          <p:cNvSpPr txBox="1"/>
          <p:nvPr/>
        </p:nvSpPr>
        <p:spPr>
          <a:xfrm>
            <a:off x="7936992" y="2523744"/>
            <a:ext cx="3502152" cy="438912"/>
          </a:xfrm>
          <a:prstGeom prst="rect">
            <a:avLst/>
          </a:prstGeom>
          <a:noFill/>
        </p:spPr>
        <p:txBody>
          <a:bodyPr wrap="square" lIns="0" rIns="0" tIns="0" bIns="0">
            <a:spAutoFit/>
          </a:bodyPr>
          <a:lstStyle/>
          <a:p>
            <a:pPr algn="l">
              <a:lnSpc>
                <a:spcPct val="125000"/>
              </a:lnSpc>
              <a:spcAft>
                <a:spcPts val="0"/>
              </a:spcAft>
            </a:pPr>
            <a:r>
              <a:rPr sz="730" b="1" spc="130">
                <a:solidFill>
                  <a:srgbClr val="3A3A3A"/>
                </a:solidFill>
                <a:latin typeface="Consolas"/>
              </a:rPr>
              <a:t>VERSIÓN CONSOLIDADA</a:t>
            </a:r>
          </a:p>
          <a:p>
            <a:pPr algn="l">
              <a:lnSpc>
                <a:spcPct val="125000"/>
              </a:lnSpc>
              <a:spcAft>
                <a:spcPts val="0"/>
              </a:spcAft>
            </a:pPr>
            <a:r>
              <a:rPr sz="730" b="1" spc="130">
                <a:solidFill>
                  <a:srgbClr val="3A3A3A"/>
                </a:solidFill>
                <a:latin typeface="Consolas"/>
              </a:rPr>
              <a:t>DEL INFORME</a:t>
            </a:r>
          </a:p>
        </p:txBody>
      </p:sp>
      <p:sp>
        <p:nvSpPr>
          <p:cNvPr id="18" name="Rectangle 17"/>
          <p:cNvSpPr/>
          <p:nvPr/>
        </p:nvSpPr>
        <p:spPr>
          <a:xfrm>
            <a:off x="566928" y="2962656"/>
            <a:ext cx="11055096" cy="2743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191256"/>
            <a:ext cx="11055096" cy="274320"/>
          </a:xfrm>
          <a:prstGeom prst="rect">
            <a:avLst/>
          </a:prstGeom>
          <a:noFill/>
        </p:spPr>
        <p:txBody>
          <a:bodyPr wrap="square" lIns="0" rIns="0" tIns="0" bIns="0">
            <a:spAutoFit/>
          </a:bodyPr>
          <a:lstStyle/>
          <a:p>
            <a:pPr algn="l">
              <a:spcAft>
                <a:spcPts val="0"/>
              </a:spcAft>
            </a:pPr>
            <a:r>
              <a:rPr sz="1350" b="1">
                <a:solidFill>
                  <a:srgbClr val="000000"/>
                </a:solidFill>
                <a:latin typeface="Arial"/>
              </a:rPr>
              <a:t>Lectura de cierre · 2 horas</a:t>
            </a:r>
          </a:p>
        </p:txBody>
      </p:sp>
      <p:sp>
        <p:nvSpPr>
          <p:cNvPr id="20" name="TextBox 19"/>
          <p:cNvSpPr txBox="1"/>
          <p:nvPr/>
        </p:nvSpPr>
        <p:spPr>
          <a:xfrm>
            <a:off x="566928" y="3520439"/>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FIPS 203 y FIPS 204</a:t>
            </a:r>
          </a:p>
        </p:txBody>
      </p:sp>
      <p:sp>
        <p:nvSpPr>
          <p:cNvPr id="21" name="TextBox 20"/>
          <p:cNvSpPr txBox="1"/>
          <p:nvPr/>
        </p:nvSpPr>
        <p:spPr>
          <a:xfrm>
            <a:off x="3401568" y="3520439"/>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Secciones 1 y 2 de cada una: alcance, conjuntos de parámetros y nivel de seguridad de ML-KEM y ML-DSA. Una hora.</a:t>
            </a:r>
          </a:p>
        </p:txBody>
      </p:sp>
      <p:sp>
        <p:nvSpPr>
          <p:cNvPr id="22" name="Rectangle 21"/>
          <p:cNvSpPr/>
          <p:nvPr/>
        </p:nvSpPr>
        <p:spPr>
          <a:xfrm>
            <a:off x="566928" y="4014215"/>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4105655"/>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ETSI EN 319 142-1</a:t>
            </a:r>
          </a:p>
        </p:txBody>
      </p:sp>
      <p:sp>
        <p:nvSpPr>
          <p:cNvPr id="24" name="TextBox 23"/>
          <p:cNvSpPr txBox="1"/>
          <p:nvPr/>
        </p:nvSpPr>
        <p:spPr>
          <a:xfrm>
            <a:off x="3401568" y="4105655"/>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Firmas PAdES: introducción y niveles B, T, LT y LTA, para precisar la recomendación de H7. Una hora.</a:t>
            </a:r>
          </a:p>
        </p:txBody>
      </p:sp>
      <p:sp>
        <p:nvSpPr>
          <p:cNvPr id="25" name="Rectangle 24"/>
          <p:cNvSpPr/>
          <p:nvPr/>
        </p:nvSpPr>
        <p:spPr>
          <a:xfrm>
            <a:off x="566928" y="4599431"/>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690871"/>
            <a:ext cx="2651760" cy="457200"/>
          </a:xfrm>
          <a:prstGeom prst="rect">
            <a:avLst/>
          </a:prstGeom>
          <a:noFill/>
        </p:spPr>
        <p:txBody>
          <a:bodyPr wrap="square" lIns="0" rIns="0" tIns="0" bIns="0">
            <a:spAutoFit/>
          </a:bodyPr>
          <a:lstStyle/>
          <a:p>
            <a:pPr algn="l">
              <a:lnSpc>
                <a:spcPct val="115000"/>
              </a:lnSpc>
              <a:spcAft>
                <a:spcPts val="0"/>
              </a:spcAft>
            </a:pPr>
            <a:r>
              <a:rPr sz="1200" b="1">
                <a:solidFill>
                  <a:srgbClr val="000000"/>
                </a:solidFill>
                <a:latin typeface="Arial"/>
              </a:rPr>
              <a:t>La realimentación recibida</a:t>
            </a:r>
          </a:p>
        </p:txBody>
      </p:sp>
      <p:sp>
        <p:nvSpPr>
          <p:cNvPr id="27" name="TextBox 26"/>
          <p:cNvSpPr txBox="1"/>
          <p:nvPr/>
        </p:nvSpPr>
        <p:spPr>
          <a:xfrm>
            <a:off x="3401568" y="4690871"/>
            <a:ext cx="8183879" cy="457200"/>
          </a:xfrm>
          <a:prstGeom prst="rect">
            <a:avLst/>
          </a:prstGeom>
          <a:noFill/>
        </p:spPr>
        <p:txBody>
          <a:bodyPr wrap="square" lIns="0" rIns="0" tIns="0" bIns="0">
            <a:spAutoFit/>
          </a:bodyPr>
          <a:lstStyle/>
          <a:p>
            <a:pPr algn="l">
              <a:lnSpc>
                <a:spcPct val="120000"/>
              </a:lnSpc>
              <a:spcAft>
                <a:spcPts val="0"/>
              </a:spcAft>
            </a:pPr>
            <a:r>
              <a:rPr sz="1150" b="0">
                <a:solidFill>
                  <a:srgbClr val="2A2A2A"/>
                </a:solidFill>
                <a:latin typeface="Arial"/>
              </a:rPr>
              <a:t>Las observaciones de las cinco entregas y de la sustentación: la versión final tiene que responderlas todas.</a:t>
            </a:r>
          </a:p>
        </p:txBody>
      </p:sp>
      <p:sp>
        <p:nvSpPr>
          <p:cNvPr id="28" name="Rectangle 27"/>
          <p:cNvSpPr/>
          <p:nvPr/>
        </p:nvSpPr>
        <p:spPr>
          <a:xfrm>
            <a:off x="566928" y="5184647"/>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ENTREGA FINAL DEL MÓDULO</a:t>
            </a:r>
          </a:p>
        </p:txBody>
      </p:sp>
      <p:sp>
        <p:nvSpPr>
          <p:cNvPr id="31" name="TextBox 30"/>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 versión consolidada del informe se entrega a los ocho días de esta sesión: integra las cinco partes corregidas y la hoja de ruta sustentada. Con estas 12 horas se completan las 64 de trabajo independiente del módulo.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46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1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54</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ACM</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Association for Computing Machinery — Asociación profesional que publicó en 1979 el artículo de Shamir sobre el reparto de secretos.</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AES / AES-256</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Advanced Encryption Standard — Con llaves de 256 bits resiste el cómputo cuántico conocido. Sesión 2.</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CNSA 2.0</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Commercial National Security Algorithm Suite 2.0 — Suite y calendario post-cuántico de la NSA, publicado en 2022.</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ETSI / PAdES</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European Telecommunications Standards Institute / PDF Advanced Electronic Signatures — La norma europea de firma avanzada en PDF.</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B / T / LT / LTA</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Basic, Timestamp, Long-Term, Long-Term with Archive — Los niveles de firma para conservar a largo plazo.</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FF1</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Modo de cifrado que conserva el formato del dato, de NIST SP 800-38G. Es la base de la tokenización sin bóveda.</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FIPS</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Federal Information Processing Standards — Normas federales de Estados Unidos; FIPS 140-3 certifica los módulos de hardware.</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IETF / RFC / TSP</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Internet Engineering Task Force / Request for Comments / Time-Stamp Protocol — El sello de tiempo es el RFC 3161.</a:t>
            </a:r>
          </a:p>
        </p:txBody>
      </p:sp>
      <p:sp>
        <p:nvSpPr>
          <p:cNvPr id="33" name="Rectangle 32"/>
          <p:cNvSpPr/>
          <p:nvPr/>
        </p:nvSpPr>
        <p:spPr>
          <a:xfrm>
            <a:off x="6272784"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55664"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ML-KEM / ML-DSA</a:t>
            </a:r>
          </a:p>
        </p:txBody>
      </p:sp>
      <p:sp>
        <p:nvSpPr>
          <p:cNvPr id="35" name="TextBox 34"/>
          <p:cNvSpPr txBox="1"/>
          <p:nvPr/>
        </p:nvSpPr>
        <p:spPr>
          <a:xfrm>
            <a:off x="6455664"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Module-Lattice-Based Key-Encapsulation Mechanism / Digital Signature Algorithm — Los estándares FIPS 203 y FIPS 204.</a:t>
            </a:r>
          </a:p>
        </p:txBody>
      </p:sp>
      <p:sp>
        <p:nvSpPr>
          <p:cNvPr id="36" name="Rectangle 35"/>
          <p:cNvSpPr/>
          <p:nvPr/>
        </p:nvSpPr>
        <p:spPr>
          <a:xfrm>
            <a:off x="6272784"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55664"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NIST / SP / IR</a:t>
            </a:r>
          </a:p>
        </p:txBody>
      </p:sp>
      <p:sp>
        <p:nvSpPr>
          <p:cNvPr id="38" name="TextBox 37"/>
          <p:cNvSpPr txBox="1"/>
          <p:nvPr/>
        </p:nvSpPr>
        <p:spPr>
          <a:xfrm>
            <a:off x="6455664"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National Institute of Standards and Technology / Special Publication / Interagency Report — El instituto y dos de sus series.</a:t>
            </a:r>
          </a:p>
        </p:txBody>
      </p:sp>
      <p:sp>
        <p:nvSpPr>
          <p:cNvPr id="39" name="TextBox 38"/>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47  GLOSARIO</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SIGLAS DE LA SESIÓN · 2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55</a:t>
            </a:r>
          </a:p>
        </p:txBody>
      </p:sp>
      <p:sp>
        <p:nvSpPr>
          <p:cNvPr id="9" name="Rectangle 8"/>
          <p:cNvSpPr/>
          <p:nvPr/>
        </p:nvSpPr>
        <p:spPr>
          <a:xfrm>
            <a:off x="566928"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NSA</a:t>
            </a:r>
          </a:p>
        </p:txBody>
      </p:sp>
      <p:sp>
        <p:nvSpPr>
          <p:cNvPr id="11" name="TextBox 10"/>
          <p:cNvSpPr txBox="1"/>
          <p:nvPr/>
        </p:nvSpPr>
        <p:spPr>
          <a:xfrm>
            <a:off x="749808"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National Security Agency — Agencia de Seguridad Nacional de Estados Unidos; publica la suite CNSA.</a:t>
            </a:r>
          </a:p>
        </p:txBody>
      </p:sp>
      <p:sp>
        <p:nvSpPr>
          <p:cNvPr id="12" name="Rectangle 11"/>
          <p:cNvSpPr/>
          <p:nvPr/>
        </p:nvSpPr>
        <p:spPr>
          <a:xfrm>
            <a:off x="566928"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PCI DSS / SSC</a:t>
            </a:r>
          </a:p>
        </p:txBody>
      </p:sp>
      <p:sp>
        <p:nvSpPr>
          <p:cNvPr id="14" name="TextBox 13"/>
          <p:cNvSpPr txBox="1"/>
          <p:nvPr/>
        </p:nvSpPr>
        <p:spPr>
          <a:xfrm>
            <a:off x="749808"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Payment Card Industry Data Security Standard / Security Standards Council — La norma de la industria de tarjetas y su consejo.</a:t>
            </a:r>
          </a:p>
        </p:txBody>
      </p:sp>
      <p:sp>
        <p:nvSpPr>
          <p:cNvPr id="15" name="Rectangle 14"/>
          <p:cNvSpPr/>
          <p:nvPr/>
        </p:nvSpPr>
        <p:spPr>
          <a:xfrm>
            <a:off x="566928"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PDF</a:t>
            </a:r>
          </a:p>
        </p:txBody>
      </p:sp>
      <p:sp>
        <p:nvSpPr>
          <p:cNvPr id="17" name="TextBox 16"/>
          <p:cNvSpPr txBox="1"/>
          <p:nvPr/>
        </p:nvSpPr>
        <p:spPr>
          <a:xfrm>
            <a:off x="749808"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Portable Document Format — El formato del contrato y del pagaré de las hipotecas de Coopaburrá.</a:t>
            </a:r>
          </a:p>
        </p:txBody>
      </p:sp>
      <p:sp>
        <p:nvSpPr>
          <p:cNvPr id="18" name="Rectangle 17"/>
          <p:cNvSpPr/>
          <p:nvPr/>
        </p:nvSpPr>
        <p:spPr>
          <a:xfrm>
            <a:off x="566928" y="4059935"/>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51375"/>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PKI</a:t>
            </a:r>
          </a:p>
        </p:txBody>
      </p:sp>
      <p:sp>
        <p:nvSpPr>
          <p:cNvPr id="20" name="TextBox 19"/>
          <p:cNvSpPr txBox="1"/>
          <p:nvPr/>
        </p:nvSpPr>
        <p:spPr>
          <a:xfrm>
            <a:off x="749808" y="4407407"/>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Public Key Infrastructure — Infraestructura de llave pública. Sesión 5.</a:t>
            </a:r>
          </a:p>
        </p:txBody>
      </p:sp>
      <p:sp>
        <p:nvSpPr>
          <p:cNvPr id="21" name="Rectangle 20"/>
          <p:cNvSpPr/>
          <p:nvPr/>
        </p:nvSpPr>
        <p:spPr>
          <a:xfrm>
            <a:off x="566928" y="4919472"/>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010912"/>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RSA / RSA-2048</a:t>
            </a:r>
          </a:p>
        </p:txBody>
      </p:sp>
      <p:sp>
        <p:nvSpPr>
          <p:cNvPr id="23" name="TextBox 22"/>
          <p:cNvSpPr txBox="1"/>
          <p:nvPr/>
        </p:nvSpPr>
        <p:spPr>
          <a:xfrm>
            <a:off x="749808" y="5266944"/>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Rivest, Shamir y Adleman — Llave pública de 1977. RSA-2048 queda desaprobado después de 2030 según NIST IR 8547.</a:t>
            </a:r>
          </a:p>
        </p:txBody>
      </p:sp>
      <p:sp>
        <p:nvSpPr>
          <p:cNvPr id="24" name="Rectangle 23"/>
          <p:cNvSpPr/>
          <p:nvPr/>
        </p:nvSpPr>
        <p:spPr>
          <a:xfrm>
            <a:off x="6272784" y="1481328"/>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5664" y="1572768"/>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SHA-1</a:t>
            </a:r>
          </a:p>
        </p:txBody>
      </p:sp>
      <p:sp>
        <p:nvSpPr>
          <p:cNvPr id="26" name="TextBox 25"/>
          <p:cNvSpPr txBox="1"/>
          <p:nvPr/>
        </p:nvSpPr>
        <p:spPr>
          <a:xfrm>
            <a:off x="6455664" y="1828800"/>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Secure Hash Algorithm 1 — Función resumen rota: el ejemplo de un algoritmo que envejeció con firmas todavía vigentes.</a:t>
            </a:r>
          </a:p>
        </p:txBody>
      </p:sp>
      <p:sp>
        <p:nvSpPr>
          <p:cNvPr id="27" name="Rectangle 26"/>
          <p:cNvSpPr/>
          <p:nvPr/>
        </p:nvSpPr>
        <p:spPr>
          <a:xfrm>
            <a:off x="6272784" y="2340864"/>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5664" y="2432304"/>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SLH-DSA</a:t>
            </a:r>
          </a:p>
        </p:txBody>
      </p:sp>
      <p:sp>
        <p:nvSpPr>
          <p:cNvPr id="29" name="TextBox 28"/>
          <p:cNvSpPr txBox="1"/>
          <p:nvPr/>
        </p:nvSpPr>
        <p:spPr>
          <a:xfrm>
            <a:off x="6455664" y="2688336"/>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Stateless Hash-Based Digital Signature Algorithm — La firma post-cuántica conservadora de FIPS 205.</a:t>
            </a:r>
          </a:p>
        </p:txBody>
      </p:sp>
      <p:sp>
        <p:nvSpPr>
          <p:cNvPr id="30" name="Rectangle 29"/>
          <p:cNvSpPr/>
          <p:nvPr/>
        </p:nvSpPr>
        <p:spPr>
          <a:xfrm>
            <a:off x="6272784" y="3200400"/>
            <a:ext cx="5349240" cy="768096"/>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291840"/>
            <a:ext cx="4983480" cy="237744"/>
          </a:xfrm>
          <a:prstGeom prst="rect">
            <a:avLst/>
          </a:prstGeom>
          <a:noFill/>
        </p:spPr>
        <p:txBody>
          <a:bodyPr wrap="square" lIns="0" rIns="0" tIns="0" bIns="0">
            <a:spAutoFit/>
          </a:bodyPr>
          <a:lstStyle/>
          <a:p>
            <a:pPr algn="l">
              <a:spcAft>
                <a:spcPts val="0"/>
              </a:spcAft>
            </a:pPr>
            <a:r>
              <a:rPr sz="1250" b="0">
                <a:solidFill>
                  <a:srgbClr val="000000"/>
                </a:solidFill>
                <a:latin typeface="Arial Black"/>
              </a:rPr>
              <a:t>X25519</a:t>
            </a:r>
          </a:p>
        </p:txBody>
      </p:sp>
      <p:sp>
        <p:nvSpPr>
          <p:cNvPr id="32" name="TextBox 31"/>
          <p:cNvSpPr txBox="1"/>
          <p:nvPr/>
        </p:nvSpPr>
        <p:spPr>
          <a:xfrm>
            <a:off x="6455664" y="3547872"/>
            <a:ext cx="4983480" cy="384048"/>
          </a:xfrm>
          <a:prstGeom prst="rect">
            <a:avLst/>
          </a:prstGeom>
          <a:noFill/>
        </p:spPr>
        <p:txBody>
          <a:bodyPr wrap="square" lIns="0" rIns="0" tIns="0" bIns="0">
            <a:spAutoFit/>
          </a:bodyPr>
          <a:lstStyle/>
          <a:p>
            <a:pPr algn="l">
              <a:lnSpc>
                <a:spcPct val="118000"/>
              </a:lnSpc>
              <a:spcAft>
                <a:spcPts val="0"/>
              </a:spcAft>
            </a:pPr>
            <a:r>
              <a:rPr sz="950" b="0">
                <a:solidFill>
                  <a:srgbClr val="2A2A2A"/>
                </a:solidFill>
                <a:latin typeface="Arial"/>
              </a:rPr>
              <a:t>Acuerdo de llave sobre la curva 25519: la referencia clásica frente a ML-KEM.</a:t>
            </a:r>
          </a:p>
        </p:txBody>
      </p:sp>
      <p:sp>
        <p:nvSpPr>
          <p:cNvPr id="33" name="TextBox 32"/>
          <p:cNvSpPr txBox="1"/>
          <p:nvPr/>
        </p:nvSpPr>
        <p:spPr>
          <a:xfrm>
            <a:off x="566928" y="5815584"/>
            <a:ext cx="11055096" cy="329184"/>
          </a:xfrm>
          <a:prstGeom prst="rect">
            <a:avLst/>
          </a:prstGeom>
          <a:noFill/>
        </p:spPr>
        <p:txBody>
          <a:bodyPr wrap="square" lIns="0" rIns="0" tIns="0" bIns="0">
            <a:spAutoFit/>
          </a:bodyPr>
          <a:lstStyle/>
          <a:p>
            <a:pPr algn="l">
              <a:spcAft>
                <a:spcPts val="0"/>
              </a:spcAft>
            </a:pPr>
            <a:r>
              <a:rPr sz="1100" b="0">
                <a:solidFill>
                  <a:srgbClr val="2A2A2A"/>
                </a:solidFill>
                <a:latin typeface="Arial"/>
              </a:rPr>
              <a:t>Toda sigla utilizada en la sesión aparece en el glosario con su forma completa en el idioma original y su equivalencia en español.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48  FUENTES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REFERENCIAS DE LA SESIÓN · 1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56</a:t>
            </a:r>
          </a:p>
        </p:txBody>
      </p:sp>
      <p:sp>
        <p:nvSpPr>
          <p:cNvPr id="9" name="TextBox 8"/>
          <p:cNvSpPr txBox="1"/>
          <p:nvPr/>
        </p:nvSpPr>
        <p:spPr>
          <a:xfrm>
            <a:off x="566928" y="1572768"/>
            <a:ext cx="2331720" cy="512064"/>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(2020).</a:t>
            </a:r>
          </a:p>
        </p:txBody>
      </p:sp>
      <p:sp>
        <p:nvSpPr>
          <p:cNvPr id="10" name="TextBox 9"/>
          <p:cNvSpPr txBox="1"/>
          <p:nvPr/>
        </p:nvSpPr>
        <p:spPr>
          <a:xfrm>
            <a:off x="3081528" y="1572768"/>
            <a:ext cx="5074920" cy="512064"/>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SP 800-57 Part 1 Rev. 5: Recommendation for key management — Part 1: General.</a:t>
            </a:r>
          </a:p>
        </p:txBody>
      </p:sp>
      <p:sp>
        <p:nvSpPr>
          <p:cNvPr id="11" name="TextBox 10"/>
          <p:cNvSpPr txBox="1"/>
          <p:nvPr/>
        </p:nvSpPr>
        <p:spPr>
          <a:xfrm>
            <a:off x="8385048" y="1572768"/>
            <a:ext cx="3200400" cy="512064"/>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Estados de la llave y periodos criptográficos</a:t>
            </a:r>
          </a:p>
        </p:txBody>
      </p:sp>
      <p:sp>
        <p:nvSpPr>
          <p:cNvPr id="12" name="Rectangle 11"/>
          <p:cNvSpPr/>
          <p:nvPr/>
        </p:nvSpPr>
        <p:spPr>
          <a:xfrm>
            <a:off x="566928" y="2084831"/>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176272"/>
            <a:ext cx="2331720" cy="512064"/>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(2019).</a:t>
            </a:r>
          </a:p>
        </p:txBody>
      </p:sp>
      <p:sp>
        <p:nvSpPr>
          <p:cNvPr id="14" name="TextBox 13"/>
          <p:cNvSpPr txBox="1"/>
          <p:nvPr/>
        </p:nvSpPr>
        <p:spPr>
          <a:xfrm>
            <a:off x="3081528" y="2176272"/>
            <a:ext cx="5074920" cy="512064"/>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FIPS 140-3: Security requirements for cryptographic modules.</a:t>
            </a:r>
          </a:p>
        </p:txBody>
      </p:sp>
      <p:sp>
        <p:nvSpPr>
          <p:cNvPr id="15" name="TextBox 14"/>
          <p:cNvSpPr txBox="1"/>
          <p:nvPr/>
        </p:nvSpPr>
        <p:spPr>
          <a:xfrm>
            <a:off x="8385048" y="2176272"/>
            <a:ext cx="3200400" cy="512064"/>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Niveles de los módulos de hardware</a:t>
            </a:r>
          </a:p>
        </p:txBody>
      </p:sp>
      <p:sp>
        <p:nvSpPr>
          <p:cNvPr id="16" name="Rectangle 15"/>
          <p:cNvSpPr/>
          <p:nvPr/>
        </p:nvSpPr>
        <p:spPr>
          <a:xfrm>
            <a:off x="566928" y="2688336"/>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779776"/>
            <a:ext cx="2331720" cy="512064"/>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(2024).</a:t>
            </a:r>
          </a:p>
        </p:txBody>
      </p:sp>
      <p:sp>
        <p:nvSpPr>
          <p:cNvPr id="18" name="TextBox 17"/>
          <p:cNvSpPr txBox="1"/>
          <p:nvPr/>
        </p:nvSpPr>
        <p:spPr>
          <a:xfrm>
            <a:off x="3081528" y="2779776"/>
            <a:ext cx="5074920" cy="512064"/>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FIPS 203 (ML-KEM), FIPS 204 (ML-DSA) y FIPS 205 (SLH-DSA).</a:t>
            </a:r>
          </a:p>
        </p:txBody>
      </p:sp>
      <p:sp>
        <p:nvSpPr>
          <p:cNvPr id="19" name="TextBox 18"/>
          <p:cNvSpPr txBox="1"/>
          <p:nvPr/>
        </p:nvSpPr>
        <p:spPr>
          <a:xfrm>
            <a:off x="8385048" y="2779776"/>
            <a:ext cx="3200400" cy="512064"/>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Los estándares post-cuánticos</a:t>
            </a:r>
          </a:p>
        </p:txBody>
      </p:sp>
      <p:sp>
        <p:nvSpPr>
          <p:cNvPr id="20" name="Rectangle 19"/>
          <p:cNvSpPr/>
          <p:nvPr/>
        </p:nvSpPr>
        <p:spPr>
          <a:xfrm>
            <a:off x="566928" y="329184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383280"/>
            <a:ext cx="2331720" cy="512064"/>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(2024).</a:t>
            </a:r>
          </a:p>
        </p:txBody>
      </p:sp>
      <p:sp>
        <p:nvSpPr>
          <p:cNvPr id="22" name="TextBox 21"/>
          <p:cNvSpPr txBox="1"/>
          <p:nvPr/>
        </p:nvSpPr>
        <p:spPr>
          <a:xfrm>
            <a:off x="3081528" y="3383280"/>
            <a:ext cx="5074920" cy="512064"/>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IR 8547, borrador: Transition to post-quantum cryptography standards.</a:t>
            </a:r>
          </a:p>
        </p:txBody>
      </p:sp>
      <p:sp>
        <p:nvSpPr>
          <p:cNvPr id="23" name="TextBox 22"/>
          <p:cNvSpPr txBox="1"/>
          <p:nvPr/>
        </p:nvSpPr>
        <p:spPr>
          <a:xfrm>
            <a:off x="8385048" y="3383280"/>
            <a:ext cx="3200400" cy="512064"/>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Desaprobación en 2030 y prohibición en 2035</a:t>
            </a:r>
          </a:p>
        </p:txBody>
      </p:sp>
      <p:sp>
        <p:nvSpPr>
          <p:cNvPr id="24" name="Rectangle 23"/>
          <p:cNvSpPr/>
          <p:nvPr/>
        </p:nvSpPr>
        <p:spPr>
          <a:xfrm>
            <a:off x="566928" y="3895344"/>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986784"/>
            <a:ext cx="2331720" cy="512064"/>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National Security Agency. (2022).</a:t>
            </a:r>
          </a:p>
        </p:txBody>
      </p:sp>
      <p:sp>
        <p:nvSpPr>
          <p:cNvPr id="26" name="TextBox 25"/>
          <p:cNvSpPr txBox="1"/>
          <p:nvPr/>
        </p:nvSpPr>
        <p:spPr>
          <a:xfrm>
            <a:off x="3081528" y="3986784"/>
            <a:ext cx="5074920" cy="512064"/>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Commercial National Security Algorithm Suite 2.0 (CNSA 2.0).</a:t>
            </a:r>
          </a:p>
        </p:txBody>
      </p:sp>
      <p:sp>
        <p:nvSpPr>
          <p:cNvPr id="27" name="TextBox 26"/>
          <p:cNvSpPr txBox="1"/>
          <p:nvPr/>
        </p:nvSpPr>
        <p:spPr>
          <a:xfrm>
            <a:off x="8385048" y="3986784"/>
            <a:ext cx="3200400" cy="512064"/>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Algoritmos y calendario por tipo de sistema</a:t>
            </a:r>
          </a:p>
        </p:txBody>
      </p:sp>
      <p:sp>
        <p:nvSpPr>
          <p:cNvPr id="28" name="Rectangle 27"/>
          <p:cNvSpPr/>
          <p:nvPr/>
        </p:nvSpPr>
        <p:spPr>
          <a:xfrm>
            <a:off x="566928" y="4498848"/>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365760"/>
            <a:ext cx="11055096" cy="457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512064"/>
            <a:ext cx="11055096" cy="201168"/>
          </a:xfrm>
          <a:prstGeom prst="rect">
            <a:avLst/>
          </a:prstGeom>
          <a:noFill/>
        </p:spPr>
        <p:txBody>
          <a:bodyPr wrap="square" lIns="0" rIns="0" tIns="0" bIns="0">
            <a:spAutoFit/>
          </a:bodyPr>
          <a:lstStyle/>
          <a:p>
            <a:pPr algn="l">
              <a:spcAft>
                <a:spcPts val="0"/>
              </a:spcAft>
            </a:pPr>
            <a:r>
              <a:rPr sz="850" b="1" spc="240">
                <a:solidFill>
                  <a:srgbClr val="5C5C5C"/>
                </a:solidFill>
                <a:latin typeface="Consolas"/>
              </a:rPr>
              <a:t>// 49  FUENTES</a:t>
            </a:r>
          </a:p>
        </p:txBody>
      </p:sp>
      <p:sp>
        <p:nvSpPr>
          <p:cNvPr id="4" name="TextBox 3"/>
          <p:cNvSpPr txBox="1"/>
          <p:nvPr/>
        </p:nvSpPr>
        <p:spPr>
          <a:xfrm>
            <a:off x="566928" y="731520"/>
            <a:ext cx="11055096" cy="566928"/>
          </a:xfrm>
          <a:prstGeom prst="rect">
            <a:avLst/>
          </a:prstGeom>
          <a:noFill/>
        </p:spPr>
        <p:txBody>
          <a:bodyPr wrap="square" lIns="0" rIns="0" tIns="0" bIns="0">
            <a:spAutoFit/>
          </a:bodyPr>
          <a:lstStyle/>
          <a:p>
            <a:pPr algn="l">
              <a:lnSpc>
                <a:spcPct val="108000"/>
              </a:lnSpc>
              <a:spcAft>
                <a:spcPts val="0"/>
              </a:spcAft>
            </a:pPr>
            <a:r>
              <a:rPr sz="2600" b="0">
                <a:solidFill>
                  <a:srgbClr val="000000"/>
                </a:solidFill>
                <a:latin typeface="Arial Black"/>
              </a:rPr>
              <a:t>REFERENCIAS DE LA SESIÓN · 2 DE 2</a:t>
            </a:r>
          </a:p>
        </p:txBody>
      </p:sp>
      <p:sp>
        <p:nvSpPr>
          <p:cNvPr id="5" name="Rectangle 4"/>
          <p:cNvSpPr/>
          <p:nvPr/>
        </p:nvSpPr>
        <p:spPr>
          <a:xfrm>
            <a:off x="566928" y="621792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1.png"/>
          <p:cNvPicPr>
            <a:picLocks noChangeAspect="1"/>
          </p:cNvPicPr>
          <p:nvPr/>
        </p:nvPicPr>
        <p:blipFill>
          <a:blip r:embed="rId2"/>
          <a:stretch>
            <a:fillRect/>
          </a:stretch>
        </p:blipFill>
        <p:spPr>
          <a:xfrm>
            <a:off x="566928" y="6336792"/>
            <a:ext cx="566928" cy="246888"/>
          </a:xfrm>
          <a:prstGeom prst="rect">
            <a:avLst/>
          </a:prstGeom>
        </p:spPr>
      </p:pic>
      <p:sp>
        <p:nvSpPr>
          <p:cNvPr id="7" name="TextBox 6"/>
          <p:cNvSpPr txBox="1"/>
          <p:nvPr/>
        </p:nvSpPr>
        <p:spPr>
          <a:xfrm>
            <a:off x="1344168" y="6345936"/>
            <a:ext cx="8412480" cy="228600"/>
          </a:xfrm>
          <a:prstGeom prst="rect">
            <a:avLst/>
          </a:prstGeom>
          <a:noFill/>
        </p:spPr>
        <p:txBody>
          <a:bodyPr wrap="square" lIns="0" rIns="0" tIns="0" bIns="0">
            <a:spAutoFit/>
          </a:bodyPr>
          <a:lstStyle/>
          <a:p>
            <a:pPr algn="l">
              <a:spcAft>
                <a:spcPts val="0"/>
              </a:spcAft>
            </a:pPr>
            <a:r>
              <a:rPr sz="700" b="1" spc="150">
                <a:solidFill>
                  <a:srgbClr val="707070"/>
                </a:solidFill>
                <a:latin typeface="Consolas"/>
              </a:rPr>
              <a:t>SIO0010 · TÉCNICAS CRIPTOGRÁFICAS · SESIÓN 6</a:t>
            </a:r>
          </a:p>
        </p:txBody>
      </p:sp>
      <p:sp>
        <p:nvSpPr>
          <p:cNvPr id="8" name="TextBox 7"/>
          <p:cNvSpPr txBox="1"/>
          <p:nvPr/>
        </p:nvSpPr>
        <p:spPr>
          <a:xfrm>
            <a:off x="10524744" y="6272784"/>
            <a:ext cx="1097280" cy="384048"/>
          </a:xfrm>
          <a:prstGeom prst="rect">
            <a:avLst/>
          </a:prstGeom>
          <a:noFill/>
        </p:spPr>
        <p:txBody>
          <a:bodyPr wrap="square" lIns="0" rIns="0" tIns="0" bIns="0">
            <a:spAutoFit/>
          </a:bodyPr>
          <a:lstStyle/>
          <a:p>
            <a:pPr algn="r">
              <a:spcAft>
                <a:spcPts val="0"/>
              </a:spcAft>
            </a:pPr>
            <a:r>
              <a:rPr sz="1500" b="0">
                <a:solidFill>
                  <a:srgbClr val="000000"/>
                </a:solidFill>
                <a:latin typeface="Arial Black"/>
              </a:rPr>
              <a:t>57</a:t>
            </a:r>
          </a:p>
        </p:txBody>
      </p:sp>
      <p:sp>
        <p:nvSpPr>
          <p:cNvPr id="9" name="TextBox 8"/>
          <p:cNvSpPr txBox="1"/>
          <p:nvPr/>
        </p:nvSpPr>
        <p:spPr>
          <a:xfrm>
            <a:off x="566928" y="1572768"/>
            <a:ext cx="2331720" cy="512064"/>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NIST. (2016).</a:t>
            </a:r>
          </a:p>
        </p:txBody>
      </p:sp>
      <p:sp>
        <p:nvSpPr>
          <p:cNvPr id="10" name="TextBox 9"/>
          <p:cNvSpPr txBox="1"/>
          <p:nvPr/>
        </p:nvSpPr>
        <p:spPr>
          <a:xfrm>
            <a:off x="3081528" y="1572768"/>
            <a:ext cx="5074920" cy="512064"/>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SP 800-38G: Methods for format-preserving encryption.</a:t>
            </a:r>
          </a:p>
        </p:txBody>
      </p:sp>
      <p:sp>
        <p:nvSpPr>
          <p:cNvPr id="11" name="TextBox 10"/>
          <p:cNvSpPr txBox="1"/>
          <p:nvPr/>
        </p:nvSpPr>
        <p:spPr>
          <a:xfrm>
            <a:off x="8385048" y="1572768"/>
            <a:ext cx="3200400" cy="512064"/>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Tokenización sin bóveda: FF1</a:t>
            </a:r>
          </a:p>
        </p:txBody>
      </p:sp>
      <p:sp>
        <p:nvSpPr>
          <p:cNvPr id="12" name="Rectangle 11"/>
          <p:cNvSpPr/>
          <p:nvPr/>
        </p:nvSpPr>
        <p:spPr>
          <a:xfrm>
            <a:off x="566928" y="2084831"/>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176272"/>
            <a:ext cx="2331720" cy="512064"/>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PCI Security Standards Council. (2011).</a:t>
            </a:r>
          </a:p>
        </p:txBody>
      </p:sp>
      <p:sp>
        <p:nvSpPr>
          <p:cNvPr id="14" name="TextBox 13"/>
          <p:cNvSpPr txBox="1"/>
          <p:nvPr/>
        </p:nvSpPr>
        <p:spPr>
          <a:xfrm>
            <a:off x="3081528" y="2176272"/>
            <a:ext cx="5074920" cy="512064"/>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Information supplement: PCI DSS tokenization guidelines.</a:t>
            </a:r>
          </a:p>
        </p:txBody>
      </p:sp>
      <p:sp>
        <p:nvSpPr>
          <p:cNvPr id="15" name="TextBox 14"/>
          <p:cNvSpPr txBox="1"/>
          <p:nvPr/>
        </p:nvSpPr>
        <p:spPr>
          <a:xfrm>
            <a:off x="8385048" y="2176272"/>
            <a:ext cx="3200400" cy="512064"/>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Tokenización y reducción del alcance de auditoría</a:t>
            </a:r>
          </a:p>
        </p:txBody>
      </p:sp>
      <p:sp>
        <p:nvSpPr>
          <p:cNvPr id="16" name="Rectangle 15"/>
          <p:cNvSpPr/>
          <p:nvPr/>
        </p:nvSpPr>
        <p:spPr>
          <a:xfrm>
            <a:off x="566928" y="2688336"/>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2779776"/>
            <a:ext cx="2331720" cy="512064"/>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Shamir, A. (1979).</a:t>
            </a:r>
          </a:p>
        </p:txBody>
      </p:sp>
      <p:sp>
        <p:nvSpPr>
          <p:cNvPr id="18" name="TextBox 17"/>
          <p:cNvSpPr txBox="1"/>
          <p:nvPr/>
        </p:nvSpPr>
        <p:spPr>
          <a:xfrm>
            <a:off x="3081528" y="2779776"/>
            <a:ext cx="5074920" cy="512064"/>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How to share a secret. Communications of the ACM, 22(11), 612–613.</a:t>
            </a:r>
          </a:p>
        </p:txBody>
      </p:sp>
      <p:sp>
        <p:nvSpPr>
          <p:cNvPr id="19" name="TextBox 18"/>
          <p:cNvSpPr txBox="1"/>
          <p:nvPr/>
        </p:nvSpPr>
        <p:spPr>
          <a:xfrm>
            <a:off x="8385048" y="2779776"/>
            <a:ext cx="3200400" cy="512064"/>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El reparto de un secreto con umbral</a:t>
            </a:r>
          </a:p>
        </p:txBody>
      </p:sp>
      <p:sp>
        <p:nvSpPr>
          <p:cNvPr id="20" name="Rectangle 19"/>
          <p:cNvSpPr/>
          <p:nvPr/>
        </p:nvSpPr>
        <p:spPr>
          <a:xfrm>
            <a:off x="566928" y="3291840"/>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383280"/>
            <a:ext cx="2331720" cy="512064"/>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Adams, C. et al. (2001).</a:t>
            </a:r>
          </a:p>
        </p:txBody>
      </p:sp>
      <p:sp>
        <p:nvSpPr>
          <p:cNvPr id="22" name="TextBox 21"/>
          <p:cNvSpPr txBox="1"/>
          <p:nvPr/>
        </p:nvSpPr>
        <p:spPr>
          <a:xfrm>
            <a:off x="3081528" y="3383280"/>
            <a:ext cx="5074920" cy="512064"/>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RFC 3161: Internet X.509 PKI Time-Stamp Protocol (TSP). IETF.</a:t>
            </a:r>
          </a:p>
        </p:txBody>
      </p:sp>
      <p:sp>
        <p:nvSpPr>
          <p:cNvPr id="23" name="TextBox 22"/>
          <p:cNvSpPr txBox="1"/>
          <p:nvPr/>
        </p:nvSpPr>
        <p:spPr>
          <a:xfrm>
            <a:off x="8385048" y="3383280"/>
            <a:ext cx="3200400" cy="512064"/>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El sello de tiempo</a:t>
            </a:r>
          </a:p>
        </p:txBody>
      </p:sp>
      <p:sp>
        <p:nvSpPr>
          <p:cNvPr id="24" name="Rectangle 23"/>
          <p:cNvSpPr/>
          <p:nvPr/>
        </p:nvSpPr>
        <p:spPr>
          <a:xfrm>
            <a:off x="566928" y="3895344"/>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3986784"/>
            <a:ext cx="2331720" cy="512064"/>
          </a:xfrm>
          <a:prstGeom prst="rect">
            <a:avLst/>
          </a:prstGeom>
          <a:noFill/>
        </p:spPr>
        <p:txBody>
          <a:bodyPr wrap="square" lIns="0" rIns="0" tIns="0" bIns="0">
            <a:spAutoFit/>
          </a:bodyPr>
          <a:lstStyle/>
          <a:p>
            <a:pPr algn="l">
              <a:lnSpc>
                <a:spcPct val="115000"/>
              </a:lnSpc>
              <a:spcAft>
                <a:spcPts val="0"/>
              </a:spcAft>
            </a:pPr>
            <a:r>
              <a:rPr sz="1050" b="1">
                <a:solidFill>
                  <a:srgbClr val="000000"/>
                </a:solidFill>
                <a:latin typeface="Arial"/>
              </a:rPr>
              <a:t>ETSI. (versión vigente).</a:t>
            </a:r>
          </a:p>
        </p:txBody>
      </p:sp>
      <p:sp>
        <p:nvSpPr>
          <p:cNvPr id="26" name="TextBox 25"/>
          <p:cNvSpPr txBox="1"/>
          <p:nvPr/>
        </p:nvSpPr>
        <p:spPr>
          <a:xfrm>
            <a:off x="3081528" y="3986784"/>
            <a:ext cx="5074920" cy="512064"/>
          </a:xfrm>
          <a:prstGeom prst="rect">
            <a:avLst/>
          </a:prstGeom>
          <a:noFill/>
        </p:spPr>
        <p:txBody>
          <a:bodyPr wrap="square" lIns="0" rIns="0" tIns="0" bIns="0">
            <a:spAutoFit/>
          </a:bodyPr>
          <a:lstStyle/>
          <a:p>
            <a:pPr algn="l">
              <a:lnSpc>
                <a:spcPct val="115000"/>
              </a:lnSpc>
              <a:spcAft>
                <a:spcPts val="0"/>
              </a:spcAft>
            </a:pPr>
            <a:r>
              <a:rPr sz="1050" b="0">
                <a:solidFill>
                  <a:srgbClr val="000000"/>
                </a:solidFill>
                <a:latin typeface="Arial"/>
              </a:rPr>
              <a:t>EN 319 142-1: PAdES digital signatures — Building blocks and baseline levels.</a:t>
            </a:r>
          </a:p>
        </p:txBody>
      </p:sp>
      <p:sp>
        <p:nvSpPr>
          <p:cNvPr id="27" name="TextBox 26"/>
          <p:cNvSpPr txBox="1"/>
          <p:nvPr/>
        </p:nvSpPr>
        <p:spPr>
          <a:xfrm>
            <a:off x="8385048" y="3986784"/>
            <a:ext cx="3200400" cy="512064"/>
          </a:xfrm>
          <a:prstGeom prst="rect">
            <a:avLst/>
          </a:prstGeom>
          <a:noFill/>
        </p:spPr>
        <p:txBody>
          <a:bodyPr wrap="square" lIns="0" rIns="0" tIns="0" bIns="0">
            <a:spAutoFit/>
          </a:bodyPr>
          <a:lstStyle/>
          <a:p>
            <a:pPr algn="l">
              <a:lnSpc>
                <a:spcPct val="115000"/>
              </a:lnSpc>
              <a:spcAft>
                <a:spcPts val="0"/>
              </a:spcAft>
            </a:pPr>
            <a:r>
              <a:rPr sz="1000" b="0">
                <a:solidFill>
                  <a:srgbClr val="2A2A2A"/>
                </a:solidFill>
                <a:latin typeface="Arial"/>
              </a:rPr>
              <a:t>Niveles B, T, LT y LTA</a:t>
            </a:r>
          </a:p>
        </p:txBody>
      </p:sp>
      <p:sp>
        <p:nvSpPr>
          <p:cNvPr id="28" name="Rectangle 27"/>
          <p:cNvSpPr/>
          <p:nvPr/>
        </p:nvSpPr>
        <p:spPr>
          <a:xfrm>
            <a:off x="566928" y="4498848"/>
            <a:ext cx="11055096" cy="914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5321808"/>
            <a:ext cx="45720" cy="786384"/>
          </a:xfrm>
          <a:prstGeom prst="rect">
            <a:avLst/>
          </a:prstGeom>
          <a:solidFill>
            <a:srgbClr val="F36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5340096"/>
            <a:ext cx="10780776" cy="201168"/>
          </a:xfrm>
          <a:prstGeom prst="rect">
            <a:avLst/>
          </a:prstGeom>
          <a:noFill/>
        </p:spPr>
        <p:txBody>
          <a:bodyPr wrap="square" lIns="0" rIns="0" tIns="0" bIns="0">
            <a:spAutoFit/>
          </a:bodyPr>
          <a:lstStyle/>
          <a:p>
            <a:pPr algn="l">
              <a:spcAft>
                <a:spcPts val="0"/>
              </a:spcAft>
            </a:pPr>
            <a:r>
              <a:rPr sz="800" b="1" spc="190">
                <a:solidFill>
                  <a:srgbClr val="F36406"/>
                </a:solidFill>
                <a:latin typeface="Consolas"/>
              </a:rPr>
              <a:t>// ACCESO A LAS FUENTES</a:t>
            </a:r>
          </a:p>
        </p:txBody>
      </p:sp>
      <p:sp>
        <p:nvSpPr>
          <p:cNvPr id="31" name="TextBox 30"/>
          <p:cNvSpPr txBox="1"/>
          <p:nvPr/>
        </p:nvSpPr>
        <p:spPr>
          <a:xfrm>
            <a:off x="804672" y="5577840"/>
            <a:ext cx="10780776" cy="512064"/>
          </a:xfrm>
          <a:prstGeom prst="rect">
            <a:avLst/>
          </a:prstGeom>
          <a:noFill/>
        </p:spPr>
        <p:txBody>
          <a:bodyPr wrap="square" lIns="0" rIns="0" tIns="0" bIns="0">
            <a:spAutoFit/>
          </a:bodyPr>
          <a:lstStyle/>
          <a:p>
            <a:pPr algn="l">
              <a:lnSpc>
                <a:spcPct val="132000"/>
              </a:lnSpc>
              <a:spcAft>
                <a:spcPts val="0"/>
              </a:spcAft>
            </a:pPr>
            <a:r>
              <a:rPr sz="1150" b="0">
                <a:solidFill>
                  <a:srgbClr val="2A2A2A"/>
                </a:solidFill>
                <a:latin typeface="Arial"/>
              </a:rPr>
              <a:t>Las publicaciones del NIST, de la NSA, del PCI SSC, de la IETF y del ETSI son de acceso libre en sus páginas. El artículo de Shamir se consulta en las bases de datos de la Institución.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