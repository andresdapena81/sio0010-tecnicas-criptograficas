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1.png"/>
          <p:cNvPicPr>
            <a:picLocks noChangeAspect="1"/>
          </p:cNvPicPr>
          <p:nvPr/>
        </p:nvPicPr>
        <p:blipFill>
          <a:blip r:embed="rId2"/>
          <a:stretch>
            <a:fillRect/>
          </a:stretch>
        </p:blipFill>
        <p:spPr>
          <a:xfrm>
            <a:off x="566928" y="502920"/>
            <a:ext cx="1417320" cy="612648"/>
          </a:xfrm>
          <a:prstGeom prst="rect">
            <a:avLst/>
          </a:prstGeom>
        </p:spPr>
      </p:pic>
      <p:sp>
        <p:nvSpPr>
          <p:cNvPr id="3" name="Rectangle 2"/>
          <p:cNvSpPr/>
          <p:nvPr/>
        </p:nvSpPr>
        <p:spPr>
          <a:xfrm>
            <a:off x="566928" y="1783080"/>
            <a:ext cx="11055096" cy="5486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975104"/>
            <a:ext cx="11055096" cy="237744"/>
          </a:xfrm>
          <a:prstGeom prst="rect">
            <a:avLst/>
          </a:prstGeom>
          <a:noFill/>
        </p:spPr>
        <p:txBody>
          <a:bodyPr wrap="square" lIns="0" rIns="0" tIns="0" bIns="0">
            <a:spAutoFit/>
          </a:bodyPr>
          <a:lstStyle/>
          <a:p>
            <a:pPr algn="l">
              <a:spcAft>
                <a:spcPts val="0"/>
              </a:spcAft>
            </a:pPr>
            <a:r>
              <a:rPr sz="850" b="1" spc="220">
                <a:solidFill>
                  <a:srgbClr val="5C5C5C"/>
                </a:solidFill>
                <a:latin typeface="Consolas"/>
              </a:rPr>
              <a:t>SESIÓN 1 DE 6 · 5 HORAS · BLOQUE 1: 2H15 · DESCANSO 30 MIN · BLOQUE 2: 2H15</a:t>
            </a:r>
          </a:p>
        </p:txBody>
      </p:sp>
      <p:sp>
        <p:nvSpPr>
          <p:cNvPr id="5" name="TextBox 4"/>
          <p:cNvSpPr txBox="1"/>
          <p:nvPr/>
        </p:nvSpPr>
        <p:spPr>
          <a:xfrm>
            <a:off x="566928" y="2286000"/>
            <a:ext cx="9601200" cy="2148840"/>
          </a:xfrm>
          <a:prstGeom prst="rect">
            <a:avLst/>
          </a:prstGeom>
          <a:noFill/>
        </p:spPr>
        <p:txBody>
          <a:bodyPr wrap="square" lIns="0" rIns="0" tIns="0" bIns="0">
            <a:spAutoFit/>
          </a:bodyPr>
          <a:lstStyle/>
          <a:p>
            <a:pPr algn="l">
              <a:lnSpc>
                <a:spcPct val="105000"/>
              </a:lnSpc>
              <a:spcAft>
                <a:spcPts val="0"/>
              </a:spcAft>
            </a:pPr>
            <a:r>
              <a:rPr sz="4000" b="0">
                <a:solidFill>
                  <a:srgbClr val="000000"/>
                </a:solidFill>
                <a:latin typeface="Arial Black"/>
              </a:rPr>
              <a:t>TÉCNICAS</a:t>
            </a:r>
          </a:p>
          <a:p>
            <a:pPr algn="l">
              <a:lnSpc>
                <a:spcPct val="105000"/>
              </a:lnSpc>
              <a:spcAft>
                <a:spcPts val="0"/>
              </a:spcAft>
            </a:pPr>
            <a:r>
              <a:rPr sz="4000" b="0">
                <a:solidFill>
                  <a:srgbClr val="000000"/>
                </a:solidFill>
                <a:latin typeface="Arial Black"/>
              </a:rPr>
              <a:t>CRIPTOGRÁFICAS</a:t>
            </a:r>
          </a:p>
        </p:txBody>
      </p:sp>
      <p:sp>
        <p:nvSpPr>
          <p:cNvPr id="6" name="Rectangle 5"/>
          <p:cNvSpPr/>
          <p:nvPr/>
        </p:nvSpPr>
        <p:spPr>
          <a:xfrm>
            <a:off x="566928" y="4590288"/>
            <a:ext cx="1554480" cy="54864"/>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4846320"/>
            <a:ext cx="10424160" cy="365760"/>
          </a:xfrm>
          <a:prstGeom prst="rect">
            <a:avLst/>
          </a:prstGeom>
          <a:noFill/>
        </p:spPr>
        <p:txBody>
          <a:bodyPr wrap="square" lIns="0" rIns="0" tIns="0" bIns="0">
            <a:spAutoFit/>
          </a:bodyPr>
          <a:lstStyle/>
          <a:p>
            <a:pPr algn="l">
              <a:spcAft>
                <a:spcPts val="0"/>
              </a:spcAft>
            </a:pPr>
            <a:r>
              <a:rPr sz="1400" b="1">
                <a:solidFill>
                  <a:srgbClr val="000000"/>
                </a:solidFill>
                <a:latin typeface="Arial"/>
              </a:rPr>
              <a:t>COOPABURRÁ CIFRA EL DISCO, EL CANAL Y LOS RESPALDOS. ¿POR QUÉ NO PUEDE PROBAR NADA?</a:t>
            </a:r>
          </a:p>
        </p:txBody>
      </p:sp>
      <p:sp>
        <p:nvSpPr>
          <p:cNvPr id="8" name="TextBox 7"/>
          <p:cNvSpPr txBox="1"/>
          <p:nvPr/>
        </p:nvSpPr>
        <p:spPr>
          <a:xfrm>
            <a:off x="566928" y="5285232"/>
            <a:ext cx="10424160" cy="502920"/>
          </a:xfrm>
          <a:prstGeom prst="rect">
            <a:avLst/>
          </a:prstGeom>
          <a:noFill/>
        </p:spPr>
        <p:txBody>
          <a:bodyPr wrap="square" lIns="0" rIns="0" tIns="0" bIns="0">
            <a:spAutoFit/>
          </a:bodyPr>
          <a:lstStyle/>
          <a:p>
            <a:pPr algn="l">
              <a:lnSpc>
                <a:spcPct val="125000"/>
              </a:lnSpc>
              <a:spcAft>
                <a:spcPts val="0"/>
              </a:spcAft>
            </a:pPr>
            <a:r>
              <a:rPr sz="1100" b="0">
                <a:solidFill>
                  <a:srgbClr val="5C5C5C"/>
                </a:solidFill>
                <a:latin typeface="Arial"/>
              </a:rPr>
              <a:t>SIO0010 · Técnicas Criptográficas · Especialización en Seguridad de la Información de las Organizaciones · Facultad de Ingeniería · Institución Universitaria de Envigado</a:t>
            </a:r>
          </a:p>
        </p:txBody>
      </p:sp>
      <p:sp>
        <p:nvSpPr>
          <p:cNvPr id="9" name="Rectangle 8"/>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1-1.png"/>
          <p:cNvPicPr>
            <a:picLocks noChangeAspect="1"/>
          </p:cNvPicPr>
          <p:nvPr/>
        </p:nvPicPr>
        <p:blipFill>
          <a:blip r:embed="rId2"/>
          <a:stretch>
            <a:fillRect/>
          </a:stretch>
        </p:blipFill>
        <p:spPr>
          <a:xfrm>
            <a:off x="566928" y="6336792"/>
            <a:ext cx="566928" cy="246888"/>
          </a:xfrm>
          <a:prstGeom prst="rect">
            <a:avLst/>
          </a:prstGeom>
        </p:spPr>
      </p:pic>
      <p:sp>
        <p:nvSpPr>
          <p:cNvPr id="11" name="TextBox 10"/>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12" name="TextBox 11"/>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0"/>
            <a:ext cx="11055096" cy="237744"/>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SECCIÓN</a:t>
            </a:r>
          </a:p>
        </p:txBody>
      </p:sp>
      <p:sp>
        <p:nvSpPr>
          <p:cNvPr id="3" name="TextBox 2"/>
          <p:cNvSpPr txBox="1"/>
          <p:nvPr/>
        </p:nvSpPr>
        <p:spPr>
          <a:xfrm>
            <a:off x="566928" y="2377440"/>
            <a:ext cx="1828800" cy="1005840"/>
          </a:xfrm>
          <a:prstGeom prst="rect">
            <a:avLst/>
          </a:prstGeom>
          <a:noFill/>
        </p:spPr>
        <p:txBody>
          <a:bodyPr wrap="square" lIns="0" rIns="0" tIns="0" bIns="0">
            <a:spAutoFit/>
          </a:bodyPr>
          <a:lstStyle/>
          <a:p>
            <a:pPr algn="l">
              <a:spcAft>
                <a:spcPts val="0"/>
              </a:spcAft>
            </a:pPr>
            <a:r>
              <a:rPr sz="5400" b="0">
                <a:solidFill>
                  <a:srgbClr val="F36406"/>
                </a:solidFill>
                <a:latin typeface="Arial Black"/>
              </a:rPr>
              <a:t>01</a:t>
            </a:r>
          </a:p>
        </p:txBody>
      </p:sp>
      <p:sp>
        <p:nvSpPr>
          <p:cNvPr id="4" name="TextBox 3"/>
          <p:cNvSpPr txBox="1"/>
          <p:nvPr/>
        </p:nvSpPr>
        <p:spPr>
          <a:xfrm>
            <a:off x="566928" y="3520440"/>
            <a:ext cx="11055096" cy="640080"/>
          </a:xfrm>
          <a:prstGeom prst="rect">
            <a:avLst/>
          </a:prstGeom>
          <a:noFill/>
        </p:spPr>
        <p:txBody>
          <a:bodyPr wrap="square" lIns="0" rIns="0" tIns="0" bIns="0">
            <a:spAutoFit/>
          </a:bodyPr>
          <a:lstStyle/>
          <a:p>
            <a:pPr algn="l">
              <a:spcAft>
                <a:spcPts val="0"/>
              </a:spcAft>
            </a:pPr>
            <a:r>
              <a:rPr sz="3000" b="0">
                <a:solidFill>
                  <a:srgbClr val="000000"/>
                </a:solidFill>
                <a:latin typeface="Arial Black"/>
              </a:rPr>
              <a:t>ENCUADRE DEL MÓDULO</a:t>
            </a:r>
          </a:p>
        </p:txBody>
      </p:sp>
      <p:sp>
        <p:nvSpPr>
          <p:cNvPr id="5" name="Rectangle 4"/>
          <p:cNvSpPr/>
          <p:nvPr/>
        </p:nvSpPr>
        <p:spPr>
          <a:xfrm>
            <a:off x="566928" y="4315968"/>
            <a:ext cx="155448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4526280"/>
            <a:ext cx="10058400" cy="457200"/>
          </a:xfrm>
          <a:prstGeom prst="rect">
            <a:avLst/>
          </a:prstGeom>
          <a:noFill/>
        </p:spPr>
        <p:txBody>
          <a:bodyPr wrap="square" lIns="0" rIns="0" tIns="0" bIns="0">
            <a:spAutoFit/>
          </a:bodyPr>
          <a:lstStyle/>
          <a:p>
            <a:pPr algn="l">
              <a:lnSpc>
                <a:spcPct val="130000"/>
              </a:lnSpc>
              <a:spcAft>
                <a:spcPts val="0"/>
              </a:spcAft>
            </a:pPr>
            <a:r>
              <a:rPr sz="1200" b="0">
                <a:solidFill>
                  <a:srgbClr val="5C5C5C"/>
                </a:solidFill>
                <a:latin typeface="Arial"/>
              </a:rPr>
              <a:t>Qué vamos a hacer en seis sesiones, qué no, y cómo se evalúa</a:t>
            </a:r>
          </a:p>
        </p:txBody>
      </p:sp>
      <p:sp>
        <p:nvSpPr>
          <p:cNvPr id="7" name="Rectangle 6"/>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1-1.png"/>
          <p:cNvPicPr>
            <a:picLocks noChangeAspect="1"/>
          </p:cNvPicPr>
          <p:nvPr/>
        </p:nvPicPr>
        <p:blipFill>
          <a:blip r:embed="rId2"/>
          <a:stretch>
            <a:fillRect/>
          </a:stretch>
        </p:blipFill>
        <p:spPr>
          <a:xfrm>
            <a:off x="566928" y="6336792"/>
            <a:ext cx="566928" cy="246888"/>
          </a:xfrm>
          <a:prstGeom prst="rect">
            <a:avLst/>
          </a:prstGeom>
        </p:spPr>
      </p:pic>
      <p:sp>
        <p:nvSpPr>
          <p:cNvPr id="9" name="TextBox 8"/>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10" name="TextBox 9"/>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01  AGENDA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AGENDA DE LA SESIÓN</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03</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Cinco horas en dos bloques. El primero fija el lenguaje y las reglas del oficio; el segundo ataca la pieza de la que todo depende y que casi nadie mira: la llave.</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1374725"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BLOQUE</a:t>
            </a:r>
          </a:p>
        </p:txBody>
      </p:sp>
      <p:sp>
        <p:nvSpPr>
          <p:cNvPr id="12" name="TextBox 11"/>
          <p:cNvSpPr txBox="1"/>
          <p:nvPr/>
        </p:nvSpPr>
        <p:spPr>
          <a:xfrm>
            <a:off x="2106245" y="2423159"/>
            <a:ext cx="1234787"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MINUTOS</a:t>
            </a:r>
          </a:p>
        </p:txBody>
      </p:sp>
      <p:sp>
        <p:nvSpPr>
          <p:cNvPr id="13" name="TextBox 12"/>
          <p:cNvSpPr txBox="1"/>
          <p:nvPr/>
        </p:nvSpPr>
        <p:spPr>
          <a:xfrm>
            <a:off x="3505624" y="2423159"/>
            <a:ext cx="5992676"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CONTENIDO</a:t>
            </a:r>
          </a:p>
        </p:txBody>
      </p:sp>
      <p:sp>
        <p:nvSpPr>
          <p:cNvPr id="14" name="TextBox 13"/>
          <p:cNvSpPr txBox="1"/>
          <p:nvPr/>
        </p:nvSpPr>
        <p:spPr>
          <a:xfrm>
            <a:off x="9662893" y="2423159"/>
            <a:ext cx="1794538"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MODALIDAD</a:t>
            </a:r>
          </a:p>
        </p:txBody>
      </p:sp>
      <p:sp>
        <p:nvSpPr>
          <p:cNvPr id="15" name="Rectangle 14"/>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825495"/>
            <a:ext cx="1374725"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Bloque 1</a:t>
            </a:r>
          </a:p>
        </p:txBody>
      </p:sp>
      <p:sp>
        <p:nvSpPr>
          <p:cNvPr id="17" name="TextBox 16"/>
          <p:cNvSpPr txBox="1"/>
          <p:nvPr/>
        </p:nvSpPr>
        <p:spPr>
          <a:xfrm>
            <a:off x="2106245" y="2825495"/>
            <a:ext cx="123478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0 – 45</a:t>
            </a:r>
          </a:p>
        </p:txBody>
      </p:sp>
      <p:sp>
        <p:nvSpPr>
          <p:cNvPr id="18" name="TextBox 17"/>
          <p:cNvSpPr txBox="1"/>
          <p:nvPr/>
        </p:nvSpPr>
        <p:spPr>
          <a:xfrm>
            <a:off x="3505624" y="2825495"/>
            <a:ext cx="599267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Encuadre del módulo, del caso y de la evaluación</a:t>
            </a:r>
          </a:p>
        </p:txBody>
      </p:sp>
      <p:sp>
        <p:nvSpPr>
          <p:cNvPr id="19" name="TextBox 18"/>
          <p:cNvSpPr txBox="1"/>
          <p:nvPr/>
        </p:nvSpPr>
        <p:spPr>
          <a:xfrm>
            <a:off x="9662893" y="2825495"/>
            <a:ext cx="1794538"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Magistral</a:t>
            </a:r>
          </a:p>
        </p:txBody>
      </p:sp>
      <p:sp>
        <p:nvSpPr>
          <p:cNvPr id="20" name="Rectangle 19"/>
          <p:cNvSpPr/>
          <p:nvPr/>
        </p:nvSpPr>
        <p:spPr>
          <a:xfrm>
            <a:off x="566928" y="309981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191255"/>
            <a:ext cx="1374725"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
            </a:r>
          </a:p>
        </p:txBody>
      </p:sp>
      <p:sp>
        <p:nvSpPr>
          <p:cNvPr id="22" name="TextBox 21"/>
          <p:cNvSpPr txBox="1"/>
          <p:nvPr/>
        </p:nvSpPr>
        <p:spPr>
          <a:xfrm>
            <a:off x="2106245" y="3191255"/>
            <a:ext cx="123478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45 – 90</a:t>
            </a:r>
          </a:p>
        </p:txBody>
      </p:sp>
      <p:sp>
        <p:nvSpPr>
          <p:cNvPr id="23" name="TextBox 22"/>
          <p:cNvSpPr txBox="1"/>
          <p:nvPr/>
        </p:nvSpPr>
        <p:spPr>
          <a:xfrm>
            <a:off x="3505624" y="3191255"/>
            <a:ext cx="599267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Vocabulario, los cuatro servicios y el ejercicio relámpago</a:t>
            </a:r>
          </a:p>
        </p:txBody>
      </p:sp>
      <p:sp>
        <p:nvSpPr>
          <p:cNvPr id="24" name="TextBox 23"/>
          <p:cNvSpPr txBox="1"/>
          <p:nvPr/>
        </p:nvSpPr>
        <p:spPr>
          <a:xfrm>
            <a:off x="9662893" y="3191255"/>
            <a:ext cx="1794538"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Magistral y taller</a:t>
            </a:r>
          </a:p>
        </p:txBody>
      </p:sp>
      <p:sp>
        <p:nvSpPr>
          <p:cNvPr id="25" name="Rectangle 24"/>
          <p:cNvSpPr/>
          <p:nvPr/>
        </p:nvSpPr>
        <p:spPr>
          <a:xfrm>
            <a:off x="566928" y="346557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557015"/>
            <a:ext cx="1374725"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
            </a:r>
          </a:p>
        </p:txBody>
      </p:sp>
      <p:sp>
        <p:nvSpPr>
          <p:cNvPr id="27" name="TextBox 26"/>
          <p:cNvSpPr txBox="1"/>
          <p:nvPr/>
        </p:nvSpPr>
        <p:spPr>
          <a:xfrm>
            <a:off x="2106245" y="3557015"/>
            <a:ext cx="123478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90 – 135</a:t>
            </a:r>
          </a:p>
        </p:txBody>
      </p:sp>
      <p:sp>
        <p:nvSpPr>
          <p:cNvPr id="28" name="TextBox 27"/>
          <p:cNvSpPr txBox="1"/>
          <p:nvPr/>
        </p:nvSpPr>
        <p:spPr>
          <a:xfrm>
            <a:off x="3505624" y="3557015"/>
            <a:ext cx="599267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Las reglas del oficio, los modelos de ataque y la vida útil del secreto</a:t>
            </a:r>
          </a:p>
        </p:txBody>
      </p:sp>
      <p:sp>
        <p:nvSpPr>
          <p:cNvPr id="29" name="TextBox 28"/>
          <p:cNvSpPr txBox="1"/>
          <p:nvPr/>
        </p:nvSpPr>
        <p:spPr>
          <a:xfrm>
            <a:off x="9662893" y="3557015"/>
            <a:ext cx="1794538"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Magistral</a:t>
            </a:r>
          </a:p>
        </p:txBody>
      </p:sp>
      <p:sp>
        <p:nvSpPr>
          <p:cNvPr id="30" name="Rectangle 29"/>
          <p:cNvSpPr/>
          <p:nvPr/>
        </p:nvSpPr>
        <p:spPr>
          <a:xfrm>
            <a:off x="566928" y="383133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3922775"/>
            <a:ext cx="1374725" cy="310896"/>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Descanso</a:t>
            </a:r>
          </a:p>
        </p:txBody>
      </p:sp>
      <p:sp>
        <p:nvSpPr>
          <p:cNvPr id="32" name="TextBox 31"/>
          <p:cNvSpPr txBox="1"/>
          <p:nvPr/>
        </p:nvSpPr>
        <p:spPr>
          <a:xfrm>
            <a:off x="2106245" y="3922775"/>
            <a:ext cx="123478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30</a:t>
            </a:r>
          </a:p>
        </p:txBody>
      </p:sp>
      <p:sp>
        <p:nvSpPr>
          <p:cNvPr id="33" name="TextBox 32"/>
          <p:cNvSpPr txBox="1"/>
          <p:nvPr/>
        </p:nvSpPr>
        <p:spPr>
          <a:xfrm>
            <a:off x="3505624" y="3922775"/>
            <a:ext cx="599267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
            </a:r>
          </a:p>
        </p:txBody>
      </p:sp>
      <p:sp>
        <p:nvSpPr>
          <p:cNvPr id="34" name="TextBox 33"/>
          <p:cNvSpPr txBox="1"/>
          <p:nvPr/>
        </p:nvSpPr>
        <p:spPr>
          <a:xfrm>
            <a:off x="9662893" y="3922775"/>
            <a:ext cx="1794538"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
            </a:r>
          </a:p>
        </p:txBody>
      </p:sp>
      <p:sp>
        <p:nvSpPr>
          <p:cNvPr id="35" name="Rectangle 34"/>
          <p:cNvSpPr/>
          <p:nvPr/>
        </p:nvSpPr>
        <p:spPr>
          <a:xfrm>
            <a:off x="566928" y="4197096"/>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6928" y="4288536"/>
            <a:ext cx="1374725"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Bloque 2</a:t>
            </a:r>
          </a:p>
        </p:txBody>
      </p:sp>
      <p:sp>
        <p:nvSpPr>
          <p:cNvPr id="37" name="TextBox 36"/>
          <p:cNvSpPr txBox="1"/>
          <p:nvPr/>
        </p:nvSpPr>
        <p:spPr>
          <a:xfrm>
            <a:off x="2106245" y="4288536"/>
            <a:ext cx="123478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0 – 50</a:t>
            </a:r>
          </a:p>
        </p:txBody>
      </p:sp>
      <p:sp>
        <p:nvSpPr>
          <p:cNvPr id="38" name="TextBox 37"/>
          <p:cNvSpPr txBox="1"/>
          <p:nvPr/>
        </p:nvSpPr>
        <p:spPr>
          <a:xfrm>
            <a:off x="3505624" y="4288536"/>
            <a:ext cx="599267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llave: entropía, generadores y dos catástrofes reales</a:t>
            </a:r>
          </a:p>
        </p:txBody>
      </p:sp>
      <p:sp>
        <p:nvSpPr>
          <p:cNvPr id="39" name="TextBox 38"/>
          <p:cNvSpPr txBox="1"/>
          <p:nvPr/>
        </p:nvSpPr>
        <p:spPr>
          <a:xfrm>
            <a:off x="9662893" y="4288536"/>
            <a:ext cx="1794538"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Magistral y demostración</a:t>
            </a:r>
          </a:p>
        </p:txBody>
      </p:sp>
      <p:sp>
        <p:nvSpPr>
          <p:cNvPr id="40" name="Rectangle 39"/>
          <p:cNvSpPr/>
          <p:nvPr/>
        </p:nvSpPr>
        <p:spPr>
          <a:xfrm>
            <a:off x="566928" y="4562856"/>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66928" y="4654296"/>
            <a:ext cx="1374725"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
            </a:r>
          </a:p>
        </p:txBody>
      </p:sp>
      <p:sp>
        <p:nvSpPr>
          <p:cNvPr id="42" name="TextBox 41"/>
          <p:cNvSpPr txBox="1"/>
          <p:nvPr/>
        </p:nvSpPr>
        <p:spPr>
          <a:xfrm>
            <a:off x="2106245" y="4654296"/>
            <a:ext cx="123478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50 – 95</a:t>
            </a:r>
          </a:p>
        </p:txBody>
      </p:sp>
      <p:sp>
        <p:nvSpPr>
          <p:cNvPr id="43" name="TextBox 42"/>
          <p:cNvSpPr txBox="1"/>
          <p:nvPr/>
        </p:nvSpPr>
        <p:spPr>
          <a:xfrm>
            <a:off x="3505624" y="4654296"/>
            <a:ext cx="599267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De César a AES: sustitución, transposición, Enigma y el cuaderno de un solo uso</a:t>
            </a:r>
          </a:p>
        </p:txBody>
      </p:sp>
      <p:sp>
        <p:nvSpPr>
          <p:cNvPr id="44" name="TextBox 43"/>
          <p:cNvSpPr txBox="1"/>
          <p:nvPr/>
        </p:nvSpPr>
        <p:spPr>
          <a:xfrm>
            <a:off x="9662893" y="4654296"/>
            <a:ext cx="1794538"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Magistral</a:t>
            </a:r>
          </a:p>
        </p:txBody>
      </p:sp>
      <p:sp>
        <p:nvSpPr>
          <p:cNvPr id="45" name="Rectangle 44"/>
          <p:cNvSpPr/>
          <p:nvPr/>
        </p:nvSpPr>
        <p:spPr>
          <a:xfrm>
            <a:off x="566928" y="4928616"/>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66928" y="5020056"/>
            <a:ext cx="1374725"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
            </a:r>
          </a:p>
        </p:txBody>
      </p:sp>
      <p:sp>
        <p:nvSpPr>
          <p:cNvPr id="47" name="TextBox 46"/>
          <p:cNvSpPr txBox="1"/>
          <p:nvPr/>
        </p:nvSpPr>
        <p:spPr>
          <a:xfrm>
            <a:off x="2106245" y="5020056"/>
            <a:ext cx="123478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95 – 125</a:t>
            </a:r>
          </a:p>
        </p:txBody>
      </p:sp>
      <p:sp>
        <p:nvSpPr>
          <p:cNvPr id="48" name="TextBox 47"/>
          <p:cNvSpPr txBox="1"/>
          <p:nvPr/>
        </p:nvSpPr>
        <p:spPr>
          <a:xfrm>
            <a:off x="3505624" y="5020056"/>
            <a:ext cx="599267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Laboratorio 1, con ejercicio en Python</a:t>
            </a:r>
          </a:p>
        </p:txBody>
      </p:sp>
      <p:sp>
        <p:nvSpPr>
          <p:cNvPr id="49" name="TextBox 48"/>
          <p:cNvSpPr txBox="1"/>
          <p:nvPr/>
        </p:nvSpPr>
        <p:spPr>
          <a:xfrm>
            <a:off x="9662893" y="5020056"/>
            <a:ext cx="1794538"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Laboratorio</a:t>
            </a:r>
          </a:p>
        </p:txBody>
      </p:sp>
      <p:sp>
        <p:nvSpPr>
          <p:cNvPr id="50" name="Rectangle 49"/>
          <p:cNvSpPr/>
          <p:nvPr/>
        </p:nvSpPr>
        <p:spPr>
          <a:xfrm>
            <a:off x="566928" y="5294376"/>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66928" y="5385816"/>
            <a:ext cx="1374725"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
            </a:r>
          </a:p>
        </p:txBody>
      </p:sp>
      <p:sp>
        <p:nvSpPr>
          <p:cNvPr id="52" name="TextBox 51"/>
          <p:cNvSpPr txBox="1"/>
          <p:nvPr/>
        </p:nvSpPr>
        <p:spPr>
          <a:xfrm>
            <a:off x="2106245" y="5385816"/>
            <a:ext cx="123478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125 – 135</a:t>
            </a:r>
          </a:p>
        </p:txBody>
      </p:sp>
      <p:sp>
        <p:nvSpPr>
          <p:cNvPr id="53" name="TextBox 52"/>
          <p:cNvSpPr txBox="1"/>
          <p:nvPr/>
        </p:nvSpPr>
        <p:spPr>
          <a:xfrm>
            <a:off x="3505624" y="5385816"/>
            <a:ext cx="599267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Cierre, entrega y trabajo independiente</a:t>
            </a:r>
          </a:p>
        </p:txBody>
      </p:sp>
      <p:sp>
        <p:nvSpPr>
          <p:cNvPr id="54" name="TextBox 53"/>
          <p:cNvSpPr txBox="1"/>
          <p:nvPr/>
        </p:nvSpPr>
        <p:spPr>
          <a:xfrm>
            <a:off x="9662893" y="5385816"/>
            <a:ext cx="1794538"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Magistral</a:t>
            </a:r>
          </a:p>
        </p:txBody>
      </p:sp>
      <p:sp>
        <p:nvSpPr>
          <p:cNvPr id="55" name="Rectangle 54"/>
          <p:cNvSpPr/>
          <p:nvPr/>
        </p:nvSpPr>
        <p:spPr>
          <a:xfrm>
            <a:off x="566928" y="5660136"/>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66928" y="5715000"/>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02  META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AL FINAL DE ESTA SESIÓN PODRÁS…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04</a:t>
            </a:r>
          </a:p>
        </p:txBody>
      </p:sp>
      <p:sp>
        <p:nvSpPr>
          <p:cNvPr id="9" name="TextBox 8"/>
          <p:cNvSpPr txBox="1"/>
          <p:nvPr/>
        </p:nvSpPr>
        <p:spPr>
          <a:xfrm>
            <a:off x="566928" y="1645920"/>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01</a:t>
            </a:r>
          </a:p>
        </p:txBody>
      </p:sp>
      <p:sp>
        <p:nvSpPr>
          <p:cNvPr id="10" name="TextBox 9"/>
          <p:cNvSpPr txBox="1"/>
          <p:nvPr/>
        </p:nvSpPr>
        <p:spPr>
          <a:xfrm>
            <a:off x="1280160" y="1664208"/>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Distinguir los cuatro servicios y decir cuál falla en un caso concreto</a:t>
            </a:r>
          </a:p>
        </p:txBody>
      </p:sp>
      <p:sp>
        <p:nvSpPr>
          <p:cNvPr id="11" name="TextBox 10"/>
          <p:cNvSpPr txBox="1"/>
          <p:nvPr/>
        </p:nvSpPr>
        <p:spPr>
          <a:xfrm>
            <a:off x="1280160" y="1901952"/>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Confidencialidad, integridad, autenticidad y no repudio no son sinónimos, y confundirlos es el error que explica el caso de Coopaburrá.</a:t>
            </a:r>
          </a:p>
        </p:txBody>
      </p:sp>
      <p:sp>
        <p:nvSpPr>
          <p:cNvPr id="12" name="TextBox 11"/>
          <p:cNvSpPr txBox="1"/>
          <p:nvPr/>
        </p:nvSpPr>
        <p:spPr>
          <a:xfrm>
            <a:off x="566928" y="2359152"/>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02</a:t>
            </a:r>
          </a:p>
        </p:txBody>
      </p:sp>
      <p:sp>
        <p:nvSpPr>
          <p:cNvPr id="13" name="TextBox 12"/>
          <p:cNvSpPr txBox="1"/>
          <p:nvPr/>
        </p:nvSpPr>
        <p:spPr>
          <a:xfrm>
            <a:off x="1280160" y="2377440"/>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Explicar por qué un algoritmo correcto puede dejar a una organización indefensa</a:t>
            </a:r>
          </a:p>
        </p:txBody>
      </p:sp>
      <p:sp>
        <p:nvSpPr>
          <p:cNvPr id="14" name="TextBox 13"/>
          <p:cNvSpPr txBox="1"/>
          <p:nvPr/>
        </p:nvSpPr>
        <p:spPr>
          <a:xfrm>
            <a:off x="1280160" y="2615184"/>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HMAC-SHA256 no está roto. La aplicación de Coopaburrá lo usa. Y aun así cualquiera puede firmar operaciones.</a:t>
            </a:r>
          </a:p>
        </p:txBody>
      </p:sp>
      <p:sp>
        <p:nvSpPr>
          <p:cNvPr id="15" name="TextBox 14"/>
          <p:cNvSpPr txBox="1"/>
          <p:nvPr/>
        </p:nvSpPr>
        <p:spPr>
          <a:xfrm>
            <a:off x="566928" y="3072384"/>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03</a:t>
            </a:r>
          </a:p>
        </p:txBody>
      </p:sp>
      <p:sp>
        <p:nvSpPr>
          <p:cNvPr id="16" name="TextBox 15"/>
          <p:cNvSpPr txBox="1"/>
          <p:nvPr/>
        </p:nvSpPr>
        <p:spPr>
          <a:xfrm>
            <a:off x="1280160" y="3090672"/>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Evaluar si una llave es una llave de verdad</a:t>
            </a:r>
          </a:p>
        </p:txBody>
      </p:sp>
      <p:sp>
        <p:nvSpPr>
          <p:cNvPr id="17" name="TextBox 16"/>
          <p:cNvSpPr txBox="1"/>
          <p:nvPr/>
        </p:nvSpPr>
        <p:spPr>
          <a:xfrm>
            <a:off x="1280160" y="3328416"/>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De dónde salió, cuánta entropía tiene, quién la conoce y cuánto tiempo va a seguir sirviendo.</a:t>
            </a:r>
          </a:p>
        </p:txBody>
      </p:sp>
      <p:sp>
        <p:nvSpPr>
          <p:cNvPr id="18" name="TextBox 17"/>
          <p:cNvSpPr txBox="1"/>
          <p:nvPr/>
        </p:nvSpPr>
        <p:spPr>
          <a:xfrm>
            <a:off x="566928" y="3785615"/>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04</a:t>
            </a:r>
          </a:p>
        </p:txBody>
      </p:sp>
      <p:sp>
        <p:nvSpPr>
          <p:cNvPr id="19" name="TextBox 18"/>
          <p:cNvSpPr txBox="1"/>
          <p:nvPr/>
        </p:nvSpPr>
        <p:spPr>
          <a:xfrm>
            <a:off x="1280160" y="3803903"/>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Reconocer por qué fracasan los cifrados clásicos y por qué eso todavía importa</a:t>
            </a:r>
          </a:p>
        </p:txBody>
      </p:sp>
      <p:sp>
        <p:nvSpPr>
          <p:cNvPr id="20" name="TextBox 19"/>
          <p:cNvSpPr txBox="1"/>
          <p:nvPr/>
        </p:nvSpPr>
        <p:spPr>
          <a:xfrm>
            <a:off x="1280160" y="4041648"/>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Los errores de 1863 se siguen cometiendo en 2026, solo que con nombres nuevos.</a:t>
            </a:r>
          </a:p>
        </p:txBody>
      </p:sp>
      <p:sp>
        <p:nvSpPr>
          <p:cNvPr id="21" name="TextBox 20"/>
          <p:cNvSpPr txBox="1"/>
          <p:nvPr/>
        </p:nvSpPr>
        <p:spPr>
          <a:xfrm>
            <a:off x="566928" y="4498848"/>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05</a:t>
            </a:r>
          </a:p>
        </p:txBody>
      </p:sp>
      <p:sp>
        <p:nvSpPr>
          <p:cNvPr id="22" name="TextBox 21"/>
          <p:cNvSpPr txBox="1"/>
          <p:nvPr/>
        </p:nvSpPr>
        <p:spPr>
          <a:xfrm>
            <a:off x="1280160" y="4517136"/>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Levantar el inventario criptográfico de una organización</a:t>
            </a:r>
          </a:p>
        </p:txBody>
      </p:sp>
      <p:sp>
        <p:nvSpPr>
          <p:cNvPr id="23" name="TextBox 22"/>
          <p:cNvSpPr txBox="1"/>
          <p:nvPr/>
        </p:nvSpPr>
        <p:spPr>
          <a:xfrm>
            <a:off x="1280160" y="4754880"/>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Es el hallazgo H8 del caso, la primera entrega del producto y lo que Coopaburrá no tenía.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03  DESLINDE</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LO QUE NO VAMOS A VER AQUÍ, Y POR QUÉ</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05</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Un módulo de dos créditos obliga a escoger. Estas exclusiones son deliberadas y conviene decirlas en voz alta el primer día para que nadie espere algo que no va a llegar.</a:t>
            </a:r>
          </a:p>
        </p:txBody>
      </p:sp>
      <p:sp>
        <p:nvSpPr>
          <p:cNvPr id="10" name="Rectangle 9"/>
          <p:cNvSpPr/>
          <p:nvPr/>
        </p:nvSpPr>
        <p:spPr>
          <a:xfrm>
            <a:off x="566928" y="2304287"/>
            <a:ext cx="5353812" cy="1700784"/>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2414015"/>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NO VAMOS A ESCRIBIR ALGORITMOS DESDE CERO</a:t>
            </a:r>
          </a:p>
        </p:txBody>
      </p:sp>
      <p:sp>
        <p:nvSpPr>
          <p:cNvPr id="12" name="TextBox 11"/>
          <p:cNvSpPr txBox="1"/>
          <p:nvPr/>
        </p:nvSpPr>
        <p:spPr>
          <a:xfrm>
            <a:off x="786384" y="2633471"/>
            <a:ext cx="4914900" cy="1243584"/>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Nadie en su vida profesional va a escribir AES. Sí lo van a elegir, implementar con librerías estándar, configurar y auditar, que es más difícil y menos enseñado.</a:t>
            </a:r>
          </a:p>
          <a:p>
            <a:pPr algn="l">
              <a:lnSpc>
                <a:spcPct val="128000"/>
              </a:lnSpc>
              <a:spcAft>
                <a:spcPts val="700"/>
              </a:spcAft>
            </a:pPr>
            <a:r>
              <a:rPr sz="1150" b="0">
                <a:solidFill>
                  <a:srgbClr val="000000"/>
                </a:solidFill>
                <a:latin typeface="Arial"/>
              </a:rPr>
              <a:t>Por eso cada laboratorio incluye un ejercicio en Python: implementar, medir y analizar.</a:t>
            </a:r>
          </a:p>
        </p:txBody>
      </p:sp>
      <p:sp>
        <p:nvSpPr>
          <p:cNvPr id="13" name="Rectangle 12"/>
          <p:cNvSpPr/>
          <p:nvPr/>
        </p:nvSpPr>
        <p:spPr>
          <a:xfrm>
            <a:off x="6268212" y="2304287"/>
            <a:ext cx="5353812" cy="1700784"/>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414015"/>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NO VAMOS A HACER CRIPTOANÁLISIS MATEMÁTICO</a:t>
            </a:r>
          </a:p>
        </p:txBody>
      </p:sp>
      <p:sp>
        <p:nvSpPr>
          <p:cNvPr id="15" name="TextBox 14"/>
          <p:cNvSpPr txBox="1"/>
          <p:nvPr/>
        </p:nvSpPr>
        <p:spPr>
          <a:xfrm>
            <a:off x="6487668" y="2633471"/>
            <a:ext cx="4914900" cy="1243584"/>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Romper RSA es un curso de maestría. Sí vamos a ver los fundamentos: aritmética modular, factorización y logaritmo discreto, con números pequeños.</a:t>
            </a:r>
          </a:p>
          <a:p>
            <a:pPr algn="l">
              <a:lnSpc>
                <a:spcPct val="128000"/>
              </a:lnSpc>
              <a:spcAft>
                <a:spcPts val="700"/>
              </a:spcAft>
            </a:pPr>
            <a:r>
              <a:rPr sz="1150" b="0">
                <a:solidFill>
                  <a:srgbClr val="000000"/>
                </a:solidFill>
                <a:latin typeface="Arial"/>
              </a:rPr>
              <a:t>Y sobre todo, a reconocer cuándo un sistema es vulnerable por cómo está usado, que es de donde vienen casi todas las fallas.</a:t>
            </a:r>
          </a:p>
        </p:txBody>
      </p:sp>
      <p:sp>
        <p:nvSpPr>
          <p:cNvPr id="16" name="Rectangle 15"/>
          <p:cNvSpPr/>
          <p:nvPr/>
        </p:nvSpPr>
        <p:spPr>
          <a:xfrm>
            <a:off x="566928" y="4279392"/>
            <a:ext cx="5353812" cy="1700784"/>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389120"/>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NO VAMOS A VER CADENA DE BLOQUES NI MONEDAS DIGITALES</a:t>
            </a:r>
          </a:p>
        </p:txBody>
      </p:sp>
      <p:sp>
        <p:nvSpPr>
          <p:cNvPr id="18" name="TextBox 17"/>
          <p:cNvSpPr txBox="1"/>
          <p:nvPr/>
        </p:nvSpPr>
        <p:spPr>
          <a:xfrm>
            <a:off x="786384" y="4608576"/>
            <a:ext cx="4914900" cy="1243584"/>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Usan criptografía, pero el problema que resuelven no es el de Coopaburrá.</a:t>
            </a:r>
          </a:p>
          <a:p>
            <a:pPr algn="l">
              <a:lnSpc>
                <a:spcPct val="128000"/>
              </a:lnSpc>
              <a:spcAft>
                <a:spcPts val="700"/>
              </a:spcAft>
            </a:pPr>
            <a:r>
              <a:rPr sz="1150" b="0">
                <a:solidFill>
                  <a:srgbClr val="000000"/>
                </a:solidFill>
                <a:latin typeface="Arial"/>
              </a:rPr>
              <a:t>Si alguien quiere profundizar, se puede orientar como lectura independiente.</a:t>
            </a:r>
          </a:p>
        </p:txBody>
      </p:sp>
      <p:sp>
        <p:nvSpPr>
          <p:cNvPr id="19" name="Rectangle 18"/>
          <p:cNvSpPr/>
          <p:nvPr/>
        </p:nvSpPr>
        <p:spPr>
          <a:xfrm>
            <a:off x="6268212" y="4279392"/>
            <a:ext cx="5353812" cy="1700784"/>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87668" y="4389120"/>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NO VAMOS A REPETIR GESTIÓN DE RIESGOS NI MARCO LEGAL</a:t>
            </a:r>
          </a:p>
        </p:txBody>
      </p:sp>
      <p:sp>
        <p:nvSpPr>
          <p:cNvPr id="21" name="TextBox 20"/>
          <p:cNvSpPr txBox="1"/>
          <p:nvPr/>
        </p:nvSpPr>
        <p:spPr>
          <a:xfrm>
            <a:off x="6487668" y="4608576"/>
            <a:ext cx="4914900" cy="1243584"/>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Ustedes ya vieron los dos módulos, y conmigo.</a:t>
            </a:r>
          </a:p>
          <a:p>
            <a:pPr algn="l">
              <a:lnSpc>
                <a:spcPct val="128000"/>
              </a:lnSpc>
              <a:spcAft>
                <a:spcPts val="700"/>
              </a:spcAft>
            </a:pPr>
            <a:r>
              <a:rPr sz="1150" b="0">
                <a:solidFill>
                  <a:srgbClr val="000000"/>
                </a:solidFill>
                <a:latin typeface="Arial"/>
              </a:rPr>
              <a:t>Los vamos a usar todo el tiempo como herramienta: para priorizar hallazgos y para sustentar el valor probatorio. Pero no los vamos a explicar otra vez.</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04  PUENTE</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DE DÓNDE VIENEN USTEDES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06</a:t>
            </a:r>
          </a:p>
        </p:txBody>
      </p:sp>
      <p:sp>
        <p:nvSpPr>
          <p:cNvPr id="9" name="TextBox 8"/>
          <p:cNvSpPr txBox="1"/>
          <p:nvPr/>
        </p:nvSpPr>
        <p:spPr>
          <a:xfrm>
            <a:off x="566928" y="1554480"/>
            <a:ext cx="11055096" cy="237744"/>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Este módulo no arranca en cero. Arranca sobre dos cosas que ya construyeron, y las va a usar desde la primera entrega.</a:t>
            </a:r>
          </a:p>
        </p:txBody>
      </p:sp>
      <p:sp>
        <p:nvSpPr>
          <p:cNvPr id="10" name="TextBox 9"/>
          <p:cNvSpPr txBox="1"/>
          <p:nvPr/>
        </p:nvSpPr>
        <p:spPr>
          <a:xfrm>
            <a:off x="566928" y="2112263"/>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LO QUE TRAEN DE GESTIÓN DE RIESGOS</a:t>
            </a:r>
          </a:p>
        </p:txBody>
      </p:sp>
      <p:sp>
        <p:nvSpPr>
          <p:cNvPr id="11" name="TextBox 10"/>
          <p:cNvSpPr txBox="1"/>
          <p:nvPr/>
        </p:nvSpPr>
        <p:spPr>
          <a:xfrm>
            <a:off x="566928" y="2386583"/>
            <a:ext cx="5253228" cy="164592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Saben identificar un activo de información, valorarlo y estimar el riesgo sobre él.</a:t>
            </a:r>
          </a:p>
          <a:p>
            <a:pPr algn="l">
              <a:lnSpc>
                <a:spcPct val="128000"/>
              </a:lnSpc>
              <a:spcAft>
                <a:spcPts val="700"/>
              </a:spcAft>
            </a:pPr>
            <a:r>
              <a:rPr sz="1150" b="0">
                <a:solidFill>
                  <a:srgbClr val="000000"/>
                </a:solidFill>
                <a:latin typeface="Arial"/>
              </a:rPr>
              <a:t>Saben que un control se justifica por el riesgo que reduce, no por lo moderno que suene.</a:t>
            </a:r>
          </a:p>
          <a:p>
            <a:pPr algn="l">
              <a:lnSpc>
                <a:spcPct val="128000"/>
              </a:lnSpc>
              <a:spcAft>
                <a:spcPts val="700"/>
              </a:spcAft>
            </a:pPr>
            <a:r>
              <a:rPr sz="1150" b="0">
                <a:solidFill>
                  <a:srgbClr val="000000"/>
                </a:solidFill>
                <a:latin typeface="Arial"/>
              </a:rPr>
              <a:t>En este módulo, la criptografía es exactamente eso: un control. Y como todo control, se prioriza.</a:t>
            </a:r>
          </a:p>
        </p:txBody>
      </p:sp>
      <p:sp>
        <p:nvSpPr>
          <p:cNvPr id="12" name="TextBox 11"/>
          <p:cNvSpPr txBox="1"/>
          <p:nvPr/>
        </p:nvSpPr>
        <p:spPr>
          <a:xfrm>
            <a:off x="6368796" y="2112263"/>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LO QUE TRAEN DE MARCO LEGAL</a:t>
            </a:r>
          </a:p>
        </p:txBody>
      </p:sp>
      <p:sp>
        <p:nvSpPr>
          <p:cNvPr id="13" name="TextBox 12"/>
          <p:cNvSpPr txBox="1"/>
          <p:nvPr/>
        </p:nvSpPr>
        <p:spPr>
          <a:xfrm>
            <a:off x="6368796" y="2386583"/>
            <a:ext cx="5253228" cy="164592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Conocen la Ley 1273, la Ley 1581 y el régimen de protección de datos.</a:t>
            </a:r>
          </a:p>
          <a:p>
            <a:pPr algn="l">
              <a:lnSpc>
                <a:spcPct val="128000"/>
              </a:lnSpc>
              <a:spcAft>
                <a:spcPts val="700"/>
              </a:spcAft>
            </a:pPr>
            <a:r>
              <a:rPr sz="1150" b="0">
                <a:solidFill>
                  <a:srgbClr val="000000"/>
                </a:solidFill>
                <a:latin typeface="Arial"/>
              </a:rPr>
              <a:t>Saben qué es un deber de custodia y qué consecuencias tiene incumplirlo.</a:t>
            </a:r>
          </a:p>
          <a:p>
            <a:pPr algn="l">
              <a:lnSpc>
                <a:spcPct val="128000"/>
              </a:lnSpc>
              <a:spcAft>
                <a:spcPts val="700"/>
              </a:spcAft>
            </a:pPr>
            <a:r>
              <a:rPr sz="1150" b="0">
                <a:solidFill>
                  <a:srgbClr val="000000"/>
                </a:solidFill>
                <a:latin typeface="Arial"/>
              </a:rPr>
              <a:t>Aquí agregamos la pieza que faltaba: la Ley 527 y el valor probatorio de lo que se firma electrónicamente.</a:t>
            </a:r>
          </a:p>
        </p:txBody>
      </p:sp>
      <p:sp>
        <p:nvSpPr>
          <p:cNvPr id="14" name="Rectangle 13"/>
          <p:cNvSpPr/>
          <p:nvPr/>
        </p:nvSpPr>
        <p:spPr>
          <a:xfrm>
            <a:off x="6085332" y="2112263"/>
            <a:ext cx="9144" cy="19202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4288536"/>
            <a:ext cx="45720" cy="84124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4306824"/>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CONSECUENCIA PRÁCTICA</a:t>
            </a:r>
          </a:p>
        </p:txBody>
      </p:sp>
      <p:sp>
        <p:nvSpPr>
          <p:cNvPr id="17" name="TextBox 16"/>
          <p:cNvSpPr txBox="1"/>
          <p:nvPr/>
        </p:nvSpPr>
        <p:spPr>
          <a:xfrm>
            <a:off x="804672" y="4544568"/>
            <a:ext cx="10780776" cy="56692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Cuando lleguen a la hoja de ruta de Coopaburrá, nadie les va a enseñar a priorizar: ya saben. Lo que este módulo agrega es el criterio técnico para saber qué tan grave es cada hallazgo y cuánto cuesta arreglarlo.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05  EVALUACIÓN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CÓMO SE EVALÚA ESTE MÓDULO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07</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Una sola nota de 0.0 a 5.0, con 3.5 como mínimo aprobatorio, compuesta por los tres tipos que exige la carta descriptiva del módulo.</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1677923"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TIPO</a:t>
            </a:r>
          </a:p>
        </p:txBody>
      </p:sp>
      <p:sp>
        <p:nvSpPr>
          <p:cNvPr id="12" name="TextBox 11"/>
          <p:cNvSpPr txBox="1"/>
          <p:nvPr/>
        </p:nvSpPr>
        <p:spPr>
          <a:xfrm>
            <a:off x="2409444" y="2423159"/>
            <a:ext cx="818083"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PESO</a:t>
            </a:r>
          </a:p>
        </p:txBody>
      </p:sp>
      <p:sp>
        <p:nvSpPr>
          <p:cNvPr id="13" name="TextBox 12"/>
          <p:cNvSpPr txBox="1"/>
          <p:nvPr/>
        </p:nvSpPr>
        <p:spPr>
          <a:xfrm>
            <a:off x="3392119" y="2423159"/>
            <a:ext cx="6468465"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INSTRUMENTOS</a:t>
            </a:r>
          </a:p>
        </p:txBody>
      </p:sp>
      <p:sp>
        <p:nvSpPr>
          <p:cNvPr id="14" name="TextBox 13"/>
          <p:cNvSpPr txBox="1"/>
          <p:nvPr/>
        </p:nvSpPr>
        <p:spPr>
          <a:xfrm>
            <a:off x="10025176" y="2423159"/>
            <a:ext cx="1432255"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CUÁNDO</a:t>
            </a:r>
          </a:p>
        </p:txBody>
      </p:sp>
      <p:sp>
        <p:nvSpPr>
          <p:cNvPr id="15" name="Rectangle 14"/>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825495"/>
            <a:ext cx="1677923"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De conocimiento</a:t>
            </a:r>
          </a:p>
        </p:txBody>
      </p:sp>
      <p:sp>
        <p:nvSpPr>
          <p:cNvPr id="17" name="TextBox 16"/>
          <p:cNvSpPr txBox="1"/>
          <p:nvPr/>
        </p:nvSpPr>
        <p:spPr>
          <a:xfrm>
            <a:off x="2409444" y="2825495"/>
            <a:ext cx="818083"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30 %</a:t>
            </a:r>
          </a:p>
        </p:txBody>
      </p:sp>
      <p:sp>
        <p:nvSpPr>
          <p:cNvPr id="18" name="TextBox 17"/>
          <p:cNvSpPr txBox="1"/>
          <p:nvPr/>
        </p:nvSpPr>
        <p:spPr>
          <a:xfrm>
            <a:off x="3392119" y="2825495"/>
            <a:ext cx="6468465"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Dos evaluaciones cortas sobre contenido</a:t>
            </a:r>
          </a:p>
        </p:txBody>
      </p:sp>
      <p:sp>
        <p:nvSpPr>
          <p:cNvPr id="19" name="TextBox 18"/>
          <p:cNvSpPr txBox="1"/>
          <p:nvPr/>
        </p:nvSpPr>
        <p:spPr>
          <a:xfrm>
            <a:off x="10025176" y="2825495"/>
            <a:ext cx="1432255"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Sesiones 3 y 6</a:t>
            </a:r>
          </a:p>
        </p:txBody>
      </p:sp>
      <p:sp>
        <p:nvSpPr>
          <p:cNvPr id="20" name="Rectangle 19"/>
          <p:cNvSpPr/>
          <p:nvPr/>
        </p:nvSpPr>
        <p:spPr>
          <a:xfrm>
            <a:off x="566928" y="309981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191255"/>
            <a:ext cx="1677923"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De desempeño</a:t>
            </a:r>
          </a:p>
        </p:txBody>
      </p:sp>
      <p:sp>
        <p:nvSpPr>
          <p:cNvPr id="22" name="TextBox 21"/>
          <p:cNvSpPr txBox="1"/>
          <p:nvPr/>
        </p:nvSpPr>
        <p:spPr>
          <a:xfrm>
            <a:off x="2409444" y="3191255"/>
            <a:ext cx="818083"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30 %</a:t>
            </a:r>
          </a:p>
        </p:txBody>
      </p:sp>
      <p:sp>
        <p:nvSpPr>
          <p:cNvPr id="23" name="TextBox 22"/>
          <p:cNvSpPr txBox="1"/>
          <p:nvPr/>
        </p:nvSpPr>
        <p:spPr>
          <a:xfrm>
            <a:off x="3392119" y="3191255"/>
            <a:ext cx="6468465"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Seis laboratorios, 5 % cada uno. Se evalúa la ejecución y el análisis, no el resultado</a:t>
            </a:r>
          </a:p>
        </p:txBody>
      </p:sp>
      <p:sp>
        <p:nvSpPr>
          <p:cNvPr id="24" name="TextBox 23"/>
          <p:cNvSpPr txBox="1"/>
          <p:nvPr/>
        </p:nvSpPr>
        <p:spPr>
          <a:xfrm>
            <a:off x="10025176" y="3191255"/>
            <a:ext cx="1432255"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Todas</a:t>
            </a:r>
          </a:p>
        </p:txBody>
      </p:sp>
      <p:sp>
        <p:nvSpPr>
          <p:cNvPr id="25" name="Rectangle 24"/>
          <p:cNvSpPr/>
          <p:nvPr/>
        </p:nvSpPr>
        <p:spPr>
          <a:xfrm>
            <a:off x="566928" y="346557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557015"/>
            <a:ext cx="1677923"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De producto</a:t>
            </a:r>
          </a:p>
        </p:txBody>
      </p:sp>
      <p:sp>
        <p:nvSpPr>
          <p:cNvPr id="27" name="TextBox 26"/>
          <p:cNvSpPr txBox="1"/>
          <p:nvPr/>
        </p:nvSpPr>
        <p:spPr>
          <a:xfrm>
            <a:off x="2409444" y="3557015"/>
            <a:ext cx="818083"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40 %</a:t>
            </a:r>
          </a:p>
        </p:txBody>
      </p:sp>
      <p:sp>
        <p:nvSpPr>
          <p:cNvPr id="28" name="TextBox 27"/>
          <p:cNvSpPr txBox="1"/>
          <p:nvPr/>
        </p:nvSpPr>
        <p:spPr>
          <a:xfrm>
            <a:off x="3392119" y="3557015"/>
            <a:ext cx="6468465"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Informe de aseguramiento criptográfico de Coopaburrá, 30 %, y su sustentación, 10 %</a:t>
            </a:r>
          </a:p>
        </p:txBody>
      </p:sp>
      <p:sp>
        <p:nvSpPr>
          <p:cNvPr id="29" name="TextBox 28"/>
          <p:cNvSpPr txBox="1"/>
          <p:nvPr/>
        </p:nvSpPr>
        <p:spPr>
          <a:xfrm>
            <a:off x="10025176" y="3557015"/>
            <a:ext cx="1432255"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Por partes</a:t>
            </a:r>
          </a:p>
        </p:txBody>
      </p:sp>
      <p:sp>
        <p:nvSpPr>
          <p:cNvPr id="30" name="Rectangle 29"/>
          <p:cNvSpPr/>
          <p:nvPr/>
        </p:nvSpPr>
        <p:spPr>
          <a:xfrm>
            <a:off x="566928" y="383133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3886199"/>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 y="4187951"/>
            <a:ext cx="45720" cy="84124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2" y="4206239"/>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REGLA QUE MÁS IMPORTA</a:t>
            </a:r>
          </a:p>
        </p:txBody>
      </p:sp>
      <p:sp>
        <p:nvSpPr>
          <p:cNvPr id="34" name="TextBox 33"/>
          <p:cNvSpPr txBox="1"/>
          <p:nvPr/>
        </p:nvSpPr>
        <p:spPr>
          <a:xfrm>
            <a:off x="804672" y="4443983"/>
            <a:ext cx="10780776" cy="56692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El informe se construye por partes a lo largo de las seis sesiones y cada parte se realimenta antes de la siguiente. No existe la opción de escribirlo el último fin de semana: las entregas parciales tienen fecha.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06  RUTA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LAS SEIS SESIONES DE UN VISTAZO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08</a:t>
            </a:r>
          </a:p>
        </p:txBody>
      </p:sp>
      <p:sp>
        <p:nvSpPr>
          <p:cNvPr id="9" name="Rectangle 8"/>
          <p:cNvSpPr/>
          <p:nvPr/>
        </p:nvSpPr>
        <p:spPr>
          <a:xfrm>
            <a:off x="566928" y="1554480"/>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673352"/>
            <a:ext cx="850671"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SESIÓN</a:t>
            </a:r>
          </a:p>
        </p:txBody>
      </p:sp>
      <p:sp>
        <p:nvSpPr>
          <p:cNvPr id="11" name="TextBox 10"/>
          <p:cNvSpPr txBox="1"/>
          <p:nvPr/>
        </p:nvSpPr>
        <p:spPr>
          <a:xfrm>
            <a:off x="1582191" y="1673352"/>
            <a:ext cx="434769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TEMA</a:t>
            </a:r>
          </a:p>
        </p:txBody>
      </p:sp>
      <p:sp>
        <p:nvSpPr>
          <p:cNvPr id="12" name="TextBox 11"/>
          <p:cNvSpPr txBox="1"/>
          <p:nvPr/>
        </p:nvSpPr>
        <p:spPr>
          <a:xfrm>
            <a:off x="6094475" y="1673352"/>
            <a:ext cx="276839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HALLAZGO DEL CASO</a:t>
            </a:r>
          </a:p>
        </p:txBody>
      </p:sp>
      <p:sp>
        <p:nvSpPr>
          <p:cNvPr id="13" name="TextBox 12"/>
          <p:cNvSpPr txBox="1"/>
          <p:nvPr/>
        </p:nvSpPr>
        <p:spPr>
          <a:xfrm>
            <a:off x="9027460" y="1673352"/>
            <a:ext cx="2429971"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ENTREGA</a:t>
            </a:r>
          </a:p>
        </p:txBody>
      </p:sp>
      <p:sp>
        <p:nvSpPr>
          <p:cNvPr id="14" name="Rectangle 13"/>
          <p:cNvSpPr/>
          <p:nvPr/>
        </p:nvSpPr>
        <p:spPr>
          <a:xfrm>
            <a:off x="566928" y="1965960"/>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075688"/>
            <a:ext cx="850671" cy="34747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1 · hoy</a:t>
            </a:r>
          </a:p>
        </p:txBody>
      </p:sp>
      <p:sp>
        <p:nvSpPr>
          <p:cNvPr id="16" name="TextBox 15"/>
          <p:cNvSpPr txBox="1"/>
          <p:nvPr/>
        </p:nvSpPr>
        <p:spPr>
          <a:xfrm>
            <a:off x="1582191" y="2075688"/>
            <a:ext cx="4347692"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Servicios, reglas del oficio y la llave</a:t>
            </a:r>
          </a:p>
        </p:txBody>
      </p:sp>
      <p:sp>
        <p:nvSpPr>
          <p:cNvPr id="17" name="TextBox 16"/>
          <p:cNvSpPr txBox="1"/>
          <p:nvPr/>
        </p:nvSpPr>
        <p:spPr>
          <a:xfrm>
            <a:off x="6094475" y="2075688"/>
            <a:ext cx="2768392"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H8 · No hay inventario</a:t>
            </a:r>
          </a:p>
        </p:txBody>
      </p:sp>
      <p:sp>
        <p:nvSpPr>
          <p:cNvPr id="18" name="TextBox 17"/>
          <p:cNvSpPr txBox="1"/>
          <p:nvPr/>
        </p:nvSpPr>
        <p:spPr>
          <a:xfrm>
            <a:off x="9027460" y="2075688"/>
            <a:ext cx="2429971"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t>
            </a:r>
          </a:p>
        </p:txBody>
      </p:sp>
      <p:sp>
        <p:nvSpPr>
          <p:cNvPr id="19" name="Rectangle 18"/>
          <p:cNvSpPr/>
          <p:nvPr/>
        </p:nvSpPr>
        <p:spPr>
          <a:xfrm>
            <a:off x="566928" y="2386584"/>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2478024"/>
            <a:ext cx="850671"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2</a:t>
            </a:r>
          </a:p>
        </p:txBody>
      </p:sp>
      <p:sp>
        <p:nvSpPr>
          <p:cNvPr id="21" name="TextBox 20"/>
          <p:cNvSpPr txBox="1"/>
          <p:nvPr/>
        </p:nvSpPr>
        <p:spPr>
          <a:xfrm>
            <a:off x="1582191" y="2478024"/>
            <a:ext cx="4347692"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Cifrado simétrico y sus errores clásicos</a:t>
            </a:r>
          </a:p>
        </p:txBody>
      </p:sp>
      <p:sp>
        <p:nvSpPr>
          <p:cNvPr id="22" name="TextBox 21"/>
          <p:cNvSpPr txBox="1"/>
          <p:nvPr/>
        </p:nvSpPr>
        <p:spPr>
          <a:xfrm>
            <a:off x="6094475" y="2478024"/>
            <a:ext cx="2768392"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H3 y H4 · Disco y respaldos</a:t>
            </a:r>
          </a:p>
        </p:txBody>
      </p:sp>
      <p:sp>
        <p:nvSpPr>
          <p:cNvPr id="23" name="TextBox 22"/>
          <p:cNvSpPr txBox="1"/>
          <p:nvPr/>
        </p:nvSpPr>
        <p:spPr>
          <a:xfrm>
            <a:off x="9027460" y="2478024"/>
            <a:ext cx="2429971"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Parte 1 · Inventario</a:t>
            </a:r>
          </a:p>
        </p:txBody>
      </p:sp>
      <p:sp>
        <p:nvSpPr>
          <p:cNvPr id="24" name="Rectangle 23"/>
          <p:cNvSpPr/>
          <p:nvPr/>
        </p:nvSpPr>
        <p:spPr>
          <a:xfrm>
            <a:off x="566928" y="2788920"/>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2880360"/>
            <a:ext cx="850671"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3</a:t>
            </a:r>
          </a:p>
        </p:txBody>
      </p:sp>
      <p:sp>
        <p:nvSpPr>
          <p:cNvPr id="26" name="TextBox 25"/>
          <p:cNvSpPr txBox="1"/>
          <p:nvPr/>
        </p:nvSpPr>
        <p:spPr>
          <a:xfrm>
            <a:off x="1582191" y="2880360"/>
            <a:ext cx="4347692"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Resúmenes, autenticación de mensajes y contraseñas</a:t>
            </a:r>
          </a:p>
        </p:txBody>
      </p:sp>
      <p:sp>
        <p:nvSpPr>
          <p:cNvPr id="27" name="TextBox 26"/>
          <p:cNvSpPr txBox="1"/>
          <p:nvPr/>
        </p:nvSpPr>
        <p:spPr>
          <a:xfrm>
            <a:off x="6094475" y="2880360"/>
            <a:ext cx="2768392"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H1 y H2 · Contraseñas y firma</a:t>
            </a:r>
          </a:p>
        </p:txBody>
      </p:sp>
      <p:sp>
        <p:nvSpPr>
          <p:cNvPr id="28" name="TextBox 27"/>
          <p:cNvSpPr txBox="1"/>
          <p:nvPr/>
        </p:nvSpPr>
        <p:spPr>
          <a:xfrm>
            <a:off x="9027460" y="2880360"/>
            <a:ext cx="2429971"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Parte 2 · Datos en reposo</a:t>
            </a:r>
          </a:p>
        </p:txBody>
      </p:sp>
      <p:sp>
        <p:nvSpPr>
          <p:cNvPr id="29" name="Rectangle 28"/>
          <p:cNvSpPr/>
          <p:nvPr/>
        </p:nvSpPr>
        <p:spPr>
          <a:xfrm>
            <a:off x="566928" y="3191256"/>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6928" y="3282696"/>
            <a:ext cx="850671"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4</a:t>
            </a:r>
          </a:p>
        </p:txBody>
      </p:sp>
      <p:sp>
        <p:nvSpPr>
          <p:cNvPr id="31" name="TextBox 30"/>
          <p:cNvSpPr txBox="1"/>
          <p:nvPr/>
        </p:nvSpPr>
        <p:spPr>
          <a:xfrm>
            <a:off x="1582191" y="3282696"/>
            <a:ext cx="4347692"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Llave pública, curvas elípticas y firma digital</a:t>
            </a:r>
          </a:p>
        </p:txBody>
      </p:sp>
      <p:sp>
        <p:nvSpPr>
          <p:cNvPr id="32" name="TextBox 31"/>
          <p:cNvSpPr txBox="1"/>
          <p:nvPr/>
        </p:nvSpPr>
        <p:spPr>
          <a:xfrm>
            <a:off x="6094475" y="3282696"/>
            <a:ext cx="2768392"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H2 y H7 · No repudio</a:t>
            </a:r>
          </a:p>
        </p:txBody>
      </p:sp>
      <p:sp>
        <p:nvSpPr>
          <p:cNvPr id="33" name="TextBox 32"/>
          <p:cNvSpPr txBox="1"/>
          <p:nvPr/>
        </p:nvSpPr>
        <p:spPr>
          <a:xfrm>
            <a:off x="9027460" y="3282696"/>
            <a:ext cx="2429971"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Parte 3 · Contraseñas y firma</a:t>
            </a:r>
          </a:p>
        </p:txBody>
      </p:sp>
      <p:sp>
        <p:nvSpPr>
          <p:cNvPr id="34" name="Rectangle 33"/>
          <p:cNvSpPr/>
          <p:nvPr/>
        </p:nvSpPr>
        <p:spPr>
          <a:xfrm>
            <a:off x="566928" y="359359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6928" y="3685031"/>
            <a:ext cx="850671"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5</a:t>
            </a:r>
          </a:p>
        </p:txBody>
      </p:sp>
      <p:sp>
        <p:nvSpPr>
          <p:cNvPr id="36" name="TextBox 35"/>
          <p:cNvSpPr txBox="1"/>
          <p:nvPr/>
        </p:nvSpPr>
        <p:spPr>
          <a:xfrm>
            <a:off x="1582191" y="3685031"/>
            <a:ext cx="4347692"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Certificados, infraestructura de llave pública y canal seguro</a:t>
            </a:r>
          </a:p>
        </p:txBody>
      </p:sp>
      <p:sp>
        <p:nvSpPr>
          <p:cNvPr id="37" name="TextBox 36"/>
          <p:cNvSpPr txBox="1"/>
          <p:nvPr/>
        </p:nvSpPr>
        <p:spPr>
          <a:xfrm>
            <a:off x="6094475" y="3685031"/>
            <a:ext cx="2768392"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H5 · Autoridad interna</a:t>
            </a:r>
          </a:p>
        </p:txBody>
      </p:sp>
      <p:sp>
        <p:nvSpPr>
          <p:cNvPr id="38" name="TextBox 37"/>
          <p:cNvSpPr txBox="1"/>
          <p:nvPr/>
        </p:nvSpPr>
        <p:spPr>
          <a:xfrm>
            <a:off x="9027460" y="3685031"/>
            <a:ext cx="2429971"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Parte 4 · Certificados y llaves</a:t>
            </a:r>
          </a:p>
        </p:txBody>
      </p:sp>
      <p:sp>
        <p:nvSpPr>
          <p:cNvPr id="39" name="Rectangle 38"/>
          <p:cNvSpPr/>
          <p:nvPr/>
        </p:nvSpPr>
        <p:spPr>
          <a:xfrm>
            <a:off x="566928" y="3995928"/>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66928" y="4087368"/>
            <a:ext cx="850671"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6</a:t>
            </a:r>
          </a:p>
        </p:txBody>
      </p:sp>
      <p:sp>
        <p:nvSpPr>
          <p:cNvPr id="41" name="TextBox 40"/>
          <p:cNvSpPr txBox="1"/>
          <p:nvPr/>
        </p:nvSpPr>
        <p:spPr>
          <a:xfrm>
            <a:off x="1582191" y="4087368"/>
            <a:ext cx="4347692"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Gestión de llaves, Ley 527, post-cuántica y sustentación</a:t>
            </a:r>
          </a:p>
        </p:txBody>
      </p:sp>
      <p:sp>
        <p:nvSpPr>
          <p:cNvPr id="42" name="TextBox 41"/>
          <p:cNvSpPr txBox="1"/>
          <p:nvPr/>
        </p:nvSpPr>
        <p:spPr>
          <a:xfrm>
            <a:off x="6094475" y="4087368"/>
            <a:ext cx="2768392"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H6 y H7 · Cajeros e hipotecas</a:t>
            </a:r>
          </a:p>
        </p:txBody>
      </p:sp>
      <p:sp>
        <p:nvSpPr>
          <p:cNvPr id="43" name="TextBox 42"/>
          <p:cNvSpPr txBox="1"/>
          <p:nvPr/>
        </p:nvSpPr>
        <p:spPr>
          <a:xfrm>
            <a:off x="9027460" y="4087368"/>
            <a:ext cx="2429971"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Partes 5 y 6 · Hoja de ruta</a:t>
            </a:r>
          </a:p>
        </p:txBody>
      </p:sp>
      <p:sp>
        <p:nvSpPr>
          <p:cNvPr id="44" name="Rectangle 43"/>
          <p:cNvSpPr/>
          <p:nvPr/>
        </p:nvSpPr>
        <p:spPr>
          <a:xfrm>
            <a:off x="566928" y="4398264"/>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66928" y="4453128"/>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0"/>
            <a:ext cx="11055096" cy="237744"/>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SECCIÓN</a:t>
            </a:r>
          </a:p>
        </p:txBody>
      </p:sp>
      <p:sp>
        <p:nvSpPr>
          <p:cNvPr id="3" name="TextBox 2"/>
          <p:cNvSpPr txBox="1"/>
          <p:nvPr/>
        </p:nvSpPr>
        <p:spPr>
          <a:xfrm>
            <a:off x="566928" y="2377440"/>
            <a:ext cx="1828800" cy="1005840"/>
          </a:xfrm>
          <a:prstGeom prst="rect">
            <a:avLst/>
          </a:prstGeom>
          <a:noFill/>
        </p:spPr>
        <p:txBody>
          <a:bodyPr wrap="square" lIns="0" rIns="0" tIns="0" bIns="0">
            <a:spAutoFit/>
          </a:bodyPr>
          <a:lstStyle/>
          <a:p>
            <a:pPr algn="l">
              <a:spcAft>
                <a:spcPts val="0"/>
              </a:spcAft>
            </a:pPr>
            <a:r>
              <a:rPr sz="5400" b="0">
                <a:solidFill>
                  <a:srgbClr val="F36406"/>
                </a:solidFill>
                <a:latin typeface="Arial Black"/>
              </a:rPr>
              <a:t>02</a:t>
            </a:r>
          </a:p>
        </p:txBody>
      </p:sp>
      <p:sp>
        <p:nvSpPr>
          <p:cNvPr id="4" name="TextBox 3"/>
          <p:cNvSpPr txBox="1"/>
          <p:nvPr/>
        </p:nvSpPr>
        <p:spPr>
          <a:xfrm>
            <a:off x="566928" y="3520440"/>
            <a:ext cx="11055096" cy="640080"/>
          </a:xfrm>
          <a:prstGeom prst="rect">
            <a:avLst/>
          </a:prstGeom>
          <a:noFill/>
        </p:spPr>
        <p:txBody>
          <a:bodyPr wrap="square" lIns="0" rIns="0" tIns="0" bIns="0">
            <a:spAutoFit/>
          </a:bodyPr>
          <a:lstStyle/>
          <a:p>
            <a:pPr algn="l">
              <a:spcAft>
                <a:spcPts val="0"/>
              </a:spcAft>
            </a:pPr>
            <a:r>
              <a:rPr sz="3000" b="0">
                <a:solidFill>
                  <a:srgbClr val="000000"/>
                </a:solidFill>
                <a:latin typeface="Arial Black"/>
              </a:rPr>
              <a:t>EL CASO Y LA PREGUNTA</a:t>
            </a:r>
          </a:p>
        </p:txBody>
      </p:sp>
      <p:sp>
        <p:nvSpPr>
          <p:cNvPr id="5" name="Rectangle 4"/>
          <p:cNvSpPr/>
          <p:nvPr/>
        </p:nvSpPr>
        <p:spPr>
          <a:xfrm>
            <a:off x="566928" y="4315968"/>
            <a:ext cx="155448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4526280"/>
            <a:ext cx="10058400" cy="457200"/>
          </a:xfrm>
          <a:prstGeom prst="rect">
            <a:avLst/>
          </a:prstGeom>
          <a:noFill/>
        </p:spPr>
        <p:txBody>
          <a:bodyPr wrap="square" lIns="0" rIns="0" tIns="0" bIns="0">
            <a:spAutoFit/>
          </a:bodyPr>
          <a:lstStyle/>
          <a:p>
            <a:pPr algn="l">
              <a:lnSpc>
                <a:spcPct val="130000"/>
              </a:lnSpc>
              <a:spcAft>
                <a:spcPts val="0"/>
              </a:spcAft>
            </a:pPr>
            <a:r>
              <a:rPr sz="1200" b="0">
                <a:solidFill>
                  <a:srgbClr val="5C5C5C"/>
                </a:solidFill>
                <a:latin typeface="Arial"/>
              </a:rPr>
              <a:t>Coopaburrá · Treinta y ocho transferencias que nadie puede probar</a:t>
            </a:r>
          </a:p>
        </p:txBody>
      </p:sp>
      <p:sp>
        <p:nvSpPr>
          <p:cNvPr id="7" name="Rectangle 6"/>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1-1.png"/>
          <p:cNvPicPr>
            <a:picLocks noChangeAspect="1"/>
          </p:cNvPicPr>
          <p:nvPr/>
        </p:nvPicPr>
        <p:blipFill>
          <a:blip r:embed="rId2"/>
          <a:stretch>
            <a:fillRect/>
          </a:stretch>
        </p:blipFill>
        <p:spPr>
          <a:xfrm>
            <a:off x="566928" y="6336792"/>
            <a:ext cx="566928" cy="246888"/>
          </a:xfrm>
          <a:prstGeom prst="rect">
            <a:avLst/>
          </a:prstGeom>
        </p:spPr>
      </p:pic>
      <p:sp>
        <p:nvSpPr>
          <p:cNvPr id="9" name="TextBox 8"/>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10" name="TextBox 9"/>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07  EL CASO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COOPABURRÁ</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10</a:t>
            </a:r>
          </a:p>
        </p:txBody>
      </p:sp>
      <p:sp>
        <p:nvSpPr>
          <p:cNvPr id="9" name="TextBox 8"/>
          <p:cNvSpPr txBox="1"/>
          <p:nvPr/>
        </p:nvSpPr>
        <p:spPr>
          <a:xfrm>
            <a:off x="566928" y="1554480"/>
            <a:ext cx="11055096" cy="713232"/>
          </a:xfrm>
          <a:prstGeom prst="rect">
            <a:avLst/>
          </a:prstGeom>
          <a:noFill/>
        </p:spPr>
        <p:txBody>
          <a:bodyPr wrap="square" lIns="0" rIns="0" tIns="0" bIns="0">
            <a:spAutoFit/>
          </a:bodyPr>
          <a:lstStyle/>
          <a:p>
            <a:pPr algn="l">
              <a:lnSpc>
                <a:spcPct val="135000"/>
              </a:lnSpc>
              <a:spcAft>
                <a:spcPts val="0"/>
              </a:spcAft>
            </a:pPr>
            <a:r>
              <a:rPr sz="1250" b="1">
                <a:solidFill>
                  <a:srgbClr val="2A2A2A"/>
                </a:solidFill>
                <a:latin typeface="Arial"/>
              </a:rPr>
              <a:t>Cooperativa financiera de Itagüí</a:t>
            </a:r>
            <a:r>
              <a:rPr sz="1250" b="0">
                <a:solidFill>
                  <a:srgbClr val="2A2A2A"/>
                </a:solidFill>
                <a:latin typeface="Arial"/>
              </a:rPr>
              <a:t>, nacida en 1978 como fondo de empleados de las textileras y vigilada por la Superintendencia Financiera desde 1997. Es la organización sobre la que ustedes trabajan durante los seis encuentros. Todos los artefactos que produzcan se refieren a ella.</a:t>
            </a:r>
          </a:p>
        </p:txBody>
      </p:sp>
      <p:sp>
        <p:nvSpPr>
          <p:cNvPr id="10" name="Rectangle 9"/>
          <p:cNvSpPr/>
          <p:nvPr/>
        </p:nvSpPr>
        <p:spPr>
          <a:xfrm>
            <a:off x="566928" y="2542032"/>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670048"/>
            <a:ext cx="2028139" cy="548640"/>
          </a:xfrm>
          <a:prstGeom prst="rect">
            <a:avLst/>
          </a:prstGeom>
          <a:noFill/>
        </p:spPr>
        <p:txBody>
          <a:bodyPr wrap="square" lIns="0" rIns="0" tIns="0" bIns="0">
            <a:spAutoFit/>
          </a:bodyPr>
          <a:lstStyle/>
          <a:p>
            <a:pPr algn="l">
              <a:spcAft>
                <a:spcPts val="0"/>
              </a:spcAft>
            </a:pPr>
            <a:r>
              <a:rPr sz="2800" b="0">
                <a:solidFill>
                  <a:srgbClr val="000000"/>
                </a:solidFill>
                <a:latin typeface="Arial Black"/>
              </a:rPr>
              <a:t>142.000</a:t>
            </a:r>
          </a:p>
        </p:txBody>
      </p:sp>
      <p:sp>
        <p:nvSpPr>
          <p:cNvPr id="12" name="TextBox 11"/>
          <p:cNvSpPr txBox="1"/>
          <p:nvPr/>
        </p:nvSpPr>
        <p:spPr>
          <a:xfrm>
            <a:off x="566928" y="3273552"/>
            <a:ext cx="2028139" cy="438912"/>
          </a:xfrm>
          <a:prstGeom prst="rect">
            <a:avLst/>
          </a:prstGeom>
          <a:noFill/>
        </p:spPr>
        <p:txBody>
          <a:bodyPr wrap="square" lIns="0" rIns="0" tIns="0" bIns="0">
            <a:spAutoFit/>
          </a:bodyPr>
          <a:lstStyle/>
          <a:p>
            <a:pPr algn="l">
              <a:lnSpc>
                <a:spcPct val="125000"/>
              </a:lnSpc>
              <a:spcAft>
                <a:spcPts val="0"/>
              </a:spcAft>
            </a:pPr>
            <a:r>
              <a:rPr sz="730" b="1" spc="130">
                <a:solidFill>
                  <a:srgbClr val="3A3A3A"/>
                </a:solidFill>
                <a:latin typeface="Consolas"/>
              </a:rPr>
              <a:t>ASOCIADOS</a:t>
            </a:r>
          </a:p>
          <a:p>
            <a:pPr algn="l">
              <a:lnSpc>
                <a:spcPct val="125000"/>
              </a:lnSpc>
              <a:spcAft>
                <a:spcPts val="0"/>
              </a:spcAft>
            </a:pPr>
            <a:r>
              <a:rPr sz="730" b="1" spc="130">
                <a:solidFill>
                  <a:srgbClr val="3A3A3A"/>
                </a:solidFill>
                <a:latin typeface="Consolas"/>
              </a:rPr>
              <a:t>ACTIVOS</a:t>
            </a:r>
          </a:p>
        </p:txBody>
      </p:sp>
      <p:sp>
        <p:nvSpPr>
          <p:cNvPr id="13" name="Rectangle 12"/>
          <p:cNvSpPr/>
          <p:nvPr/>
        </p:nvSpPr>
        <p:spPr>
          <a:xfrm>
            <a:off x="2668219" y="2651760"/>
            <a:ext cx="9144" cy="98755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77947" y="2670048"/>
            <a:ext cx="2028139" cy="548640"/>
          </a:xfrm>
          <a:prstGeom prst="rect">
            <a:avLst/>
          </a:prstGeom>
          <a:noFill/>
        </p:spPr>
        <p:txBody>
          <a:bodyPr wrap="square" lIns="0" rIns="0" tIns="0" bIns="0">
            <a:spAutoFit/>
          </a:bodyPr>
          <a:lstStyle/>
          <a:p>
            <a:pPr algn="l">
              <a:spcAft>
                <a:spcPts val="0"/>
              </a:spcAft>
            </a:pPr>
            <a:r>
              <a:rPr sz="2800" b="0">
                <a:solidFill>
                  <a:srgbClr val="000000"/>
                </a:solidFill>
                <a:latin typeface="Arial Black"/>
              </a:rPr>
              <a:t>$1,4 B</a:t>
            </a:r>
          </a:p>
        </p:txBody>
      </p:sp>
      <p:sp>
        <p:nvSpPr>
          <p:cNvPr id="15" name="TextBox 14"/>
          <p:cNvSpPr txBox="1"/>
          <p:nvPr/>
        </p:nvSpPr>
        <p:spPr>
          <a:xfrm>
            <a:off x="2777947" y="3273552"/>
            <a:ext cx="2028139" cy="438912"/>
          </a:xfrm>
          <a:prstGeom prst="rect">
            <a:avLst/>
          </a:prstGeom>
          <a:noFill/>
        </p:spPr>
        <p:txBody>
          <a:bodyPr wrap="square" lIns="0" rIns="0" tIns="0" bIns="0">
            <a:spAutoFit/>
          </a:bodyPr>
          <a:lstStyle/>
          <a:p>
            <a:pPr algn="l">
              <a:lnSpc>
                <a:spcPct val="125000"/>
              </a:lnSpc>
              <a:spcAft>
                <a:spcPts val="0"/>
              </a:spcAft>
            </a:pPr>
            <a:r>
              <a:rPr sz="730" b="1" spc="130">
                <a:solidFill>
                  <a:srgbClr val="3A3A3A"/>
                </a:solidFill>
                <a:latin typeface="Consolas"/>
              </a:rPr>
              <a:t>EN ACTIVOS</a:t>
            </a:r>
          </a:p>
          <a:p>
            <a:pPr algn="l">
              <a:lnSpc>
                <a:spcPct val="125000"/>
              </a:lnSpc>
              <a:spcAft>
                <a:spcPts val="0"/>
              </a:spcAft>
            </a:pPr>
            <a:r>
              <a:rPr sz="730" b="1" spc="130">
                <a:solidFill>
                  <a:srgbClr val="3A3A3A"/>
                </a:solidFill>
                <a:latin typeface="Consolas"/>
              </a:rPr>
              <a:t>ADMINISTRADOS</a:t>
            </a:r>
          </a:p>
        </p:txBody>
      </p:sp>
      <p:sp>
        <p:nvSpPr>
          <p:cNvPr id="16" name="Rectangle 15"/>
          <p:cNvSpPr/>
          <p:nvPr/>
        </p:nvSpPr>
        <p:spPr>
          <a:xfrm>
            <a:off x="4879238" y="2651760"/>
            <a:ext cx="9144" cy="98755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88966" y="2670048"/>
            <a:ext cx="2028139" cy="548640"/>
          </a:xfrm>
          <a:prstGeom prst="rect">
            <a:avLst/>
          </a:prstGeom>
          <a:noFill/>
        </p:spPr>
        <p:txBody>
          <a:bodyPr wrap="square" lIns="0" rIns="0" tIns="0" bIns="0">
            <a:spAutoFit/>
          </a:bodyPr>
          <a:lstStyle/>
          <a:p>
            <a:pPr algn="l">
              <a:spcAft>
                <a:spcPts val="0"/>
              </a:spcAft>
            </a:pPr>
            <a:r>
              <a:rPr sz="2800" b="0">
                <a:solidFill>
                  <a:srgbClr val="000000"/>
                </a:solidFill>
                <a:latin typeface="Arial Black"/>
              </a:rPr>
              <a:t>32</a:t>
            </a:r>
          </a:p>
        </p:txBody>
      </p:sp>
      <p:sp>
        <p:nvSpPr>
          <p:cNvPr id="18" name="TextBox 17"/>
          <p:cNvSpPr txBox="1"/>
          <p:nvPr/>
        </p:nvSpPr>
        <p:spPr>
          <a:xfrm>
            <a:off x="4988966" y="3273552"/>
            <a:ext cx="2028139" cy="438912"/>
          </a:xfrm>
          <a:prstGeom prst="rect">
            <a:avLst/>
          </a:prstGeom>
          <a:noFill/>
        </p:spPr>
        <p:txBody>
          <a:bodyPr wrap="square" lIns="0" rIns="0" tIns="0" bIns="0">
            <a:spAutoFit/>
          </a:bodyPr>
          <a:lstStyle/>
          <a:p>
            <a:pPr algn="l">
              <a:lnSpc>
                <a:spcPct val="125000"/>
              </a:lnSpc>
              <a:spcAft>
                <a:spcPts val="0"/>
              </a:spcAft>
            </a:pPr>
            <a:r>
              <a:rPr sz="730" b="1" spc="130">
                <a:solidFill>
                  <a:srgbClr val="3A3A3A"/>
                </a:solidFill>
                <a:latin typeface="Consolas"/>
              </a:rPr>
              <a:t>CAJEROS</a:t>
            </a:r>
          </a:p>
          <a:p>
            <a:pPr algn="l">
              <a:lnSpc>
                <a:spcPct val="125000"/>
              </a:lnSpc>
              <a:spcAft>
                <a:spcPts val="0"/>
              </a:spcAft>
            </a:pPr>
            <a:r>
              <a:rPr sz="730" b="1" spc="130">
                <a:solidFill>
                  <a:srgbClr val="3A3A3A"/>
                </a:solidFill>
                <a:latin typeface="Consolas"/>
              </a:rPr>
              <a:t>PROPIOS</a:t>
            </a:r>
          </a:p>
        </p:txBody>
      </p:sp>
      <p:sp>
        <p:nvSpPr>
          <p:cNvPr id="19" name="Rectangle 18"/>
          <p:cNvSpPr/>
          <p:nvPr/>
        </p:nvSpPr>
        <p:spPr>
          <a:xfrm>
            <a:off x="7090257" y="2651760"/>
            <a:ext cx="9144" cy="98755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99985" y="2670048"/>
            <a:ext cx="2028139" cy="548640"/>
          </a:xfrm>
          <a:prstGeom prst="rect">
            <a:avLst/>
          </a:prstGeom>
          <a:noFill/>
        </p:spPr>
        <p:txBody>
          <a:bodyPr wrap="square" lIns="0" rIns="0" tIns="0" bIns="0">
            <a:spAutoFit/>
          </a:bodyPr>
          <a:lstStyle/>
          <a:p>
            <a:pPr algn="l">
              <a:spcAft>
                <a:spcPts val="0"/>
              </a:spcAft>
            </a:pPr>
            <a:r>
              <a:rPr sz="2800" b="0">
                <a:solidFill>
                  <a:srgbClr val="F36406"/>
                </a:solidFill>
                <a:latin typeface="Arial Black"/>
              </a:rPr>
              <a:t>20</a:t>
            </a:r>
          </a:p>
        </p:txBody>
      </p:sp>
      <p:sp>
        <p:nvSpPr>
          <p:cNvPr id="21" name="TextBox 20"/>
          <p:cNvSpPr txBox="1"/>
          <p:nvPr/>
        </p:nvSpPr>
        <p:spPr>
          <a:xfrm>
            <a:off x="7199985" y="3273552"/>
            <a:ext cx="2028139" cy="438912"/>
          </a:xfrm>
          <a:prstGeom prst="rect">
            <a:avLst/>
          </a:prstGeom>
          <a:noFill/>
        </p:spPr>
        <p:txBody>
          <a:bodyPr wrap="square" lIns="0" rIns="0" tIns="0" bIns="0">
            <a:spAutoFit/>
          </a:bodyPr>
          <a:lstStyle/>
          <a:p>
            <a:pPr algn="l">
              <a:lnSpc>
                <a:spcPct val="125000"/>
              </a:lnSpc>
              <a:spcAft>
                <a:spcPts val="0"/>
              </a:spcAft>
            </a:pPr>
            <a:r>
              <a:rPr sz="730" b="1" spc="130">
                <a:solidFill>
                  <a:srgbClr val="3A3A3A"/>
                </a:solidFill>
                <a:latin typeface="Consolas"/>
              </a:rPr>
              <a:t>AÑOS DEL CRÉDITO</a:t>
            </a:r>
          </a:p>
          <a:p>
            <a:pPr algn="l">
              <a:lnSpc>
                <a:spcPct val="125000"/>
              </a:lnSpc>
              <a:spcAft>
                <a:spcPts val="0"/>
              </a:spcAft>
            </a:pPr>
            <a:r>
              <a:rPr sz="730" b="1" spc="130">
                <a:solidFill>
                  <a:srgbClr val="3A3A3A"/>
                </a:solidFill>
                <a:latin typeface="Consolas"/>
              </a:rPr>
              <a:t>MÁS LARGO</a:t>
            </a:r>
          </a:p>
        </p:txBody>
      </p:sp>
      <p:sp>
        <p:nvSpPr>
          <p:cNvPr id="22" name="Rectangle 21"/>
          <p:cNvSpPr/>
          <p:nvPr/>
        </p:nvSpPr>
        <p:spPr>
          <a:xfrm>
            <a:off x="9301276" y="2651760"/>
            <a:ext cx="9144" cy="98755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11004" y="2670048"/>
            <a:ext cx="2028139" cy="548640"/>
          </a:xfrm>
          <a:prstGeom prst="rect">
            <a:avLst/>
          </a:prstGeom>
          <a:noFill/>
        </p:spPr>
        <p:txBody>
          <a:bodyPr wrap="square" lIns="0" rIns="0" tIns="0" bIns="0">
            <a:spAutoFit/>
          </a:bodyPr>
          <a:lstStyle/>
          <a:p>
            <a:pPr algn="l">
              <a:spcAft>
                <a:spcPts val="0"/>
              </a:spcAft>
            </a:pPr>
            <a:r>
              <a:rPr sz="2800" b="0">
                <a:solidFill>
                  <a:srgbClr val="F36406"/>
                </a:solidFill>
                <a:latin typeface="Arial Black"/>
              </a:rPr>
              <a:t>0</a:t>
            </a:r>
          </a:p>
        </p:txBody>
      </p:sp>
      <p:sp>
        <p:nvSpPr>
          <p:cNvPr id="24" name="TextBox 23"/>
          <p:cNvSpPr txBox="1"/>
          <p:nvPr/>
        </p:nvSpPr>
        <p:spPr>
          <a:xfrm>
            <a:off x="9411004" y="3273552"/>
            <a:ext cx="2028139" cy="438912"/>
          </a:xfrm>
          <a:prstGeom prst="rect">
            <a:avLst/>
          </a:prstGeom>
          <a:noFill/>
        </p:spPr>
        <p:txBody>
          <a:bodyPr wrap="square" lIns="0" rIns="0" tIns="0" bIns="0">
            <a:spAutoFit/>
          </a:bodyPr>
          <a:lstStyle/>
          <a:p>
            <a:pPr algn="l">
              <a:lnSpc>
                <a:spcPct val="125000"/>
              </a:lnSpc>
              <a:spcAft>
                <a:spcPts val="0"/>
              </a:spcAft>
            </a:pPr>
            <a:r>
              <a:rPr sz="730" b="1" spc="130">
                <a:solidFill>
                  <a:srgbClr val="3A3A3A"/>
                </a:solidFill>
                <a:latin typeface="Consolas"/>
              </a:rPr>
              <a:t>INVENTARIO DE</a:t>
            </a:r>
          </a:p>
          <a:p>
            <a:pPr algn="l">
              <a:lnSpc>
                <a:spcPct val="125000"/>
              </a:lnSpc>
              <a:spcAft>
                <a:spcPts val="0"/>
              </a:spcAft>
            </a:pPr>
            <a:r>
              <a:rPr sz="730" b="1" spc="130">
                <a:solidFill>
                  <a:srgbClr val="3A3A3A"/>
                </a:solidFill>
                <a:latin typeface="Consolas"/>
              </a:rPr>
              <a:t>LLAVES</a:t>
            </a:r>
          </a:p>
        </p:txBody>
      </p:sp>
      <p:sp>
        <p:nvSpPr>
          <p:cNvPr id="25" name="Rectangle 24"/>
          <p:cNvSpPr/>
          <p:nvPr/>
        </p:nvSpPr>
        <p:spPr>
          <a:xfrm>
            <a:off x="566928" y="3712463"/>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050791"/>
            <a:ext cx="5353812" cy="1828800"/>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160520"/>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LO QUE LA ORGANIZACIÓN SÍ TIENE</a:t>
            </a:r>
          </a:p>
        </p:txBody>
      </p:sp>
      <p:sp>
        <p:nvSpPr>
          <p:cNvPr id="28" name="TextBox 27"/>
          <p:cNvSpPr txBox="1"/>
          <p:nvPr/>
        </p:nvSpPr>
        <p:spPr>
          <a:xfrm>
            <a:off x="786384" y="4379976"/>
            <a:ext cx="4914900" cy="137160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Criptografía en todas partes: cifrado de disco en los servidores, canal cifrado en el portal, respaldos cifrados, llaves en los 32 cajeros y firma de operaciones en la aplicación móvil.</a:t>
            </a:r>
          </a:p>
          <a:p>
            <a:pPr algn="l">
              <a:lnSpc>
                <a:spcPct val="128000"/>
              </a:lnSpc>
              <a:spcAft>
                <a:spcPts val="700"/>
              </a:spcAft>
            </a:pPr>
            <a:r>
              <a:rPr sz="1150" b="0">
                <a:solidFill>
                  <a:srgbClr val="000000"/>
                </a:solidFill>
                <a:latin typeface="Arial"/>
              </a:rPr>
              <a:t>Una política de seguridad aprobada en 2019 que ordena cifrar.</a:t>
            </a:r>
          </a:p>
        </p:txBody>
      </p:sp>
      <p:sp>
        <p:nvSpPr>
          <p:cNvPr id="29" name="Rectangle 28"/>
          <p:cNvSpPr/>
          <p:nvPr/>
        </p:nvSpPr>
        <p:spPr>
          <a:xfrm>
            <a:off x="6268212" y="4050791"/>
            <a:ext cx="5353812" cy="1828800"/>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87668" y="4160520"/>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LO QUE LA ORGANIZACIÓN NO TIENE</a:t>
            </a:r>
          </a:p>
        </p:txBody>
      </p:sp>
      <p:sp>
        <p:nvSpPr>
          <p:cNvPr id="31" name="TextBox 30"/>
          <p:cNvSpPr txBox="1"/>
          <p:nvPr/>
        </p:nvSpPr>
        <p:spPr>
          <a:xfrm>
            <a:off x="6487668" y="4379976"/>
            <a:ext cx="4914900" cy="137160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Ningún inventario de llaves ni de certificados. Ningún custodio designado. Ninguna ceremonia documentada.</a:t>
            </a:r>
          </a:p>
          <a:p>
            <a:pPr algn="l">
              <a:lnSpc>
                <a:spcPct val="128000"/>
              </a:lnSpc>
              <a:spcAft>
                <a:spcPts val="700"/>
              </a:spcAft>
            </a:pPr>
            <a:r>
              <a:rPr sz="1150" b="0">
                <a:solidFill>
                  <a:srgbClr val="000000"/>
                </a:solidFill>
                <a:latin typeface="Arial"/>
              </a:rPr>
              <a:t>Ninguna forma de demostrar que un registro no fue alterado.</a:t>
            </a:r>
          </a:p>
          <a:p>
            <a:pPr algn="l">
              <a:lnSpc>
                <a:spcPct val="128000"/>
              </a:lnSpc>
              <a:spcAft>
                <a:spcPts val="700"/>
              </a:spcAft>
            </a:pPr>
            <a:r>
              <a:rPr sz="1150" b="0">
                <a:solidFill>
                  <a:srgbClr val="000000"/>
                </a:solidFill>
                <a:latin typeface="Arial"/>
              </a:rPr>
              <a:t>Ningún responsable de seguridad de la información: la función la ejerce de hecho el Jefe de Infraestructura.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08  EL INCIDENTE</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LA CRONOLOGÍA DE OCHO SEMANAS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11</a:t>
            </a:r>
          </a:p>
        </p:txBody>
      </p:sp>
      <p:sp>
        <p:nvSpPr>
          <p:cNvPr id="9" name="Rectangle 8"/>
          <p:cNvSpPr/>
          <p:nvPr/>
        </p:nvSpPr>
        <p:spPr>
          <a:xfrm>
            <a:off x="566928" y="1554480"/>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673352"/>
            <a:ext cx="138074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FECHA</a:t>
            </a:r>
          </a:p>
        </p:txBody>
      </p:sp>
      <p:sp>
        <p:nvSpPr>
          <p:cNvPr id="11" name="TextBox 10"/>
          <p:cNvSpPr txBox="1"/>
          <p:nvPr/>
        </p:nvSpPr>
        <p:spPr>
          <a:xfrm>
            <a:off x="2112264" y="1673352"/>
            <a:ext cx="9345167"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PASÓ</a:t>
            </a:r>
          </a:p>
        </p:txBody>
      </p:sp>
      <p:sp>
        <p:nvSpPr>
          <p:cNvPr id="12" name="Rectangle 11"/>
          <p:cNvSpPr/>
          <p:nvPr/>
        </p:nvSpPr>
        <p:spPr>
          <a:xfrm>
            <a:off x="566928" y="1965960"/>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2075688"/>
            <a:ext cx="1380744"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12 de enero</a:t>
            </a:r>
          </a:p>
        </p:txBody>
      </p:sp>
      <p:sp>
        <p:nvSpPr>
          <p:cNvPr id="14" name="TextBox 13"/>
          <p:cNvSpPr txBox="1"/>
          <p:nvPr/>
        </p:nvSpPr>
        <p:spPr>
          <a:xfrm>
            <a:off x="2112264" y="2075688"/>
            <a:ext cx="934516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Una asociada reclama una transferencia de $1.850.000 que no hizo. Se radica como reclamo ordinario.</a:t>
            </a:r>
          </a:p>
        </p:txBody>
      </p:sp>
      <p:sp>
        <p:nvSpPr>
          <p:cNvPr id="15" name="Rectangle 14"/>
          <p:cNvSpPr/>
          <p:nvPr/>
        </p:nvSpPr>
        <p:spPr>
          <a:xfrm>
            <a:off x="566928" y="2350008"/>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441448"/>
            <a:ext cx="1380744"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19 de enero</a:t>
            </a:r>
          </a:p>
        </p:txBody>
      </p:sp>
      <p:sp>
        <p:nvSpPr>
          <p:cNvPr id="17" name="TextBox 16"/>
          <p:cNvSpPr txBox="1"/>
          <p:nvPr/>
        </p:nvSpPr>
        <p:spPr>
          <a:xfrm>
            <a:off x="2112264" y="2441448"/>
            <a:ext cx="934516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Van nueve reclamos. Todos de la aplicación móvil. Todas las transferencias salieron hacia tres cuentas de otra entidad.</a:t>
            </a:r>
          </a:p>
        </p:txBody>
      </p:sp>
      <p:sp>
        <p:nvSpPr>
          <p:cNvPr id="18" name="Rectangle 17"/>
          <p:cNvSpPr/>
          <p:nvPr/>
        </p:nvSpPr>
        <p:spPr>
          <a:xfrm>
            <a:off x="566928" y="2715768"/>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2807208"/>
            <a:ext cx="1380744"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23 de enero</a:t>
            </a:r>
          </a:p>
        </p:txBody>
      </p:sp>
      <p:sp>
        <p:nvSpPr>
          <p:cNvPr id="20" name="TextBox 19"/>
          <p:cNvSpPr txBox="1"/>
          <p:nvPr/>
        </p:nvSpPr>
        <p:spPr>
          <a:xfrm>
            <a:off x="2112264" y="2807208"/>
            <a:ext cx="934516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Los registros muestran las operaciones como correctamente autenticadas. Ninguna alerta se disparó.</a:t>
            </a:r>
          </a:p>
        </p:txBody>
      </p:sp>
      <p:sp>
        <p:nvSpPr>
          <p:cNvPr id="21" name="Rectangle 20"/>
          <p:cNvSpPr/>
          <p:nvPr/>
        </p:nvSpPr>
        <p:spPr>
          <a:xfrm>
            <a:off x="566928" y="308152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3172968"/>
            <a:ext cx="1380744"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27 de enero</a:t>
            </a:r>
          </a:p>
        </p:txBody>
      </p:sp>
      <p:sp>
        <p:nvSpPr>
          <p:cNvPr id="23" name="TextBox 22"/>
          <p:cNvSpPr txBox="1"/>
          <p:nvPr/>
        </p:nvSpPr>
        <p:spPr>
          <a:xfrm>
            <a:off x="2112264" y="3172968"/>
            <a:ext cx="934516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proveedor informa que la aplicación firma con una clave incrustada en el código, igual para todos los usuarios.</a:t>
            </a:r>
          </a:p>
        </p:txBody>
      </p:sp>
      <p:sp>
        <p:nvSpPr>
          <p:cNvPr id="24" name="Rectangle 23"/>
          <p:cNvSpPr/>
          <p:nvPr/>
        </p:nvSpPr>
        <p:spPr>
          <a:xfrm>
            <a:off x="566928" y="344728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3538727"/>
            <a:ext cx="1380744"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30 de enero</a:t>
            </a:r>
          </a:p>
        </p:txBody>
      </p:sp>
      <p:sp>
        <p:nvSpPr>
          <p:cNvPr id="26" name="TextBox 25"/>
          <p:cNvSpPr txBox="1"/>
          <p:nvPr/>
        </p:nvSpPr>
        <p:spPr>
          <a:xfrm>
            <a:off x="2112264" y="3538727"/>
            <a:ext cx="934516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Se bloquean las transferencias externas por la aplicación. En plena quincena.</a:t>
            </a:r>
          </a:p>
        </p:txBody>
      </p:sp>
      <p:sp>
        <p:nvSpPr>
          <p:cNvPr id="27" name="Rectangle 26"/>
          <p:cNvSpPr/>
          <p:nvPr/>
        </p:nvSpPr>
        <p:spPr>
          <a:xfrm>
            <a:off x="566928" y="3813048"/>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3904487"/>
            <a:ext cx="1380744"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2 de febrero</a:t>
            </a:r>
          </a:p>
        </p:txBody>
      </p:sp>
      <p:sp>
        <p:nvSpPr>
          <p:cNvPr id="29" name="TextBox 28"/>
          <p:cNvSpPr txBox="1"/>
          <p:nvPr/>
        </p:nvSpPr>
        <p:spPr>
          <a:xfrm>
            <a:off x="2112264" y="3904487"/>
            <a:ext cx="934516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38 reclamos por $71.400.000. Se reintegra el dinero. Cuatro asociados demandan de todos modos.</a:t>
            </a:r>
          </a:p>
        </p:txBody>
      </p:sp>
      <p:sp>
        <p:nvSpPr>
          <p:cNvPr id="30" name="Rectangle 29"/>
          <p:cNvSpPr/>
          <p:nvPr/>
        </p:nvSpPr>
        <p:spPr>
          <a:xfrm>
            <a:off x="566928" y="4178808"/>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270248"/>
            <a:ext cx="1380744"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5 de febrero</a:t>
            </a:r>
          </a:p>
        </p:txBody>
      </p:sp>
      <p:sp>
        <p:nvSpPr>
          <p:cNvPr id="32" name="TextBox 31"/>
          <p:cNvSpPr txBox="1"/>
          <p:nvPr/>
        </p:nvSpPr>
        <p:spPr>
          <a:xfrm>
            <a:off x="2112264" y="4270248"/>
            <a:ext cx="934516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apoderado pregunta cómo se prueba que las operaciones no las hizo el titular. Nadie sabe responder.</a:t>
            </a:r>
          </a:p>
        </p:txBody>
      </p:sp>
      <p:sp>
        <p:nvSpPr>
          <p:cNvPr id="33" name="Rectangle 32"/>
          <p:cNvSpPr/>
          <p:nvPr/>
        </p:nvSpPr>
        <p:spPr>
          <a:xfrm>
            <a:off x="566928" y="4544568"/>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6928" y="4636008"/>
            <a:ext cx="1380744"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9 de febrero</a:t>
            </a:r>
          </a:p>
        </p:txBody>
      </p:sp>
      <p:sp>
        <p:nvSpPr>
          <p:cNvPr id="35" name="TextBox 34"/>
          <p:cNvSpPr txBox="1"/>
          <p:nvPr/>
        </p:nvSpPr>
        <p:spPr>
          <a:xfrm>
            <a:off x="2112264" y="4636008"/>
            <a:ext cx="934516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comité ordena un diagnóstico criptográfico completo. Ahí entran ustedes.</a:t>
            </a:r>
          </a:p>
        </p:txBody>
      </p:sp>
      <p:sp>
        <p:nvSpPr>
          <p:cNvPr id="36" name="Rectangle 35"/>
          <p:cNvSpPr/>
          <p:nvPr/>
        </p:nvSpPr>
        <p:spPr>
          <a:xfrm>
            <a:off x="566928" y="4910328"/>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66928" y="4965192"/>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09  EVIDENCIA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EL CORREO QUE EXPLICA TODO EL CASO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12</a:t>
            </a:r>
          </a:p>
        </p:txBody>
      </p:sp>
      <p:sp>
        <p:nvSpPr>
          <p:cNvPr id="9" name="TextBox 8"/>
          <p:cNvSpPr txBox="1"/>
          <p:nvPr/>
        </p:nvSpPr>
        <p:spPr>
          <a:xfrm>
            <a:off x="566928" y="1554480"/>
            <a:ext cx="11055096" cy="237744"/>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Documento 2 del expediente. Correo de la fábrica de software, 27 de enero de 2026.</a:t>
            </a:r>
          </a:p>
        </p:txBody>
      </p:sp>
      <p:sp>
        <p:nvSpPr>
          <p:cNvPr id="10" name="Rectangle 9"/>
          <p:cNvSpPr/>
          <p:nvPr/>
        </p:nvSpPr>
        <p:spPr>
          <a:xfrm>
            <a:off x="566928" y="2066543"/>
            <a:ext cx="11055096" cy="121798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157984"/>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CORREO DE BITLAB S.A.S. · 27 DE ENERO DE 2026</a:t>
            </a:r>
          </a:p>
        </p:txBody>
      </p:sp>
      <p:sp>
        <p:nvSpPr>
          <p:cNvPr id="12" name="TextBox 11"/>
          <p:cNvSpPr txBox="1"/>
          <p:nvPr/>
        </p:nvSpPr>
        <p:spPr>
          <a:xfrm>
            <a:off x="768096" y="2395727"/>
            <a:ext cx="10652760" cy="797356"/>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«…confirmamos que el esquema de firma de operaciones utiliza HMAC-SHA256 con una clave</a:t>
            </a:r>
          </a:p>
          <a:p>
            <a:pPr algn="l">
              <a:lnSpc>
                <a:spcPct val="130000"/>
              </a:lnSpc>
              <a:spcAft>
                <a:spcPts val="0"/>
              </a:spcAft>
            </a:pPr>
            <a:r>
              <a:rPr sz="950" b="0">
                <a:solidFill>
                  <a:srgbClr val="000000"/>
                </a:solidFill>
                <a:latin typeface="Consolas"/>
              </a:rPr>
              <a:t>compartida provisionada en tiempo de compilación. Esta decisión se tomó en 2023 de común</a:t>
            </a:r>
          </a:p>
          <a:p>
            <a:pPr algn="l">
              <a:lnSpc>
                <a:spcPct val="130000"/>
              </a:lnSpc>
              <a:spcAft>
                <a:spcPts val="0"/>
              </a:spcAft>
            </a:pPr>
            <a:r>
              <a:rPr sz="950" b="0">
                <a:solidFill>
                  <a:srgbClr val="000000"/>
                </a:solidFill>
                <a:latin typeface="Consolas"/>
              </a:rPr>
              <a:t>acuerdo para evitar el costo de una infraestructura de llave pública y agilizar la salida</a:t>
            </a:r>
          </a:p>
          <a:p>
            <a:pPr algn="l">
              <a:lnSpc>
                <a:spcPct val="130000"/>
              </a:lnSpc>
              <a:spcAft>
                <a:spcPts val="0"/>
              </a:spcAft>
            </a:pPr>
            <a:r>
              <a:rPr sz="950" b="0">
                <a:solidFill>
                  <a:srgbClr val="000000"/>
                </a:solidFill>
                <a:latin typeface="Consolas"/>
              </a:rPr>
              <a:t>a producción. El alcance contratado no incluía gestión de llaves…»</a:t>
            </a:r>
          </a:p>
        </p:txBody>
      </p:sp>
      <p:sp>
        <p:nvSpPr>
          <p:cNvPr id="13" name="TextBox 12"/>
          <p:cNvSpPr txBox="1"/>
          <p:nvPr/>
        </p:nvSpPr>
        <p:spPr>
          <a:xfrm>
            <a:off x="566928" y="3540556"/>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LO QUE ESTÁ BIEN</a:t>
            </a:r>
          </a:p>
        </p:txBody>
      </p:sp>
      <p:sp>
        <p:nvSpPr>
          <p:cNvPr id="14" name="TextBox 13"/>
          <p:cNvSpPr txBox="1"/>
          <p:nvPr/>
        </p:nvSpPr>
        <p:spPr>
          <a:xfrm>
            <a:off x="566928" y="3814876"/>
            <a:ext cx="5253228" cy="150876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HMAC-SHA256 es un mecanismo correcto, moderno y ampliamente recomendado.</a:t>
            </a:r>
          </a:p>
          <a:p>
            <a:pPr algn="l">
              <a:lnSpc>
                <a:spcPct val="128000"/>
              </a:lnSpc>
              <a:spcAft>
                <a:spcPts val="700"/>
              </a:spcAft>
            </a:pPr>
            <a:r>
              <a:rPr sz="1150" b="0">
                <a:solidFill>
                  <a:srgbClr val="000000"/>
                </a:solidFill>
                <a:latin typeface="Arial"/>
              </a:rPr>
              <a:t>No está roto. No hay ningún ataque práctico contra él.</a:t>
            </a:r>
          </a:p>
          <a:p>
            <a:pPr algn="l">
              <a:lnSpc>
                <a:spcPct val="128000"/>
              </a:lnSpc>
              <a:spcAft>
                <a:spcPts val="700"/>
              </a:spcAft>
            </a:pPr>
            <a:r>
              <a:rPr sz="1150" b="0">
                <a:solidFill>
                  <a:srgbClr val="000000"/>
                </a:solidFill>
                <a:latin typeface="Arial"/>
              </a:rPr>
              <a:t>Si ustedes auditaran solo el algoritmo, este sistema pasaría.</a:t>
            </a:r>
          </a:p>
        </p:txBody>
      </p:sp>
      <p:sp>
        <p:nvSpPr>
          <p:cNvPr id="15" name="TextBox 14"/>
          <p:cNvSpPr txBox="1"/>
          <p:nvPr/>
        </p:nvSpPr>
        <p:spPr>
          <a:xfrm>
            <a:off x="6368796" y="3540556"/>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LO QUE ESTÁ ROTO</a:t>
            </a:r>
          </a:p>
        </p:txBody>
      </p:sp>
      <p:sp>
        <p:nvSpPr>
          <p:cNvPr id="16" name="TextBox 15"/>
          <p:cNvSpPr txBox="1"/>
          <p:nvPr/>
        </p:nvSpPr>
        <p:spPr>
          <a:xfrm>
            <a:off x="6368796" y="3814876"/>
            <a:ext cx="5253228" cy="150876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La llave es una sola para los 142.000 asociados.</a:t>
            </a:r>
          </a:p>
          <a:p>
            <a:pPr algn="l">
              <a:lnSpc>
                <a:spcPct val="128000"/>
              </a:lnSpc>
              <a:spcAft>
                <a:spcPts val="700"/>
              </a:spcAft>
            </a:pPr>
            <a:r>
              <a:rPr sz="1150" b="0">
                <a:solidFill>
                  <a:srgbClr val="000000"/>
                </a:solidFill>
                <a:latin typeface="Arial"/>
              </a:rPr>
              <a:t>Viaja dentro del paquete que cualquiera descarga de la tienda de aplicaciones.</a:t>
            </a:r>
          </a:p>
          <a:p>
            <a:pPr algn="l">
              <a:lnSpc>
                <a:spcPct val="128000"/>
              </a:lnSpc>
              <a:spcAft>
                <a:spcPts val="700"/>
              </a:spcAft>
            </a:pPr>
            <a:r>
              <a:rPr sz="1150" b="0">
                <a:solidFill>
                  <a:srgbClr val="000000"/>
                </a:solidFill>
                <a:latin typeface="Arial"/>
              </a:rPr>
              <a:t>Lleva ahí desde marzo de 2023 y nunca se ha cambiado.</a:t>
            </a:r>
          </a:p>
          <a:p>
            <a:pPr algn="l">
              <a:lnSpc>
                <a:spcPct val="128000"/>
              </a:lnSpc>
              <a:spcAft>
                <a:spcPts val="700"/>
              </a:spcAft>
            </a:pPr>
            <a:r>
              <a:rPr sz="1150" b="0">
                <a:solidFill>
                  <a:srgbClr val="000000"/>
                </a:solidFill>
                <a:latin typeface="Arial"/>
              </a:rPr>
              <a:t>No hay forma de saber cuál usuario firmó qué.</a:t>
            </a:r>
          </a:p>
        </p:txBody>
      </p:sp>
      <p:sp>
        <p:nvSpPr>
          <p:cNvPr id="17" name="Rectangle 16"/>
          <p:cNvSpPr/>
          <p:nvPr/>
        </p:nvSpPr>
        <p:spPr>
          <a:xfrm>
            <a:off x="6085332" y="3540556"/>
            <a:ext cx="9144" cy="17830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10  EVIDENCIA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LA POLÍTICA DE CIFRADO, COMPLETA</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13</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Documento 3 del expediente. No es un extracto: es el artículo 14 íntegro de la Política de Seguridad de la Información aprobada en 2019 y vigente el día del incidente.</a:t>
            </a:r>
          </a:p>
        </p:txBody>
      </p:sp>
      <p:sp>
        <p:nvSpPr>
          <p:cNvPr id="10" name="Rectangle 9"/>
          <p:cNvSpPr/>
          <p:nvPr/>
        </p:nvSpPr>
        <p:spPr>
          <a:xfrm>
            <a:off x="566928" y="2304287"/>
            <a:ext cx="11055096" cy="1009497"/>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POLÍTICA DE SEGURIDAD DE LA INFORMACIÓN · 2019 · ARTÍCULO 14</a:t>
            </a:r>
          </a:p>
        </p:txBody>
      </p:sp>
      <p:sp>
        <p:nvSpPr>
          <p:cNvPr id="12" name="TextBox 11"/>
          <p:cNvSpPr txBox="1"/>
          <p:nvPr/>
        </p:nvSpPr>
        <p:spPr>
          <a:xfrm>
            <a:off x="768096" y="2633471"/>
            <a:ext cx="10652760" cy="588873"/>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«Artículo 14. Cifrado. Toda información confidencial de la Cooperativa deberá ser cifrada</a:t>
            </a:r>
          </a:p>
          <a:p>
            <a:pPr algn="l">
              <a:lnSpc>
                <a:spcPct val="130000"/>
              </a:lnSpc>
              <a:spcAft>
                <a:spcPts val="0"/>
              </a:spcAft>
            </a:pPr>
            <a:r>
              <a:rPr sz="950" b="0">
                <a:solidFill>
                  <a:srgbClr val="000000"/>
                </a:solidFill>
                <a:latin typeface="Consolas"/>
              </a:rPr>
              <a:t>en reposo y en tránsito utilizando algoritmos de reconocida robustez. La Jefatura de</a:t>
            </a:r>
          </a:p>
          <a:p>
            <a:pPr algn="l">
              <a:lnSpc>
                <a:spcPct val="130000"/>
              </a:lnSpc>
              <a:spcAft>
                <a:spcPts val="0"/>
              </a:spcAft>
            </a:pPr>
            <a:r>
              <a:rPr sz="950" b="0">
                <a:solidFill>
                  <a:srgbClr val="000000"/>
                </a:solidFill>
                <a:latin typeface="Consolas"/>
              </a:rPr>
              <a:t>Infraestructura velará por el cumplimiento de esta disposición.»</a:t>
            </a:r>
          </a:p>
        </p:txBody>
      </p:sp>
      <p:sp>
        <p:nvSpPr>
          <p:cNvPr id="13" name="Rectangle 12"/>
          <p:cNvSpPr/>
          <p:nvPr/>
        </p:nvSpPr>
        <p:spPr>
          <a:xfrm>
            <a:off x="566928" y="3569817"/>
            <a:ext cx="45720" cy="118872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3588105"/>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POR QUÉ ESTA POLÍTICA NO SIRVE</a:t>
            </a:r>
          </a:p>
        </p:txBody>
      </p:sp>
      <p:sp>
        <p:nvSpPr>
          <p:cNvPr id="15" name="TextBox 14"/>
          <p:cNvSpPr txBox="1"/>
          <p:nvPr/>
        </p:nvSpPr>
        <p:spPr>
          <a:xfrm>
            <a:off x="804672" y="3825849"/>
            <a:ext cx="10780776" cy="91440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No dice qué algoritmos. No dice qué longitudes de llave. No dice quién custodia las llaves. No dice cada cuánto se rotan. No dice qué pasa cuando el custodio se va de la organización. No dice cómo se verifica el cumplimiento. Es una política que no se puede auditar, y por lo tanto no se puede incumplir: no hay contra qué contrastarla.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11  EVIDENCIA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EL INVENTARIO DE LLAVES, ÍNTEGRO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14</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Documento 5. Esto es todo lo que Infraestructura pudo entregar cuando el comité pidió el inventario criptográfico, el 11 de febrero.</a:t>
            </a:r>
          </a:p>
        </p:txBody>
      </p:sp>
      <p:sp>
        <p:nvSpPr>
          <p:cNvPr id="10" name="Rectangle 9"/>
          <p:cNvSpPr/>
          <p:nvPr/>
        </p:nvSpPr>
        <p:spPr>
          <a:xfrm>
            <a:off x="566928" y="2304287"/>
            <a:ext cx="11055096" cy="142646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CORREO DE LA JEFATURA DE INFRAESTRUCTURA · 11 DE FEBRERO DE 2026</a:t>
            </a:r>
          </a:p>
        </p:txBody>
      </p:sp>
      <p:sp>
        <p:nvSpPr>
          <p:cNvPr id="12" name="TextBox 11"/>
          <p:cNvSpPr txBox="1"/>
          <p:nvPr/>
        </p:nvSpPr>
        <p:spPr>
          <a:xfrm>
            <a:off x="768096" y="2633471"/>
            <a:ext cx="10652760" cy="1005840"/>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Certificado del portal (vence en junio).</a:t>
            </a:r>
          </a:p>
          <a:p>
            <a:pPr algn="l">
              <a:lnSpc>
                <a:spcPct val="130000"/>
              </a:lnSpc>
              <a:spcAft>
                <a:spcPts val="0"/>
              </a:spcAft>
            </a:pPr>
            <a:r>
              <a:rPr sz="950" b="0">
                <a:solidFill>
                  <a:srgbClr val="000000"/>
                </a:solidFill>
                <a:latin typeface="Consolas"/>
              </a:rPr>
              <a:t>Llaves de cajeros (las cargó el proveedor).</a:t>
            </a:r>
          </a:p>
          <a:p>
            <a:pPr algn="l">
              <a:lnSpc>
                <a:spcPct val="130000"/>
              </a:lnSpc>
              <a:spcAft>
                <a:spcPts val="0"/>
              </a:spcAft>
            </a:pPr>
            <a:r>
              <a:rPr sz="950" b="0">
                <a:solidFill>
                  <a:srgbClr val="000000"/>
                </a:solidFill>
                <a:latin typeface="Consolas"/>
              </a:rPr>
              <a:t>Llave de respaldos (está en el servidor).</a:t>
            </a:r>
          </a:p>
          <a:p>
            <a:pPr algn="l">
              <a:lnSpc>
                <a:spcPct val="130000"/>
              </a:lnSpc>
              <a:spcAft>
                <a:spcPts val="0"/>
              </a:spcAft>
            </a:pPr>
            <a:r>
              <a:rPr sz="950" b="0">
                <a:solidFill>
                  <a:srgbClr val="000000"/>
                </a:solidFill>
                <a:latin typeface="Consolas"/>
              </a:rPr>
              <a:t>Certificado del correo (lo renueva el proveedor de correo).</a:t>
            </a:r>
          </a:p>
          <a:p>
            <a:pPr algn="l">
              <a:lnSpc>
                <a:spcPct val="130000"/>
              </a:lnSpc>
              <a:spcAft>
                <a:spcPts val="0"/>
              </a:spcAft>
            </a:pPr>
            <a:r>
              <a:rPr sz="950" b="0">
                <a:solidFill>
                  <a:srgbClr val="000000"/>
                </a:solidFill>
                <a:latin typeface="Consolas"/>
              </a:rPr>
              <a:t>Pendiente confirmar si la aplicación móvil usa llaves.</a:t>
            </a:r>
          </a:p>
        </p:txBody>
      </p:sp>
      <p:sp>
        <p:nvSpPr>
          <p:cNvPr id="13" name="Rectangle 12"/>
          <p:cNvSpPr/>
          <p:nvPr/>
        </p:nvSpPr>
        <p:spPr>
          <a:xfrm>
            <a:off x="566928" y="3986784"/>
            <a:ext cx="45720" cy="109728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4005072"/>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MAGNITUD</a:t>
            </a:r>
          </a:p>
        </p:txBody>
      </p:sp>
      <p:sp>
        <p:nvSpPr>
          <p:cNvPr id="15" name="TextBox 14"/>
          <p:cNvSpPr txBox="1"/>
          <p:nvPr/>
        </p:nvSpPr>
        <p:spPr>
          <a:xfrm>
            <a:off x="804672" y="4242816"/>
            <a:ext cx="10780776" cy="822959"/>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Cinco líneas escritas en un correo. Ese es el inventario criptográfico completo de una entidad vigilada por la Superintendencia Financiera que administra 142.000 asociados y 1,4 billones de pesos. La última línea —«pendiente confirmar si la aplicación móvil usa llaves»— se refiere al canal donde ocurrió el fraude.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12  MÉTODO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200" b="0">
                <a:solidFill>
                  <a:srgbClr val="000000"/>
                </a:solidFill>
                <a:latin typeface="Arial Black"/>
              </a:rPr>
              <a:t>CÓMO SE CONSTRUYE UN INVENTARIO CRIPTOGRÁFICO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15</a:t>
            </a:r>
          </a:p>
        </p:txBody>
      </p:sp>
      <p:sp>
        <p:nvSpPr>
          <p:cNvPr id="9" name="TextBox 8"/>
          <p:cNvSpPr txBox="1"/>
          <p:nvPr/>
        </p:nvSpPr>
        <p:spPr>
          <a:xfrm>
            <a:off x="566928" y="1554480"/>
            <a:ext cx="11055096" cy="237744"/>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Nadie tiene la lista completa: el inventario se arma cruzando fuentes, y cada una revela algo distinto.</a:t>
            </a:r>
          </a:p>
        </p:txBody>
      </p:sp>
      <p:sp>
        <p:nvSpPr>
          <p:cNvPr id="10" name="Rectangle 9"/>
          <p:cNvSpPr/>
          <p:nvPr/>
        </p:nvSpPr>
        <p:spPr>
          <a:xfrm>
            <a:off x="566928" y="2066543"/>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185415"/>
            <a:ext cx="381524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FUENTE</a:t>
            </a:r>
          </a:p>
        </p:txBody>
      </p:sp>
      <p:sp>
        <p:nvSpPr>
          <p:cNvPr id="12" name="TextBox 11"/>
          <p:cNvSpPr txBox="1"/>
          <p:nvPr/>
        </p:nvSpPr>
        <p:spPr>
          <a:xfrm>
            <a:off x="4546762" y="2185415"/>
            <a:ext cx="4478548"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REVELA</a:t>
            </a:r>
          </a:p>
        </p:txBody>
      </p:sp>
      <p:sp>
        <p:nvSpPr>
          <p:cNvPr id="13" name="TextBox 12"/>
          <p:cNvSpPr txBox="1"/>
          <p:nvPr/>
        </p:nvSpPr>
        <p:spPr>
          <a:xfrm>
            <a:off x="9189902" y="2185415"/>
            <a:ext cx="226752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SU LÍMITE</a:t>
            </a:r>
          </a:p>
        </p:txBody>
      </p:sp>
      <p:sp>
        <p:nvSpPr>
          <p:cNvPr id="14" name="Rectangle 13"/>
          <p:cNvSpPr/>
          <p:nvPr/>
        </p:nvSpPr>
        <p:spPr>
          <a:xfrm>
            <a:off x="566928" y="2478023"/>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587751"/>
            <a:ext cx="3815242"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Barrido de certificados y del canal seguro</a:t>
            </a:r>
          </a:p>
        </p:txBody>
      </p:sp>
      <p:sp>
        <p:nvSpPr>
          <p:cNvPr id="16" name="TextBox 15"/>
          <p:cNvSpPr txBox="1"/>
          <p:nvPr/>
        </p:nvSpPr>
        <p:spPr>
          <a:xfrm>
            <a:off x="4546762" y="2587751"/>
            <a:ext cx="4478548"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Versiones, suites, emisores y vencimientos de todo lo que expone un puerto</a:t>
            </a:r>
          </a:p>
        </p:txBody>
      </p:sp>
      <p:sp>
        <p:nvSpPr>
          <p:cNvPr id="17" name="TextBox 16"/>
          <p:cNvSpPr txBox="1"/>
          <p:nvPr/>
        </p:nvSpPr>
        <p:spPr>
          <a:xfrm>
            <a:off x="9189902" y="2587751"/>
            <a:ext cx="2267529"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Solo ve lo que está en la red</a:t>
            </a:r>
          </a:p>
        </p:txBody>
      </p:sp>
      <p:sp>
        <p:nvSpPr>
          <p:cNvPr id="18" name="Rectangle 17"/>
          <p:cNvSpPr/>
          <p:nvPr/>
        </p:nvSpPr>
        <p:spPr>
          <a:xfrm>
            <a:off x="566928" y="303617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127613"/>
            <a:ext cx="3815242" cy="384048"/>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Revisión de configuraciones y guiones</a:t>
            </a:r>
          </a:p>
        </p:txBody>
      </p:sp>
      <p:sp>
        <p:nvSpPr>
          <p:cNvPr id="20" name="TextBox 19"/>
          <p:cNvSpPr txBox="1"/>
          <p:nvPr/>
        </p:nvSpPr>
        <p:spPr>
          <a:xfrm>
            <a:off x="4546762" y="3127613"/>
            <a:ext cx="4478548" cy="38404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Algoritmos, modos y dónde se guarda cada llave</a:t>
            </a:r>
          </a:p>
        </p:txBody>
      </p:sp>
      <p:sp>
        <p:nvSpPr>
          <p:cNvPr id="21" name="TextBox 20"/>
          <p:cNvSpPr txBox="1"/>
          <p:nvPr/>
        </p:nvSpPr>
        <p:spPr>
          <a:xfrm>
            <a:off x="9189902" y="3127613"/>
            <a:ext cx="2267529" cy="38404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Exige acceso y saber leerlas</a:t>
            </a:r>
          </a:p>
        </p:txBody>
      </p:sp>
      <p:sp>
        <p:nvSpPr>
          <p:cNvPr id="22" name="Rectangle 21"/>
          <p:cNvSpPr/>
          <p:nvPr/>
        </p:nvSpPr>
        <p:spPr>
          <a:xfrm>
            <a:off x="566928" y="347508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566525"/>
            <a:ext cx="3815242" cy="384048"/>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Búsqueda en el código y los repositorios</a:t>
            </a:r>
          </a:p>
        </p:txBody>
      </p:sp>
      <p:sp>
        <p:nvSpPr>
          <p:cNvPr id="24" name="TextBox 23"/>
          <p:cNvSpPr txBox="1"/>
          <p:nvPr/>
        </p:nvSpPr>
        <p:spPr>
          <a:xfrm>
            <a:off x="4546762" y="3566525"/>
            <a:ext cx="4478548" cy="38404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Llaves escritas en el código, constantes y bibliotecas usadas</a:t>
            </a:r>
          </a:p>
        </p:txBody>
      </p:sp>
      <p:sp>
        <p:nvSpPr>
          <p:cNvPr id="25" name="TextBox 24"/>
          <p:cNvSpPr txBox="1"/>
          <p:nvPr/>
        </p:nvSpPr>
        <p:spPr>
          <a:xfrm>
            <a:off x="9189902" y="3566525"/>
            <a:ext cx="2267529" cy="38404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Solo lo que se tiene en fuentes</a:t>
            </a:r>
          </a:p>
        </p:txBody>
      </p:sp>
      <p:sp>
        <p:nvSpPr>
          <p:cNvPr id="26" name="Rectangle 25"/>
          <p:cNvSpPr/>
          <p:nvPr/>
        </p:nvSpPr>
        <p:spPr>
          <a:xfrm>
            <a:off x="566928" y="391399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005437"/>
            <a:ext cx="3815242" cy="384048"/>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Consolas de llaves y módulos de hardware</a:t>
            </a:r>
          </a:p>
        </p:txBody>
      </p:sp>
      <p:sp>
        <p:nvSpPr>
          <p:cNvPr id="28" name="TextBox 27"/>
          <p:cNvSpPr txBox="1"/>
          <p:nvPr/>
        </p:nvSpPr>
        <p:spPr>
          <a:xfrm>
            <a:off x="4546762" y="4005437"/>
            <a:ext cx="4478548" cy="38404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Qué llaves existen formalmente y quién puede usarlas</a:t>
            </a:r>
          </a:p>
        </p:txBody>
      </p:sp>
      <p:sp>
        <p:nvSpPr>
          <p:cNvPr id="29" name="TextBox 28"/>
          <p:cNvSpPr txBox="1"/>
          <p:nvPr/>
        </p:nvSpPr>
        <p:spPr>
          <a:xfrm>
            <a:off x="9189902" y="4005437"/>
            <a:ext cx="2267529" cy="38404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Solo lo que ya se gestiona bien</a:t>
            </a:r>
          </a:p>
        </p:txBody>
      </p:sp>
      <p:sp>
        <p:nvSpPr>
          <p:cNvPr id="30" name="Rectangle 29"/>
          <p:cNvSpPr/>
          <p:nvPr/>
        </p:nvSpPr>
        <p:spPr>
          <a:xfrm>
            <a:off x="566928" y="435290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444349"/>
            <a:ext cx="3815242"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Entrevistas y contratos con proveedores</a:t>
            </a:r>
          </a:p>
        </p:txBody>
      </p:sp>
      <p:sp>
        <p:nvSpPr>
          <p:cNvPr id="32" name="TextBox 31"/>
          <p:cNvSpPr txBox="1"/>
          <p:nvPr/>
        </p:nvSpPr>
        <p:spPr>
          <a:xfrm>
            <a:off x="4546762" y="4444349"/>
            <a:ext cx="4478548"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Lo que ninguna herramienta ve: quién custodia qué y desde cuándo</a:t>
            </a:r>
          </a:p>
        </p:txBody>
      </p:sp>
      <p:sp>
        <p:nvSpPr>
          <p:cNvPr id="33" name="TextBox 32"/>
          <p:cNvSpPr txBox="1"/>
          <p:nvPr/>
        </p:nvSpPr>
        <p:spPr>
          <a:xfrm>
            <a:off x="9189902" y="4444349"/>
            <a:ext cx="2267529"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Depende de la memoria de las personas</a:t>
            </a:r>
          </a:p>
        </p:txBody>
      </p:sp>
      <p:sp>
        <p:nvSpPr>
          <p:cNvPr id="34" name="Rectangle 33"/>
          <p:cNvSpPr/>
          <p:nvPr/>
        </p:nvSpPr>
        <p:spPr>
          <a:xfrm>
            <a:off x="566928" y="489277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66928" y="4947635"/>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5249387"/>
            <a:ext cx="45720" cy="713232"/>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4672" y="5267675"/>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REGLA DEL INVENTARIO</a:t>
            </a:r>
          </a:p>
        </p:txBody>
      </p:sp>
      <p:sp>
        <p:nvSpPr>
          <p:cNvPr id="38" name="TextBox 37"/>
          <p:cNvSpPr txBox="1"/>
          <p:nvPr/>
        </p:nvSpPr>
        <p:spPr>
          <a:xfrm>
            <a:off x="804672" y="5505419"/>
            <a:ext cx="10780776" cy="438912"/>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Ninguna fuente basta sola, y </a:t>
            </a:r>
            <a:r>
              <a:rPr sz="1150" b="1">
                <a:solidFill>
                  <a:srgbClr val="2A2A2A"/>
                </a:solidFill>
                <a:latin typeface="Arial"/>
              </a:rPr>
              <a:t>las contradicciones entre fuentes son hallazgos</a:t>
            </a:r>
            <a:r>
              <a:rPr sz="1150" b="0">
                <a:solidFill>
                  <a:srgbClr val="2A2A2A"/>
                </a:solidFill>
                <a:latin typeface="Arial"/>
              </a:rPr>
              <a:t>: la sal declarada que no aparece en los datos, por ejemplo. Es exactamente lo que van a encontrar en la sesión 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1188720"/>
            <a:ext cx="11055096" cy="237744"/>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LA TESIS DE LA SESIÓN</a:t>
            </a:r>
          </a:p>
        </p:txBody>
      </p:sp>
      <p:sp>
        <p:nvSpPr>
          <p:cNvPr id="3" name="TextBox 2"/>
          <p:cNvSpPr txBox="1"/>
          <p:nvPr/>
        </p:nvSpPr>
        <p:spPr>
          <a:xfrm>
            <a:off x="566928" y="1554480"/>
            <a:ext cx="10607040" cy="2743200"/>
          </a:xfrm>
          <a:prstGeom prst="rect">
            <a:avLst/>
          </a:prstGeom>
          <a:noFill/>
        </p:spPr>
        <p:txBody>
          <a:bodyPr wrap="square" lIns="0" rIns="0" tIns="0" bIns="0">
            <a:spAutoFit/>
          </a:bodyPr>
          <a:lstStyle/>
          <a:p>
            <a:pPr algn="l">
              <a:lnSpc>
                <a:spcPct val="112000"/>
              </a:lnSpc>
              <a:spcAft>
                <a:spcPts val="0"/>
              </a:spcAft>
            </a:pPr>
            <a:r>
              <a:rPr sz="3000" b="0">
                <a:solidFill>
                  <a:srgbClr val="000000"/>
                </a:solidFill>
                <a:latin typeface="Arial Black"/>
              </a:rPr>
              <a:t>EL ALGORITMO DE COOPABURRÁ</a:t>
            </a:r>
          </a:p>
          <a:p>
            <a:pPr algn="l">
              <a:lnSpc>
                <a:spcPct val="112000"/>
              </a:lnSpc>
              <a:spcAft>
                <a:spcPts val="0"/>
              </a:spcAft>
            </a:pPr>
            <a:r>
              <a:rPr sz="3000" b="0">
                <a:solidFill>
                  <a:srgbClr val="000000"/>
                </a:solidFill>
                <a:latin typeface="Arial Black"/>
              </a:rPr>
              <a:t>ESTABA BIEN ESCOGIDO.</a:t>
            </a:r>
          </a:p>
          <a:p>
            <a:pPr algn="l">
              <a:lnSpc>
                <a:spcPct val="112000"/>
              </a:lnSpc>
              <a:spcAft>
                <a:spcPts val="0"/>
              </a:spcAft>
            </a:pPr>
            <a:r>
              <a:rPr sz="3000" b="0">
                <a:solidFill>
                  <a:srgbClr val="000000"/>
                </a:solidFill>
                <a:latin typeface="Arial Black"/>
              </a:rPr>
              <a:t>LO QUE NADIE ADMINISTRÓ</a:t>
            </a:r>
          </a:p>
          <a:p>
            <a:pPr algn="l">
              <a:lnSpc>
                <a:spcPct val="112000"/>
              </a:lnSpc>
              <a:spcAft>
                <a:spcPts val="0"/>
              </a:spcAft>
            </a:pPr>
            <a:r>
              <a:rPr sz="3000" b="0">
                <a:solidFill>
                  <a:srgbClr val="000000"/>
                </a:solidFill>
                <a:latin typeface="Arial Black"/>
              </a:rPr>
              <a:t>FUE LA LLAVE.</a:t>
            </a:r>
          </a:p>
        </p:txBody>
      </p:sp>
      <p:sp>
        <p:nvSpPr>
          <p:cNvPr id="4" name="Rectangle 3"/>
          <p:cNvSpPr/>
          <p:nvPr/>
        </p:nvSpPr>
        <p:spPr>
          <a:xfrm>
            <a:off x="566928" y="4617720"/>
            <a:ext cx="1554480" cy="4572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4864608"/>
            <a:ext cx="10607040" cy="1005840"/>
          </a:xfrm>
          <a:prstGeom prst="rect">
            <a:avLst/>
          </a:prstGeom>
          <a:noFill/>
        </p:spPr>
        <p:txBody>
          <a:bodyPr wrap="square" lIns="0" rIns="0" tIns="0" bIns="0">
            <a:spAutoFit/>
          </a:bodyPr>
          <a:lstStyle/>
          <a:p>
            <a:pPr algn="l">
              <a:lnSpc>
                <a:spcPct val="135000"/>
              </a:lnSpc>
              <a:spcAft>
                <a:spcPts val="0"/>
              </a:spcAft>
            </a:pPr>
            <a:r>
              <a:rPr sz="1200" b="0">
                <a:solidFill>
                  <a:srgbClr val="2A2A2A"/>
                </a:solidFill>
                <a:latin typeface="Arial"/>
              </a:rPr>
              <a:t>Ese es el patrón de casi todas las fallas criptográficas reales, y es el hilo de las seis sesiones. La criptografía moderna casi nunca se rompe por matemáticas: se rompe por generación de llaves predecible, por llaves compartidas donde debía haber llaves individuales, por llaves que nunca se rotan y por llaves guardadas al lado de lo que protegen. Hoy vamos a aprender a mirar ese lado del problema.</a:t>
            </a:r>
          </a:p>
        </p:txBody>
      </p:sp>
      <p:sp>
        <p:nvSpPr>
          <p:cNvPr id="6" name="Rectangle 5"/>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1-1.png"/>
          <p:cNvPicPr>
            <a:picLocks noChangeAspect="1"/>
          </p:cNvPicPr>
          <p:nvPr/>
        </p:nvPicPr>
        <p:blipFill>
          <a:blip r:embed="rId2"/>
          <a:stretch>
            <a:fillRect/>
          </a:stretch>
        </p:blipFill>
        <p:spPr>
          <a:xfrm>
            <a:off x="566928" y="6336792"/>
            <a:ext cx="566928" cy="246888"/>
          </a:xfrm>
          <a:prstGeom prst="rect">
            <a:avLst/>
          </a:prstGeom>
        </p:spPr>
      </p:pic>
      <p:sp>
        <p:nvSpPr>
          <p:cNvPr id="8" name="TextBox 7"/>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9" name="TextBox 8"/>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0"/>
            <a:ext cx="11055096" cy="237744"/>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SECCIÓN</a:t>
            </a:r>
          </a:p>
        </p:txBody>
      </p:sp>
      <p:sp>
        <p:nvSpPr>
          <p:cNvPr id="3" name="TextBox 2"/>
          <p:cNvSpPr txBox="1"/>
          <p:nvPr/>
        </p:nvSpPr>
        <p:spPr>
          <a:xfrm>
            <a:off x="566928" y="2377440"/>
            <a:ext cx="1828800" cy="1005840"/>
          </a:xfrm>
          <a:prstGeom prst="rect">
            <a:avLst/>
          </a:prstGeom>
          <a:noFill/>
        </p:spPr>
        <p:txBody>
          <a:bodyPr wrap="square" lIns="0" rIns="0" tIns="0" bIns="0">
            <a:spAutoFit/>
          </a:bodyPr>
          <a:lstStyle/>
          <a:p>
            <a:pPr algn="l">
              <a:spcAft>
                <a:spcPts val="0"/>
              </a:spcAft>
            </a:pPr>
            <a:r>
              <a:rPr sz="5400" b="0">
                <a:solidFill>
                  <a:srgbClr val="F36406"/>
                </a:solidFill>
                <a:latin typeface="Arial Black"/>
              </a:rPr>
              <a:t>03</a:t>
            </a:r>
          </a:p>
        </p:txBody>
      </p:sp>
      <p:sp>
        <p:nvSpPr>
          <p:cNvPr id="4" name="TextBox 3"/>
          <p:cNvSpPr txBox="1"/>
          <p:nvPr/>
        </p:nvSpPr>
        <p:spPr>
          <a:xfrm>
            <a:off x="566928" y="3520440"/>
            <a:ext cx="11055096" cy="640080"/>
          </a:xfrm>
          <a:prstGeom prst="rect">
            <a:avLst/>
          </a:prstGeom>
          <a:noFill/>
        </p:spPr>
        <p:txBody>
          <a:bodyPr wrap="square" lIns="0" rIns="0" tIns="0" bIns="0">
            <a:spAutoFit/>
          </a:bodyPr>
          <a:lstStyle/>
          <a:p>
            <a:pPr algn="l">
              <a:spcAft>
                <a:spcPts val="0"/>
              </a:spcAft>
            </a:pPr>
            <a:r>
              <a:rPr sz="3000" b="0">
                <a:solidFill>
                  <a:srgbClr val="000000"/>
                </a:solidFill>
                <a:latin typeface="Arial Black"/>
              </a:rPr>
              <a:t>QUÉ PROMETE LA CRIPTOGRAFÍA</a:t>
            </a:r>
          </a:p>
        </p:txBody>
      </p:sp>
      <p:sp>
        <p:nvSpPr>
          <p:cNvPr id="5" name="Rectangle 4"/>
          <p:cNvSpPr/>
          <p:nvPr/>
        </p:nvSpPr>
        <p:spPr>
          <a:xfrm>
            <a:off x="566928" y="4315968"/>
            <a:ext cx="155448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4526280"/>
            <a:ext cx="10058400" cy="457200"/>
          </a:xfrm>
          <a:prstGeom prst="rect">
            <a:avLst/>
          </a:prstGeom>
          <a:noFill/>
        </p:spPr>
        <p:txBody>
          <a:bodyPr wrap="square" lIns="0" rIns="0" tIns="0" bIns="0">
            <a:spAutoFit/>
          </a:bodyPr>
          <a:lstStyle/>
          <a:p>
            <a:pPr algn="l">
              <a:lnSpc>
                <a:spcPct val="130000"/>
              </a:lnSpc>
              <a:spcAft>
                <a:spcPts val="0"/>
              </a:spcAft>
            </a:pPr>
            <a:r>
              <a:rPr sz="1200" b="0">
                <a:solidFill>
                  <a:srgbClr val="5C5C5C"/>
                </a:solidFill>
                <a:latin typeface="Arial"/>
              </a:rPr>
              <a:t>Cuatro servicios distintos que no se sustituyen entre sí</a:t>
            </a:r>
          </a:p>
        </p:txBody>
      </p:sp>
      <p:sp>
        <p:nvSpPr>
          <p:cNvPr id="7" name="Rectangle 6"/>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1-1.png"/>
          <p:cNvPicPr>
            <a:picLocks noChangeAspect="1"/>
          </p:cNvPicPr>
          <p:nvPr/>
        </p:nvPicPr>
        <p:blipFill>
          <a:blip r:embed="rId2"/>
          <a:stretch>
            <a:fillRect/>
          </a:stretch>
        </p:blipFill>
        <p:spPr>
          <a:xfrm>
            <a:off x="566928" y="6336792"/>
            <a:ext cx="566928" cy="246888"/>
          </a:xfrm>
          <a:prstGeom prst="rect">
            <a:avLst/>
          </a:prstGeom>
        </p:spPr>
      </p:pic>
      <p:sp>
        <p:nvSpPr>
          <p:cNvPr id="9" name="TextBox 8"/>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10" name="TextBox 9"/>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13  VOCABULARIO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EL VOCABULARIO MÍNIMO DEL MÓDULO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18</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Seis sesiones hablando de lo mismo exigen usar las palabras con precisión. Estas son las que se usan en todo el módulo y el sentido exacto en que se usan: la mitad de los malentendidos de una auditoría empiezan aquí.</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264943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TÉRMINO</a:t>
            </a:r>
          </a:p>
        </p:txBody>
      </p:sp>
      <p:sp>
        <p:nvSpPr>
          <p:cNvPr id="12" name="TextBox 11"/>
          <p:cNvSpPr txBox="1"/>
          <p:nvPr/>
        </p:nvSpPr>
        <p:spPr>
          <a:xfrm>
            <a:off x="3380952" y="2423159"/>
            <a:ext cx="4156945"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SIGNIFICA AQUÍ</a:t>
            </a:r>
          </a:p>
        </p:txBody>
      </p:sp>
      <p:sp>
        <p:nvSpPr>
          <p:cNvPr id="13" name="TextBox 12"/>
          <p:cNvSpPr txBox="1"/>
          <p:nvPr/>
        </p:nvSpPr>
        <p:spPr>
          <a:xfrm>
            <a:off x="7702489" y="2423159"/>
            <a:ext cx="375494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EJEMPLO EN EL CASO</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2649432"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Texto claro y texto cifrado</a:t>
            </a:r>
          </a:p>
        </p:txBody>
      </p:sp>
      <p:sp>
        <p:nvSpPr>
          <p:cNvPr id="16" name="TextBox 15"/>
          <p:cNvSpPr txBox="1"/>
          <p:nvPr/>
        </p:nvSpPr>
        <p:spPr>
          <a:xfrm>
            <a:off x="3380952" y="2825495"/>
            <a:ext cx="415694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dato legible, y el mismo dato después de cifrarlo. Al cifrado también se le llama criptograma</a:t>
            </a:r>
          </a:p>
        </p:txBody>
      </p:sp>
      <p:sp>
        <p:nvSpPr>
          <p:cNvPr id="17" name="TextBox 16"/>
          <p:cNvSpPr txBox="1"/>
          <p:nvPr/>
        </p:nvSpPr>
        <p:spPr>
          <a:xfrm>
            <a:off x="7702489" y="2825495"/>
            <a:ext cx="375494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volcado de la base antes y después del guion de respaldo</a:t>
            </a:r>
          </a:p>
        </p:txBody>
      </p:sp>
      <p:sp>
        <p:nvSpPr>
          <p:cNvPr id="18" name="Rectangle 17"/>
          <p:cNvSpPr/>
          <p:nvPr/>
        </p:nvSpPr>
        <p:spPr>
          <a:xfrm>
            <a:off x="566928" y="32739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365357"/>
            <a:ext cx="2649432"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Algoritmo o cifra</a:t>
            </a:r>
          </a:p>
        </p:txBody>
      </p:sp>
      <p:sp>
        <p:nvSpPr>
          <p:cNvPr id="20" name="TextBox 19"/>
          <p:cNvSpPr txBox="1"/>
          <p:nvPr/>
        </p:nvSpPr>
        <p:spPr>
          <a:xfrm>
            <a:off x="3380952" y="3365357"/>
            <a:ext cx="415694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procedimiento. Se publica y se estudia: por Kerckhoffs, no es secreto</a:t>
            </a:r>
          </a:p>
        </p:txBody>
      </p:sp>
      <p:sp>
        <p:nvSpPr>
          <p:cNvPr id="21" name="TextBox 20"/>
          <p:cNvSpPr txBox="1"/>
          <p:nvPr/>
        </p:nvSpPr>
        <p:spPr>
          <a:xfrm>
            <a:off x="7702489" y="3365357"/>
            <a:ext cx="375494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AES-256 en el respaldo, SHA-1 en las contraseñas</a:t>
            </a:r>
          </a:p>
        </p:txBody>
      </p:sp>
      <p:sp>
        <p:nvSpPr>
          <p:cNvPr id="22" name="Rectangle 21"/>
          <p:cNvSpPr/>
          <p:nvPr/>
        </p:nvSpPr>
        <p:spPr>
          <a:xfrm>
            <a:off x="566928" y="381377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905219"/>
            <a:ext cx="2649432"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Llave</a:t>
            </a:r>
          </a:p>
        </p:txBody>
      </p:sp>
      <p:sp>
        <p:nvSpPr>
          <p:cNvPr id="24" name="TextBox 23"/>
          <p:cNvSpPr txBox="1"/>
          <p:nvPr/>
        </p:nvSpPr>
        <p:spPr>
          <a:xfrm>
            <a:off x="3380952" y="3905219"/>
            <a:ext cx="415694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único dato secreto. Toda la seguridad descansa en ella</a:t>
            </a:r>
          </a:p>
        </p:txBody>
      </p:sp>
      <p:sp>
        <p:nvSpPr>
          <p:cNvPr id="25" name="TextBox 24"/>
          <p:cNvSpPr txBox="1"/>
          <p:nvPr/>
        </p:nvSpPr>
        <p:spPr>
          <a:xfrm>
            <a:off x="7702489" y="3905219"/>
            <a:ext cx="375494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del respaldo, guardada en un archivo de texto al lado</a:t>
            </a:r>
          </a:p>
        </p:txBody>
      </p:sp>
      <p:sp>
        <p:nvSpPr>
          <p:cNvPr id="26" name="Rectangle 25"/>
          <p:cNvSpPr/>
          <p:nvPr/>
        </p:nvSpPr>
        <p:spPr>
          <a:xfrm>
            <a:off x="566928" y="435364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445081"/>
            <a:ext cx="2649432"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Espacio de llaves</a:t>
            </a:r>
          </a:p>
        </p:txBody>
      </p:sp>
      <p:sp>
        <p:nvSpPr>
          <p:cNvPr id="28" name="TextBox 27"/>
          <p:cNvSpPr txBox="1"/>
          <p:nvPr/>
        </p:nvSpPr>
        <p:spPr>
          <a:xfrm>
            <a:off x="3380952" y="4445081"/>
            <a:ext cx="415694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Cuántas llaves posibles admite el algoritmo. Se expresa en bits</a:t>
            </a:r>
          </a:p>
        </p:txBody>
      </p:sp>
      <p:sp>
        <p:nvSpPr>
          <p:cNvPr id="29" name="TextBox 28"/>
          <p:cNvSpPr txBox="1"/>
          <p:nvPr/>
        </p:nvSpPr>
        <p:spPr>
          <a:xfrm>
            <a:off x="7702489" y="4445081"/>
            <a:ext cx="375494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256 bits en el respaldo: tamaño correcto, custodia pésima</a:t>
            </a:r>
          </a:p>
        </p:txBody>
      </p:sp>
      <p:sp>
        <p:nvSpPr>
          <p:cNvPr id="30" name="Rectangle 29"/>
          <p:cNvSpPr/>
          <p:nvPr/>
        </p:nvSpPr>
        <p:spPr>
          <a:xfrm>
            <a:off x="566928" y="489350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984943"/>
            <a:ext cx="2649432"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Criptografía, criptoanálisis y criptología</a:t>
            </a:r>
          </a:p>
        </p:txBody>
      </p:sp>
      <p:sp>
        <p:nvSpPr>
          <p:cNvPr id="32" name="TextBox 31"/>
          <p:cNvSpPr txBox="1"/>
          <p:nvPr/>
        </p:nvSpPr>
        <p:spPr>
          <a:xfrm>
            <a:off x="3380952" y="4984943"/>
            <a:ext cx="415694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Diseñar sistemas; atacarlos; y la disciplina que abarca las dos</a:t>
            </a:r>
          </a:p>
        </p:txBody>
      </p:sp>
      <p:sp>
        <p:nvSpPr>
          <p:cNvPr id="33" name="TextBox 32"/>
          <p:cNvSpPr txBox="1"/>
          <p:nvPr/>
        </p:nvSpPr>
        <p:spPr>
          <a:xfrm>
            <a:off x="7702489" y="4984943"/>
            <a:ext cx="375494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Este módulo es criptografía aplicada con criterio de criptoanalista</a:t>
            </a:r>
          </a:p>
        </p:txBody>
      </p:sp>
      <p:sp>
        <p:nvSpPr>
          <p:cNvPr id="34" name="Rectangle 33"/>
          <p:cNvSpPr/>
          <p:nvPr/>
        </p:nvSpPr>
        <p:spPr>
          <a:xfrm>
            <a:off x="566928" y="5433364"/>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6928" y="5524804"/>
            <a:ext cx="2649432"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Ataque</a:t>
            </a:r>
          </a:p>
        </p:txBody>
      </p:sp>
      <p:sp>
        <p:nvSpPr>
          <p:cNvPr id="36" name="TextBox 35"/>
          <p:cNvSpPr txBox="1"/>
          <p:nvPr/>
        </p:nvSpPr>
        <p:spPr>
          <a:xfrm>
            <a:off x="3380952" y="5524804"/>
            <a:ext cx="415694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Cualquier forma de obtener lo protegido sin tener la llave, no solo probar llaves</a:t>
            </a:r>
          </a:p>
        </p:txBody>
      </p:sp>
      <p:sp>
        <p:nvSpPr>
          <p:cNvPr id="37" name="TextBox 36"/>
          <p:cNvSpPr txBox="1"/>
          <p:nvPr/>
        </p:nvSpPr>
        <p:spPr>
          <a:xfrm>
            <a:off x="7702489" y="5524804"/>
            <a:ext cx="375494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Descompilar la aplicación para sacar la llave de firma</a:t>
            </a:r>
          </a:p>
        </p:txBody>
      </p:sp>
      <p:sp>
        <p:nvSpPr>
          <p:cNvPr id="38" name="Rectangle 37"/>
          <p:cNvSpPr/>
          <p:nvPr/>
        </p:nvSpPr>
        <p:spPr>
          <a:xfrm>
            <a:off x="566928" y="5973226"/>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66928" y="6028090"/>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14  VOCABULARIO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200" b="0">
                <a:solidFill>
                  <a:srgbClr val="000000"/>
                </a:solidFill>
                <a:latin typeface="Arial Black"/>
              </a:rPr>
              <a:t>CODIFICAR, CIFRAR, RESUMIR Y FIRMAR NO SON LO MISMO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19</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Cuatro operaciones que transforman datos y que se confunden todo el tiempo, incluso en informes de auditoría. La diferencia está en tres preguntas: si usan llave, si se pueden revertir y qué garantizan.</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2749933"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OPERACIÓN</a:t>
            </a:r>
          </a:p>
        </p:txBody>
      </p:sp>
      <p:sp>
        <p:nvSpPr>
          <p:cNvPr id="12" name="TextBox 11"/>
          <p:cNvSpPr txBox="1"/>
          <p:nvPr/>
        </p:nvSpPr>
        <p:spPr>
          <a:xfrm>
            <a:off x="3481453" y="2423159"/>
            <a:ext cx="1342921"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¿USA LLAVE?</a:t>
            </a:r>
          </a:p>
        </p:txBody>
      </p:sp>
      <p:sp>
        <p:nvSpPr>
          <p:cNvPr id="13" name="TextBox 12"/>
          <p:cNvSpPr txBox="1"/>
          <p:nvPr/>
        </p:nvSpPr>
        <p:spPr>
          <a:xfrm>
            <a:off x="4988966" y="2423159"/>
            <a:ext cx="264943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¿SE PUEDE REVERTIR?</a:t>
            </a:r>
          </a:p>
        </p:txBody>
      </p:sp>
      <p:sp>
        <p:nvSpPr>
          <p:cNvPr id="14" name="TextBox 13"/>
          <p:cNvSpPr txBox="1"/>
          <p:nvPr/>
        </p:nvSpPr>
        <p:spPr>
          <a:xfrm>
            <a:off x="7802990" y="2423159"/>
            <a:ext cx="3654441"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GARANTIZA</a:t>
            </a:r>
          </a:p>
        </p:txBody>
      </p:sp>
      <p:sp>
        <p:nvSpPr>
          <p:cNvPr id="15" name="Rectangle 14"/>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825495"/>
            <a:ext cx="2749933"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Codificar · Base64, hexadecimal</a:t>
            </a:r>
          </a:p>
        </p:txBody>
      </p:sp>
      <p:sp>
        <p:nvSpPr>
          <p:cNvPr id="17" name="TextBox 16"/>
          <p:cNvSpPr txBox="1"/>
          <p:nvPr/>
        </p:nvSpPr>
        <p:spPr>
          <a:xfrm>
            <a:off x="3481453" y="2825495"/>
            <a:ext cx="134292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No</a:t>
            </a:r>
          </a:p>
        </p:txBody>
      </p:sp>
      <p:sp>
        <p:nvSpPr>
          <p:cNvPr id="18" name="TextBox 17"/>
          <p:cNvSpPr txBox="1"/>
          <p:nvPr/>
        </p:nvSpPr>
        <p:spPr>
          <a:xfrm>
            <a:off x="4988966" y="2825495"/>
            <a:ext cx="264943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Sí: cualquiera, sin ningún secreto</a:t>
            </a:r>
          </a:p>
        </p:txBody>
      </p:sp>
      <p:sp>
        <p:nvSpPr>
          <p:cNvPr id="19" name="TextBox 18"/>
          <p:cNvSpPr txBox="1"/>
          <p:nvPr/>
        </p:nvSpPr>
        <p:spPr>
          <a:xfrm>
            <a:off x="7802990" y="2825495"/>
            <a:ext cx="365444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Nada. Solo cambia la representación para que el dato viaje o se almacene</a:t>
            </a:r>
          </a:p>
        </p:txBody>
      </p:sp>
      <p:sp>
        <p:nvSpPr>
          <p:cNvPr id="20" name="Rectangle 19"/>
          <p:cNvSpPr/>
          <p:nvPr/>
        </p:nvSpPr>
        <p:spPr>
          <a:xfrm>
            <a:off x="566928" y="32739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365357"/>
            <a:ext cx="2749933" cy="40233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Cifrar</a:t>
            </a:r>
          </a:p>
        </p:txBody>
      </p:sp>
      <p:sp>
        <p:nvSpPr>
          <p:cNvPr id="22" name="TextBox 21"/>
          <p:cNvSpPr txBox="1"/>
          <p:nvPr/>
        </p:nvSpPr>
        <p:spPr>
          <a:xfrm>
            <a:off x="3481453" y="3365357"/>
            <a:ext cx="1342921"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Sí</a:t>
            </a:r>
          </a:p>
        </p:txBody>
      </p:sp>
      <p:sp>
        <p:nvSpPr>
          <p:cNvPr id="23" name="TextBox 22"/>
          <p:cNvSpPr txBox="1"/>
          <p:nvPr/>
        </p:nvSpPr>
        <p:spPr>
          <a:xfrm>
            <a:off x="4988966" y="3365357"/>
            <a:ext cx="2649432"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Sí, pero solo quien tiene la llave</a:t>
            </a:r>
          </a:p>
        </p:txBody>
      </p:sp>
      <p:sp>
        <p:nvSpPr>
          <p:cNvPr id="24" name="TextBox 23"/>
          <p:cNvSpPr txBox="1"/>
          <p:nvPr/>
        </p:nvSpPr>
        <p:spPr>
          <a:xfrm>
            <a:off x="7802990" y="3365357"/>
            <a:ext cx="3654441"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Confidencialidad</a:t>
            </a:r>
          </a:p>
        </p:txBody>
      </p:sp>
      <p:sp>
        <p:nvSpPr>
          <p:cNvPr id="25" name="Rectangle 24"/>
          <p:cNvSpPr/>
          <p:nvPr/>
        </p:nvSpPr>
        <p:spPr>
          <a:xfrm>
            <a:off x="566928" y="37311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822557"/>
            <a:ext cx="2749933"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Resumir</a:t>
            </a:r>
          </a:p>
        </p:txBody>
      </p:sp>
      <p:sp>
        <p:nvSpPr>
          <p:cNvPr id="27" name="TextBox 26"/>
          <p:cNvSpPr txBox="1"/>
          <p:nvPr/>
        </p:nvSpPr>
        <p:spPr>
          <a:xfrm>
            <a:off x="3481453" y="3822557"/>
            <a:ext cx="134292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No</a:t>
            </a:r>
          </a:p>
        </p:txBody>
      </p:sp>
      <p:sp>
        <p:nvSpPr>
          <p:cNvPr id="28" name="TextBox 27"/>
          <p:cNvSpPr txBox="1"/>
          <p:nvPr/>
        </p:nvSpPr>
        <p:spPr>
          <a:xfrm>
            <a:off x="4988966" y="3822557"/>
            <a:ext cx="264943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No: es de un solo sentido</a:t>
            </a:r>
          </a:p>
        </p:txBody>
      </p:sp>
      <p:sp>
        <p:nvSpPr>
          <p:cNvPr id="29" name="TextBox 28"/>
          <p:cNvSpPr txBox="1"/>
          <p:nvPr/>
        </p:nvSpPr>
        <p:spPr>
          <a:xfrm>
            <a:off x="7802990" y="3822557"/>
            <a:ext cx="365444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Integridad, siempre que el resumen mismo esté protegido</a:t>
            </a:r>
          </a:p>
        </p:txBody>
      </p:sp>
      <p:sp>
        <p:nvSpPr>
          <p:cNvPr id="30" name="Rectangle 29"/>
          <p:cNvSpPr/>
          <p:nvPr/>
        </p:nvSpPr>
        <p:spPr>
          <a:xfrm>
            <a:off x="566928" y="427097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362419"/>
            <a:ext cx="2749933"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Firmar</a:t>
            </a:r>
          </a:p>
        </p:txBody>
      </p:sp>
      <p:sp>
        <p:nvSpPr>
          <p:cNvPr id="32" name="TextBox 31"/>
          <p:cNvSpPr txBox="1"/>
          <p:nvPr/>
        </p:nvSpPr>
        <p:spPr>
          <a:xfrm>
            <a:off x="3481453" y="4362419"/>
            <a:ext cx="134292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Sí, la privada</a:t>
            </a:r>
          </a:p>
        </p:txBody>
      </p:sp>
      <p:sp>
        <p:nvSpPr>
          <p:cNvPr id="33" name="TextBox 32"/>
          <p:cNvSpPr txBox="1"/>
          <p:nvPr/>
        </p:nvSpPr>
        <p:spPr>
          <a:xfrm>
            <a:off x="4988966" y="4362419"/>
            <a:ext cx="264943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No se revierte: se verifica con la pública</a:t>
            </a:r>
          </a:p>
        </p:txBody>
      </p:sp>
      <p:sp>
        <p:nvSpPr>
          <p:cNvPr id="34" name="TextBox 33"/>
          <p:cNvSpPr txBox="1"/>
          <p:nvPr/>
        </p:nvSpPr>
        <p:spPr>
          <a:xfrm>
            <a:off x="7802990" y="4362419"/>
            <a:ext cx="365444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Autenticidad y no repudio</a:t>
            </a:r>
          </a:p>
        </p:txBody>
      </p:sp>
      <p:sp>
        <p:nvSpPr>
          <p:cNvPr id="35" name="Rectangle 34"/>
          <p:cNvSpPr/>
          <p:nvPr/>
        </p:nvSpPr>
        <p:spPr>
          <a:xfrm>
            <a:off x="566928" y="481084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4865705"/>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66928" y="5167457"/>
            <a:ext cx="45720" cy="84124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4672" y="5185745"/>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EL HALLAZGO QUE APARECE EN CASI TODA AUDITORÍA</a:t>
            </a:r>
          </a:p>
        </p:txBody>
      </p:sp>
      <p:sp>
        <p:nvSpPr>
          <p:cNvPr id="39" name="TextBox 38"/>
          <p:cNvSpPr txBox="1"/>
          <p:nvPr/>
        </p:nvSpPr>
        <p:spPr>
          <a:xfrm>
            <a:off x="804672" y="5423489"/>
            <a:ext cx="10780776" cy="56692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Un campo en Base64 no está cifrado: cualquiera lo lee en un segundo, sin llave y sin herramientas especiales. Aparece en bases de datos, en cookies y en archivos de configuración, casi siempre junto a la frase «la contraseña está encriptada». </a:t>
            </a:r>
            <a:r>
              <a:rPr sz="1150" b="1">
                <a:solidFill>
                  <a:srgbClr val="2A2A2A"/>
                </a:solidFill>
                <a:latin typeface="Arial"/>
              </a:rPr>
              <a:t>Esa frase es la primera que hay que verificar.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15  MARCO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NO ES UNA PROMESA, SON CUATRO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20</a:t>
            </a:r>
          </a:p>
        </p:txBody>
      </p:sp>
      <p:sp>
        <p:nvSpPr>
          <p:cNvPr id="9" name="TextBox 8"/>
          <p:cNvSpPr txBox="1"/>
          <p:nvPr/>
        </p:nvSpPr>
        <p:spPr>
          <a:xfrm>
            <a:off x="566928" y="1554480"/>
            <a:ext cx="11055096" cy="237744"/>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«Cifrado» no significa «protegido»: la criptografía presta cuatro servicios distintos, y cada uno exige su propio mecanismo.</a:t>
            </a:r>
          </a:p>
        </p:txBody>
      </p:sp>
      <p:sp>
        <p:nvSpPr>
          <p:cNvPr id="10" name="Rectangle 9"/>
          <p:cNvSpPr/>
          <p:nvPr/>
        </p:nvSpPr>
        <p:spPr>
          <a:xfrm>
            <a:off x="566928" y="2066543"/>
            <a:ext cx="5353812" cy="1828800"/>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2176272"/>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CONFIDENCIALIDAD</a:t>
            </a:r>
          </a:p>
        </p:txBody>
      </p:sp>
      <p:sp>
        <p:nvSpPr>
          <p:cNvPr id="12" name="TextBox 11"/>
          <p:cNvSpPr txBox="1"/>
          <p:nvPr/>
        </p:nvSpPr>
        <p:spPr>
          <a:xfrm>
            <a:off x="786384" y="2395727"/>
            <a:ext cx="4914900" cy="137160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Que solo pueda leerlo quien deba.</a:t>
            </a:r>
          </a:p>
          <a:p>
            <a:pPr algn="l">
              <a:lnSpc>
                <a:spcPct val="128000"/>
              </a:lnSpc>
              <a:spcAft>
                <a:spcPts val="700"/>
              </a:spcAft>
            </a:pPr>
            <a:r>
              <a:rPr sz="1150" b="0">
                <a:solidFill>
                  <a:srgbClr val="000000"/>
                </a:solidFill>
                <a:latin typeface="Arial"/>
              </a:rPr>
              <a:t>Se consigue cifrando. Es el único de los cuatro que la mayoría de la gente asocia con la palabra criptografía.</a:t>
            </a:r>
          </a:p>
          <a:p>
            <a:pPr algn="l">
              <a:lnSpc>
                <a:spcPct val="128000"/>
              </a:lnSpc>
              <a:spcAft>
                <a:spcPts val="700"/>
              </a:spcAft>
            </a:pPr>
            <a:r>
              <a:rPr sz="1150" b="0">
                <a:solidFill>
                  <a:srgbClr val="000000"/>
                </a:solidFill>
                <a:latin typeface="Arial"/>
              </a:rPr>
              <a:t>En el caso: el cifrado de disco de los servidores apunta aquí, y aun así falla (H3).</a:t>
            </a:r>
          </a:p>
        </p:txBody>
      </p:sp>
      <p:sp>
        <p:nvSpPr>
          <p:cNvPr id="13" name="Rectangle 12"/>
          <p:cNvSpPr/>
          <p:nvPr/>
        </p:nvSpPr>
        <p:spPr>
          <a:xfrm>
            <a:off x="6268212" y="2066543"/>
            <a:ext cx="5353812" cy="1828800"/>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76272"/>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INTEGRIDAD</a:t>
            </a:r>
          </a:p>
        </p:txBody>
      </p:sp>
      <p:sp>
        <p:nvSpPr>
          <p:cNvPr id="15" name="TextBox 14"/>
          <p:cNvSpPr txBox="1"/>
          <p:nvPr/>
        </p:nvSpPr>
        <p:spPr>
          <a:xfrm>
            <a:off x="6487668" y="2395727"/>
            <a:ext cx="4914900" cy="137160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Que se pueda detectar si fue alterado.</a:t>
            </a:r>
          </a:p>
          <a:p>
            <a:pPr algn="l">
              <a:lnSpc>
                <a:spcPct val="128000"/>
              </a:lnSpc>
              <a:spcAft>
                <a:spcPts val="700"/>
              </a:spcAft>
            </a:pPr>
            <a:r>
              <a:rPr sz="1150" b="0">
                <a:solidFill>
                  <a:srgbClr val="000000"/>
                </a:solidFill>
                <a:latin typeface="Arial"/>
              </a:rPr>
              <a:t>Se consigue con funciones resumen y códigos de autenticación. Cifrar no da integridad por sí solo.</a:t>
            </a:r>
          </a:p>
          <a:p>
            <a:pPr algn="l">
              <a:lnSpc>
                <a:spcPct val="128000"/>
              </a:lnSpc>
              <a:spcAft>
                <a:spcPts val="700"/>
              </a:spcAft>
            </a:pPr>
            <a:r>
              <a:rPr sz="1150" b="0">
                <a:solidFill>
                  <a:srgbClr val="000000"/>
                </a:solidFill>
                <a:latin typeface="Arial"/>
              </a:rPr>
              <a:t>En el caso: nadie puede demostrar que los registros del servidor no fueron modificados.</a:t>
            </a:r>
          </a:p>
        </p:txBody>
      </p:sp>
      <p:sp>
        <p:nvSpPr>
          <p:cNvPr id="16" name="Rectangle 15"/>
          <p:cNvSpPr/>
          <p:nvPr/>
        </p:nvSpPr>
        <p:spPr>
          <a:xfrm>
            <a:off x="566928" y="4169663"/>
            <a:ext cx="5353812" cy="1828800"/>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279392"/>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AUTENTICIDAD</a:t>
            </a:r>
          </a:p>
        </p:txBody>
      </p:sp>
      <p:sp>
        <p:nvSpPr>
          <p:cNvPr id="18" name="TextBox 17"/>
          <p:cNvSpPr txBox="1"/>
          <p:nvPr/>
        </p:nvSpPr>
        <p:spPr>
          <a:xfrm>
            <a:off x="786384" y="4498848"/>
            <a:ext cx="4914900" cy="137160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Que se pueda establecer quién lo originó.</a:t>
            </a:r>
          </a:p>
          <a:p>
            <a:pPr algn="l">
              <a:lnSpc>
                <a:spcPct val="128000"/>
              </a:lnSpc>
              <a:spcAft>
                <a:spcPts val="700"/>
              </a:spcAft>
            </a:pPr>
            <a:r>
              <a:rPr sz="1150" b="0">
                <a:solidFill>
                  <a:srgbClr val="000000"/>
                </a:solidFill>
                <a:latin typeface="Arial"/>
              </a:rPr>
              <a:t>Se consigue con códigos de autenticación de mensajes o con firma digital, según de qué se trate.</a:t>
            </a:r>
          </a:p>
          <a:p>
            <a:pPr algn="l">
              <a:lnSpc>
                <a:spcPct val="128000"/>
              </a:lnSpc>
              <a:spcAft>
                <a:spcPts val="700"/>
              </a:spcAft>
            </a:pPr>
            <a:r>
              <a:rPr sz="1150" b="0">
                <a:solidFill>
                  <a:srgbClr val="000000"/>
                </a:solidFill>
                <a:latin typeface="Arial"/>
              </a:rPr>
              <a:t>En el caso: la aplicación autentica, pero autentica a la aplicación, no al usuario (H2).</a:t>
            </a:r>
          </a:p>
        </p:txBody>
      </p:sp>
      <p:sp>
        <p:nvSpPr>
          <p:cNvPr id="19" name="Rectangle 18"/>
          <p:cNvSpPr/>
          <p:nvPr/>
        </p:nvSpPr>
        <p:spPr>
          <a:xfrm>
            <a:off x="6268212" y="4169663"/>
            <a:ext cx="5353812" cy="1828800"/>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87668" y="4279392"/>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NO REPUDIO</a:t>
            </a:r>
          </a:p>
        </p:txBody>
      </p:sp>
      <p:sp>
        <p:nvSpPr>
          <p:cNvPr id="21" name="TextBox 20"/>
          <p:cNvSpPr txBox="1"/>
          <p:nvPr/>
        </p:nvSpPr>
        <p:spPr>
          <a:xfrm>
            <a:off x="6487668" y="4498848"/>
            <a:ext cx="4914900" cy="137160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Que el autor no pueda negar después haberlo hecho, y que un tercero pueda verificarlo.</a:t>
            </a:r>
          </a:p>
          <a:p>
            <a:pPr algn="l">
              <a:lnSpc>
                <a:spcPct val="128000"/>
              </a:lnSpc>
              <a:spcAft>
                <a:spcPts val="700"/>
              </a:spcAft>
            </a:pPr>
            <a:r>
              <a:rPr sz="1150" b="0">
                <a:solidFill>
                  <a:srgbClr val="000000"/>
                </a:solidFill>
                <a:latin typeface="Arial"/>
              </a:rPr>
              <a:t>Solo se consigue con firma digital y llave privada individual. Nunca con llave compartida.</a:t>
            </a:r>
          </a:p>
          <a:p>
            <a:pPr algn="l">
              <a:lnSpc>
                <a:spcPct val="128000"/>
              </a:lnSpc>
              <a:spcAft>
                <a:spcPts val="700"/>
              </a:spcAft>
            </a:pPr>
            <a:r>
              <a:rPr sz="1150" b="0">
                <a:solidFill>
                  <a:srgbClr val="000000"/>
                </a:solidFill>
                <a:latin typeface="Arial"/>
              </a:rPr>
              <a:t>En el caso: es el servicio ausente, y por eso el abogado se quedó sin respuesta.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16  DIFERENCIAS</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CÓMO SE CONSIGUE CADA UNO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21</a:t>
            </a:r>
          </a:p>
        </p:txBody>
      </p:sp>
      <p:sp>
        <p:nvSpPr>
          <p:cNvPr id="9" name="Rectangle 8"/>
          <p:cNvSpPr/>
          <p:nvPr/>
        </p:nvSpPr>
        <p:spPr>
          <a:xfrm>
            <a:off x="566928" y="1554480"/>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673352"/>
            <a:ext cx="1642491"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SERVICIO</a:t>
            </a:r>
          </a:p>
        </p:txBody>
      </p:sp>
      <p:sp>
        <p:nvSpPr>
          <p:cNvPr id="11" name="TextBox 10"/>
          <p:cNvSpPr txBox="1"/>
          <p:nvPr/>
        </p:nvSpPr>
        <p:spPr>
          <a:xfrm>
            <a:off x="2374011" y="1673352"/>
            <a:ext cx="3024377"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MECANISMO</a:t>
            </a:r>
          </a:p>
        </p:txBody>
      </p:sp>
      <p:sp>
        <p:nvSpPr>
          <p:cNvPr id="12" name="TextBox 11"/>
          <p:cNvSpPr txBox="1"/>
          <p:nvPr/>
        </p:nvSpPr>
        <p:spPr>
          <a:xfrm>
            <a:off x="5562980" y="1673352"/>
            <a:ext cx="259918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PREGUNTA QUE RESPONDE</a:t>
            </a:r>
          </a:p>
        </p:txBody>
      </p:sp>
      <p:sp>
        <p:nvSpPr>
          <p:cNvPr id="13" name="TextBox 12"/>
          <p:cNvSpPr txBox="1"/>
          <p:nvPr/>
        </p:nvSpPr>
        <p:spPr>
          <a:xfrm>
            <a:off x="8326754" y="1673352"/>
            <a:ext cx="3130676"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SI FALTA…</a:t>
            </a:r>
          </a:p>
        </p:txBody>
      </p:sp>
      <p:sp>
        <p:nvSpPr>
          <p:cNvPr id="14" name="Rectangle 13"/>
          <p:cNvSpPr/>
          <p:nvPr/>
        </p:nvSpPr>
        <p:spPr>
          <a:xfrm>
            <a:off x="566928" y="1965960"/>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075688"/>
            <a:ext cx="1642491" cy="40233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Confidencialidad</a:t>
            </a:r>
          </a:p>
        </p:txBody>
      </p:sp>
      <p:sp>
        <p:nvSpPr>
          <p:cNvPr id="16" name="TextBox 15"/>
          <p:cNvSpPr txBox="1"/>
          <p:nvPr/>
        </p:nvSpPr>
        <p:spPr>
          <a:xfrm>
            <a:off x="2374011" y="2075688"/>
            <a:ext cx="3024377"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Cifrado simétrico o asimétrico</a:t>
            </a:r>
          </a:p>
        </p:txBody>
      </p:sp>
      <p:sp>
        <p:nvSpPr>
          <p:cNvPr id="17" name="TextBox 16"/>
          <p:cNvSpPr txBox="1"/>
          <p:nvPr/>
        </p:nvSpPr>
        <p:spPr>
          <a:xfrm>
            <a:off x="5562980" y="2075688"/>
            <a:ext cx="2599182"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¿Quién puede leerlo?</a:t>
            </a:r>
          </a:p>
        </p:txBody>
      </p:sp>
      <p:sp>
        <p:nvSpPr>
          <p:cNvPr id="18" name="TextBox 17"/>
          <p:cNvSpPr txBox="1"/>
          <p:nvPr/>
        </p:nvSpPr>
        <p:spPr>
          <a:xfrm>
            <a:off x="8326754" y="2075688"/>
            <a:ext cx="3130676"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Cualquiera que acceda al dato lo entiende</a:t>
            </a:r>
          </a:p>
        </p:txBody>
      </p:sp>
      <p:sp>
        <p:nvSpPr>
          <p:cNvPr id="19" name="Rectangle 18"/>
          <p:cNvSpPr/>
          <p:nvPr/>
        </p:nvSpPr>
        <p:spPr>
          <a:xfrm>
            <a:off x="566928" y="2441448"/>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2532888"/>
            <a:ext cx="1642491"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Integridad</a:t>
            </a:r>
          </a:p>
        </p:txBody>
      </p:sp>
      <p:sp>
        <p:nvSpPr>
          <p:cNvPr id="21" name="TextBox 20"/>
          <p:cNvSpPr txBox="1"/>
          <p:nvPr/>
        </p:nvSpPr>
        <p:spPr>
          <a:xfrm>
            <a:off x="2374011" y="2532888"/>
            <a:ext cx="3024377"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Funciones resumen, códigos de autenticación</a:t>
            </a:r>
          </a:p>
        </p:txBody>
      </p:sp>
      <p:sp>
        <p:nvSpPr>
          <p:cNvPr id="22" name="TextBox 21"/>
          <p:cNvSpPr txBox="1"/>
          <p:nvPr/>
        </p:nvSpPr>
        <p:spPr>
          <a:xfrm>
            <a:off x="5562980" y="2532888"/>
            <a:ext cx="259918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¿Fue alterado?</a:t>
            </a:r>
          </a:p>
        </p:txBody>
      </p:sp>
      <p:sp>
        <p:nvSpPr>
          <p:cNvPr id="23" name="TextBox 22"/>
          <p:cNvSpPr txBox="1"/>
          <p:nvPr/>
        </p:nvSpPr>
        <p:spPr>
          <a:xfrm>
            <a:off x="8326754" y="2532888"/>
            <a:ext cx="3130676"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No se puede distinguir el original de la copia manipulada</a:t>
            </a:r>
          </a:p>
        </p:txBody>
      </p:sp>
      <p:sp>
        <p:nvSpPr>
          <p:cNvPr id="24" name="Rectangle 23"/>
          <p:cNvSpPr/>
          <p:nvPr/>
        </p:nvSpPr>
        <p:spPr>
          <a:xfrm>
            <a:off x="566928" y="298130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3072749"/>
            <a:ext cx="1642491" cy="40233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Autenticidad</a:t>
            </a:r>
          </a:p>
        </p:txBody>
      </p:sp>
      <p:sp>
        <p:nvSpPr>
          <p:cNvPr id="26" name="TextBox 25"/>
          <p:cNvSpPr txBox="1"/>
          <p:nvPr/>
        </p:nvSpPr>
        <p:spPr>
          <a:xfrm>
            <a:off x="2374011" y="3072749"/>
            <a:ext cx="3024377"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Códigos de autenticación o firma digital</a:t>
            </a:r>
          </a:p>
        </p:txBody>
      </p:sp>
      <p:sp>
        <p:nvSpPr>
          <p:cNvPr id="27" name="TextBox 26"/>
          <p:cNvSpPr txBox="1"/>
          <p:nvPr/>
        </p:nvSpPr>
        <p:spPr>
          <a:xfrm>
            <a:off x="5562980" y="3072749"/>
            <a:ext cx="2599182"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¿Quién lo originó?</a:t>
            </a:r>
          </a:p>
        </p:txBody>
      </p:sp>
      <p:sp>
        <p:nvSpPr>
          <p:cNvPr id="28" name="TextBox 27"/>
          <p:cNvSpPr txBox="1"/>
          <p:nvPr/>
        </p:nvSpPr>
        <p:spPr>
          <a:xfrm>
            <a:off x="8326754" y="3072749"/>
            <a:ext cx="3130676"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Cualquiera puede hacerse pasar por otro</a:t>
            </a:r>
          </a:p>
        </p:txBody>
      </p:sp>
      <p:sp>
        <p:nvSpPr>
          <p:cNvPr id="29" name="Rectangle 28"/>
          <p:cNvSpPr/>
          <p:nvPr/>
        </p:nvSpPr>
        <p:spPr>
          <a:xfrm>
            <a:off x="566928" y="343850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6928" y="3529949"/>
            <a:ext cx="1642491" cy="40233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No repudio</a:t>
            </a:r>
          </a:p>
        </p:txBody>
      </p:sp>
      <p:sp>
        <p:nvSpPr>
          <p:cNvPr id="31" name="TextBox 30"/>
          <p:cNvSpPr txBox="1"/>
          <p:nvPr/>
        </p:nvSpPr>
        <p:spPr>
          <a:xfrm>
            <a:off x="2374011" y="3529949"/>
            <a:ext cx="3024377"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Firma digital con llave privada individual</a:t>
            </a:r>
          </a:p>
        </p:txBody>
      </p:sp>
      <p:sp>
        <p:nvSpPr>
          <p:cNvPr id="32" name="TextBox 31"/>
          <p:cNvSpPr txBox="1"/>
          <p:nvPr/>
        </p:nvSpPr>
        <p:spPr>
          <a:xfrm>
            <a:off x="5562980" y="3529949"/>
            <a:ext cx="2599182"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¿Puede negarlo después?</a:t>
            </a:r>
          </a:p>
        </p:txBody>
      </p:sp>
      <p:sp>
        <p:nvSpPr>
          <p:cNvPr id="33" name="TextBox 32"/>
          <p:cNvSpPr txBox="1"/>
          <p:nvPr/>
        </p:nvSpPr>
        <p:spPr>
          <a:xfrm>
            <a:off x="8326754" y="3529949"/>
            <a:ext cx="3130676"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No hay prueba oponible ante un tercero</a:t>
            </a:r>
          </a:p>
        </p:txBody>
      </p:sp>
      <p:sp>
        <p:nvSpPr>
          <p:cNvPr id="34" name="Rectangle 33"/>
          <p:cNvSpPr/>
          <p:nvPr/>
        </p:nvSpPr>
        <p:spPr>
          <a:xfrm>
            <a:off x="566928" y="389570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66928" y="3950573"/>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4252325"/>
            <a:ext cx="45720" cy="84124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4672" y="4270613"/>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EL ERROR MÁS CARO DE LA TABLA</a:t>
            </a:r>
          </a:p>
        </p:txBody>
      </p:sp>
      <p:sp>
        <p:nvSpPr>
          <p:cNvPr id="38" name="TextBox 37"/>
          <p:cNvSpPr txBox="1"/>
          <p:nvPr/>
        </p:nvSpPr>
        <p:spPr>
          <a:xfrm>
            <a:off x="804672" y="4508357"/>
            <a:ext cx="10780776" cy="56692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El código de autenticación de mensajes da autenticidad, pero no da no repudio, porque las dos partes comparten la misma llave: cualquiera de las dos pudo haber generado el mensaje. La firma digital sí lo da, porque la llave privada la tiene una sola persona. Coopaburrá eligió lo primero y necesitaba lo segundo.</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17  TALLER</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EJERCICIO RELÁMPAGO: ¿QUÉ SERVICIO FALLÓ?</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22</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Seis situaciones. Tres minutos en parejas. Para cada una, digan cuál de los cuatro servicios falló. Ojo: en algunas falló más de uno, y en una de ellas no falló ninguno.</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60926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N.°</a:t>
            </a:r>
          </a:p>
        </p:txBody>
      </p:sp>
      <p:sp>
        <p:nvSpPr>
          <p:cNvPr id="12" name="TextBox 11"/>
          <p:cNvSpPr txBox="1"/>
          <p:nvPr/>
        </p:nvSpPr>
        <p:spPr>
          <a:xfrm>
            <a:off x="1340784" y="2423159"/>
            <a:ext cx="10116647"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SITUACIÓN</a:t>
            </a:r>
          </a:p>
        </p:txBody>
      </p:sp>
      <p:sp>
        <p:nvSpPr>
          <p:cNvPr id="13" name="Rectangle 12"/>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825495"/>
            <a:ext cx="609264"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1</a:t>
            </a:r>
          </a:p>
        </p:txBody>
      </p:sp>
      <p:sp>
        <p:nvSpPr>
          <p:cNvPr id="15" name="TextBox 14"/>
          <p:cNvSpPr txBox="1"/>
          <p:nvPr/>
        </p:nvSpPr>
        <p:spPr>
          <a:xfrm>
            <a:off x="1340784" y="2825495"/>
            <a:ext cx="10116647"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 proveedor recibe un correo, aparentemente del gerente, pidiendo cambiar la cuenta bancaria para el próximo pago. Lo hace. El dinero se pierde.</a:t>
            </a:r>
          </a:p>
        </p:txBody>
      </p:sp>
      <p:sp>
        <p:nvSpPr>
          <p:cNvPr id="16" name="Rectangle 15"/>
          <p:cNvSpPr/>
          <p:nvPr/>
        </p:nvSpPr>
        <p:spPr>
          <a:xfrm>
            <a:off x="566928" y="32739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365357"/>
            <a:ext cx="609264" cy="420624"/>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2</a:t>
            </a:r>
          </a:p>
        </p:txBody>
      </p:sp>
      <p:sp>
        <p:nvSpPr>
          <p:cNvPr id="18" name="TextBox 17"/>
          <p:cNvSpPr txBox="1"/>
          <p:nvPr/>
        </p:nvSpPr>
        <p:spPr>
          <a:xfrm>
            <a:off x="1340784" y="3365357"/>
            <a:ext cx="10116647" cy="42062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 disco duro con la base de datos de clientes se pierde en un taxi. Estaba cifrado con una llave que solo conoce el área de sistemas.</a:t>
            </a:r>
          </a:p>
        </p:txBody>
      </p:sp>
      <p:sp>
        <p:nvSpPr>
          <p:cNvPr id="19" name="Rectangle 18"/>
          <p:cNvSpPr/>
          <p:nvPr/>
        </p:nvSpPr>
        <p:spPr>
          <a:xfrm>
            <a:off x="566928" y="374940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840845"/>
            <a:ext cx="609264" cy="420624"/>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3</a:t>
            </a:r>
          </a:p>
        </p:txBody>
      </p:sp>
      <p:sp>
        <p:nvSpPr>
          <p:cNvPr id="21" name="TextBox 20"/>
          <p:cNvSpPr txBox="1"/>
          <p:nvPr/>
        </p:nvSpPr>
        <p:spPr>
          <a:xfrm>
            <a:off x="1340784" y="3840845"/>
            <a:ext cx="10116647" cy="42062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Una factura electrónica llega con el valor modificado. El emisor jura que envió otro valor y no hay forma de saber quién tiene razón.</a:t>
            </a:r>
          </a:p>
        </p:txBody>
      </p:sp>
      <p:sp>
        <p:nvSpPr>
          <p:cNvPr id="22" name="Rectangle 21"/>
          <p:cNvSpPr/>
          <p:nvPr/>
        </p:nvSpPr>
        <p:spPr>
          <a:xfrm>
            <a:off x="566928" y="422489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4316333"/>
            <a:ext cx="609264" cy="420624"/>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4</a:t>
            </a:r>
          </a:p>
        </p:txBody>
      </p:sp>
      <p:sp>
        <p:nvSpPr>
          <p:cNvPr id="24" name="TextBox 23"/>
          <p:cNvSpPr txBox="1"/>
          <p:nvPr/>
        </p:nvSpPr>
        <p:spPr>
          <a:xfrm>
            <a:off x="1340784" y="4316333"/>
            <a:ext cx="10116647" cy="42062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 empleado descarga la lista de salarios desde la base de datos de nómina, a la que tiene acceso legítimo de lectura.</a:t>
            </a:r>
          </a:p>
        </p:txBody>
      </p:sp>
      <p:sp>
        <p:nvSpPr>
          <p:cNvPr id="25" name="Rectangle 24"/>
          <p:cNvSpPr/>
          <p:nvPr/>
        </p:nvSpPr>
        <p:spPr>
          <a:xfrm>
            <a:off x="566928" y="470038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4791821"/>
            <a:ext cx="609264"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5</a:t>
            </a:r>
          </a:p>
        </p:txBody>
      </p:sp>
      <p:sp>
        <p:nvSpPr>
          <p:cNvPr id="27" name="TextBox 26"/>
          <p:cNvSpPr txBox="1"/>
          <p:nvPr/>
        </p:nvSpPr>
        <p:spPr>
          <a:xfrm>
            <a:off x="1340784" y="4791821"/>
            <a:ext cx="10116647"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 cliente niega haber autorizado una transferencia. El banco muestra el registro del sistema. El cliente responde que ese registro lo hizo el banco.</a:t>
            </a:r>
          </a:p>
        </p:txBody>
      </p:sp>
      <p:sp>
        <p:nvSpPr>
          <p:cNvPr id="28" name="Rectangle 27"/>
          <p:cNvSpPr/>
          <p:nvPr/>
        </p:nvSpPr>
        <p:spPr>
          <a:xfrm>
            <a:off x="566928" y="524024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5331683"/>
            <a:ext cx="609264" cy="420624"/>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6</a:t>
            </a:r>
          </a:p>
        </p:txBody>
      </p:sp>
      <p:sp>
        <p:nvSpPr>
          <p:cNvPr id="30" name="TextBox 29"/>
          <p:cNvSpPr txBox="1"/>
          <p:nvPr/>
        </p:nvSpPr>
        <p:spPr>
          <a:xfrm>
            <a:off x="1340784" y="5331683"/>
            <a:ext cx="10116647" cy="42062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Alguien intercepta el tráfico entre la aplicación y el servidor. Va cifrado con TLS 1.3 y no logra leer nada.</a:t>
            </a:r>
          </a:p>
        </p:txBody>
      </p:sp>
      <p:sp>
        <p:nvSpPr>
          <p:cNvPr id="31" name="Rectangle 30"/>
          <p:cNvSpPr/>
          <p:nvPr/>
        </p:nvSpPr>
        <p:spPr>
          <a:xfrm>
            <a:off x="566928" y="571573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 y="5770595"/>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18  TALLER</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RESPUESTAS Y POR QUÉ</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23</a:t>
            </a:r>
          </a:p>
        </p:txBody>
      </p:sp>
      <p:sp>
        <p:nvSpPr>
          <p:cNvPr id="9" name="Rectangle 8"/>
          <p:cNvSpPr/>
          <p:nvPr/>
        </p:nvSpPr>
        <p:spPr>
          <a:xfrm>
            <a:off x="566928" y="1554480"/>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673352"/>
            <a:ext cx="60926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N.°</a:t>
            </a:r>
          </a:p>
        </p:txBody>
      </p:sp>
      <p:sp>
        <p:nvSpPr>
          <p:cNvPr id="11" name="TextBox 10"/>
          <p:cNvSpPr txBox="1"/>
          <p:nvPr/>
        </p:nvSpPr>
        <p:spPr>
          <a:xfrm>
            <a:off x="1340784" y="1673352"/>
            <a:ext cx="2378080"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SERVICIO QUE FALLÓ</a:t>
            </a:r>
          </a:p>
        </p:txBody>
      </p:sp>
      <p:sp>
        <p:nvSpPr>
          <p:cNvPr id="12" name="TextBox 11"/>
          <p:cNvSpPr txBox="1"/>
          <p:nvPr/>
        </p:nvSpPr>
        <p:spPr>
          <a:xfrm>
            <a:off x="3883456" y="1673352"/>
            <a:ext cx="7573975"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POR QUÉ</a:t>
            </a:r>
          </a:p>
        </p:txBody>
      </p:sp>
      <p:sp>
        <p:nvSpPr>
          <p:cNvPr id="13" name="Rectangle 12"/>
          <p:cNvSpPr/>
          <p:nvPr/>
        </p:nvSpPr>
        <p:spPr>
          <a:xfrm>
            <a:off x="566928" y="1965960"/>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075688"/>
            <a:ext cx="609264"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1</a:t>
            </a:r>
          </a:p>
        </p:txBody>
      </p:sp>
      <p:sp>
        <p:nvSpPr>
          <p:cNvPr id="15" name="TextBox 14"/>
          <p:cNvSpPr txBox="1"/>
          <p:nvPr/>
        </p:nvSpPr>
        <p:spPr>
          <a:xfrm>
            <a:off x="1340784" y="2075688"/>
            <a:ext cx="2378080"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Autenticidad</a:t>
            </a:r>
          </a:p>
        </p:txBody>
      </p:sp>
      <p:sp>
        <p:nvSpPr>
          <p:cNvPr id="16" name="TextBox 15"/>
          <p:cNvSpPr txBox="1"/>
          <p:nvPr/>
        </p:nvSpPr>
        <p:spPr>
          <a:xfrm>
            <a:off x="3883456" y="2075688"/>
            <a:ext cx="757397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correo no estaba firmado. No hay forma de establecer quién lo originó. Es el fraude más común del país y no se resuelve cifrando.</a:t>
            </a:r>
          </a:p>
        </p:txBody>
      </p:sp>
      <p:sp>
        <p:nvSpPr>
          <p:cNvPr id="17" name="Rectangle 16"/>
          <p:cNvSpPr/>
          <p:nvPr/>
        </p:nvSpPr>
        <p:spPr>
          <a:xfrm>
            <a:off x="566928" y="252410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2615549"/>
            <a:ext cx="609264"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2</a:t>
            </a:r>
          </a:p>
        </p:txBody>
      </p:sp>
      <p:sp>
        <p:nvSpPr>
          <p:cNvPr id="19" name="TextBox 18"/>
          <p:cNvSpPr txBox="1"/>
          <p:nvPr/>
        </p:nvSpPr>
        <p:spPr>
          <a:xfrm>
            <a:off x="1340784" y="2615549"/>
            <a:ext cx="2378080"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Ninguno</a:t>
            </a:r>
          </a:p>
        </p:txBody>
      </p:sp>
      <p:sp>
        <p:nvSpPr>
          <p:cNvPr id="20" name="TextBox 19"/>
          <p:cNvSpPr txBox="1"/>
          <p:nvPr/>
        </p:nvSpPr>
        <p:spPr>
          <a:xfrm>
            <a:off x="3883456" y="2615549"/>
            <a:ext cx="757397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confidencialidad se mantuvo. Es la respuesta incómoda: aquí la criptografía funcionó. Lo que hay es un problema de custodia, no criptográfico.</a:t>
            </a:r>
          </a:p>
        </p:txBody>
      </p:sp>
      <p:sp>
        <p:nvSpPr>
          <p:cNvPr id="21" name="Rectangle 20"/>
          <p:cNvSpPr/>
          <p:nvPr/>
        </p:nvSpPr>
        <p:spPr>
          <a:xfrm>
            <a:off x="566928" y="306397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3155411"/>
            <a:ext cx="609264"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3</a:t>
            </a:r>
          </a:p>
        </p:txBody>
      </p:sp>
      <p:sp>
        <p:nvSpPr>
          <p:cNvPr id="23" name="TextBox 22"/>
          <p:cNvSpPr txBox="1"/>
          <p:nvPr/>
        </p:nvSpPr>
        <p:spPr>
          <a:xfrm>
            <a:off x="1340784" y="3155411"/>
            <a:ext cx="2378080"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Integridad y no repudio</a:t>
            </a:r>
          </a:p>
        </p:txBody>
      </p:sp>
      <p:sp>
        <p:nvSpPr>
          <p:cNvPr id="24" name="TextBox 23"/>
          <p:cNvSpPr txBox="1"/>
          <p:nvPr/>
        </p:nvSpPr>
        <p:spPr>
          <a:xfrm>
            <a:off x="3883456" y="3155411"/>
            <a:ext cx="757397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No se detecta la alteración ni se puede probar quién dice la verdad. Es exactamente el escenario de la Ley 527.</a:t>
            </a:r>
          </a:p>
        </p:txBody>
      </p:sp>
      <p:sp>
        <p:nvSpPr>
          <p:cNvPr id="25" name="Rectangle 24"/>
          <p:cNvSpPr/>
          <p:nvPr/>
        </p:nvSpPr>
        <p:spPr>
          <a:xfrm>
            <a:off x="566928" y="360383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695273"/>
            <a:ext cx="609264"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4</a:t>
            </a:r>
          </a:p>
        </p:txBody>
      </p:sp>
      <p:sp>
        <p:nvSpPr>
          <p:cNvPr id="27" name="TextBox 26"/>
          <p:cNvSpPr txBox="1"/>
          <p:nvPr/>
        </p:nvSpPr>
        <p:spPr>
          <a:xfrm>
            <a:off x="1340784" y="3695273"/>
            <a:ext cx="2378080"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Ninguno</a:t>
            </a:r>
          </a:p>
        </p:txBody>
      </p:sp>
      <p:sp>
        <p:nvSpPr>
          <p:cNvPr id="28" name="TextBox 27"/>
          <p:cNvSpPr txBox="1"/>
          <p:nvPr/>
        </p:nvSpPr>
        <p:spPr>
          <a:xfrm>
            <a:off x="3883456" y="3695273"/>
            <a:ext cx="757397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acceso era legítimo. Ningún mecanismo criptográfico detiene a quien tiene permiso. Es control de acceso, no criptografía.</a:t>
            </a:r>
          </a:p>
        </p:txBody>
      </p:sp>
      <p:sp>
        <p:nvSpPr>
          <p:cNvPr id="29" name="Rectangle 28"/>
          <p:cNvSpPr/>
          <p:nvPr/>
        </p:nvSpPr>
        <p:spPr>
          <a:xfrm>
            <a:off x="566928" y="414369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6928" y="4235135"/>
            <a:ext cx="609264" cy="438912"/>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5</a:t>
            </a:r>
          </a:p>
        </p:txBody>
      </p:sp>
      <p:sp>
        <p:nvSpPr>
          <p:cNvPr id="31" name="TextBox 30"/>
          <p:cNvSpPr txBox="1"/>
          <p:nvPr/>
        </p:nvSpPr>
        <p:spPr>
          <a:xfrm>
            <a:off x="1340784" y="4235135"/>
            <a:ext cx="2378080" cy="43891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No repudio</a:t>
            </a:r>
          </a:p>
        </p:txBody>
      </p:sp>
      <p:sp>
        <p:nvSpPr>
          <p:cNvPr id="32" name="TextBox 31"/>
          <p:cNvSpPr txBox="1"/>
          <p:nvPr/>
        </p:nvSpPr>
        <p:spPr>
          <a:xfrm>
            <a:off x="3883456" y="4235135"/>
            <a:ext cx="7573975" cy="43891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registro lo produce una sola parte, así que no es oponible. Es, literalmente, el caso Coopaburrá.</a:t>
            </a:r>
          </a:p>
        </p:txBody>
      </p:sp>
      <p:sp>
        <p:nvSpPr>
          <p:cNvPr id="33" name="Rectangle 32"/>
          <p:cNvSpPr/>
          <p:nvPr/>
        </p:nvSpPr>
        <p:spPr>
          <a:xfrm>
            <a:off x="566928" y="463747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6928" y="4728911"/>
            <a:ext cx="609264"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6</a:t>
            </a:r>
          </a:p>
        </p:txBody>
      </p:sp>
      <p:sp>
        <p:nvSpPr>
          <p:cNvPr id="35" name="TextBox 34"/>
          <p:cNvSpPr txBox="1"/>
          <p:nvPr/>
        </p:nvSpPr>
        <p:spPr>
          <a:xfrm>
            <a:off x="1340784" y="4728911"/>
            <a:ext cx="2378080"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Ninguno</a:t>
            </a:r>
          </a:p>
        </p:txBody>
      </p:sp>
      <p:sp>
        <p:nvSpPr>
          <p:cNvPr id="36" name="TextBox 35"/>
          <p:cNvSpPr txBox="1"/>
          <p:nvPr/>
        </p:nvSpPr>
        <p:spPr>
          <a:xfrm>
            <a:off x="3883456" y="4728911"/>
            <a:ext cx="757397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Funcionó la confidencialidad en tránsito. Sirve para recordar que la criptografía sí hace bien su trabajo cuando está bien puesta.</a:t>
            </a:r>
          </a:p>
        </p:txBody>
      </p:sp>
      <p:sp>
        <p:nvSpPr>
          <p:cNvPr id="37" name="Rectangle 36"/>
          <p:cNvSpPr/>
          <p:nvPr/>
        </p:nvSpPr>
        <p:spPr>
          <a:xfrm>
            <a:off x="566928" y="5177332"/>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232196"/>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19  APLICACIÓN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LOS CUATRO SERVICIOS EN COOPABURRÁ</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24</a:t>
            </a:r>
          </a:p>
        </p:txBody>
      </p:sp>
      <p:sp>
        <p:nvSpPr>
          <p:cNvPr id="9" name="TextBox 8"/>
          <p:cNvSpPr txBox="1"/>
          <p:nvPr/>
        </p:nvSpPr>
        <p:spPr>
          <a:xfrm>
            <a:off x="566928" y="1554480"/>
            <a:ext cx="11055096" cy="237744"/>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Este cuadro es el esqueleto de la primera parte del informe. Consérvenlo.</a:t>
            </a:r>
          </a:p>
        </p:txBody>
      </p:sp>
      <p:sp>
        <p:nvSpPr>
          <p:cNvPr id="10" name="Rectangle 9"/>
          <p:cNvSpPr/>
          <p:nvPr/>
        </p:nvSpPr>
        <p:spPr>
          <a:xfrm>
            <a:off x="566928" y="2066543"/>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185415"/>
            <a:ext cx="1642491"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SERVICIO</a:t>
            </a:r>
          </a:p>
        </p:txBody>
      </p:sp>
      <p:sp>
        <p:nvSpPr>
          <p:cNvPr id="12" name="TextBox 11"/>
          <p:cNvSpPr txBox="1"/>
          <p:nvPr/>
        </p:nvSpPr>
        <p:spPr>
          <a:xfrm>
            <a:off x="2374011" y="2185415"/>
            <a:ext cx="1217295"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¿LO TIENE?</a:t>
            </a:r>
          </a:p>
        </p:txBody>
      </p:sp>
      <p:sp>
        <p:nvSpPr>
          <p:cNvPr id="13" name="TextBox 12"/>
          <p:cNvSpPr txBox="1"/>
          <p:nvPr/>
        </p:nvSpPr>
        <p:spPr>
          <a:xfrm>
            <a:off x="3755898" y="2185415"/>
            <a:ext cx="6425946"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EVIDENCIA EN EL CASO</a:t>
            </a:r>
          </a:p>
        </p:txBody>
      </p:sp>
      <p:sp>
        <p:nvSpPr>
          <p:cNvPr id="14" name="TextBox 13"/>
          <p:cNvSpPr txBox="1"/>
          <p:nvPr/>
        </p:nvSpPr>
        <p:spPr>
          <a:xfrm>
            <a:off x="10346436" y="2185415"/>
            <a:ext cx="1110995"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HALLAZGO</a:t>
            </a:r>
          </a:p>
        </p:txBody>
      </p:sp>
      <p:sp>
        <p:nvSpPr>
          <p:cNvPr id="15" name="Rectangle 14"/>
          <p:cNvSpPr/>
          <p:nvPr/>
        </p:nvSpPr>
        <p:spPr>
          <a:xfrm>
            <a:off x="566928" y="2478023"/>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587751"/>
            <a:ext cx="1642491"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Confidencialidad</a:t>
            </a:r>
          </a:p>
        </p:txBody>
      </p:sp>
      <p:sp>
        <p:nvSpPr>
          <p:cNvPr id="17" name="TextBox 16"/>
          <p:cNvSpPr txBox="1"/>
          <p:nvPr/>
        </p:nvSpPr>
        <p:spPr>
          <a:xfrm>
            <a:off x="2374011" y="2587751"/>
            <a:ext cx="1217295"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Parcial</a:t>
            </a:r>
          </a:p>
        </p:txBody>
      </p:sp>
      <p:sp>
        <p:nvSpPr>
          <p:cNvPr id="18" name="TextBox 17"/>
          <p:cNvSpPr txBox="1"/>
          <p:nvPr/>
        </p:nvSpPr>
        <p:spPr>
          <a:xfrm>
            <a:off x="3755898" y="2587751"/>
            <a:ext cx="6425946"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Cifrado de disco que solo protege con el servidor apagado; datos en claro en la base con el servidor encendido</a:t>
            </a:r>
          </a:p>
        </p:txBody>
      </p:sp>
      <p:sp>
        <p:nvSpPr>
          <p:cNvPr id="19" name="TextBox 18"/>
          <p:cNvSpPr txBox="1"/>
          <p:nvPr/>
        </p:nvSpPr>
        <p:spPr>
          <a:xfrm>
            <a:off x="10346436" y="2587751"/>
            <a:ext cx="111099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H3, H4</a:t>
            </a:r>
          </a:p>
        </p:txBody>
      </p:sp>
      <p:sp>
        <p:nvSpPr>
          <p:cNvPr id="20" name="Rectangle 19"/>
          <p:cNvSpPr/>
          <p:nvPr/>
        </p:nvSpPr>
        <p:spPr>
          <a:xfrm>
            <a:off x="566928" y="303617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127613"/>
            <a:ext cx="1642491"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Integridad</a:t>
            </a:r>
          </a:p>
        </p:txBody>
      </p:sp>
      <p:sp>
        <p:nvSpPr>
          <p:cNvPr id="22" name="TextBox 21"/>
          <p:cNvSpPr txBox="1"/>
          <p:nvPr/>
        </p:nvSpPr>
        <p:spPr>
          <a:xfrm>
            <a:off x="2374011" y="3127613"/>
            <a:ext cx="1217295"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No</a:t>
            </a:r>
          </a:p>
        </p:txBody>
      </p:sp>
      <p:sp>
        <p:nvSpPr>
          <p:cNvPr id="23" name="TextBox 22"/>
          <p:cNvSpPr txBox="1"/>
          <p:nvPr/>
        </p:nvSpPr>
        <p:spPr>
          <a:xfrm>
            <a:off x="3755898" y="3127613"/>
            <a:ext cx="6425946"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Los registros del servidor pueden modificarse sin dejar rastro. Esa fue la pregunta del abogado</a:t>
            </a:r>
          </a:p>
        </p:txBody>
      </p:sp>
      <p:sp>
        <p:nvSpPr>
          <p:cNvPr id="24" name="TextBox 23"/>
          <p:cNvSpPr txBox="1"/>
          <p:nvPr/>
        </p:nvSpPr>
        <p:spPr>
          <a:xfrm>
            <a:off x="10346436" y="3127613"/>
            <a:ext cx="111099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H8</a:t>
            </a:r>
          </a:p>
        </p:txBody>
      </p:sp>
      <p:sp>
        <p:nvSpPr>
          <p:cNvPr id="25" name="Rectangle 24"/>
          <p:cNvSpPr/>
          <p:nvPr/>
        </p:nvSpPr>
        <p:spPr>
          <a:xfrm>
            <a:off x="566928" y="357603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667475"/>
            <a:ext cx="1642491" cy="475488"/>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Autenticidad</a:t>
            </a:r>
          </a:p>
        </p:txBody>
      </p:sp>
      <p:sp>
        <p:nvSpPr>
          <p:cNvPr id="27" name="TextBox 26"/>
          <p:cNvSpPr txBox="1"/>
          <p:nvPr/>
        </p:nvSpPr>
        <p:spPr>
          <a:xfrm>
            <a:off x="2374011" y="3667475"/>
            <a:ext cx="1217295" cy="475488"/>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Aparente</a:t>
            </a:r>
          </a:p>
        </p:txBody>
      </p:sp>
      <p:sp>
        <p:nvSpPr>
          <p:cNvPr id="28" name="TextBox 27"/>
          <p:cNvSpPr txBox="1"/>
          <p:nvPr/>
        </p:nvSpPr>
        <p:spPr>
          <a:xfrm>
            <a:off x="3755898" y="3667475"/>
            <a:ext cx="6425946" cy="47548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aplicación firma, pero con llave compartida: autentica al programa, no a la persona</a:t>
            </a:r>
          </a:p>
        </p:txBody>
      </p:sp>
      <p:sp>
        <p:nvSpPr>
          <p:cNvPr id="29" name="TextBox 28"/>
          <p:cNvSpPr txBox="1"/>
          <p:nvPr/>
        </p:nvSpPr>
        <p:spPr>
          <a:xfrm>
            <a:off x="10346436" y="3667475"/>
            <a:ext cx="1110995" cy="47548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H2</a:t>
            </a:r>
          </a:p>
        </p:txBody>
      </p:sp>
      <p:sp>
        <p:nvSpPr>
          <p:cNvPr id="30" name="Rectangle 29"/>
          <p:cNvSpPr/>
          <p:nvPr/>
        </p:nvSpPr>
        <p:spPr>
          <a:xfrm>
            <a:off x="566928" y="410638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197827"/>
            <a:ext cx="1642491" cy="475488"/>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No repudio</a:t>
            </a:r>
          </a:p>
        </p:txBody>
      </p:sp>
      <p:sp>
        <p:nvSpPr>
          <p:cNvPr id="32" name="TextBox 31"/>
          <p:cNvSpPr txBox="1"/>
          <p:nvPr/>
        </p:nvSpPr>
        <p:spPr>
          <a:xfrm>
            <a:off x="2374011" y="4197827"/>
            <a:ext cx="1217295" cy="475488"/>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No</a:t>
            </a:r>
          </a:p>
        </p:txBody>
      </p:sp>
      <p:sp>
        <p:nvSpPr>
          <p:cNvPr id="33" name="TextBox 32"/>
          <p:cNvSpPr txBox="1"/>
          <p:nvPr/>
        </p:nvSpPr>
        <p:spPr>
          <a:xfrm>
            <a:off x="3755898" y="4197827"/>
            <a:ext cx="6425946" cy="47548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Ninguna llave privada individual. Ningún sello de tiempo. Ninguna entidad de certificación</a:t>
            </a:r>
          </a:p>
        </p:txBody>
      </p:sp>
      <p:sp>
        <p:nvSpPr>
          <p:cNvPr id="34" name="TextBox 33"/>
          <p:cNvSpPr txBox="1"/>
          <p:nvPr/>
        </p:nvSpPr>
        <p:spPr>
          <a:xfrm>
            <a:off x="10346436" y="4197827"/>
            <a:ext cx="1110995" cy="47548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H2, H7</a:t>
            </a:r>
          </a:p>
        </p:txBody>
      </p:sp>
      <p:sp>
        <p:nvSpPr>
          <p:cNvPr id="35" name="Rectangle 34"/>
          <p:cNvSpPr/>
          <p:nvPr/>
        </p:nvSpPr>
        <p:spPr>
          <a:xfrm>
            <a:off x="566928" y="463673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4691603"/>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20  MAPA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200" b="0">
                <a:solidFill>
                  <a:srgbClr val="000000"/>
                </a:solidFill>
                <a:latin typeface="Arial Black"/>
              </a:rPr>
              <a:t>DÓNDE VIVE LA CRIPTOGRAFÍA EN UNA ORGANIZACIÓN</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25</a:t>
            </a:r>
          </a:p>
        </p:txBody>
      </p:sp>
      <p:sp>
        <p:nvSpPr>
          <p:cNvPr id="9" name="TextBox 8"/>
          <p:cNvSpPr txBox="1"/>
          <p:nvPr/>
        </p:nvSpPr>
        <p:spPr>
          <a:xfrm>
            <a:off x="566928" y="1554480"/>
            <a:ext cx="11055096" cy="237744"/>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Casi toda organización usa criptografía en más lugares de los que cree. Este mapa es el punto de partida de la entrega 1.</a:t>
            </a:r>
          </a:p>
        </p:txBody>
      </p:sp>
      <p:sp>
        <p:nvSpPr>
          <p:cNvPr id="10" name="Rectangle 9"/>
          <p:cNvSpPr/>
          <p:nvPr/>
        </p:nvSpPr>
        <p:spPr>
          <a:xfrm>
            <a:off x="566928" y="2066543"/>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185415"/>
            <a:ext cx="3594140"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DÓNDE</a:t>
            </a:r>
          </a:p>
        </p:txBody>
      </p:sp>
      <p:sp>
        <p:nvSpPr>
          <p:cNvPr id="12" name="TextBox 11"/>
          <p:cNvSpPr txBox="1"/>
          <p:nvPr/>
        </p:nvSpPr>
        <p:spPr>
          <a:xfrm>
            <a:off x="4325660" y="2185415"/>
            <a:ext cx="381524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SERVICIO PRESTA</a:t>
            </a:r>
          </a:p>
        </p:txBody>
      </p:sp>
      <p:sp>
        <p:nvSpPr>
          <p:cNvPr id="13" name="TextBox 12"/>
          <p:cNvSpPr txBox="1"/>
          <p:nvPr/>
        </p:nvSpPr>
        <p:spPr>
          <a:xfrm>
            <a:off x="8305495" y="2185415"/>
            <a:ext cx="3151936"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QUIÉN SUELE SABERLO EN COOPABURRÁ</a:t>
            </a:r>
          </a:p>
        </p:txBody>
      </p:sp>
      <p:sp>
        <p:nvSpPr>
          <p:cNvPr id="14" name="Rectangle 13"/>
          <p:cNvSpPr/>
          <p:nvPr/>
        </p:nvSpPr>
        <p:spPr>
          <a:xfrm>
            <a:off x="566928" y="2478023"/>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587751"/>
            <a:ext cx="3594140"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Portal, aplicación y correo</a:t>
            </a:r>
          </a:p>
        </p:txBody>
      </p:sp>
      <p:sp>
        <p:nvSpPr>
          <p:cNvPr id="16" name="TextBox 15"/>
          <p:cNvSpPr txBox="1"/>
          <p:nvPr/>
        </p:nvSpPr>
        <p:spPr>
          <a:xfrm>
            <a:off x="4325660" y="2587751"/>
            <a:ext cx="3815242"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Confidencialidad e integridad en tránsito</a:t>
            </a:r>
          </a:p>
        </p:txBody>
      </p:sp>
      <p:sp>
        <p:nvSpPr>
          <p:cNvPr id="17" name="TextBox 16"/>
          <p:cNvSpPr txBox="1"/>
          <p:nvPr/>
        </p:nvSpPr>
        <p:spPr>
          <a:xfrm>
            <a:off x="8305495" y="2587751"/>
            <a:ext cx="315193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Infraestructura, a medias</a:t>
            </a:r>
          </a:p>
        </p:txBody>
      </p:sp>
      <p:sp>
        <p:nvSpPr>
          <p:cNvPr id="18" name="Rectangle 17"/>
          <p:cNvSpPr/>
          <p:nvPr/>
        </p:nvSpPr>
        <p:spPr>
          <a:xfrm>
            <a:off x="566928" y="286207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2953511"/>
            <a:ext cx="3594140"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Discos, bases de datos y respaldos</a:t>
            </a:r>
          </a:p>
        </p:txBody>
      </p:sp>
      <p:sp>
        <p:nvSpPr>
          <p:cNvPr id="20" name="TextBox 19"/>
          <p:cNvSpPr txBox="1"/>
          <p:nvPr/>
        </p:nvSpPr>
        <p:spPr>
          <a:xfrm>
            <a:off x="4325660" y="2953511"/>
            <a:ext cx="3815242"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Confidencialidad en reposo</a:t>
            </a:r>
          </a:p>
        </p:txBody>
      </p:sp>
      <p:sp>
        <p:nvSpPr>
          <p:cNvPr id="21" name="TextBox 20"/>
          <p:cNvSpPr txBox="1"/>
          <p:nvPr/>
        </p:nvSpPr>
        <p:spPr>
          <a:xfrm>
            <a:off x="8305495" y="2953511"/>
            <a:ext cx="315193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Quien lo configuró, si sigue en la empresa</a:t>
            </a:r>
          </a:p>
        </p:txBody>
      </p:sp>
      <p:sp>
        <p:nvSpPr>
          <p:cNvPr id="22" name="Rectangle 21"/>
          <p:cNvSpPr/>
          <p:nvPr/>
        </p:nvSpPr>
        <p:spPr>
          <a:xfrm>
            <a:off x="566928" y="322783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319271"/>
            <a:ext cx="3594140"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Contraseñas y sesiones</a:t>
            </a:r>
          </a:p>
        </p:txBody>
      </p:sp>
      <p:sp>
        <p:nvSpPr>
          <p:cNvPr id="24" name="TextBox 23"/>
          <p:cNvSpPr txBox="1"/>
          <p:nvPr/>
        </p:nvSpPr>
        <p:spPr>
          <a:xfrm>
            <a:off x="4325660" y="3319271"/>
            <a:ext cx="3815242"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Autenticación</a:t>
            </a:r>
          </a:p>
        </p:txBody>
      </p:sp>
      <p:sp>
        <p:nvSpPr>
          <p:cNvPr id="25" name="TextBox 24"/>
          <p:cNvSpPr txBox="1"/>
          <p:nvPr/>
        </p:nvSpPr>
        <p:spPr>
          <a:xfrm>
            <a:off x="8305495" y="3319271"/>
            <a:ext cx="315193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fábrica de software</a:t>
            </a:r>
          </a:p>
        </p:txBody>
      </p:sp>
      <p:sp>
        <p:nvSpPr>
          <p:cNvPr id="26" name="Rectangle 25"/>
          <p:cNvSpPr/>
          <p:nvPr/>
        </p:nvSpPr>
        <p:spPr>
          <a:xfrm>
            <a:off x="566928" y="359359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3685031"/>
            <a:ext cx="3594140"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Operaciones de la aplicación</a:t>
            </a:r>
          </a:p>
        </p:txBody>
      </p:sp>
      <p:sp>
        <p:nvSpPr>
          <p:cNvPr id="28" name="TextBox 27"/>
          <p:cNvSpPr txBox="1"/>
          <p:nvPr/>
        </p:nvSpPr>
        <p:spPr>
          <a:xfrm>
            <a:off x="4325660" y="3685031"/>
            <a:ext cx="3815242"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Autenticidad e integridad de cada transferencia</a:t>
            </a:r>
          </a:p>
        </p:txBody>
      </p:sp>
      <p:sp>
        <p:nvSpPr>
          <p:cNvPr id="29" name="TextBox 28"/>
          <p:cNvSpPr txBox="1"/>
          <p:nvPr/>
        </p:nvSpPr>
        <p:spPr>
          <a:xfrm>
            <a:off x="8305495" y="3685031"/>
            <a:ext cx="315193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fábrica de software</a:t>
            </a:r>
          </a:p>
        </p:txBody>
      </p:sp>
      <p:sp>
        <p:nvSpPr>
          <p:cNvPr id="30" name="Rectangle 29"/>
          <p:cNvSpPr/>
          <p:nvPr/>
        </p:nvSpPr>
        <p:spPr>
          <a:xfrm>
            <a:off x="566928" y="395935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050791"/>
            <a:ext cx="3594140"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Cajeros y medios de pago</a:t>
            </a:r>
          </a:p>
        </p:txBody>
      </p:sp>
      <p:sp>
        <p:nvSpPr>
          <p:cNvPr id="32" name="TextBox 31"/>
          <p:cNvSpPr txBox="1"/>
          <p:nvPr/>
        </p:nvSpPr>
        <p:spPr>
          <a:xfrm>
            <a:off x="4325660" y="4050791"/>
            <a:ext cx="3815242"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Confidencialidad del PIN y autenticación del equipo</a:t>
            </a:r>
          </a:p>
        </p:txBody>
      </p:sp>
      <p:sp>
        <p:nvSpPr>
          <p:cNvPr id="33" name="TextBox 32"/>
          <p:cNvSpPr txBox="1"/>
          <p:nvPr/>
        </p:nvSpPr>
        <p:spPr>
          <a:xfrm>
            <a:off x="8305495" y="4050791"/>
            <a:ext cx="315193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fabricante y dos personas de 2019</a:t>
            </a:r>
          </a:p>
        </p:txBody>
      </p:sp>
      <p:sp>
        <p:nvSpPr>
          <p:cNvPr id="34" name="Rectangle 33"/>
          <p:cNvSpPr/>
          <p:nvPr/>
        </p:nvSpPr>
        <p:spPr>
          <a:xfrm>
            <a:off x="566928" y="4325112"/>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6928" y="4416551"/>
            <a:ext cx="3594140" cy="310896"/>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Documentos firmados</a:t>
            </a:r>
          </a:p>
        </p:txBody>
      </p:sp>
      <p:sp>
        <p:nvSpPr>
          <p:cNvPr id="36" name="TextBox 35"/>
          <p:cNvSpPr txBox="1"/>
          <p:nvPr/>
        </p:nvSpPr>
        <p:spPr>
          <a:xfrm>
            <a:off x="4325660" y="4416551"/>
            <a:ext cx="3815242"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Integridad y no repudio</a:t>
            </a:r>
          </a:p>
        </p:txBody>
      </p:sp>
      <p:sp>
        <p:nvSpPr>
          <p:cNvPr id="37" name="TextBox 36"/>
          <p:cNvSpPr txBox="1"/>
          <p:nvPr/>
        </p:nvSpPr>
        <p:spPr>
          <a:xfrm>
            <a:off x="8305495" y="4416551"/>
            <a:ext cx="315193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Nadie: hoy es una imagen escaneada</a:t>
            </a:r>
          </a:p>
        </p:txBody>
      </p:sp>
      <p:sp>
        <p:nvSpPr>
          <p:cNvPr id="38" name="Rectangle 37"/>
          <p:cNvSpPr/>
          <p:nvPr/>
        </p:nvSpPr>
        <p:spPr>
          <a:xfrm>
            <a:off x="566928" y="4690872"/>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66928" y="4782312"/>
            <a:ext cx="3594140"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Redes privadas con sedes y proveedores</a:t>
            </a:r>
          </a:p>
        </p:txBody>
      </p:sp>
      <p:sp>
        <p:nvSpPr>
          <p:cNvPr id="40" name="TextBox 39"/>
          <p:cNvSpPr txBox="1"/>
          <p:nvPr/>
        </p:nvSpPr>
        <p:spPr>
          <a:xfrm>
            <a:off x="4325660" y="4782312"/>
            <a:ext cx="3815242"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Confidencialidad entre sitios</a:t>
            </a:r>
          </a:p>
        </p:txBody>
      </p:sp>
      <p:sp>
        <p:nvSpPr>
          <p:cNvPr id="41" name="TextBox 40"/>
          <p:cNvSpPr txBox="1"/>
          <p:nvPr/>
        </p:nvSpPr>
        <p:spPr>
          <a:xfrm>
            <a:off x="8305495" y="4782312"/>
            <a:ext cx="315193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Redes, sin inventario</a:t>
            </a:r>
          </a:p>
        </p:txBody>
      </p:sp>
      <p:sp>
        <p:nvSpPr>
          <p:cNvPr id="42" name="Rectangle 41"/>
          <p:cNvSpPr/>
          <p:nvPr/>
        </p:nvSpPr>
        <p:spPr>
          <a:xfrm>
            <a:off x="566928" y="5056632"/>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66928" y="5111496"/>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66928" y="5413248"/>
            <a:ext cx="45720" cy="65836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4672" y="5431536"/>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COLUMNA QUE MÁS IMPORTA</a:t>
            </a:r>
          </a:p>
        </p:txBody>
      </p:sp>
      <p:sp>
        <p:nvSpPr>
          <p:cNvPr id="46" name="TextBox 45"/>
          <p:cNvSpPr txBox="1"/>
          <p:nvPr/>
        </p:nvSpPr>
        <p:spPr>
          <a:xfrm>
            <a:off x="804672" y="5669280"/>
            <a:ext cx="10780776" cy="38404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La tercera. </a:t>
            </a:r>
            <a:r>
              <a:rPr sz="1150" b="1">
                <a:solidFill>
                  <a:srgbClr val="2A2A2A"/>
                </a:solidFill>
                <a:latin typeface="Arial"/>
              </a:rPr>
              <a:t>Donde la respuesta es «nadie» o «alguien que ya se fue», hay un hallazgo antes de mirar un solo algoritmo</a:t>
            </a:r>
            <a:r>
              <a:rPr sz="1150" b="0">
                <a:solidFill>
                  <a:srgbClr val="2A2A2A"/>
                </a:solidFill>
                <a:latin typeface="Arial"/>
              </a:rPr>
              <a:t>, y la entrega 1 tiene que decirlo con nombre y cargo.</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21  LÍMITE</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LO QUE LA CRIPTOGRAFÍA NO PUEDE HACER</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26</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Antes de las reglas del oficio conviene marcar el límite. La criptografía es un control poderoso y estrecho, y sobrevenderla es la forma más común de dejar huecos en un diseño.</a:t>
            </a:r>
          </a:p>
        </p:txBody>
      </p:sp>
      <p:sp>
        <p:nvSpPr>
          <p:cNvPr id="10" name="Rectangle 9"/>
          <p:cNvSpPr/>
          <p:nvPr/>
        </p:nvSpPr>
        <p:spPr>
          <a:xfrm>
            <a:off x="566928" y="2304287"/>
            <a:ext cx="5353812" cy="1463040"/>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2414015"/>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NO GARANTIZA DISPONIBILIDAD</a:t>
            </a:r>
          </a:p>
        </p:txBody>
      </p:sp>
      <p:sp>
        <p:nvSpPr>
          <p:cNvPr id="12" name="TextBox 11"/>
          <p:cNvSpPr txBox="1"/>
          <p:nvPr/>
        </p:nvSpPr>
        <p:spPr>
          <a:xfrm>
            <a:off x="786384" y="2633471"/>
            <a:ext cx="4914900" cy="100584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Cifrar no evita que un sistema se caiga ni que lo tumben.</a:t>
            </a:r>
          </a:p>
          <a:p>
            <a:pPr algn="l">
              <a:lnSpc>
                <a:spcPct val="128000"/>
              </a:lnSpc>
              <a:spcAft>
                <a:spcPts val="700"/>
              </a:spcAft>
            </a:pPr>
            <a:r>
              <a:rPr sz="1150" b="0">
                <a:solidFill>
                  <a:srgbClr val="000000"/>
                </a:solidFill>
                <a:latin typeface="Arial"/>
              </a:rPr>
              <a:t>El secuestro de datos usa criptografía impecable contra su dueño: la mejor prueba de que el algoritmo no sabe de quién es el dato.</a:t>
            </a:r>
          </a:p>
        </p:txBody>
      </p:sp>
      <p:sp>
        <p:nvSpPr>
          <p:cNvPr id="13" name="Rectangle 12"/>
          <p:cNvSpPr/>
          <p:nvPr/>
        </p:nvSpPr>
        <p:spPr>
          <a:xfrm>
            <a:off x="6268212" y="2304287"/>
            <a:ext cx="5353812" cy="1463040"/>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414015"/>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NO PROTEGE UN EXTREMO COMPROMETIDO</a:t>
            </a:r>
          </a:p>
        </p:txBody>
      </p:sp>
      <p:sp>
        <p:nvSpPr>
          <p:cNvPr id="15" name="TextBox 14"/>
          <p:cNvSpPr txBox="1"/>
          <p:nvPr/>
        </p:nvSpPr>
        <p:spPr>
          <a:xfrm>
            <a:off x="6487668" y="2633471"/>
            <a:ext cx="4914900" cy="100584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Si el teléfono del asociado o el servidor están infectados, el atacante ve el dato antes de cifrarlo o después de descifrarlo.</a:t>
            </a:r>
          </a:p>
          <a:p>
            <a:pPr algn="l">
              <a:lnSpc>
                <a:spcPct val="128000"/>
              </a:lnSpc>
              <a:spcAft>
                <a:spcPts val="700"/>
              </a:spcAft>
            </a:pPr>
            <a:r>
              <a:rPr sz="1150" b="0">
                <a:solidFill>
                  <a:srgbClr val="000000"/>
                </a:solidFill>
                <a:latin typeface="Arial"/>
              </a:rPr>
              <a:t>El canal cifrado llega intacto a un equipo que ya no es de confianza.</a:t>
            </a:r>
          </a:p>
        </p:txBody>
      </p:sp>
      <p:sp>
        <p:nvSpPr>
          <p:cNvPr id="16" name="Rectangle 15"/>
          <p:cNvSpPr/>
          <p:nvPr/>
        </p:nvSpPr>
        <p:spPr>
          <a:xfrm>
            <a:off x="566928" y="4041648"/>
            <a:ext cx="5353812" cy="1463040"/>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51376"/>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NO DETIENE AL USUARIO ENGAÑADO</a:t>
            </a:r>
          </a:p>
        </p:txBody>
      </p:sp>
      <p:sp>
        <p:nvSpPr>
          <p:cNvPr id="18" name="TextBox 17"/>
          <p:cNvSpPr txBox="1"/>
          <p:nvPr/>
        </p:nvSpPr>
        <p:spPr>
          <a:xfrm>
            <a:off x="786384" y="4370832"/>
            <a:ext cx="4914900" cy="100584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Quien entrega su contraseña o su código en un sitio falso está autorizando al atacante con sus propias credenciales.</a:t>
            </a:r>
          </a:p>
          <a:p>
            <a:pPr algn="l">
              <a:lnSpc>
                <a:spcPct val="128000"/>
              </a:lnSpc>
              <a:spcAft>
                <a:spcPts val="700"/>
              </a:spcAft>
            </a:pPr>
            <a:r>
              <a:rPr sz="1150" b="0">
                <a:solidFill>
                  <a:srgbClr val="000000"/>
                </a:solidFill>
                <a:latin typeface="Arial"/>
              </a:rPr>
              <a:t>La criptografía verifica llaves, no intenciones.</a:t>
            </a:r>
          </a:p>
        </p:txBody>
      </p:sp>
      <p:sp>
        <p:nvSpPr>
          <p:cNvPr id="19" name="Rectangle 18"/>
          <p:cNvSpPr/>
          <p:nvPr/>
        </p:nvSpPr>
        <p:spPr>
          <a:xfrm>
            <a:off x="6268212" y="4041648"/>
            <a:ext cx="5353812" cy="1463040"/>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87668" y="4151376"/>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NO SIRVE SI LA LLAVE SE FILTRA</a:t>
            </a:r>
          </a:p>
        </p:txBody>
      </p:sp>
      <p:sp>
        <p:nvSpPr>
          <p:cNvPr id="21" name="TextBox 20"/>
          <p:cNvSpPr txBox="1"/>
          <p:nvPr/>
        </p:nvSpPr>
        <p:spPr>
          <a:xfrm>
            <a:off x="6487668" y="4370832"/>
            <a:ext cx="4914900" cy="100584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Con la llave correcta el sistema funciona perfecto para quien la robó, y no deja ninguna señal.</a:t>
            </a:r>
          </a:p>
          <a:p>
            <a:pPr algn="l">
              <a:lnSpc>
                <a:spcPct val="128000"/>
              </a:lnSpc>
              <a:spcAft>
                <a:spcPts val="700"/>
              </a:spcAft>
            </a:pPr>
            <a:r>
              <a:rPr sz="1150" b="0">
                <a:solidFill>
                  <a:srgbClr val="000000"/>
                </a:solidFill>
                <a:latin typeface="Arial"/>
              </a:rPr>
              <a:t>Es el hallazgo H2: la llave de firma está al alcance de cualquiera que descargue la aplicación.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0"/>
            <a:ext cx="11055096" cy="237744"/>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SECCIÓN</a:t>
            </a:r>
          </a:p>
        </p:txBody>
      </p:sp>
      <p:sp>
        <p:nvSpPr>
          <p:cNvPr id="3" name="TextBox 2"/>
          <p:cNvSpPr txBox="1"/>
          <p:nvPr/>
        </p:nvSpPr>
        <p:spPr>
          <a:xfrm>
            <a:off x="566928" y="2377440"/>
            <a:ext cx="1828800" cy="1005840"/>
          </a:xfrm>
          <a:prstGeom prst="rect">
            <a:avLst/>
          </a:prstGeom>
          <a:noFill/>
        </p:spPr>
        <p:txBody>
          <a:bodyPr wrap="square" lIns="0" rIns="0" tIns="0" bIns="0">
            <a:spAutoFit/>
          </a:bodyPr>
          <a:lstStyle/>
          <a:p>
            <a:pPr algn="l">
              <a:spcAft>
                <a:spcPts val="0"/>
              </a:spcAft>
            </a:pPr>
            <a:r>
              <a:rPr sz="5400" b="0">
                <a:solidFill>
                  <a:srgbClr val="F36406"/>
                </a:solidFill>
                <a:latin typeface="Arial Black"/>
              </a:rPr>
              <a:t>04</a:t>
            </a:r>
          </a:p>
        </p:txBody>
      </p:sp>
      <p:sp>
        <p:nvSpPr>
          <p:cNvPr id="4" name="TextBox 3"/>
          <p:cNvSpPr txBox="1"/>
          <p:nvPr/>
        </p:nvSpPr>
        <p:spPr>
          <a:xfrm>
            <a:off x="566928" y="3520440"/>
            <a:ext cx="11055096" cy="640080"/>
          </a:xfrm>
          <a:prstGeom prst="rect">
            <a:avLst/>
          </a:prstGeom>
          <a:noFill/>
        </p:spPr>
        <p:txBody>
          <a:bodyPr wrap="square" lIns="0" rIns="0" tIns="0" bIns="0">
            <a:spAutoFit/>
          </a:bodyPr>
          <a:lstStyle/>
          <a:p>
            <a:pPr algn="l">
              <a:spcAft>
                <a:spcPts val="0"/>
              </a:spcAft>
            </a:pPr>
            <a:r>
              <a:rPr sz="3000" b="0">
                <a:solidFill>
                  <a:srgbClr val="000000"/>
                </a:solidFill>
                <a:latin typeface="Arial Black"/>
              </a:rPr>
              <a:t>LAS REGLAS DEL OFICIO</a:t>
            </a:r>
          </a:p>
        </p:txBody>
      </p:sp>
      <p:sp>
        <p:nvSpPr>
          <p:cNvPr id="5" name="Rectangle 4"/>
          <p:cNvSpPr/>
          <p:nvPr/>
        </p:nvSpPr>
        <p:spPr>
          <a:xfrm>
            <a:off x="566928" y="4315968"/>
            <a:ext cx="155448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4526280"/>
            <a:ext cx="10058400" cy="457200"/>
          </a:xfrm>
          <a:prstGeom prst="rect">
            <a:avLst/>
          </a:prstGeom>
          <a:noFill/>
        </p:spPr>
        <p:txBody>
          <a:bodyPr wrap="square" lIns="0" rIns="0" tIns="0" bIns="0">
            <a:spAutoFit/>
          </a:bodyPr>
          <a:lstStyle/>
          <a:p>
            <a:pPr algn="l">
              <a:lnSpc>
                <a:spcPct val="130000"/>
              </a:lnSpc>
              <a:spcAft>
                <a:spcPts val="0"/>
              </a:spcAft>
            </a:pPr>
            <a:r>
              <a:rPr sz="1200" b="0">
                <a:solidFill>
                  <a:srgbClr val="5C5C5C"/>
                </a:solidFill>
                <a:latin typeface="Arial"/>
              </a:rPr>
              <a:t>Cuatro principios que llevan siglo y medio sin cambiar</a:t>
            </a:r>
          </a:p>
        </p:txBody>
      </p:sp>
      <p:sp>
        <p:nvSpPr>
          <p:cNvPr id="7" name="Rectangle 6"/>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1-1.png"/>
          <p:cNvPicPr>
            <a:picLocks noChangeAspect="1"/>
          </p:cNvPicPr>
          <p:nvPr/>
        </p:nvPicPr>
        <p:blipFill>
          <a:blip r:embed="rId2"/>
          <a:stretch>
            <a:fillRect/>
          </a:stretch>
        </p:blipFill>
        <p:spPr>
          <a:xfrm>
            <a:off x="566928" y="6336792"/>
            <a:ext cx="566928" cy="246888"/>
          </a:xfrm>
          <a:prstGeom prst="rect">
            <a:avLst/>
          </a:prstGeom>
        </p:spPr>
      </p:pic>
      <p:sp>
        <p:nvSpPr>
          <p:cNvPr id="9" name="TextBox 8"/>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10" name="TextBox 9"/>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22  PRINCIPIO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KERCKHOFFS, 1883</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28</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Auguste Kerckhoffs, lingüista neerlandés, publicó en 1883 en el Journal des sciences militaires seis requisitos para un sistema de cifra militar. El segundo se volvió el principio fundacional de toda la criptografía moderna.</a:t>
            </a:r>
          </a:p>
        </p:txBody>
      </p:sp>
      <p:sp>
        <p:nvSpPr>
          <p:cNvPr id="10" name="Rectangle 9"/>
          <p:cNvSpPr/>
          <p:nvPr/>
        </p:nvSpPr>
        <p:spPr>
          <a:xfrm>
            <a:off x="566928" y="2304287"/>
            <a:ext cx="11055096" cy="80101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AUGUSTE KERCKHOFFS · LA CRYPTOGRAPHIE MILITAIRE · 1883</a:t>
            </a:r>
          </a:p>
        </p:txBody>
      </p:sp>
      <p:sp>
        <p:nvSpPr>
          <p:cNvPr id="12" name="TextBox 11"/>
          <p:cNvSpPr txBox="1"/>
          <p:nvPr/>
        </p:nvSpPr>
        <p:spPr>
          <a:xfrm>
            <a:off x="768096" y="2633471"/>
            <a:ext cx="10652760" cy="380390"/>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«El sistema no debe requerir ser secreto, y debe poder caer en manos del enemigo</a:t>
            </a:r>
          </a:p>
          <a:p>
            <a:pPr algn="l">
              <a:lnSpc>
                <a:spcPct val="130000"/>
              </a:lnSpc>
              <a:spcAft>
                <a:spcPts val="0"/>
              </a:spcAft>
            </a:pPr>
            <a:r>
              <a:rPr sz="950" b="0">
                <a:solidFill>
                  <a:srgbClr val="000000"/>
                </a:solidFill>
                <a:latin typeface="Consolas"/>
              </a:rPr>
              <a:t> sin causar inconveniente.»</a:t>
            </a:r>
          </a:p>
        </p:txBody>
      </p:sp>
      <p:sp>
        <p:nvSpPr>
          <p:cNvPr id="13" name="TextBox 12"/>
          <p:cNvSpPr txBox="1"/>
          <p:nvPr/>
        </p:nvSpPr>
        <p:spPr>
          <a:xfrm>
            <a:off x="566928" y="3361334"/>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LO QUE SIGNIFICA</a:t>
            </a:r>
          </a:p>
        </p:txBody>
      </p:sp>
      <p:sp>
        <p:nvSpPr>
          <p:cNvPr id="14" name="TextBox 13"/>
          <p:cNvSpPr txBox="1"/>
          <p:nvPr/>
        </p:nvSpPr>
        <p:spPr>
          <a:xfrm>
            <a:off x="566928" y="3635654"/>
            <a:ext cx="5253228" cy="114300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Toda la seguridad debe descansar en la llave, no en que nadie sepa cómo funciona el mecanismo.</a:t>
            </a:r>
          </a:p>
          <a:p>
            <a:pPr algn="l">
              <a:lnSpc>
                <a:spcPct val="128000"/>
              </a:lnSpc>
              <a:spcAft>
                <a:spcPts val="700"/>
              </a:spcAft>
            </a:pPr>
            <a:r>
              <a:rPr sz="1150" b="0">
                <a:solidFill>
                  <a:srgbClr val="000000"/>
                </a:solidFill>
                <a:latin typeface="Arial"/>
              </a:rPr>
              <a:t>El algoritmo se puede publicar, auditar y discutir. La llave, no.</a:t>
            </a:r>
          </a:p>
        </p:txBody>
      </p:sp>
      <p:sp>
        <p:nvSpPr>
          <p:cNvPr id="15" name="TextBox 14"/>
          <p:cNvSpPr txBox="1"/>
          <p:nvPr/>
        </p:nvSpPr>
        <p:spPr>
          <a:xfrm>
            <a:off x="6368796" y="3361334"/>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POR QUÉ ES CIERTO</a:t>
            </a:r>
          </a:p>
        </p:txBody>
      </p:sp>
      <p:sp>
        <p:nvSpPr>
          <p:cNvPr id="16" name="TextBox 15"/>
          <p:cNvSpPr txBox="1"/>
          <p:nvPr/>
        </p:nvSpPr>
        <p:spPr>
          <a:xfrm>
            <a:off x="6368796" y="3635654"/>
            <a:ext cx="5253228" cy="114300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Los algoritmos se filtran, se descompilan y se deducen. Las personas que los conocen renuncian.</a:t>
            </a:r>
          </a:p>
          <a:p>
            <a:pPr algn="l">
              <a:lnSpc>
                <a:spcPct val="128000"/>
              </a:lnSpc>
              <a:spcAft>
                <a:spcPts val="700"/>
              </a:spcAft>
            </a:pPr>
            <a:r>
              <a:rPr sz="1150" b="0">
                <a:solidFill>
                  <a:srgbClr val="000000"/>
                </a:solidFill>
                <a:latin typeface="Arial"/>
              </a:rPr>
              <a:t>Un secreto que conocen muchos y que dura años no es un secreto: es una expectativa.</a:t>
            </a:r>
          </a:p>
        </p:txBody>
      </p:sp>
      <p:sp>
        <p:nvSpPr>
          <p:cNvPr id="17" name="Rectangle 16"/>
          <p:cNvSpPr/>
          <p:nvPr/>
        </p:nvSpPr>
        <p:spPr>
          <a:xfrm>
            <a:off x="6085332" y="3361334"/>
            <a:ext cx="9144" cy="14173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23  CONSECUENCIA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NO INVENTE CRIPTOGRAFÍA PROPIA</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29</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Es la regla más repetida del oficio y la más desobedecida. Estos son tres casos donde una organización seria decidió hacer su propio mecanismo, y el resultado.</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2488631"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CASO</a:t>
            </a:r>
          </a:p>
        </p:txBody>
      </p:sp>
      <p:sp>
        <p:nvSpPr>
          <p:cNvPr id="12" name="TextBox 11"/>
          <p:cNvSpPr txBox="1"/>
          <p:nvPr/>
        </p:nvSpPr>
        <p:spPr>
          <a:xfrm>
            <a:off x="3220151" y="2423159"/>
            <a:ext cx="4257446"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HICIERON</a:t>
            </a:r>
          </a:p>
        </p:txBody>
      </p:sp>
      <p:sp>
        <p:nvSpPr>
          <p:cNvPr id="13" name="TextBox 12"/>
          <p:cNvSpPr txBox="1"/>
          <p:nvPr/>
        </p:nvSpPr>
        <p:spPr>
          <a:xfrm>
            <a:off x="7642189" y="2423159"/>
            <a:ext cx="381524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CÓMO TERMINÓ</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2488631" cy="603503"/>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Cifrado de redes inalámbricas WEP</a:t>
            </a:r>
          </a:p>
        </p:txBody>
      </p:sp>
      <p:sp>
        <p:nvSpPr>
          <p:cNvPr id="16" name="TextBox 15"/>
          <p:cNvSpPr txBox="1"/>
          <p:nvPr/>
        </p:nvSpPr>
        <p:spPr>
          <a:xfrm>
            <a:off x="3220151" y="2825495"/>
            <a:ext cx="4257446" cy="603503"/>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Diseño propio sobre un algoritmo de flujo, con un vector de inicialización de solo 24 bits que se repetía</a:t>
            </a:r>
          </a:p>
        </p:txBody>
      </p:sp>
      <p:sp>
        <p:nvSpPr>
          <p:cNvPr id="17" name="TextBox 16"/>
          <p:cNvSpPr txBox="1"/>
          <p:nvPr/>
        </p:nvSpPr>
        <p:spPr>
          <a:xfrm>
            <a:off x="7642189" y="2825495"/>
            <a:ext cx="3815242" cy="603503"/>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Roto públicamente en 2001. Hoy una red con WEP se descifra en minutos con herramientas libres</a:t>
            </a:r>
          </a:p>
        </p:txBody>
      </p:sp>
      <p:sp>
        <p:nvSpPr>
          <p:cNvPr id="18" name="Rectangle 17"/>
          <p:cNvSpPr/>
          <p:nvPr/>
        </p:nvSpPr>
        <p:spPr>
          <a:xfrm>
            <a:off x="566928" y="339242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483863"/>
            <a:ext cx="2488631" cy="603503"/>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Tarjetas sin contacto MIFARE Classic</a:t>
            </a:r>
          </a:p>
        </p:txBody>
      </p:sp>
      <p:sp>
        <p:nvSpPr>
          <p:cNvPr id="20" name="TextBox 19"/>
          <p:cNvSpPr txBox="1"/>
          <p:nvPr/>
        </p:nvSpPr>
        <p:spPr>
          <a:xfrm>
            <a:off x="3220151" y="3483863"/>
            <a:ext cx="4257446" cy="603503"/>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Algoritmo propietario mantenido en secreto, usado en transporte y control de acceso en todo el mundo</a:t>
            </a:r>
          </a:p>
        </p:txBody>
      </p:sp>
      <p:sp>
        <p:nvSpPr>
          <p:cNvPr id="21" name="TextBox 20"/>
          <p:cNvSpPr txBox="1"/>
          <p:nvPr/>
        </p:nvSpPr>
        <p:spPr>
          <a:xfrm>
            <a:off x="7642189" y="3483863"/>
            <a:ext cx="3815242" cy="603503"/>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algoritmo se dedujo por ingeniería inversa en 2008. Millones de tarjetas quedaron clonables</a:t>
            </a:r>
          </a:p>
        </p:txBody>
      </p:sp>
      <p:sp>
        <p:nvSpPr>
          <p:cNvPr id="22" name="Rectangle 21"/>
          <p:cNvSpPr/>
          <p:nvPr/>
        </p:nvSpPr>
        <p:spPr>
          <a:xfrm>
            <a:off x="566928" y="405079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4142231"/>
            <a:ext cx="2488631" cy="603503"/>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Coopaburrá, 2023</a:t>
            </a:r>
          </a:p>
        </p:txBody>
      </p:sp>
      <p:sp>
        <p:nvSpPr>
          <p:cNvPr id="24" name="TextBox 23"/>
          <p:cNvSpPr txBox="1"/>
          <p:nvPr/>
        </p:nvSpPr>
        <p:spPr>
          <a:xfrm>
            <a:off x="3220151" y="4142231"/>
            <a:ext cx="4257446" cy="603503"/>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No inventaron el algoritmo: eligieron uno correcto. Inventaron el esquema de administración de la llave</a:t>
            </a:r>
          </a:p>
        </p:txBody>
      </p:sp>
      <p:sp>
        <p:nvSpPr>
          <p:cNvPr id="25" name="TextBox 24"/>
          <p:cNvSpPr txBox="1"/>
          <p:nvPr/>
        </p:nvSpPr>
        <p:spPr>
          <a:xfrm>
            <a:off x="7642189" y="4142231"/>
            <a:ext cx="3815242" cy="603503"/>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38 transferencias no autorizadas y ninguna capacidad de probar nada</a:t>
            </a:r>
          </a:p>
        </p:txBody>
      </p:sp>
      <p:sp>
        <p:nvSpPr>
          <p:cNvPr id="26" name="Rectangle 25"/>
          <p:cNvSpPr/>
          <p:nvPr/>
        </p:nvSpPr>
        <p:spPr>
          <a:xfrm>
            <a:off x="566928" y="470915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 y="4764023"/>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66928" y="5065775"/>
            <a:ext cx="45720" cy="96012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4672" y="5084063"/>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EL MATIZ QUE IMPORTA</a:t>
            </a:r>
          </a:p>
        </p:txBody>
      </p:sp>
      <p:sp>
        <p:nvSpPr>
          <p:cNvPr id="30" name="TextBox 29"/>
          <p:cNvSpPr txBox="1"/>
          <p:nvPr/>
        </p:nvSpPr>
        <p:spPr>
          <a:xfrm>
            <a:off x="804672" y="5321807"/>
            <a:ext cx="10780776" cy="68580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El tercer caso es el más instructivo porque muestra que la regla es más amplia de lo que suele enunciarse. No basta con no inventar el algoritmo: tampoco hay que inventar el protocolo, ni el esquema de llaves, ni el procedimiento de rotación. Esas partes también están estudiadas y estandarizadas.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24  DIAGNÓSTICO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ROTO FRENTE A MAL USADO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30</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Cuando un sistema criptográfico falla en el mundo real, conviene saber dónde falló de verdad. Las categorías no se parecen en frecuencia.</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3373038"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ORIGEN DE LA FALLA</a:t>
            </a:r>
          </a:p>
        </p:txBody>
      </p:sp>
      <p:sp>
        <p:nvSpPr>
          <p:cNvPr id="12" name="TextBox 11"/>
          <p:cNvSpPr txBox="1"/>
          <p:nvPr/>
        </p:nvSpPr>
        <p:spPr>
          <a:xfrm>
            <a:off x="4104558" y="2423159"/>
            <a:ext cx="381524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EJEMPLO</a:t>
            </a:r>
          </a:p>
        </p:txBody>
      </p:sp>
      <p:sp>
        <p:nvSpPr>
          <p:cNvPr id="13" name="TextBox 12"/>
          <p:cNvSpPr txBox="1"/>
          <p:nvPr/>
        </p:nvSpPr>
        <p:spPr>
          <a:xfrm>
            <a:off x="8084393" y="2423159"/>
            <a:ext cx="3373038"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FRECUENCIA REAL</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3373038" cy="42062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El algoritmo es débil</a:t>
            </a:r>
          </a:p>
        </p:txBody>
      </p:sp>
      <p:sp>
        <p:nvSpPr>
          <p:cNvPr id="16" name="TextBox 15"/>
          <p:cNvSpPr txBox="1"/>
          <p:nvPr/>
        </p:nvSpPr>
        <p:spPr>
          <a:xfrm>
            <a:off x="4104558" y="2825495"/>
            <a:ext cx="3815242" cy="42062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MD5 o SHA-1 para firmar, o DES</a:t>
            </a:r>
          </a:p>
        </p:txBody>
      </p:sp>
      <p:sp>
        <p:nvSpPr>
          <p:cNvPr id="17" name="TextBox 16"/>
          <p:cNvSpPr txBox="1"/>
          <p:nvPr/>
        </p:nvSpPr>
        <p:spPr>
          <a:xfrm>
            <a:off x="8084393" y="2825495"/>
            <a:ext cx="3373038" cy="42062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Poco frecuente: sistemas heredados</a:t>
            </a:r>
          </a:p>
        </p:txBody>
      </p:sp>
      <p:sp>
        <p:nvSpPr>
          <p:cNvPr id="18" name="Rectangle 17"/>
          <p:cNvSpPr/>
          <p:nvPr/>
        </p:nvSpPr>
        <p:spPr>
          <a:xfrm>
            <a:off x="566928" y="320954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300983"/>
            <a:ext cx="3373038" cy="42062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El algoritmo está mal configurado</a:t>
            </a:r>
          </a:p>
        </p:txBody>
      </p:sp>
      <p:sp>
        <p:nvSpPr>
          <p:cNvPr id="20" name="TextBox 19"/>
          <p:cNvSpPr txBox="1"/>
          <p:nvPr/>
        </p:nvSpPr>
        <p:spPr>
          <a:xfrm>
            <a:off x="4104558" y="3300983"/>
            <a:ext cx="3815242" cy="42062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Modo inadecuado o vector repetido</a:t>
            </a:r>
          </a:p>
        </p:txBody>
      </p:sp>
      <p:sp>
        <p:nvSpPr>
          <p:cNvPr id="21" name="TextBox 20"/>
          <p:cNvSpPr txBox="1"/>
          <p:nvPr/>
        </p:nvSpPr>
        <p:spPr>
          <a:xfrm>
            <a:off x="8084393" y="3300983"/>
            <a:ext cx="3373038" cy="42062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Frecuente</a:t>
            </a:r>
          </a:p>
        </p:txBody>
      </p:sp>
      <p:sp>
        <p:nvSpPr>
          <p:cNvPr id="22" name="Rectangle 21"/>
          <p:cNvSpPr/>
          <p:nvPr/>
        </p:nvSpPr>
        <p:spPr>
          <a:xfrm>
            <a:off x="566928" y="368503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776471"/>
            <a:ext cx="3373038" cy="42062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La llave está mal generada</a:t>
            </a:r>
          </a:p>
        </p:txBody>
      </p:sp>
      <p:sp>
        <p:nvSpPr>
          <p:cNvPr id="24" name="TextBox 23"/>
          <p:cNvSpPr txBox="1"/>
          <p:nvPr/>
        </p:nvSpPr>
        <p:spPr>
          <a:xfrm>
            <a:off x="4104558" y="3776471"/>
            <a:ext cx="3815242" cy="42062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Generador predecible, poca entropía</a:t>
            </a:r>
          </a:p>
        </p:txBody>
      </p:sp>
      <p:sp>
        <p:nvSpPr>
          <p:cNvPr id="25" name="TextBox 24"/>
          <p:cNvSpPr txBox="1"/>
          <p:nvPr/>
        </p:nvSpPr>
        <p:spPr>
          <a:xfrm>
            <a:off x="8084393" y="3776471"/>
            <a:ext cx="3373038" cy="42062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Frecuente y catastrófico</a:t>
            </a:r>
          </a:p>
        </p:txBody>
      </p:sp>
      <p:sp>
        <p:nvSpPr>
          <p:cNvPr id="26" name="Rectangle 25"/>
          <p:cNvSpPr/>
          <p:nvPr/>
        </p:nvSpPr>
        <p:spPr>
          <a:xfrm>
            <a:off x="566928" y="4160520"/>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251959"/>
            <a:ext cx="3373038" cy="420624"/>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La llave está mal administrada</a:t>
            </a:r>
          </a:p>
        </p:txBody>
      </p:sp>
      <p:sp>
        <p:nvSpPr>
          <p:cNvPr id="28" name="TextBox 27"/>
          <p:cNvSpPr txBox="1"/>
          <p:nvPr/>
        </p:nvSpPr>
        <p:spPr>
          <a:xfrm>
            <a:off x="4104558" y="4251959"/>
            <a:ext cx="3815242" cy="42062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Compartida, en el código, nunca rotada</a:t>
            </a:r>
          </a:p>
        </p:txBody>
      </p:sp>
      <p:sp>
        <p:nvSpPr>
          <p:cNvPr id="29" name="TextBox 28"/>
          <p:cNvSpPr txBox="1"/>
          <p:nvPr/>
        </p:nvSpPr>
        <p:spPr>
          <a:xfrm>
            <a:off x="8084393" y="4251959"/>
            <a:ext cx="3373038" cy="42062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más frecuente. Es el caso Coopaburrá</a:t>
            </a:r>
          </a:p>
        </p:txBody>
      </p:sp>
      <p:sp>
        <p:nvSpPr>
          <p:cNvPr id="30" name="Rectangle 29"/>
          <p:cNvSpPr/>
          <p:nvPr/>
        </p:nvSpPr>
        <p:spPr>
          <a:xfrm>
            <a:off x="566928" y="463600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727447"/>
            <a:ext cx="3373038" cy="42062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Se escogió el servicio equivocado</a:t>
            </a:r>
          </a:p>
        </p:txBody>
      </p:sp>
      <p:sp>
        <p:nvSpPr>
          <p:cNvPr id="32" name="TextBox 31"/>
          <p:cNvSpPr txBox="1"/>
          <p:nvPr/>
        </p:nvSpPr>
        <p:spPr>
          <a:xfrm>
            <a:off x="4104558" y="4727447"/>
            <a:ext cx="3815242" cy="42062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Autenticidad donde hacía falta no repudio</a:t>
            </a:r>
          </a:p>
        </p:txBody>
      </p:sp>
      <p:sp>
        <p:nvSpPr>
          <p:cNvPr id="33" name="TextBox 32"/>
          <p:cNvSpPr txBox="1"/>
          <p:nvPr/>
        </p:nvSpPr>
        <p:spPr>
          <a:xfrm>
            <a:off x="8084393" y="4727447"/>
            <a:ext cx="3373038" cy="42062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Frecuente y difícil de detectar</a:t>
            </a:r>
          </a:p>
        </p:txBody>
      </p:sp>
      <p:sp>
        <p:nvSpPr>
          <p:cNvPr id="34" name="Rectangle 33"/>
          <p:cNvSpPr/>
          <p:nvPr/>
        </p:nvSpPr>
        <p:spPr>
          <a:xfrm>
            <a:off x="566928" y="511149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66928" y="5166359"/>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5468111"/>
            <a:ext cx="45720" cy="64008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4672" y="5486399"/>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CÓMO USAR ESTO EN EL INFORME</a:t>
            </a:r>
          </a:p>
        </p:txBody>
      </p:sp>
      <p:sp>
        <p:nvSpPr>
          <p:cNvPr id="38" name="TextBox 37"/>
          <p:cNvSpPr txBox="1"/>
          <p:nvPr/>
        </p:nvSpPr>
        <p:spPr>
          <a:xfrm>
            <a:off x="804672" y="5724143"/>
            <a:ext cx="10780776" cy="365759"/>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Cada hallazgo de Coopaburrá debería caer en una de estas cinco filas. La clasificación determina el tipo de solución y quién la ejecuta.</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25  CRITERIO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CONTRA QUIÉN SE PROTEGE</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31</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No existe «seguro». Existe «seguro frente a un adversario con ciertos recursos, durante cierto tiempo». Definir el adversario es parte del diseño, y es la conversación que Coopaburrá nunca tuvo.</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3151936"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ADVERSARIO</a:t>
            </a:r>
          </a:p>
        </p:txBody>
      </p:sp>
      <p:sp>
        <p:nvSpPr>
          <p:cNvPr id="12" name="TextBox 11"/>
          <p:cNvSpPr txBox="1"/>
          <p:nvPr/>
        </p:nvSpPr>
        <p:spPr>
          <a:xfrm>
            <a:off x="3883456" y="2423159"/>
            <a:ext cx="3594140"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RECURSOS</a:t>
            </a:r>
          </a:p>
        </p:txBody>
      </p:sp>
      <p:sp>
        <p:nvSpPr>
          <p:cNvPr id="13" name="TextBox 12"/>
          <p:cNvSpPr txBox="1"/>
          <p:nvPr/>
        </p:nvSpPr>
        <p:spPr>
          <a:xfrm>
            <a:off x="7642189" y="2423159"/>
            <a:ext cx="381524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LO DETIENE EN EL CASO</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3151936"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Un curioso interno</a:t>
            </a:r>
          </a:p>
        </p:txBody>
      </p:sp>
      <p:sp>
        <p:nvSpPr>
          <p:cNvPr id="16" name="TextBox 15"/>
          <p:cNvSpPr txBox="1"/>
          <p:nvPr/>
        </p:nvSpPr>
        <p:spPr>
          <a:xfrm>
            <a:off x="3883456" y="2825495"/>
            <a:ext cx="3594140"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Acceso legítimo de lectura a la base de datos</a:t>
            </a:r>
          </a:p>
        </p:txBody>
      </p:sp>
      <p:sp>
        <p:nvSpPr>
          <p:cNvPr id="17" name="TextBox 16"/>
          <p:cNvSpPr txBox="1"/>
          <p:nvPr/>
        </p:nvSpPr>
        <p:spPr>
          <a:xfrm>
            <a:off x="7642189" y="2825495"/>
            <a:ext cx="381524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Cifrado a nivel de campo y registro de consultas. Hoy no hay ninguno de los dos</a:t>
            </a:r>
          </a:p>
        </p:txBody>
      </p:sp>
      <p:sp>
        <p:nvSpPr>
          <p:cNvPr id="18" name="Rectangle 17"/>
          <p:cNvSpPr/>
          <p:nvPr/>
        </p:nvSpPr>
        <p:spPr>
          <a:xfrm>
            <a:off x="566928" y="32739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365357"/>
            <a:ext cx="3151936"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Un atacante remoto oportunista</a:t>
            </a:r>
          </a:p>
        </p:txBody>
      </p:sp>
      <p:sp>
        <p:nvSpPr>
          <p:cNvPr id="20" name="TextBox 19"/>
          <p:cNvSpPr txBox="1"/>
          <p:nvPr/>
        </p:nvSpPr>
        <p:spPr>
          <a:xfrm>
            <a:off x="3883456" y="3365357"/>
            <a:ext cx="3594140"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Herramientas públicas, poco tiempo, busca blancos fáciles</a:t>
            </a:r>
          </a:p>
        </p:txBody>
      </p:sp>
      <p:sp>
        <p:nvSpPr>
          <p:cNvPr id="21" name="TextBox 20"/>
          <p:cNvSpPr txBox="1"/>
          <p:nvPr/>
        </p:nvSpPr>
        <p:spPr>
          <a:xfrm>
            <a:off x="7642189" y="3365357"/>
            <a:ext cx="381524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Canal bien configurado y contraseñas bien almacenadas. Hoy fallan ambos</a:t>
            </a:r>
          </a:p>
        </p:txBody>
      </p:sp>
      <p:sp>
        <p:nvSpPr>
          <p:cNvPr id="22" name="Rectangle 21"/>
          <p:cNvSpPr/>
          <p:nvPr/>
        </p:nvSpPr>
        <p:spPr>
          <a:xfrm>
            <a:off x="566928" y="381377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905219"/>
            <a:ext cx="3151936"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Alguien que descargó la aplicación</a:t>
            </a:r>
          </a:p>
        </p:txBody>
      </p:sp>
      <p:sp>
        <p:nvSpPr>
          <p:cNvPr id="24" name="TextBox 23"/>
          <p:cNvSpPr txBox="1"/>
          <p:nvPr/>
        </p:nvSpPr>
        <p:spPr>
          <a:xfrm>
            <a:off x="3883456" y="3905219"/>
            <a:ext cx="3594140"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 teléfono y un descompilador gratuito</a:t>
            </a:r>
          </a:p>
        </p:txBody>
      </p:sp>
      <p:sp>
        <p:nvSpPr>
          <p:cNvPr id="25" name="TextBox 24"/>
          <p:cNvSpPr txBox="1"/>
          <p:nvPr/>
        </p:nvSpPr>
        <p:spPr>
          <a:xfrm>
            <a:off x="7642189" y="3905219"/>
            <a:ext cx="381524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Llaves individuales por usuario. Hoy hay una sola llave para todos</a:t>
            </a:r>
          </a:p>
        </p:txBody>
      </p:sp>
      <p:sp>
        <p:nvSpPr>
          <p:cNvPr id="26" name="Rectangle 25"/>
          <p:cNvSpPr/>
          <p:nvPr/>
        </p:nvSpPr>
        <p:spPr>
          <a:xfrm>
            <a:off x="566928" y="435364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445081"/>
            <a:ext cx="3151936"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Un mensajero con el disco de respaldo</a:t>
            </a:r>
          </a:p>
        </p:txBody>
      </p:sp>
      <p:sp>
        <p:nvSpPr>
          <p:cNvPr id="28" name="TextBox 27"/>
          <p:cNvSpPr txBox="1"/>
          <p:nvPr/>
        </p:nvSpPr>
        <p:spPr>
          <a:xfrm>
            <a:off x="3883456" y="4445081"/>
            <a:ext cx="3594140"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Acceso físico al medio durante el traslado</a:t>
            </a:r>
          </a:p>
        </p:txBody>
      </p:sp>
      <p:sp>
        <p:nvSpPr>
          <p:cNvPr id="29" name="TextBox 28"/>
          <p:cNvSpPr txBox="1"/>
          <p:nvPr/>
        </p:nvSpPr>
        <p:spPr>
          <a:xfrm>
            <a:off x="7642189" y="4445081"/>
            <a:ext cx="381524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Llave separada del respaldo. Hoy viajan juntas en el mismo disco</a:t>
            </a:r>
          </a:p>
        </p:txBody>
      </p:sp>
      <p:sp>
        <p:nvSpPr>
          <p:cNvPr id="30" name="Rectangle 29"/>
          <p:cNvSpPr/>
          <p:nvPr/>
        </p:nvSpPr>
        <p:spPr>
          <a:xfrm>
            <a:off x="566928" y="489350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984943"/>
            <a:ext cx="3151936"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Un adversario con capacidad de cómputo futura</a:t>
            </a:r>
          </a:p>
        </p:txBody>
      </p:sp>
      <p:sp>
        <p:nvSpPr>
          <p:cNvPr id="32" name="TextBox 31"/>
          <p:cNvSpPr txBox="1"/>
          <p:nvPr/>
        </p:nvSpPr>
        <p:spPr>
          <a:xfrm>
            <a:off x="3883456" y="4984943"/>
            <a:ext cx="3594140"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Guarda hoy lo que podrá descifrar en diez años</a:t>
            </a:r>
          </a:p>
        </p:txBody>
      </p:sp>
      <p:sp>
        <p:nvSpPr>
          <p:cNvPr id="33" name="TextBox 32"/>
          <p:cNvSpPr txBox="1"/>
          <p:nvPr/>
        </p:nvSpPr>
        <p:spPr>
          <a:xfrm>
            <a:off x="7642189" y="4984943"/>
            <a:ext cx="381524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Algoritmos resistentes. Es la sesión 6, y afecta a los créditos a veinte años</a:t>
            </a:r>
          </a:p>
        </p:txBody>
      </p:sp>
      <p:sp>
        <p:nvSpPr>
          <p:cNvPr id="34" name="Rectangle 33"/>
          <p:cNvSpPr/>
          <p:nvPr/>
        </p:nvSpPr>
        <p:spPr>
          <a:xfrm>
            <a:off x="566928" y="5433364"/>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66928" y="5488228"/>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26  ATAQUE</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LOS CUATRO MODELOS DE ATAQUE</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32</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El criptoanálisis clasifica los ataques por lo que el atacante tiene en la mano. Es terminología estándar, aparece en toda la bibliografía, y un algoritmo moderno tiene que resistir los cuatro.</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270973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MODELO</a:t>
            </a:r>
          </a:p>
        </p:txBody>
      </p:sp>
      <p:sp>
        <p:nvSpPr>
          <p:cNvPr id="12" name="TextBox 11"/>
          <p:cNvSpPr txBox="1"/>
          <p:nvPr/>
        </p:nvSpPr>
        <p:spPr>
          <a:xfrm>
            <a:off x="3441252" y="2423159"/>
            <a:ext cx="381524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TIENE EL ATACANTE</a:t>
            </a:r>
          </a:p>
        </p:txBody>
      </p:sp>
      <p:sp>
        <p:nvSpPr>
          <p:cNvPr id="13" name="TextBox 12"/>
          <p:cNvSpPr txBox="1"/>
          <p:nvPr/>
        </p:nvSpPr>
        <p:spPr>
          <a:xfrm>
            <a:off x="7421087" y="2423159"/>
            <a:ext cx="403634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DÓNDE APARECE EN EL CASO</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2709732"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Solo texto cifrado</a:t>
            </a:r>
          </a:p>
        </p:txBody>
      </p:sp>
      <p:sp>
        <p:nvSpPr>
          <p:cNvPr id="16" name="TextBox 15"/>
          <p:cNvSpPr txBox="1"/>
          <p:nvPr/>
        </p:nvSpPr>
        <p:spPr>
          <a:xfrm>
            <a:off x="3441252" y="2825495"/>
            <a:ext cx="381524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Únicamente mensajes cifrados</a:t>
            </a:r>
          </a:p>
        </p:txBody>
      </p:sp>
      <p:sp>
        <p:nvSpPr>
          <p:cNvPr id="17" name="TextBox 16"/>
          <p:cNvSpPr txBox="1"/>
          <p:nvPr/>
        </p:nvSpPr>
        <p:spPr>
          <a:xfrm>
            <a:off x="7421087" y="2825495"/>
            <a:ext cx="403634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Quien se lleve el disco de respaldo que viaja cada semana a Sabaneta</a:t>
            </a:r>
          </a:p>
        </p:txBody>
      </p:sp>
      <p:sp>
        <p:nvSpPr>
          <p:cNvPr id="18" name="Rectangle 17"/>
          <p:cNvSpPr/>
          <p:nvPr/>
        </p:nvSpPr>
        <p:spPr>
          <a:xfrm>
            <a:off x="566928" y="32739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365357"/>
            <a:ext cx="2709732"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Texto claro conocido</a:t>
            </a:r>
          </a:p>
        </p:txBody>
      </p:sp>
      <p:sp>
        <p:nvSpPr>
          <p:cNvPr id="20" name="TextBox 19"/>
          <p:cNvSpPr txBox="1"/>
          <p:nvPr/>
        </p:nvSpPr>
        <p:spPr>
          <a:xfrm>
            <a:off x="3441252" y="3365357"/>
            <a:ext cx="381524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Pares de mensaje y cifrado que él no escogió</a:t>
            </a:r>
          </a:p>
        </p:txBody>
      </p:sp>
      <p:sp>
        <p:nvSpPr>
          <p:cNvPr id="21" name="TextBox 20"/>
          <p:cNvSpPr txBox="1"/>
          <p:nvPr/>
        </p:nvSpPr>
        <p:spPr>
          <a:xfrm>
            <a:off x="7421087" y="3365357"/>
            <a:ext cx="403634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Cada respaldo nocturno empieza con el mismo encabezado de volcado</a:t>
            </a:r>
          </a:p>
        </p:txBody>
      </p:sp>
      <p:sp>
        <p:nvSpPr>
          <p:cNvPr id="22" name="Rectangle 21"/>
          <p:cNvSpPr/>
          <p:nvPr/>
        </p:nvSpPr>
        <p:spPr>
          <a:xfrm>
            <a:off x="566928" y="381377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905219"/>
            <a:ext cx="2709732"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Texto claro elegido</a:t>
            </a:r>
          </a:p>
        </p:txBody>
      </p:sp>
      <p:sp>
        <p:nvSpPr>
          <p:cNvPr id="24" name="TextBox 23"/>
          <p:cNvSpPr txBox="1"/>
          <p:nvPr/>
        </p:nvSpPr>
        <p:spPr>
          <a:xfrm>
            <a:off x="3441252" y="3905219"/>
            <a:ext cx="381524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Puede hacer cifrar lo que quiera y ver el resultado</a:t>
            </a:r>
          </a:p>
        </p:txBody>
      </p:sp>
      <p:sp>
        <p:nvSpPr>
          <p:cNvPr id="25" name="TextBox 24"/>
          <p:cNvSpPr txBox="1"/>
          <p:nvPr/>
        </p:nvSpPr>
        <p:spPr>
          <a:xfrm>
            <a:off x="7421087" y="3905219"/>
            <a:ext cx="403634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Cualquier asociado hace una transferencia y observa el código que la acompaña</a:t>
            </a:r>
          </a:p>
        </p:txBody>
      </p:sp>
      <p:sp>
        <p:nvSpPr>
          <p:cNvPr id="26" name="Rectangle 25"/>
          <p:cNvSpPr/>
          <p:nvPr/>
        </p:nvSpPr>
        <p:spPr>
          <a:xfrm>
            <a:off x="566928" y="435364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445081"/>
            <a:ext cx="2709732"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Texto cifrado elegido</a:t>
            </a:r>
          </a:p>
        </p:txBody>
      </p:sp>
      <p:sp>
        <p:nvSpPr>
          <p:cNvPr id="28" name="TextBox 27"/>
          <p:cNvSpPr txBox="1"/>
          <p:nvPr/>
        </p:nvSpPr>
        <p:spPr>
          <a:xfrm>
            <a:off x="3441252" y="4445081"/>
            <a:ext cx="381524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Puede hacer descifrar lo que quiera y observar cómo reacciona el sistema</a:t>
            </a:r>
          </a:p>
        </p:txBody>
      </p:sp>
      <p:sp>
        <p:nvSpPr>
          <p:cNvPr id="29" name="TextBox 28"/>
          <p:cNvSpPr txBox="1"/>
          <p:nvPr/>
        </p:nvSpPr>
        <p:spPr>
          <a:xfrm>
            <a:off x="7421087" y="4445081"/>
            <a:ext cx="403634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 servidor que responde distinto cuando el relleno está mal: el ataque de la sesión 2</a:t>
            </a:r>
          </a:p>
        </p:txBody>
      </p:sp>
      <p:sp>
        <p:nvSpPr>
          <p:cNvPr id="30" name="Rectangle 29"/>
          <p:cNvSpPr/>
          <p:nvPr/>
        </p:nvSpPr>
        <p:spPr>
          <a:xfrm>
            <a:off x="566928" y="489350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94836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 y="5250119"/>
            <a:ext cx="45720" cy="77724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2" y="5268407"/>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POR QUÉ IMPORTA EL ÚLTIMO</a:t>
            </a:r>
          </a:p>
        </p:txBody>
      </p:sp>
      <p:sp>
        <p:nvSpPr>
          <p:cNvPr id="34" name="TextBox 33"/>
          <p:cNvSpPr txBox="1"/>
          <p:nvPr/>
        </p:nvSpPr>
        <p:spPr>
          <a:xfrm>
            <a:off x="804672" y="5506151"/>
            <a:ext cx="10780776" cy="50292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Un esquema que resiste el ataque de texto cifrado elegido resiste los otros tres. </a:t>
            </a:r>
            <a:r>
              <a:rPr sz="1150" b="1">
                <a:solidFill>
                  <a:srgbClr val="2A2A2A"/>
                </a:solidFill>
                <a:latin typeface="Arial"/>
              </a:rPr>
              <a:t>Es el mínimo que se le exige hoy a cualquier cifrado</a:t>
            </a:r>
            <a:r>
              <a:rPr sz="1150" b="0">
                <a:solidFill>
                  <a:srgbClr val="2A2A2A"/>
                </a:solidFill>
                <a:latin typeface="Arial"/>
              </a:rPr>
              <a:t>, y es la razón por la que la sesión 2 termina recomendando cifrado autenticado por defecto.</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27  ESCALA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200" b="0">
                <a:solidFill>
                  <a:srgbClr val="000000"/>
                </a:solidFill>
                <a:latin typeface="Arial Black"/>
              </a:rPr>
              <a:t>QUÉ SIGNIFICA «COMPUTACIONALMENTE INVIABLE»</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33</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La seguridad moderna no promete imposibilidad: promete que el ataque cuesta más tiempo del que existe. Conviene ver los números una vez, porque cambian la intuición para siempre.</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2488631"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LLAVE</a:t>
            </a:r>
          </a:p>
        </p:txBody>
      </p:sp>
      <p:sp>
        <p:nvSpPr>
          <p:cNvPr id="12" name="TextBox 11"/>
          <p:cNvSpPr txBox="1"/>
          <p:nvPr/>
        </p:nvSpPr>
        <p:spPr>
          <a:xfrm>
            <a:off x="3220151" y="2423159"/>
            <a:ext cx="2156978"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LLAVES POSIBLES</a:t>
            </a:r>
          </a:p>
        </p:txBody>
      </p:sp>
      <p:sp>
        <p:nvSpPr>
          <p:cNvPr id="13" name="TextBox 12"/>
          <p:cNvSpPr txBox="1"/>
          <p:nvPr/>
        </p:nvSpPr>
        <p:spPr>
          <a:xfrm>
            <a:off x="5541721" y="2423159"/>
            <a:ext cx="2820283"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GRUPO CRIMINAL · 10¹² POR SEGUNDO</a:t>
            </a:r>
          </a:p>
        </p:txBody>
      </p:sp>
      <p:sp>
        <p:nvSpPr>
          <p:cNvPr id="14" name="TextBox 13"/>
          <p:cNvSpPr txBox="1"/>
          <p:nvPr/>
        </p:nvSpPr>
        <p:spPr>
          <a:xfrm>
            <a:off x="8526597" y="2423159"/>
            <a:ext cx="293083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UN ESTADO · 10¹⁸ POR SEGUNDO</a:t>
            </a:r>
          </a:p>
        </p:txBody>
      </p:sp>
      <p:sp>
        <p:nvSpPr>
          <p:cNvPr id="15" name="Rectangle 14"/>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825495"/>
            <a:ext cx="2488631" cy="32918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56 bits · DES</a:t>
            </a:r>
          </a:p>
        </p:txBody>
      </p:sp>
      <p:sp>
        <p:nvSpPr>
          <p:cNvPr id="17" name="TextBox 16"/>
          <p:cNvSpPr txBox="1"/>
          <p:nvPr/>
        </p:nvSpPr>
        <p:spPr>
          <a:xfrm>
            <a:off x="3220151" y="2825495"/>
            <a:ext cx="2156978"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7,2 × 10¹⁶</a:t>
            </a:r>
          </a:p>
        </p:txBody>
      </p:sp>
      <p:sp>
        <p:nvSpPr>
          <p:cNvPr id="18" name="TextBox 17"/>
          <p:cNvSpPr txBox="1"/>
          <p:nvPr/>
        </p:nvSpPr>
        <p:spPr>
          <a:xfrm>
            <a:off x="5541721" y="2825495"/>
            <a:ext cx="2820283"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20 horas</a:t>
            </a:r>
          </a:p>
        </p:txBody>
      </p:sp>
      <p:sp>
        <p:nvSpPr>
          <p:cNvPr id="19" name="TextBox 18"/>
          <p:cNvSpPr txBox="1"/>
          <p:nvPr/>
        </p:nvSpPr>
        <p:spPr>
          <a:xfrm>
            <a:off x="8526597" y="2825495"/>
            <a:ext cx="2930834"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0,07 segundos</a:t>
            </a:r>
          </a:p>
        </p:txBody>
      </p:sp>
      <p:sp>
        <p:nvSpPr>
          <p:cNvPr id="20" name="Rectangle 19"/>
          <p:cNvSpPr/>
          <p:nvPr/>
        </p:nvSpPr>
        <p:spPr>
          <a:xfrm>
            <a:off x="566928" y="311810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209543"/>
            <a:ext cx="2488631" cy="32918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80 bits</a:t>
            </a:r>
          </a:p>
        </p:txBody>
      </p:sp>
      <p:sp>
        <p:nvSpPr>
          <p:cNvPr id="22" name="TextBox 21"/>
          <p:cNvSpPr txBox="1"/>
          <p:nvPr/>
        </p:nvSpPr>
        <p:spPr>
          <a:xfrm>
            <a:off x="3220151" y="3209543"/>
            <a:ext cx="2156978"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1,2 × 10²⁴</a:t>
            </a:r>
          </a:p>
        </p:txBody>
      </p:sp>
      <p:sp>
        <p:nvSpPr>
          <p:cNvPr id="23" name="TextBox 22"/>
          <p:cNvSpPr txBox="1"/>
          <p:nvPr/>
        </p:nvSpPr>
        <p:spPr>
          <a:xfrm>
            <a:off x="5541721" y="3209543"/>
            <a:ext cx="2820283"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38.000 años</a:t>
            </a:r>
          </a:p>
        </p:txBody>
      </p:sp>
      <p:sp>
        <p:nvSpPr>
          <p:cNvPr id="24" name="TextBox 23"/>
          <p:cNvSpPr txBox="1"/>
          <p:nvPr/>
        </p:nvSpPr>
        <p:spPr>
          <a:xfrm>
            <a:off x="8526597" y="3209543"/>
            <a:ext cx="2930834"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14 días</a:t>
            </a:r>
          </a:p>
        </p:txBody>
      </p:sp>
      <p:sp>
        <p:nvSpPr>
          <p:cNvPr id="25" name="Rectangle 24"/>
          <p:cNvSpPr/>
          <p:nvPr/>
        </p:nvSpPr>
        <p:spPr>
          <a:xfrm>
            <a:off x="566928" y="350215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593591"/>
            <a:ext cx="2488631" cy="32918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112 bits</a:t>
            </a:r>
          </a:p>
        </p:txBody>
      </p:sp>
      <p:sp>
        <p:nvSpPr>
          <p:cNvPr id="27" name="TextBox 26"/>
          <p:cNvSpPr txBox="1"/>
          <p:nvPr/>
        </p:nvSpPr>
        <p:spPr>
          <a:xfrm>
            <a:off x="3220151" y="3593591"/>
            <a:ext cx="2156978"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5,2 × 10³³</a:t>
            </a:r>
          </a:p>
        </p:txBody>
      </p:sp>
      <p:sp>
        <p:nvSpPr>
          <p:cNvPr id="28" name="TextBox 27"/>
          <p:cNvSpPr txBox="1"/>
          <p:nvPr/>
        </p:nvSpPr>
        <p:spPr>
          <a:xfrm>
            <a:off x="5541721" y="3593591"/>
            <a:ext cx="2820283"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1,6 × 10¹⁴ años</a:t>
            </a:r>
          </a:p>
        </p:txBody>
      </p:sp>
      <p:sp>
        <p:nvSpPr>
          <p:cNvPr id="29" name="TextBox 28"/>
          <p:cNvSpPr txBox="1"/>
          <p:nvPr/>
        </p:nvSpPr>
        <p:spPr>
          <a:xfrm>
            <a:off x="8526597" y="3593591"/>
            <a:ext cx="2930834"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164 millones de años</a:t>
            </a:r>
          </a:p>
        </p:txBody>
      </p:sp>
      <p:sp>
        <p:nvSpPr>
          <p:cNvPr id="30" name="Rectangle 29"/>
          <p:cNvSpPr/>
          <p:nvPr/>
        </p:nvSpPr>
        <p:spPr>
          <a:xfrm>
            <a:off x="566928" y="388619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3977639"/>
            <a:ext cx="2488631"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128 bits · AES-128</a:t>
            </a:r>
          </a:p>
        </p:txBody>
      </p:sp>
      <p:sp>
        <p:nvSpPr>
          <p:cNvPr id="32" name="TextBox 31"/>
          <p:cNvSpPr txBox="1"/>
          <p:nvPr/>
        </p:nvSpPr>
        <p:spPr>
          <a:xfrm>
            <a:off x="3220151" y="3977639"/>
            <a:ext cx="2156978"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3,4 × 10³⁸</a:t>
            </a:r>
          </a:p>
        </p:txBody>
      </p:sp>
      <p:sp>
        <p:nvSpPr>
          <p:cNvPr id="33" name="TextBox 32"/>
          <p:cNvSpPr txBox="1"/>
          <p:nvPr/>
        </p:nvSpPr>
        <p:spPr>
          <a:xfrm>
            <a:off x="5541721" y="3977639"/>
            <a:ext cx="2820283"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1,1 × 10¹⁹ años</a:t>
            </a:r>
          </a:p>
        </p:txBody>
      </p:sp>
      <p:sp>
        <p:nvSpPr>
          <p:cNvPr id="34" name="TextBox 33"/>
          <p:cNvSpPr txBox="1"/>
          <p:nvPr/>
        </p:nvSpPr>
        <p:spPr>
          <a:xfrm>
            <a:off x="8526597" y="3977639"/>
            <a:ext cx="293083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1,1 × 10¹³ años: 780 veces la edad del universo</a:t>
            </a:r>
          </a:p>
        </p:txBody>
      </p:sp>
      <p:sp>
        <p:nvSpPr>
          <p:cNvPr id="35" name="Rectangle 34"/>
          <p:cNvSpPr/>
          <p:nvPr/>
        </p:nvSpPr>
        <p:spPr>
          <a:xfrm>
            <a:off x="566928" y="442606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6928" y="4517501"/>
            <a:ext cx="2488631" cy="32918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256 bits · AES-256</a:t>
            </a:r>
          </a:p>
        </p:txBody>
      </p:sp>
      <p:sp>
        <p:nvSpPr>
          <p:cNvPr id="37" name="TextBox 36"/>
          <p:cNvSpPr txBox="1"/>
          <p:nvPr/>
        </p:nvSpPr>
        <p:spPr>
          <a:xfrm>
            <a:off x="3220151" y="4517501"/>
            <a:ext cx="2156978"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1,2 × 10⁷⁷</a:t>
            </a:r>
          </a:p>
        </p:txBody>
      </p:sp>
      <p:sp>
        <p:nvSpPr>
          <p:cNvPr id="38" name="TextBox 37"/>
          <p:cNvSpPr txBox="1"/>
          <p:nvPr/>
        </p:nvSpPr>
        <p:spPr>
          <a:xfrm>
            <a:off x="5541721" y="4517501"/>
            <a:ext cx="2820283"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3,7 × 10⁵⁷ años</a:t>
            </a:r>
          </a:p>
        </p:txBody>
      </p:sp>
      <p:sp>
        <p:nvSpPr>
          <p:cNvPr id="39" name="TextBox 38"/>
          <p:cNvSpPr txBox="1"/>
          <p:nvPr/>
        </p:nvSpPr>
        <p:spPr>
          <a:xfrm>
            <a:off x="8526597" y="4517501"/>
            <a:ext cx="2930834"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3,7 × 10⁵¹ años</a:t>
            </a:r>
          </a:p>
        </p:txBody>
      </p:sp>
      <p:sp>
        <p:nvSpPr>
          <p:cNvPr id="40" name="Rectangle 39"/>
          <p:cNvSpPr/>
          <p:nvPr/>
        </p:nvSpPr>
        <p:spPr>
          <a:xfrm>
            <a:off x="566928" y="481010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66928" y="4864973"/>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66928" y="5166725"/>
            <a:ext cx="45720" cy="84124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04672" y="5185013"/>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CONCLUSIÓN PRÁCTICA</a:t>
            </a:r>
          </a:p>
        </p:txBody>
      </p:sp>
      <p:sp>
        <p:nvSpPr>
          <p:cNvPr id="44" name="TextBox 43"/>
          <p:cNvSpPr txBox="1"/>
          <p:nvPr/>
        </p:nvSpPr>
        <p:spPr>
          <a:xfrm>
            <a:off x="804672" y="5422757"/>
            <a:ext cx="10780776" cy="56692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De 80 a 128 bits no hay un 60 % más de seguridad: hay 2⁴⁸ veces más, unos 280 billones de veces. </a:t>
            </a:r>
            <a:r>
              <a:rPr sz="1150" b="1">
                <a:solidFill>
                  <a:srgbClr val="2A2A2A"/>
                </a:solidFill>
                <a:latin typeface="Arial"/>
              </a:rPr>
              <a:t>Por eso nadie ataca AES probando llaves.</a:t>
            </a:r>
            <a:r>
              <a:rPr sz="1150" b="0">
                <a:solidFill>
                  <a:srgbClr val="2A2A2A"/>
                </a:solidFill>
                <a:latin typeface="Arial"/>
              </a:rPr>
              <a:t> Se ataca la contraseña de la que salió la llave, el generador que la produjo o el lugar donde se guarda. Exactamente los hallazgos H1, H4 y H2.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28  CRITERIO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CUÁNTO TIENE QUE DURAR EL SECRETO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34</a:t>
            </a:r>
          </a:p>
        </p:txBody>
      </p:sp>
      <p:sp>
        <p:nvSpPr>
          <p:cNvPr id="9" name="TextBox 8"/>
          <p:cNvSpPr txBox="1"/>
          <p:nvPr/>
        </p:nvSpPr>
        <p:spPr>
          <a:xfrm>
            <a:off x="566928" y="1554480"/>
            <a:ext cx="11055096" cy="237744"/>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La pregunta que casi nadie hace, y que determina qué algoritmo y qué longitud de llave hacen falta.</a:t>
            </a:r>
          </a:p>
        </p:txBody>
      </p:sp>
      <p:sp>
        <p:nvSpPr>
          <p:cNvPr id="10" name="Rectangle 9"/>
          <p:cNvSpPr/>
          <p:nvPr/>
        </p:nvSpPr>
        <p:spPr>
          <a:xfrm>
            <a:off x="566928" y="2066543"/>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185415"/>
            <a:ext cx="348358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DATO DE COOPABURRÁ</a:t>
            </a:r>
          </a:p>
        </p:txBody>
      </p:sp>
      <p:sp>
        <p:nvSpPr>
          <p:cNvPr id="12" name="TextBox 11"/>
          <p:cNvSpPr txBox="1"/>
          <p:nvPr/>
        </p:nvSpPr>
        <p:spPr>
          <a:xfrm>
            <a:off x="4215109" y="2185415"/>
            <a:ext cx="3373038"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VIDA ÚTIL DEL SECRETO</a:t>
            </a:r>
          </a:p>
        </p:txBody>
      </p:sp>
      <p:sp>
        <p:nvSpPr>
          <p:cNvPr id="13" name="TextBox 12"/>
          <p:cNvSpPr txBox="1"/>
          <p:nvPr/>
        </p:nvSpPr>
        <p:spPr>
          <a:xfrm>
            <a:off x="7752740" y="2185415"/>
            <a:ext cx="3704691"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IMPLICACIÓN</a:t>
            </a:r>
          </a:p>
        </p:txBody>
      </p:sp>
      <p:sp>
        <p:nvSpPr>
          <p:cNvPr id="14" name="Rectangle 13"/>
          <p:cNvSpPr/>
          <p:nvPr/>
        </p:nvSpPr>
        <p:spPr>
          <a:xfrm>
            <a:off x="566928" y="2478023"/>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587751"/>
            <a:ext cx="3483589" cy="45720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Token de sesión del portal</a:t>
            </a:r>
          </a:p>
        </p:txBody>
      </p:sp>
      <p:sp>
        <p:nvSpPr>
          <p:cNvPr id="16" name="TextBox 15"/>
          <p:cNvSpPr txBox="1"/>
          <p:nvPr/>
        </p:nvSpPr>
        <p:spPr>
          <a:xfrm>
            <a:off x="4215109" y="2587751"/>
            <a:ext cx="3373038" cy="45720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Minutos</a:t>
            </a:r>
          </a:p>
        </p:txBody>
      </p:sp>
      <p:sp>
        <p:nvSpPr>
          <p:cNvPr id="17" name="TextBox 16"/>
          <p:cNvSpPr txBox="1"/>
          <p:nvPr/>
        </p:nvSpPr>
        <p:spPr>
          <a:xfrm>
            <a:off x="7752740" y="2587751"/>
            <a:ext cx="3704691" cy="45720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Puede usar mecanismos ligeros. Rotación constante</a:t>
            </a:r>
          </a:p>
        </p:txBody>
      </p:sp>
      <p:sp>
        <p:nvSpPr>
          <p:cNvPr id="18" name="Rectangle 17"/>
          <p:cNvSpPr/>
          <p:nvPr/>
        </p:nvSpPr>
        <p:spPr>
          <a:xfrm>
            <a:off x="566928" y="300837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099815"/>
            <a:ext cx="3483589"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Contraseña de un asociado</a:t>
            </a:r>
          </a:p>
        </p:txBody>
      </p:sp>
      <p:sp>
        <p:nvSpPr>
          <p:cNvPr id="20" name="TextBox 19"/>
          <p:cNvSpPr txBox="1"/>
          <p:nvPr/>
        </p:nvSpPr>
        <p:spPr>
          <a:xfrm>
            <a:off x="4215109" y="3099815"/>
            <a:ext cx="3373038"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Meses o años, según la política</a:t>
            </a:r>
          </a:p>
        </p:txBody>
      </p:sp>
      <p:sp>
        <p:nvSpPr>
          <p:cNvPr id="21" name="TextBox 20"/>
          <p:cNvSpPr txBox="1"/>
          <p:nvPr/>
        </p:nvSpPr>
        <p:spPr>
          <a:xfrm>
            <a:off x="7752740" y="3099815"/>
            <a:ext cx="370469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Exige función de derivación con factor de trabajo, no un resumen simple</a:t>
            </a:r>
          </a:p>
        </p:txBody>
      </p:sp>
      <p:sp>
        <p:nvSpPr>
          <p:cNvPr id="22" name="Rectangle 21"/>
          <p:cNvSpPr/>
          <p:nvPr/>
        </p:nvSpPr>
        <p:spPr>
          <a:xfrm>
            <a:off x="566928" y="354823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639677"/>
            <a:ext cx="3483589" cy="45720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Saldo y movimientos</a:t>
            </a:r>
          </a:p>
        </p:txBody>
      </p:sp>
      <p:sp>
        <p:nvSpPr>
          <p:cNvPr id="24" name="TextBox 23"/>
          <p:cNvSpPr txBox="1"/>
          <p:nvPr/>
        </p:nvSpPr>
        <p:spPr>
          <a:xfrm>
            <a:off x="4215109" y="3639677"/>
            <a:ext cx="3373038" cy="45720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Años, mientras dure la relación</a:t>
            </a:r>
          </a:p>
        </p:txBody>
      </p:sp>
      <p:sp>
        <p:nvSpPr>
          <p:cNvPr id="25" name="TextBox 24"/>
          <p:cNvSpPr txBox="1"/>
          <p:nvPr/>
        </p:nvSpPr>
        <p:spPr>
          <a:xfrm>
            <a:off x="7752740" y="3639677"/>
            <a:ext cx="3704691" cy="45720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Cifrado en reposo con rotación de llaves planificada</a:t>
            </a:r>
          </a:p>
        </p:txBody>
      </p:sp>
      <p:sp>
        <p:nvSpPr>
          <p:cNvPr id="26" name="Rectangle 25"/>
          <p:cNvSpPr/>
          <p:nvPr/>
        </p:nvSpPr>
        <p:spPr>
          <a:xfrm>
            <a:off x="566928" y="406030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151741"/>
            <a:ext cx="3483589" cy="45720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Historial crediticio</a:t>
            </a:r>
          </a:p>
        </p:txBody>
      </p:sp>
      <p:sp>
        <p:nvSpPr>
          <p:cNvPr id="28" name="TextBox 27"/>
          <p:cNvSpPr txBox="1"/>
          <p:nvPr/>
        </p:nvSpPr>
        <p:spPr>
          <a:xfrm>
            <a:off x="4215109" y="4151741"/>
            <a:ext cx="3373038" cy="45720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Definido por la Ley 1266</a:t>
            </a:r>
          </a:p>
        </p:txBody>
      </p:sp>
      <p:sp>
        <p:nvSpPr>
          <p:cNvPr id="29" name="TextBox 28"/>
          <p:cNvSpPr txBox="1"/>
          <p:nvPr/>
        </p:nvSpPr>
        <p:spPr>
          <a:xfrm>
            <a:off x="7752740" y="4151741"/>
            <a:ext cx="3704691" cy="45720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plazo lo fija la norma, no la tecnología</a:t>
            </a:r>
          </a:p>
        </p:txBody>
      </p:sp>
      <p:sp>
        <p:nvSpPr>
          <p:cNvPr id="30" name="Rectangle 29"/>
          <p:cNvSpPr/>
          <p:nvPr/>
        </p:nvSpPr>
        <p:spPr>
          <a:xfrm>
            <a:off x="566928" y="457236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663805"/>
            <a:ext cx="3483589"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Contrato de crédito hipotecario</a:t>
            </a:r>
          </a:p>
        </p:txBody>
      </p:sp>
      <p:sp>
        <p:nvSpPr>
          <p:cNvPr id="32" name="TextBox 31"/>
          <p:cNvSpPr txBox="1"/>
          <p:nvPr/>
        </p:nvSpPr>
        <p:spPr>
          <a:xfrm>
            <a:off x="4215109" y="4663805"/>
            <a:ext cx="3373038"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Hasta veinte años, y debe seguir siendo probatorio</a:t>
            </a:r>
          </a:p>
        </p:txBody>
      </p:sp>
      <p:sp>
        <p:nvSpPr>
          <p:cNvPr id="33" name="TextBox 32"/>
          <p:cNvSpPr txBox="1"/>
          <p:nvPr/>
        </p:nvSpPr>
        <p:spPr>
          <a:xfrm>
            <a:off x="7752740" y="4663805"/>
            <a:ext cx="370469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Es el dato más exigente de la organización. Determina la migración criptográfica</a:t>
            </a:r>
          </a:p>
        </p:txBody>
      </p:sp>
      <p:sp>
        <p:nvSpPr>
          <p:cNvPr id="34" name="Rectangle 33"/>
          <p:cNvSpPr/>
          <p:nvPr/>
        </p:nvSpPr>
        <p:spPr>
          <a:xfrm>
            <a:off x="566928" y="511222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66928" y="5167091"/>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5468843"/>
            <a:ext cx="45720" cy="65836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4672" y="5487131"/>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GUARDEN ESTA FILA</a:t>
            </a:r>
          </a:p>
        </p:txBody>
      </p:sp>
      <p:sp>
        <p:nvSpPr>
          <p:cNvPr id="38" name="TextBox 37"/>
          <p:cNvSpPr txBox="1"/>
          <p:nvPr/>
        </p:nvSpPr>
        <p:spPr>
          <a:xfrm>
            <a:off x="804672" y="5724875"/>
            <a:ext cx="10780776" cy="38404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La última fila explica la sesión 6: un crédito firmado este año vence hacia 2046 y tiene que poder probarse hasta entonces.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29  CIERRE</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LO QUE LLEVAMOS DEL PRIMER BLOQUE</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35</a:t>
            </a:r>
          </a:p>
        </p:txBody>
      </p:sp>
      <p:sp>
        <p:nvSpPr>
          <p:cNvPr id="9" name="TextBox 8"/>
          <p:cNvSpPr txBox="1"/>
          <p:nvPr/>
        </p:nvSpPr>
        <p:spPr>
          <a:xfrm>
            <a:off x="566928" y="1645920"/>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01</a:t>
            </a:r>
          </a:p>
        </p:txBody>
      </p:sp>
      <p:sp>
        <p:nvSpPr>
          <p:cNvPr id="10" name="TextBox 9"/>
          <p:cNvSpPr txBox="1"/>
          <p:nvPr/>
        </p:nvSpPr>
        <p:spPr>
          <a:xfrm>
            <a:off x="1280160" y="1664208"/>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La criptografía presta cuatro servicios distintos y no intercambiables</a:t>
            </a:r>
          </a:p>
        </p:txBody>
      </p:sp>
      <p:sp>
        <p:nvSpPr>
          <p:cNvPr id="11" name="TextBox 10"/>
          <p:cNvSpPr txBox="1"/>
          <p:nvPr/>
        </p:nvSpPr>
        <p:spPr>
          <a:xfrm>
            <a:off x="1280160" y="1901952"/>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Confundir autenticidad con no repudio es lo que dejó a Coopaburrá sin respuesta ante su propio abogado.</a:t>
            </a:r>
          </a:p>
        </p:txBody>
      </p:sp>
      <p:sp>
        <p:nvSpPr>
          <p:cNvPr id="12" name="TextBox 11"/>
          <p:cNvSpPr txBox="1"/>
          <p:nvPr/>
        </p:nvSpPr>
        <p:spPr>
          <a:xfrm>
            <a:off x="566928" y="2359152"/>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02</a:t>
            </a:r>
          </a:p>
        </p:txBody>
      </p:sp>
      <p:sp>
        <p:nvSpPr>
          <p:cNvPr id="13" name="TextBox 12"/>
          <p:cNvSpPr txBox="1"/>
          <p:nvPr/>
        </p:nvSpPr>
        <p:spPr>
          <a:xfrm>
            <a:off x="1280160" y="2377440"/>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La seguridad vive en la llave, no en el algoritmo</a:t>
            </a:r>
          </a:p>
        </p:txBody>
      </p:sp>
      <p:sp>
        <p:nvSpPr>
          <p:cNvPr id="14" name="TextBox 13"/>
          <p:cNvSpPr txBox="1"/>
          <p:nvPr/>
        </p:nvSpPr>
        <p:spPr>
          <a:xfrm>
            <a:off x="1280160" y="2615184"/>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Kerckhoffs lo escribió en 1883 y sigue siendo el criterio con el que se juzga cualquier diseño.</a:t>
            </a:r>
          </a:p>
        </p:txBody>
      </p:sp>
      <p:sp>
        <p:nvSpPr>
          <p:cNvPr id="15" name="TextBox 14"/>
          <p:cNvSpPr txBox="1"/>
          <p:nvPr/>
        </p:nvSpPr>
        <p:spPr>
          <a:xfrm>
            <a:off x="566928" y="3072384"/>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03</a:t>
            </a:r>
          </a:p>
        </p:txBody>
      </p:sp>
      <p:sp>
        <p:nvSpPr>
          <p:cNvPr id="16" name="TextBox 15"/>
          <p:cNvSpPr txBox="1"/>
          <p:nvPr/>
        </p:nvSpPr>
        <p:spPr>
          <a:xfrm>
            <a:off x="1280160" y="3090672"/>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Las fallas reales casi nunca son matemáticas</a:t>
            </a:r>
          </a:p>
        </p:txBody>
      </p:sp>
      <p:sp>
        <p:nvSpPr>
          <p:cNvPr id="17" name="TextBox 16"/>
          <p:cNvSpPr txBox="1"/>
          <p:nvPr/>
        </p:nvSpPr>
        <p:spPr>
          <a:xfrm>
            <a:off x="1280160" y="3328416"/>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Son de configuración, de generación de llaves y, sobre todo, de administración de llaves.</a:t>
            </a:r>
          </a:p>
        </p:txBody>
      </p:sp>
      <p:sp>
        <p:nvSpPr>
          <p:cNvPr id="18" name="TextBox 17"/>
          <p:cNvSpPr txBox="1"/>
          <p:nvPr/>
        </p:nvSpPr>
        <p:spPr>
          <a:xfrm>
            <a:off x="566928" y="3785615"/>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04</a:t>
            </a:r>
          </a:p>
        </p:txBody>
      </p:sp>
      <p:sp>
        <p:nvSpPr>
          <p:cNvPr id="19" name="TextBox 18"/>
          <p:cNvSpPr txBox="1"/>
          <p:nvPr/>
        </p:nvSpPr>
        <p:spPr>
          <a:xfrm>
            <a:off x="1280160" y="3803903"/>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No hay «seguro»: hay seguro frente a alguien, durante un tiempo</a:t>
            </a:r>
          </a:p>
        </p:txBody>
      </p:sp>
      <p:sp>
        <p:nvSpPr>
          <p:cNvPr id="20" name="TextBox 19"/>
          <p:cNvSpPr txBox="1"/>
          <p:nvPr/>
        </p:nvSpPr>
        <p:spPr>
          <a:xfrm>
            <a:off x="1280160" y="4041648"/>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Definir el adversario y la vida útil del secreto es una decisión de diseño, no un detalle.</a:t>
            </a:r>
          </a:p>
        </p:txBody>
      </p:sp>
      <p:sp>
        <p:nvSpPr>
          <p:cNvPr id="21" name="Rectangle 20"/>
          <p:cNvSpPr/>
          <p:nvPr/>
        </p:nvSpPr>
        <p:spPr>
          <a:xfrm>
            <a:off x="566928" y="5074920"/>
            <a:ext cx="45720" cy="86868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5093207"/>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DESPUÉS DEL DESCANSO</a:t>
            </a:r>
          </a:p>
        </p:txBody>
      </p:sp>
      <p:sp>
        <p:nvSpPr>
          <p:cNvPr id="23" name="TextBox 22"/>
          <p:cNvSpPr txBox="1"/>
          <p:nvPr/>
        </p:nvSpPr>
        <p:spPr>
          <a:xfrm>
            <a:off x="804672" y="5330952"/>
            <a:ext cx="10780776" cy="594359"/>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Vamos a la pieza de la que todo depende: la llave. De dónde sale, cuánta entropía necesita y qué pasa cuando se genera mal. Dos catástrofes reales y una demostración en vivo.</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0"/>
            <a:ext cx="11055096" cy="237744"/>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SECCIÓN</a:t>
            </a:r>
          </a:p>
        </p:txBody>
      </p:sp>
      <p:sp>
        <p:nvSpPr>
          <p:cNvPr id="3" name="TextBox 2"/>
          <p:cNvSpPr txBox="1"/>
          <p:nvPr/>
        </p:nvSpPr>
        <p:spPr>
          <a:xfrm>
            <a:off x="566928" y="2377440"/>
            <a:ext cx="1828800" cy="1005840"/>
          </a:xfrm>
          <a:prstGeom prst="rect">
            <a:avLst/>
          </a:prstGeom>
          <a:noFill/>
        </p:spPr>
        <p:txBody>
          <a:bodyPr wrap="square" lIns="0" rIns="0" tIns="0" bIns="0">
            <a:spAutoFit/>
          </a:bodyPr>
          <a:lstStyle/>
          <a:p>
            <a:pPr algn="l">
              <a:spcAft>
                <a:spcPts val="0"/>
              </a:spcAft>
            </a:pPr>
            <a:r>
              <a:rPr sz="5400" b="0">
                <a:solidFill>
                  <a:srgbClr val="F36406"/>
                </a:solidFill>
                <a:latin typeface="Arial Black"/>
              </a:rPr>
              <a:t>05</a:t>
            </a:r>
          </a:p>
        </p:txBody>
      </p:sp>
      <p:sp>
        <p:nvSpPr>
          <p:cNvPr id="4" name="TextBox 3"/>
          <p:cNvSpPr txBox="1"/>
          <p:nvPr/>
        </p:nvSpPr>
        <p:spPr>
          <a:xfrm>
            <a:off x="566928" y="3520440"/>
            <a:ext cx="11055096" cy="640080"/>
          </a:xfrm>
          <a:prstGeom prst="rect">
            <a:avLst/>
          </a:prstGeom>
          <a:noFill/>
        </p:spPr>
        <p:txBody>
          <a:bodyPr wrap="square" lIns="0" rIns="0" tIns="0" bIns="0">
            <a:spAutoFit/>
          </a:bodyPr>
          <a:lstStyle/>
          <a:p>
            <a:pPr algn="l">
              <a:spcAft>
                <a:spcPts val="0"/>
              </a:spcAft>
            </a:pPr>
            <a:r>
              <a:rPr sz="3000" b="0">
                <a:solidFill>
                  <a:srgbClr val="000000"/>
                </a:solidFill>
                <a:latin typeface="Arial Black"/>
              </a:rPr>
              <a:t>LA LLAVE</a:t>
            </a:r>
          </a:p>
        </p:txBody>
      </p:sp>
      <p:sp>
        <p:nvSpPr>
          <p:cNvPr id="5" name="Rectangle 4"/>
          <p:cNvSpPr/>
          <p:nvPr/>
        </p:nvSpPr>
        <p:spPr>
          <a:xfrm>
            <a:off x="566928" y="4315968"/>
            <a:ext cx="155448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4526280"/>
            <a:ext cx="10058400" cy="457200"/>
          </a:xfrm>
          <a:prstGeom prst="rect">
            <a:avLst/>
          </a:prstGeom>
          <a:noFill/>
        </p:spPr>
        <p:txBody>
          <a:bodyPr wrap="square" lIns="0" rIns="0" tIns="0" bIns="0">
            <a:spAutoFit/>
          </a:bodyPr>
          <a:lstStyle/>
          <a:p>
            <a:pPr algn="l">
              <a:lnSpc>
                <a:spcPct val="130000"/>
              </a:lnSpc>
              <a:spcAft>
                <a:spcPts val="0"/>
              </a:spcAft>
            </a:pPr>
            <a:r>
              <a:rPr sz="1200" b="0">
                <a:solidFill>
                  <a:srgbClr val="5C5C5C"/>
                </a:solidFill>
                <a:latin typeface="Arial"/>
              </a:rPr>
              <a:t>Bloque 2 · De dónde sale, cuánta entropía necesita y qué pasa cuando se genera mal</a:t>
            </a:r>
          </a:p>
        </p:txBody>
      </p:sp>
      <p:sp>
        <p:nvSpPr>
          <p:cNvPr id="7" name="Rectangle 6"/>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1-1.png"/>
          <p:cNvPicPr>
            <a:picLocks noChangeAspect="1"/>
          </p:cNvPicPr>
          <p:nvPr/>
        </p:nvPicPr>
        <p:blipFill>
          <a:blip r:embed="rId2"/>
          <a:stretch>
            <a:fillRect/>
          </a:stretch>
        </p:blipFill>
        <p:spPr>
          <a:xfrm>
            <a:off x="566928" y="6336792"/>
            <a:ext cx="566928" cy="246888"/>
          </a:xfrm>
          <a:prstGeom prst="rect">
            <a:avLst/>
          </a:prstGeom>
        </p:spPr>
      </p:pic>
      <p:sp>
        <p:nvSpPr>
          <p:cNvPr id="9" name="TextBox 8"/>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10" name="TextBox 9"/>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30  FUNDAMENTO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TODO DEPENDE DE LA LLAVE</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37</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Si la seguridad vive en la llave, entonces la pregunta operativa de todo el oficio es cómo se produce una llave que merezca ese nombre. Hay cuatro propiedades y las cuatro son obligatorias.</a:t>
            </a:r>
          </a:p>
        </p:txBody>
      </p:sp>
      <p:sp>
        <p:nvSpPr>
          <p:cNvPr id="10" name="Rectangle 9"/>
          <p:cNvSpPr/>
          <p:nvPr/>
        </p:nvSpPr>
        <p:spPr>
          <a:xfrm>
            <a:off x="566928" y="2304287"/>
            <a:ext cx="5353812" cy="1645920"/>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2414015"/>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1 · IMPREDECIBLE</a:t>
            </a:r>
          </a:p>
        </p:txBody>
      </p:sp>
      <p:sp>
        <p:nvSpPr>
          <p:cNvPr id="12" name="TextBox 11"/>
          <p:cNvSpPr txBox="1"/>
          <p:nvPr/>
        </p:nvSpPr>
        <p:spPr>
          <a:xfrm>
            <a:off x="786384" y="2633471"/>
            <a:ext cx="4914900" cy="118872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Nadie debe poder adivinarla ni reproducir el proceso que la generó.</a:t>
            </a:r>
          </a:p>
          <a:p>
            <a:pPr algn="l">
              <a:lnSpc>
                <a:spcPct val="128000"/>
              </a:lnSpc>
              <a:spcAft>
                <a:spcPts val="700"/>
              </a:spcAft>
            </a:pPr>
            <a:r>
              <a:rPr sz="1150" b="0">
                <a:solidFill>
                  <a:srgbClr val="000000"/>
                </a:solidFill>
                <a:latin typeface="Arial"/>
              </a:rPr>
              <a:t>Esto descarta el reloj del sistema, el número de proceso, el nombre de la empresa y el año.</a:t>
            </a:r>
          </a:p>
        </p:txBody>
      </p:sp>
      <p:sp>
        <p:nvSpPr>
          <p:cNvPr id="13" name="Rectangle 12"/>
          <p:cNvSpPr/>
          <p:nvPr/>
        </p:nvSpPr>
        <p:spPr>
          <a:xfrm>
            <a:off x="6268212" y="2304287"/>
            <a:ext cx="5353812" cy="1645920"/>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414015"/>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2 · SUFICIENTEMENTE LARGA</a:t>
            </a:r>
          </a:p>
        </p:txBody>
      </p:sp>
      <p:sp>
        <p:nvSpPr>
          <p:cNvPr id="15" name="TextBox 14"/>
          <p:cNvSpPr txBox="1"/>
          <p:nvPr/>
        </p:nvSpPr>
        <p:spPr>
          <a:xfrm>
            <a:off x="6487668" y="2633471"/>
            <a:ext cx="4914900" cy="118872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El espacio de búsqueda debe ser tan grande que recorrerlo sea inviable con la tecnología del adversario.</a:t>
            </a:r>
          </a:p>
          <a:p>
            <a:pPr algn="l">
              <a:lnSpc>
                <a:spcPct val="128000"/>
              </a:lnSpc>
              <a:spcAft>
                <a:spcPts val="700"/>
              </a:spcAft>
            </a:pPr>
            <a:r>
              <a:rPr sz="1150" b="0">
                <a:solidFill>
                  <a:srgbClr val="000000"/>
                </a:solidFill>
                <a:latin typeface="Arial"/>
              </a:rPr>
              <a:t>128 bits de entropía real son suficientes hoy contra cualquier adversario clásico.</a:t>
            </a:r>
          </a:p>
        </p:txBody>
      </p:sp>
      <p:sp>
        <p:nvSpPr>
          <p:cNvPr id="16" name="Rectangle 15"/>
          <p:cNvSpPr/>
          <p:nvPr/>
        </p:nvSpPr>
        <p:spPr>
          <a:xfrm>
            <a:off x="566928" y="4224527"/>
            <a:ext cx="5353812" cy="1645920"/>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334255"/>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3 · CONOCIDA POR QUIEN DEBE</a:t>
            </a:r>
          </a:p>
        </p:txBody>
      </p:sp>
      <p:sp>
        <p:nvSpPr>
          <p:cNvPr id="18" name="TextBox 17"/>
          <p:cNvSpPr txBox="1"/>
          <p:nvPr/>
        </p:nvSpPr>
        <p:spPr>
          <a:xfrm>
            <a:off x="786384" y="4553712"/>
            <a:ext cx="4914900" cy="118872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Una llave compartida entre 142.000 personas no es una llave: es un dato público con retraso.</a:t>
            </a:r>
          </a:p>
          <a:p>
            <a:pPr algn="l">
              <a:lnSpc>
                <a:spcPct val="128000"/>
              </a:lnSpc>
              <a:spcAft>
                <a:spcPts val="700"/>
              </a:spcAft>
            </a:pPr>
            <a:r>
              <a:rPr sz="1150" b="0">
                <a:solidFill>
                  <a:srgbClr val="000000"/>
                </a:solidFill>
                <a:latin typeface="Arial"/>
              </a:rPr>
              <a:t>Cada servicio criptográfico define cuántas partes pueden conocerla.</a:t>
            </a:r>
          </a:p>
        </p:txBody>
      </p:sp>
      <p:sp>
        <p:nvSpPr>
          <p:cNvPr id="19" name="Rectangle 18"/>
          <p:cNvSpPr/>
          <p:nvPr/>
        </p:nvSpPr>
        <p:spPr>
          <a:xfrm>
            <a:off x="6268212" y="4224527"/>
            <a:ext cx="5353812" cy="1645920"/>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87668" y="4334255"/>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4 · CON UN CICLO DE VIDA DEFINIDO</a:t>
            </a:r>
          </a:p>
        </p:txBody>
      </p:sp>
      <p:sp>
        <p:nvSpPr>
          <p:cNvPr id="21" name="TextBox 20"/>
          <p:cNvSpPr txBox="1"/>
          <p:nvPr/>
        </p:nvSpPr>
        <p:spPr>
          <a:xfrm>
            <a:off x="6487668" y="4553712"/>
            <a:ext cx="4914900" cy="118872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Se genera, se distribuye, se usa, se rota, se archiva y se destruye.</a:t>
            </a:r>
          </a:p>
          <a:p>
            <a:pPr algn="l">
              <a:lnSpc>
                <a:spcPct val="128000"/>
              </a:lnSpc>
              <a:spcAft>
                <a:spcPts val="700"/>
              </a:spcAft>
            </a:pPr>
            <a:r>
              <a:rPr sz="1150" b="0">
                <a:solidFill>
                  <a:srgbClr val="000000"/>
                </a:solidFill>
                <a:latin typeface="Arial"/>
              </a:rPr>
              <a:t>Cada etapa tiene responsable. Es la sesión 6, y es lo que no existe en Coopaburrá.</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31  CONCEPTO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ENTROPÍA, EN UNA FRASE</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38</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Entropía es la medida de lo que el adversario no sabe. Se cuenta en bits, y un bit de entropía equivale a duplicar el número de posibilidades que tendría que probar.</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4478548"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ORIGEN DE LA LLAVE</a:t>
            </a:r>
          </a:p>
        </p:txBody>
      </p:sp>
      <p:sp>
        <p:nvSpPr>
          <p:cNvPr id="12" name="TextBox 11"/>
          <p:cNvSpPr txBox="1"/>
          <p:nvPr/>
        </p:nvSpPr>
        <p:spPr>
          <a:xfrm>
            <a:off x="5210068" y="2423159"/>
            <a:ext cx="270973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ENTROPÍA REAL</a:t>
            </a:r>
          </a:p>
        </p:txBody>
      </p:sp>
      <p:sp>
        <p:nvSpPr>
          <p:cNvPr id="13" name="TextBox 12"/>
          <p:cNvSpPr txBox="1"/>
          <p:nvPr/>
        </p:nvSpPr>
        <p:spPr>
          <a:xfrm>
            <a:off x="8084393" y="2423159"/>
            <a:ext cx="3373038"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INTENTOS NECESARIOS</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4478548" cy="36576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Un PIN de 4 dígitos</a:t>
            </a:r>
          </a:p>
        </p:txBody>
      </p:sp>
      <p:sp>
        <p:nvSpPr>
          <p:cNvPr id="16" name="TextBox 15"/>
          <p:cNvSpPr txBox="1"/>
          <p:nvPr/>
        </p:nvSpPr>
        <p:spPr>
          <a:xfrm>
            <a:off x="5210068" y="2825495"/>
            <a:ext cx="2709732"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Unos 13 bits</a:t>
            </a:r>
          </a:p>
        </p:txBody>
      </p:sp>
      <p:sp>
        <p:nvSpPr>
          <p:cNvPr id="17" name="TextBox 16"/>
          <p:cNvSpPr txBox="1"/>
          <p:nvPr/>
        </p:nvSpPr>
        <p:spPr>
          <a:xfrm>
            <a:off x="8084393" y="2825495"/>
            <a:ext cx="3373038"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10.000</a:t>
            </a:r>
          </a:p>
        </p:txBody>
      </p:sp>
      <p:sp>
        <p:nvSpPr>
          <p:cNvPr id="18" name="Rectangle 17"/>
          <p:cNvSpPr/>
          <p:nvPr/>
        </p:nvSpPr>
        <p:spPr>
          <a:xfrm>
            <a:off x="566928" y="315467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246119"/>
            <a:ext cx="4478548" cy="36576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Una palabra del diccionario</a:t>
            </a:r>
          </a:p>
        </p:txBody>
      </p:sp>
      <p:sp>
        <p:nvSpPr>
          <p:cNvPr id="20" name="TextBox 19"/>
          <p:cNvSpPr txBox="1"/>
          <p:nvPr/>
        </p:nvSpPr>
        <p:spPr>
          <a:xfrm>
            <a:off x="5210068" y="3246119"/>
            <a:ext cx="2709732"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Unos 15 bits</a:t>
            </a:r>
          </a:p>
        </p:txBody>
      </p:sp>
      <p:sp>
        <p:nvSpPr>
          <p:cNvPr id="21" name="TextBox 20"/>
          <p:cNvSpPr txBox="1"/>
          <p:nvPr/>
        </p:nvSpPr>
        <p:spPr>
          <a:xfrm>
            <a:off x="8084393" y="3246119"/>
            <a:ext cx="3373038"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Decenas de miles</a:t>
            </a:r>
          </a:p>
        </p:txBody>
      </p:sp>
      <p:sp>
        <p:nvSpPr>
          <p:cNvPr id="22" name="Rectangle 21"/>
          <p:cNvSpPr/>
          <p:nvPr/>
        </p:nvSpPr>
        <p:spPr>
          <a:xfrm>
            <a:off x="566928" y="357530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666743"/>
            <a:ext cx="4478548" cy="365760"/>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«Cb4rr4-2023-HMAC-k3y»</a:t>
            </a:r>
          </a:p>
        </p:txBody>
      </p:sp>
      <p:sp>
        <p:nvSpPr>
          <p:cNvPr id="24" name="TextBox 23"/>
          <p:cNvSpPr txBox="1"/>
          <p:nvPr/>
        </p:nvSpPr>
        <p:spPr>
          <a:xfrm>
            <a:off x="5210068" y="3666743"/>
            <a:ext cx="2709732"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Cero, una vez publicada</a:t>
            </a:r>
          </a:p>
        </p:txBody>
      </p:sp>
      <p:sp>
        <p:nvSpPr>
          <p:cNvPr id="25" name="TextBox 24"/>
          <p:cNvSpPr txBox="1"/>
          <p:nvPr/>
        </p:nvSpPr>
        <p:spPr>
          <a:xfrm>
            <a:off x="8084393" y="3666743"/>
            <a:ext cx="3373038"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1. Está en el paquete de la aplicación</a:t>
            </a:r>
          </a:p>
        </p:txBody>
      </p:sp>
      <p:sp>
        <p:nvSpPr>
          <p:cNvPr id="26" name="Rectangle 25"/>
          <p:cNvSpPr/>
          <p:nvPr/>
        </p:nvSpPr>
        <p:spPr>
          <a:xfrm>
            <a:off x="566928" y="399592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087367"/>
            <a:ext cx="4478548"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Contraseña humana de 8 caracteres</a:t>
            </a:r>
          </a:p>
        </p:txBody>
      </p:sp>
      <p:sp>
        <p:nvSpPr>
          <p:cNvPr id="28" name="TextBox 27"/>
          <p:cNvSpPr txBox="1"/>
          <p:nvPr/>
        </p:nvSpPr>
        <p:spPr>
          <a:xfrm>
            <a:off x="5210068" y="4087367"/>
            <a:ext cx="270973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Entre 25 y 30 bits en la práctica</a:t>
            </a:r>
          </a:p>
        </p:txBody>
      </p:sp>
      <p:sp>
        <p:nvSpPr>
          <p:cNvPr id="29" name="TextBox 28"/>
          <p:cNvSpPr txBox="1"/>
          <p:nvPr/>
        </p:nvSpPr>
        <p:spPr>
          <a:xfrm>
            <a:off x="8084393" y="4087367"/>
            <a:ext cx="3373038"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Cientos de millones. Horas con una tarjeta gráfica</a:t>
            </a:r>
          </a:p>
        </p:txBody>
      </p:sp>
      <p:sp>
        <p:nvSpPr>
          <p:cNvPr id="30" name="Rectangle 29"/>
          <p:cNvSpPr/>
          <p:nvPr/>
        </p:nvSpPr>
        <p:spPr>
          <a:xfrm>
            <a:off x="566928" y="453578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627229"/>
            <a:ext cx="4478548" cy="36576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32 bytes de un generador criptográfico</a:t>
            </a:r>
          </a:p>
        </p:txBody>
      </p:sp>
      <p:sp>
        <p:nvSpPr>
          <p:cNvPr id="32" name="TextBox 31"/>
          <p:cNvSpPr txBox="1"/>
          <p:nvPr/>
        </p:nvSpPr>
        <p:spPr>
          <a:xfrm>
            <a:off x="5210068" y="4627229"/>
            <a:ext cx="2709732"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256 bits</a:t>
            </a:r>
          </a:p>
        </p:txBody>
      </p:sp>
      <p:sp>
        <p:nvSpPr>
          <p:cNvPr id="33" name="TextBox 32"/>
          <p:cNvSpPr txBox="1"/>
          <p:nvPr/>
        </p:nvSpPr>
        <p:spPr>
          <a:xfrm>
            <a:off x="8084393" y="4627229"/>
            <a:ext cx="3373038"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Inalcanzable con tecnología clásica</a:t>
            </a:r>
          </a:p>
        </p:txBody>
      </p:sp>
      <p:sp>
        <p:nvSpPr>
          <p:cNvPr id="34" name="Rectangle 33"/>
          <p:cNvSpPr/>
          <p:nvPr/>
        </p:nvSpPr>
        <p:spPr>
          <a:xfrm>
            <a:off x="566928" y="495641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66928" y="501127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5313029"/>
            <a:ext cx="45720" cy="713232"/>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4672" y="5331317"/>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TRAMPA DE LA LONGITUD</a:t>
            </a:r>
          </a:p>
        </p:txBody>
      </p:sp>
      <p:sp>
        <p:nvSpPr>
          <p:cNvPr id="38" name="TextBox 37"/>
          <p:cNvSpPr txBox="1"/>
          <p:nvPr/>
        </p:nvSpPr>
        <p:spPr>
          <a:xfrm>
            <a:off x="804672" y="5569061"/>
            <a:ext cx="10780776" cy="438912"/>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La llave de Coopaburrá tiene veinte caracteres y parece robusta, pero la entropía no la da la longitud: la da lo que el adversario no sabe. Publicada dentro de la aplicación, vale cero: </a:t>
            </a:r>
            <a:r>
              <a:rPr sz="1150" b="1">
                <a:solidFill>
                  <a:srgbClr val="2A2A2A"/>
                </a:solidFill>
                <a:latin typeface="Arial"/>
              </a:rPr>
              <a:t>una llave de veinte caracteres puede valer menos que un PIN.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32  MECANISMO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DOS GENERADORES QUE NO SON LO MISMO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39</a:t>
            </a:r>
          </a:p>
        </p:txBody>
      </p:sp>
      <p:sp>
        <p:nvSpPr>
          <p:cNvPr id="9" name="TextBox 8"/>
          <p:cNvSpPr txBox="1"/>
          <p:nvPr/>
        </p:nvSpPr>
        <p:spPr>
          <a:xfrm>
            <a:off x="566928" y="1600200"/>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GENERADOR PSEUDOALEATORIO COMÚN</a:t>
            </a:r>
          </a:p>
        </p:txBody>
      </p:sp>
      <p:sp>
        <p:nvSpPr>
          <p:cNvPr id="10" name="TextBox 9"/>
          <p:cNvSpPr txBox="1"/>
          <p:nvPr/>
        </p:nvSpPr>
        <p:spPr>
          <a:xfrm>
            <a:off x="566928" y="1874519"/>
            <a:ext cx="5253228" cy="205740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Diseñado para simulaciones, juegos y estadística. Rápido y reproducible a propósito.</a:t>
            </a:r>
          </a:p>
          <a:p>
            <a:pPr algn="l">
              <a:lnSpc>
                <a:spcPct val="128000"/>
              </a:lnSpc>
              <a:spcAft>
                <a:spcPts val="700"/>
              </a:spcAft>
            </a:pPr>
            <a:r>
              <a:rPr sz="1150" b="0">
                <a:solidFill>
                  <a:srgbClr val="000000"/>
                </a:solidFill>
                <a:latin typeface="Arial"/>
              </a:rPr>
              <a:t>Si se conoce el estado interno, toda la secuencia futura y pasada queda determinada.</a:t>
            </a:r>
          </a:p>
          <a:p>
            <a:pPr algn="l">
              <a:lnSpc>
                <a:spcPct val="128000"/>
              </a:lnSpc>
              <a:spcAft>
                <a:spcPts val="700"/>
              </a:spcAft>
            </a:pPr>
            <a:r>
              <a:rPr sz="1150" b="0">
                <a:solidFill>
                  <a:srgbClr val="000000"/>
                </a:solidFill>
                <a:latin typeface="Arial"/>
              </a:rPr>
              <a:t>Ejemplos típicos: las funciones de aleatoriedad por defecto de los lenguajes de programación.</a:t>
            </a:r>
          </a:p>
          <a:p>
            <a:pPr algn="l">
              <a:lnSpc>
                <a:spcPct val="128000"/>
              </a:lnSpc>
              <a:spcAft>
                <a:spcPts val="700"/>
              </a:spcAft>
            </a:pPr>
            <a:r>
              <a:rPr sz="1150" b="0">
                <a:solidFill>
                  <a:srgbClr val="000000"/>
                </a:solidFill>
                <a:latin typeface="Arial"/>
              </a:rPr>
              <a:t>Nunca debe usarse para generar llaves, vectores de inicialización, tokens ni contraseñas.</a:t>
            </a:r>
          </a:p>
        </p:txBody>
      </p:sp>
      <p:sp>
        <p:nvSpPr>
          <p:cNvPr id="11" name="TextBox 10"/>
          <p:cNvSpPr txBox="1"/>
          <p:nvPr/>
        </p:nvSpPr>
        <p:spPr>
          <a:xfrm>
            <a:off x="6368796" y="1600200"/>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GENERADOR CRIPTOGRÁFICO</a:t>
            </a:r>
          </a:p>
        </p:txBody>
      </p:sp>
      <p:sp>
        <p:nvSpPr>
          <p:cNvPr id="12" name="TextBox 11"/>
          <p:cNvSpPr txBox="1"/>
          <p:nvPr/>
        </p:nvSpPr>
        <p:spPr>
          <a:xfrm>
            <a:off x="6368796" y="1874519"/>
            <a:ext cx="5253228" cy="205740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Diseñado para que, conociendo cualquier parte de la salida, sea inviable deducir el resto.</a:t>
            </a:r>
          </a:p>
          <a:p>
            <a:pPr algn="l">
              <a:lnSpc>
                <a:spcPct val="128000"/>
              </a:lnSpc>
              <a:spcAft>
                <a:spcPts val="700"/>
              </a:spcAft>
            </a:pPr>
            <a:r>
              <a:rPr sz="1150" b="0">
                <a:solidFill>
                  <a:srgbClr val="000000"/>
                </a:solidFill>
                <a:latin typeface="Arial"/>
              </a:rPr>
              <a:t>Se alimenta de fuentes de entropía del sistema operativo: ruido de dispositivos, tiempos de interrupción, instrucciones del procesador.</a:t>
            </a:r>
          </a:p>
          <a:p>
            <a:pPr algn="l">
              <a:lnSpc>
                <a:spcPct val="128000"/>
              </a:lnSpc>
              <a:spcAft>
                <a:spcPts val="700"/>
              </a:spcAft>
            </a:pPr>
            <a:r>
              <a:rPr sz="1150" b="0">
                <a:solidFill>
                  <a:srgbClr val="000000"/>
                </a:solidFill>
                <a:latin typeface="Arial"/>
              </a:rPr>
              <a:t>Es el que hay que usar siempre, y en los lenguajes modernos suele estar a una línea de distancia.</a:t>
            </a:r>
          </a:p>
          <a:p>
            <a:pPr algn="l">
              <a:lnSpc>
                <a:spcPct val="128000"/>
              </a:lnSpc>
              <a:spcAft>
                <a:spcPts val="700"/>
              </a:spcAft>
            </a:pPr>
            <a:r>
              <a:rPr sz="1150" b="0">
                <a:solidFill>
                  <a:srgbClr val="000000"/>
                </a:solidFill>
                <a:latin typeface="Arial"/>
              </a:rPr>
              <a:t>Si duda cuál está usando, esa duda ya es un hallazgo.</a:t>
            </a:r>
          </a:p>
        </p:txBody>
      </p:sp>
      <p:sp>
        <p:nvSpPr>
          <p:cNvPr id="13" name="Rectangle 12"/>
          <p:cNvSpPr/>
          <p:nvPr/>
        </p:nvSpPr>
        <p:spPr>
          <a:xfrm>
            <a:off x="6085332" y="1600200"/>
            <a:ext cx="9144" cy="2331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33  CATÁSTROFE</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DEBIAN, 2008: DOS LÍNEAS BORRADAS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40</a:t>
            </a:r>
          </a:p>
        </p:txBody>
      </p:sp>
      <p:sp>
        <p:nvSpPr>
          <p:cNvPr id="9" name="TextBox 8"/>
          <p:cNvSpPr txBox="1"/>
          <p:nvPr/>
        </p:nvSpPr>
        <p:spPr>
          <a:xfrm>
            <a:off x="566928" y="1554480"/>
            <a:ext cx="11055096" cy="237744"/>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El caso más didáctico de la historia reciente, porque nadie hizo nada malintencionado y el resultado fue devastador.</a:t>
            </a:r>
          </a:p>
        </p:txBody>
      </p:sp>
      <p:sp>
        <p:nvSpPr>
          <p:cNvPr id="10" name="Rectangle 9"/>
          <p:cNvSpPr/>
          <p:nvPr/>
        </p:nvSpPr>
        <p:spPr>
          <a:xfrm>
            <a:off x="566928" y="2066543"/>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185415"/>
            <a:ext cx="1825325"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MOMENTO</a:t>
            </a:r>
          </a:p>
        </p:txBody>
      </p:sp>
      <p:sp>
        <p:nvSpPr>
          <p:cNvPr id="12" name="TextBox 11"/>
          <p:cNvSpPr txBox="1"/>
          <p:nvPr/>
        </p:nvSpPr>
        <p:spPr>
          <a:xfrm>
            <a:off x="2556845" y="2185415"/>
            <a:ext cx="8900586"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PASÓ</a:t>
            </a:r>
          </a:p>
        </p:txBody>
      </p:sp>
      <p:sp>
        <p:nvSpPr>
          <p:cNvPr id="13" name="Rectangle 12"/>
          <p:cNvSpPr/>
          <p:nvPr/>
        </p:nvSpPr>
        <p:spPr>
          <a:xfrm>
            <a:off x="566928" y="2478023"/>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587751"/>
            <a:ext cx="1825325" cy="51206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2006</a:t>
            </a:r>
          </a:p>
        </p:txBody>
      </p:sp>
      <p:sp>
        <p:nvSpPr>
          <p:cNvPr id="15" name="TextBox 14"/>
          <p:cNvSpPr txBox="1"/>
          <p:nvPr/>
        </p:nvSpPr>
        <p:spPr>
          <a:xfrm>
            <a:off x="2556845" y="2587751"/>
            <a:ext cx="8900586" cy="51206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 mantenedor comenta dos líneas de código de la biblioteca criptográfica para silenciar una advertencia de una herramienta de análisis de memoria. La intención es limpiar el código.</a:t>
            </a:r>
          </a:p>
        </p:txBody>
      </p:sp>
      <p:sp>
        <p:nvSpPr>
          <p:cNvPr id="16" name="Rectangle 15"/>
          <p:cNvSpPr/>
          <p:nvPr/>
        </p:nvSpPr>
        <p:spPr>
          <a:xfrm>
            <a:off x="566928" y="306323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154679"/>
            <a:ext cx="1825325" cy="51206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2006 – 2008</a:t>
            </a:r>
          </a:p>
        </p:txBody>
      </p:sp>
      <p:sp>
        <p:nvSpPr>
          <p:cNvPr id="18" name="TextBox 17"/>
          <p:cNvSpPr txBox="1"/>
          <p:nvPr/>
        </p:nvSpPr>
        <p:spPr>
          <a:xfrm>
            <a:off x="2556845" y="3154679"/>
            <a:ext cx="8900586" cy="51206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Esas líneas alimentaban el generador con entropía. Sin ellas, la única fuente de variación que queda es el identificador del proceso.</a:t>
            </a:r>
          </a:p>
        </p:txBody>
      </p:sp>
      <p:sp>
        <p:nvSpPr>
          <p:cNvPr id="19" name="Rectangle 18"/>
          <p:cNvSpPr/>
          <p:nvPr/>
        </p:nvSpPr>
        <p:spPr>
          <a:xfrm>
            <a:off x="566928" y="3630168"/>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721607"/>
            <a:ext cx="1825325" cy="512064"/>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Consecuencia</a:t>
            </a:r>
          </a:p>
        </p:txBody>
      </p:sp>
      <p:sp>
        <p:nvSpPr>
          <p:cNvPr id="21" name="TextBox 20"/>
          <p:cNvSpPr txBox="1"/>
          <p:nvPr/>
        </p:nvSpPr>
        <p:spPr>
          <a:xfrm>
            <a:off x="2556845" y="3721607"/>
            <a:ext cx="8900586" cy="51206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espacio de llaves posibles se reduce de un número astronómico a unas 32.768 opciones. Todas las llaves generadas en ese periodo son enumerables.</a:t>
            </a:r>
          </a:p>
        </p:txBody>
      </p:sp>
      <p:sp>
        <p:nvSpPr>
          <p:cNvPr id="22" name="Rectangle 21"/>
          <p:cNvSpPr/>
          <p:nvPr/>
        </p:nvSpPr>
        <p:spPr>
          <a:xfrm>
            <a:off x="566928" y="4197096"/>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4288536"/>
            <a:ext cx="1825325" cy="51206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Mayo de 2008</a:t>
            </a:r>
          </a:p>
        </p:txBody>
      </p:sp>
      <p:sp>
        <p:nvSpPr>
          <p:cNvPr id="24" name="TextBox 23"/>
          <p:cNvSpPr txBox="1"/>
          <p:nvPr/>
        </p:nvSpPr>
        <p:spPr>
          <a:xfrm>
            <a:off x="2556845" y="4288536"/>
            <a:ext cx="8900586" cy="51206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Se descubre. Hubo que regenerar y reemplazar llaves de servidores, certificados y llaves de acceso remoto en todo el mundo durante meses.</a:t>
            </a:r>
          </a:p>
        </p:txBody>
      </p:sp>
      <p:sp>
        <p:nvSpPr>
          <p:cNvPr id="25" name="Rectangle 24"/>
          <p:cNvSpPr/>
          <p:nvPr/>
        </p:nvSpPr>
        <p:spPr>
          <a:xfrm>
            <a:off x="566928" y="4764024"/>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818888"/>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 y="5120640"/>
            <a:ext cx="45720" cy="84124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 y="5138927"/>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MORALEJA OPERATIVA</a:t>
            </a:r>
          </a:p>
        </p:txBody>
      </p:sp>
      <p:sp>
        <p:nvSpPr>
          <p:cNvPr id="29" name="TextBox 28"/>
          <p:cNvSpPr txBox="1"/>
          <p:nvPr/>
        </p:nvSpPr>
        <p:spPr>
          <a:xfrm>
            <a:off x="804672" y="5376672"/>
            <a:ext cx="10780776" cy="56692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El algoritmo era correcto, la implementación era la oficial y el mantenedor actuaba de buena fe. Lo que falló fue la entropía de entrada, que es invisible: una llave mal generada se ve exactamente igual que una buena. No hay forma de detectarlo mirando la llave.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34  CATÁSTROFE</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PLAYSTATION 3, 2010: EL NÚMERO QUE DEBÍA CAMBIAR</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41</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El segundo caso muestra algo distinto: no falló la llave, falló un número que acompaña a cada firma y que debía ser distinto cada vez.</a:t>
            </a:r>
          </a:p>
        </p:txBody>
      </p:sp>
      <p:sp>
        <p:nvSpPr>
          <p:cNvPr id="10" name="TextBox 9"/>
          <p:cNvSpPr txBox="1"/>
          <p:nvPr/>
        </p:nvSpPr>
        <p:spPr>
          <a:xfrm>
            <a:off x="566928"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QUÉ DEBÍA PASAR</a:t>
            </a:r>
          </a:p>
        </p:txBody>
      </p:sp>
      <p:sp>
        <p:nvSpPr>
          <p:cNvPr id="11" name="TextBox 10"/>
          <p:cNvSpPr txBox="1"/>
          <p:nvPr/>
        </p:nvSpPr>
        <p:spPr>
          <a:xfrm>
            <a:off x="566928" y="2578607"/>
            <a:ext cx="5253228" cy="169163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El esquema de firma digital que usaba la consola exige un número aleatorio nuevo e irrepetible por cada firma.</a:t>
            </a:r>
          </a:p>
          <a:p>
            <a:pPr algn="l">
              <a:lnSpc>
                <a:spcPct val="128000"/>
              </a:lnSpc>
              <a:spcAft>
                <a:spcPts val="700"/>
              </a:spcAft>
            </a:pPr>
            <a:r>
              <a:rPr sz="1150" b="0">
                <a:solidFill>
                  <a:srgbClr val="000000"/>
                </a:solidFill>
                <a:latin typeface="Arial"/>
              </a:rPr>
              <a:t>Ese número no es la llave, pero si se repite, la matemática del esquema permite despejar la llave privada a partir de dos firmas.</a:t>
            </a:r>
          </a:p>
        </p:txBody>
      </p:sp>
      <p:sp>
        <p:nvSpPr>
          <p:cNvPr id="12" name="TextBox 11"/>
          <p:cNvSpPr txBox="1"/>
          <p:nvPr/>
        </p:nvSpPr>
        <p:spPr>
          <a:xfrm>
            <a:off x="6368796"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QUÉ PASÓ</a:t>
            </a:r>
          </a:p>
        </p:txBody>
      </p:sp>
      <p:sp>
        <p:nvSpPr>
          <p:cNvPr id="13" name="TextBox 12"/>
          <p:cNvSpPr txBox="1"/>
          <p:nvPr/>
        </p:nvSpPr>
        <p:spPr>
          <a:xfrm>
            <a:off x="6368796" y="2578607"/>
            <a:ext cx="5253228" cy="169163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La implementación usaba siempre el mismo valor fijo.</a:t>
            </a:r>
          </a:p>
          <a:p>
            <a:pPr algn="l">
              <a:lnSpc>
                <a:spcPct val="128000"/>
              </a:lnSpc>
              <a:spcAft>
                <a:spcPts val="700"/>
              </a:spcAft>
            </a:pPr>
            <a:r>
              <a:rPr sz="1150" b="0">
                <a:solidFill>
                  <a:srgbClr val="000000"/>
                </a:solidFill>
                <a:latin typeface="Arial"/>
              </a:rPr>
              <a:t>En diciembre de 2010, un grupo lo demostró públicamente y derivó la llave privada con la que el fabricante firmaba el software de la consola.</a:t>
            </a:r>
          </a:p>
          <a:p>
            <a:pPr algn="l">
              <a:lnSpc>
                <a:spcPct val="128000"/>
              </a:lnSpc>
              <a:spcAft>
                <a:spcPts val="700"/>
              </a:spcAft>
            </a:pPr>
            <a:r>
              <a:rPr sz="1150" b="0">
                <a:solidFill>
                  <a:srgbClr val="000000"/>
                </a:solidFill>
                <a:latin typeface="Arial"/>
              </a:rPr>
              <a:t>No se rompió el algoritmo de firma: se rompió un requisito de uso que estaba escrito en el estándar.</a:t>
            </a:r>
          </a:p>
        </p:txBody>
      </p:sp>
      <p:sp>
        <p:nvSpPr>
          <p:cNvPr id="14" name="Rectangle 13"/>
          <p:cNvSpPr/>
          <p:nvPr/>
        </p:nvSpPr>
        <p:spPr>
          <a:xfrm>
            <a:off x="6085332" y="2304287"/>
            <a:ext cx="9144" cy="19659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4526280"/>
            <a:ext cx="45720" cy="84124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4544568"/>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LO QUE ESTOS DOS CASOS TIENEN EN COMÚN</a:t>
            </a:r>
          </a:p>
        </p:txBody>
      </p:sp>
      <p:sp>
        <p:nvSpPr>
          <p:cNvPr id="17" name="TextBox 16"/>
          <p:cNvSpPr txBox="1"/>
          <p:nvPr/>
        </p:nvSpPr>
        <p:spPr>
          <a:xfrm>
            <a:off x="804672" y="4782312"/>
            <a:ext cx="10780776" cy="56692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En ninguno de los dos se rompió la matemática. En ambos falló la aleatoriedad: en uno, la que genera la llave; en otro, la que acompaña cada firma. Cuando lleguemos a firma digital en la sesión 4, este requisito va a reaparecer, y ustedes ya van a saber por qué importa.</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35  PRÁCTICA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DE DÓNDE SACAR ALEATORIEDAD BUENA</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42</a:t>
            </a:r>
          </a:p>
        </p:txBody>
      </p:sp>
      <p:sp>
        <p:nvSpPr>
          <p:cNvPr id="9" name="TextBox 8"/>
          <p:cNvSpPr txBox="1"/>
          <p:nvPr/>
        </p:nvSpPr>
        <p:spPr>
          <a:xfrm>
            <a:off x="566928" y="1554480"/>
            <a:ext cx="11055096" cy="237744"/>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Referencia para el laboratorio y para el informe. La regla general: pídasela al sistema operativo, nunca la construya usted.</a:t>
            </a:r>
          </a:p>
        </p:txBody>
      </p:sp>
      <p:sp>
        <p:nvSpPr>
          <p:cNvPr id="10" name="Rectangle 9"/>
          <p:cNvSpPr/>
          <p:nvPr/>
        </p:nvSpPr>
        <p:spPr>
          <a:xfrm>
            <a:off x="566928" y="2066543"/>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185415"/>
            <a:ext cx="2488631"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ENTORNO</a:t>
            </a:r>
          </a:p>
        </p:txBody>
      </p:sp>
      <p:sp>
        <p:nvSpPr>
          <p:cNvPr id="12" name="TextBox 11"/>
          <p:cNvSpPr txBox="1"/>
          <p:nvPr/>
        </p:nvSpPr>
        <p:spPr>
          <a:xfrm>
            <a:off x="3220151" y="2185415"/>
            <a:ext cx="492075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LO QUE SE DEBE USAR</a:t>
            </a:r>
          </a:p>
        </p:txBody>
      </p:sp>
      <p:sp>
        <p:nvSpPr>
          <p:cNvPr id="13" name="TextBox 12"/>
          <p:cNvSpPr txBox="1"/>
          <p:nvPr/>
        </p:nvSpPr>
        <p:spPr>
          <a:xfrm>
            <a:off x="8305495" y="2185415"/>
            <a:ext cx="3151936"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LO QUE NUNCA</a:t>
            </a:r>
          </a:p>
        </p:txBody>
      </p:sp>
      <p:sp>
        <p:nvSpPr>
          <p:cNvPr id="14" name="Rectangle 13"/>
          <p:cNvSpPr/>
          <p:nvPr/>
        </p:nvSpPr>
        <p:spPr>
          <a:xfrm>
            <a:off x="566928" y="2478023"/>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587751"/>
            <a:ext cx="2488631"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Línea de comandos</a:t>
            </a:r>
          </a:p>
        </p:txBody>
      </p:sp>
      <p:sp>
        <p:nvSpPr>
          <p:cNvPr id="16" name="TextBox 15"/>
          <p:cNvSpPr txBox="1"/>
          <p:nvPr/>
        </p:nvSpPr>
        <p:spPr>
          <a:xfrm>
            <a:off x="3220151" y="2587751"/>
            <a:ext cx="492075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openssl rand</a:t>
            </a:r>
          </a:p>
        </p:txBody>
      </p:sp>
      <p:sp>
        <p:nvSpPr>
          <p:cNvPr id="17" name="TextBox 16"/>
          <p:cNvSpPr txBox="1"/>
          <p:nvPr/>
        </p:nvSpPr>
        <p:spPr>
          <a:xfrm>
            <a:off x="8305495" y="2587751"/>
            <a:ext cx="3151936"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Cadenas escritas a mano o derivadas de la fecha</a:t>
            </a:r>
          </a:p>
        </p:txBody>
      </p:sp>
      <p:sp>
        <p:nvSpPr>
          <p:cNvPr id="18" name="Rectangle 17"/>
          <p:cNvSpPr/>
          <p:nvPr/>
        </p:nvSpPr>
        <p:spPr>
          <a:xfrm>
            <a:off x="566928" y="303617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127613"/>
            <a:ext cx="2488631"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Sistemas tipo Unix</a:t>
            </a:r>
          </a:p>
        </p:txBody>
      </p:sp>
      <p:sp>
        <p:nvSpPr>
          <p:cNvPr id="20" name="TextBox 19"/>
          <p:cNvSpPr txBox="1"/>
          <p:nvPr/>
        </p:nvSpPr>
        <p:spPr>
          <a:xfrm>
            <a:off x="3220151" y="3127613"/>
            <a:ext cx="492075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dispositivo de aleatoriedad del núcleo o la llamada al sistema correspondiente</a:t>
            </a:r>
          </a:p>
        </p:txBody>
      </p:sp>
      <p:sp>
        <p:nvSpPr>
          <p:cNvPr id="21" name="TextBox 20"/>
          <p:cNvSpPr txBox="1"/>
          <p:nvPr/>
        </p:nvSpPr>
        <p:spPr>
          <a:xfrm>
            <a:off x="8305495" y="3127613"/>
            <a:ext cx="3151936"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Semillas fijas para «poder reproducir»</a:t>
            </a:r>
          </a:p>
        </p:txBody>
      </p:sp>
      <p:sp>
        <p:nvSpPr>
          <p:cNvPr id="22" name="Rectangle 21"/>
          <p:cNvSpPr/>
          <p:nvPr/>
        </p:nvSpPr>
        <p:spPr>
          <a:xfrm>
            <a:off x="566928" y="357603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667475"/>
            <a:ext cx="2488631" cy="42062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Java</a:t>
            </a:r>
          </a:p>
        </p:txBody>
      </p:sp>
      <p:sp>
        <p:nvSpPr>
          <p:cNvPr id="24" name="TextBox 23"/>
          <p:cNvSpPr txBox="1"/>
          <p:nvPr/>
        </p:nvSpPr>
        <p:spPr>
          <a:xfrm>
            <a:off x="3220151" y="3667475"/>
            <a:ext cx="4920752" cy="42062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clase de aleatoriedad segura de la biblioteca estándar</a:t>
            </a:r>
          </a:p>
        </p:txBody>
      </p:sp>
      <p:sp>
        <p:nvSpPr>
          <p:cNvPr id="25" name="TextBox 24"/>
          <p:cNvSpPr txBox="1"/>
          <p:nvPr/>
        </p:nvSpPr>
        <p:spPr>
          <a:xfrm>
            <a:off x="8305495" y="3667475"/>
            <a:ext cx="3151936" cy="42062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clase de aleatoriedad general</a:t>
            </a:r>
          </a:p>
        </p:txBody>
      </p:sp>
      <p:sp>
        <p:nvSpPr>
          <p:cNvPr id="26" name="Rectangle 25"/>
          <p:cNvSpPr/>
          <p:nvPr/>
        </p:nvSpPr>
        <p:spPr>
          <a:xfrm>
            <a:off x="566928" y="405152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142963"/>
            <a:ext cx="2488631" cy="42062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Python</a:t>
            </a:r>
          </a:p>
        </p:txBody>
      </p:sp>
      <p:sp>
        <p:nvSpPr>
          <p:cNvPr id="28" name="TextBox 27"/>
          <p:cNvSpPr txBox="1"/>
          <p:nvPr/>
        </p:nvSpPr>
        <p:spPr>
          <a:xfrm>
            <a:off x="3220151" y="4142963"/>
            <a:ext cx="4920752" cy="42062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módulo de secretos o la función de bytes aleatorios del sistema</a:t>
            </a:r>
          </a:p>
        </p:txBody>
      </p:sp>
      <p:sp>
        <p:nvSpPr>
          <p:cNvPr id="29" name="TextBox 28"/>
          <p:cNvSpPr txBox="1"/>
          <p:nvPr/>
        </p:nvSpPr>
        <p:spPr>
          <a:xfrm>
            <a:off x="8305495" y="4142963"/>
            <a:ext cx="3151936" cy="42062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módulo random</a:t>
            </a:r>
          </a:p>
        </p:txBody>
      </p:sp>
      <p:sp>
        <p:nvSpPr>
          <p:cNvPr id="30" name="Rectangle 29"/>
          <p:cNvSpPr/>
          <p:nvPr/>
        </p:nvSpPr>
        <p:spPr>
          <a:xfrm>
            <a:off x="566928" y="452701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618451"/>
            <a:ext cx="2488631" cy="42062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Navegador</a:t>
            </a:r>
          </a:p>
        </p:txBody>
      </p:sp>
      <p:sp>
        <p:nvSpPr>
          <p:cNvPr id="32" name="TextBox 31"/>
          <p:cNvSpPr txBox="1"/>
          <p:nvPr/>
        </p:nvSpPr>
        <p:spPr>
          <a:xfrm>
            <a:off x="3220151" y="4618451"/>
            <a:ext cx="4920752" cy="42062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interfaz criptográfica del navegador</a:t>
            </a:r>
          </a:p>
        </p:txBody>
      </p:sp>
      <p:sp>
        <p:nvSpPr>
          <p:cNvPr id="33" name="TextBox 32"/>
          <p:cNvSpPr txBox="1"/>
          <p:nvPr/>
        </p:nvSpPr>
        <p:spPr>
          <a:xfrm>
            <a:off x="8305495" y="4618451"/>
            <a:ext cx="3151936" cy="42062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función de aleatoriedad del lenguaje</a:t>
            </a:r>
          </a:p>
        </p:txBody>
      </p:sp>
      <p:sp>
        <p:nvSpPr>
          <p:cNvPr id="34" name="Rectangle 33"/>
          <p:cNvSpPr/>
          <p:nvPr/>
        </p:nvSpPr>
        <p:spPr>
          <a:xfrm>
            <a:off x="566928" y="500249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66928" y="5057363"/>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36  DEMOSTRACIÓN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GENERAR Y MIRAR UNA LLAVE</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43</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Demostración en vivo. Observen tres cosas: que cada ejecución da un resultado distinto, que la longitud es la que pedimos, y que no hay ningún patrón visible.</a:t>
            </a:r>
          </a:p>
        </p:txBody>
      </p:sp>
      <p:sp>
        <p:nvSpPr>
          <p:cNvPr id="10" name="Rectangle 9"/>
          <p:cNvSpPr/>
          <p:nvPr/>
        </p:nvSpPr>
        <p:spPr>
          <a:xfrm>
            <a:off x="566928" y="2304287"/>
            <a:ext cx="11055096" cy="2051913"/>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DEMOSTRACIÓN 1 · GENERACIÓN DE LLAVES</a:t>
            </a:r>
          </a:p>
        </p:txBody>
      </p:sp>
      <p:sp>
        <p:nvSpPr>
          <p:cNvPr id="12" name="TextBox 11"/>
          <p:cNvSpPr txBox="1"/>
          <p:nvPr/>
        </p:nvSpPr>
        <p:spPr>
          <a:xfrm>
            <a:off x="768096" y="2633471"/>
            <a:ext cx="10652760" cy="1631289"/>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 32 bytes = 256 bits de un generador criptográfico</a:t>
            </a:r>
          </a:p>
          <a:p>
            <a:pPr algn="l">
              <a:lnSpc>
                <a:spcPct val="130000"/>
              </a:lnSpc>
              <a:spcAft>
                <a:spcPts val="0"/>
              </a:spcAft>
            </a:pPr>
            <a:r>
              <a:rPr sz="950" b="0">
                <a:solidFill>
                  <a:srgbClr val="000000"/>
                </a:solidFill>
                <a:latin typeface="Consolas"/>
              </a:rPr>
              <a:t>openssl rand -hex 32</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 la misma orden dos veces seguidas: nunca coincide</a:t>
            </a:r>
          </a:p>
          <a:p>
            <a:pPr algn="l">
              <a:lnSpc>
                <a:spcPct val="130000"/>
              </a:lnSpc>
              <a:spcAft>
                <a:spcPts val="0"/>
              </a:spcAft>
            </a:pPr>
            <a:r>
              <a:rPr sz="950" b="0">
                <a:solidFill>
                  <a:srgbClr val="000000"/>
                </a:solidFill>
                <a:latin typeface="Consolas"/>
              </a:rPr>
              <a:t>openssl rand -hex 32</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 un vector de inicialización de 16 bytes</a:t>
            </a:r>
          </a:p>
          <a:p>
            <a:pPr algn="l">
              <a:lnSpc>
                <a:spcPct val="130000"/>
              </a:lnSpc>
              <a:spcAft>
                <a:spcPts val="0"/>
              </a:spcAft>
            </a:pPr>
            <a:r>
              <a:rPr sz="950" b="0">
                <a:solidFill>
                  <a:srgbClr val="000000"/>
                </a:solidFill>
                <a:latin typeface="Consolas"/>
              </a:rPr>
              <a:t>openssl rand -hex 16</a:t>
            </a:r>
          </a:p>
        </p:txBody>
      </p:sp>
      <p:sp>
        <p:nvSpPr>
          <p:cNvPr id="13" name="Rectangle 12"/>
          <p:cNvSpPr/>
          <p:nvPr/>
        </p:nvSpPr>
        <p:spPr>
          <a:xfrm>
            <a:off x="566928" y="4612233"/>
            <a:ext cx="45720" cy="84124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4630521"/>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PREGUNTA PARA LA CLASE</a:t>
            </a:r>
          </a:p>
        </p:txBody>
      </p:sp>
      <p:sp>
        <p:nvSpPr>
          <p:cNvPr id="15" name="TextBox 14"/>
          <p:cNvSpPr txBox="1"/>
          <p:nvPr/>
        </p:nvSpPr>
        <p:spPr>
          <a:xfrm>
            <a:off x="804672" y="4868265"/>
            <a:ext cx="10780776" cy="56692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Si ejecutamos esta orden un millón de veces, ¿cuál es la probabilidad de que dos resultados coincidan? Y una segunda, más incómoda: ¿cómo sabríamos si el generador de esta máquina está comprometido?</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37  DISTINCIÓN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UNA CONTRASEÑA NO ES UNA LLAVE</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44</a:t>
            </a:r>
          </a:p>
        </p:txBody>
      </p:sp>
      <p:sp>
        <p:nvSpPr>
          <p:cNvPr id="9" name="TextBox 8"/>
          <p:cNvSpPr txBox="1"/>
          <p:nvPr/>
        </p:nvSpPr>
        <p:spPr>
          <a:xfrm>
            <a:off x="566928" y="1554480"/>
            <a:ext cx="11055096" cy="237744"/>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Distinción que vamos a necesitar en la sesión 3, cuando arreglemos el hallazgo H1 de Coopaburrá.</a:t>
            </a:r>
          </a:p>
        </p:txBody>
      </p:sp>
      <p:sp>
        <p:nvSpPr>
          <p:cNvPr id="10" name="TextBox 9"/>
          <p:cNvSpPr txBox="1"/>
          <p:nvPr/>
        </p:nvSpPr>
        <p:spPr>
          <a:xfrm>
            <a:off x="566928" y="2066543"/>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UNA LLAVE</a:t>
            </a:r>
          </a:p>
        </p:txBody>
      </p:sp>
      <p:sp>
        <p:nvSpPr>
          <p:cNvPr id="11" name="TextBox 10"/>
          <p:cNvSpPr txBox="1"/>
          <p:nvPr/>
        </p:nvSpPr>
        <p:spPr>
          <a:xfrm>
            <a:off x="566928" y="2340863"/>
            <a:ext cx="5253228" cy="178308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La produce una máquina a partir de una fuente de entropía.</a:t>
            </a:r>
          </a:p>
          <a:p>
            <a:pPr algn="l">
              <a:lnSpc>
                <a:spcPct val="128000"/>
              </a:lnSpc>
              <a:spcAft>
                <a:spcPts val="700"/>
              </a:spcAft>
            </a:pPr>
            <a:r>
              <a:rPr sz="1150" b="0">
                <a:solidFill>
                  <a:srgbClr val="000000"/>
                </a:solidFill>
                <a:latin typeface="Arial"/>
              </a:rPr>
              <a:t>Tiene la longitud exacta que el algoritmo necesita.</a:t>
            </a:r>
          </a:p>
          <a:p>
            <a:pPr algn="l">
              <a:lnSpc>
                <a:spcPct val="128000"/>
              </a:lnSpc>
              <a:spcAft>
                <a:spcPts val="700"/>
              </a:spcAft>
            </a:pPr>
            <a:r>
              <a:rPr sz="1150" b="0">
                <a:solidFill>
                  <a:srgbClr val="000000"/>
                </a:solidFill>
                <a:latin typeface="Arial"/>
              </a:rPr>
              <a:t>Nadie la memoriza ni la escribe: se almacena y se custodia.</a:t>
            </a:r>
          </a:p>
          <a:p>
            <a:pPr algn="l">
              <a:lnSpc>
                <a:spcPct val="128000"/>
              </a:lnSpc>
              <a:spcAft>
                <a:spcPts val="700"/>
              </a:spcAft>
            </a:pPr>
            <a:r>
              <a:rPr sz="1150" b="0">
                <a:solidFill>
                  <a:srgbClr val="000000"/>
                </a:solidFill>
                <a:latin typeface="Arial"/>
              </a:rPr>
              <a:t>Su entropía es conocida y calculable.</a:t>
            </a:r>
          </a:p>
        </p:txBody>
      </p:sp>
      <p:sp>
        <p:nvSpPr>
          <p:cNvPr id="12" name="TextBox 11"/>
          <p:cNvSpPr txBox="1"/>
          <p:nvPr/>
        </p:nvSpPr>
        <p:spPr>
          <a:xfrm>
            <a:off x="6368796" y="2066543"/>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UNA CONTRASEÑA</a:t>
            </a:r>
          </a:p>
        </p:txBody>
      </p:sp>
      <p:sp>
        <p:nvSpPr>
          <p:cNvPr id="13" name="TextBox 12"/>
          <p:cNvSpPr txBox="1"/>
          <p:nvPr/>
        </p:nvSpPr>
        <p:spPr>
          <a:xfrm>
            <a:off x="6368796" y="2340863"/>
            <a:ext cx="5253228" cy="178308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La elige una persona, y las personas eligen mal y repiten.</a:t>
            </a:r>
          </a:p>
          <a:p>
            <a:pPr algn="l">
              <a:lnSpc>
                <a:spcPct val="128000"/>
              </a:lnSpc>
              <a:spcAft>
                <a:spcPts val="700"/>
              </a:spcAft>
            </a:pPr>
            <a:r>
              <a:rPr sz="1150" b="0">
                <a:solidFill>
                  <a:srgbClr val="000000"/>
                </a:solidFill>
                <a:latin typeface="Arial"/>
              </a:rPr>
              <a:t>Tiene longitud variable y entropía baja e impredecible.</a:t>
            </a:r>
          </a:p>
          <a:p>
            <a:pPr algn="l">
              <a:lnSpc>
                <a:spcPct val="128000"/>
              </a:lnSpc>
              <a:spcAft>
                <a:spcPts val="700"/>
              </a:spcAft>
            </a:pPr>
            <a:r>
              <a:rPr sz="1150" b="0">
                <a:solidFill>
                  <a:srgbClr val="000000"/>
                </a:solidFill>
                <a:latin typeface="Arial"/>
              </a:rPr>
              <a:t>Se memoriza, y por eso se parece a otras que la misma persona ya usó.</a:t>
            </a:r>
          </a:p>
          <a:p>
            <a:pPr algn="l">
              <a:lnSpc>
                <a:spcPct val="128000"/>
              </a:lnSpc>
              <a:spcAft>
                <a:spcPts val="700"/>
              </a:spcAft>
            </a:pPr>
            <a:r>
              <a:rPr sz="1150" b="0">
                <a:solidFill>
                  <a:srgbClr val="000000"/>
                </a:solidFill>
                <a:latin typeface="Arial"/>
              </a:rPr>
              <a:t>Para convertirla en llave hay que pasarla por una función de derivación con factor de trabajo deliberadamente lento.</a:t>
            </a:r>
          </a:p>
        </p:txBody>
      </p:sp>
      <p:sp>
        <p:nvSpPr>
          <p:cNvPr id="14" name="Rectangle 13"/>
          <p:cNvSpPr/>
          <p:nvPr/>
        </p:nvSpPr>
        <p:spPr>
          <a:xfrm>
            <a:off x="6085332" y="2066543"/>
            <a:ext cx="9144" cy="2057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4379976"/>
            <a:ext cx="45720" cy="84124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4398264"/>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CONEXIÓN CON EL CASO</a:t>
            </a:r>
          </a:p>
        </p:txBody>
      </p:sp>
      <p:sp>
        <p:nvSpPr>
          <p:cNvPr id="17" name="TextBox 16"/>
          <p:cNvSpPr txBox="1"/>
          <p:nvPr/>
        </p:nvSpPr>
        <p:spPr>
          <a:xfrm>
            <a:off x="804672" y="4636008"/>
            <a:ext cx="10780776" cy="56692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Coopaburrá guarda las contraseñas con un resumen simple y una sal compartida. Eso es tratar una contraseña como si fuera una llave, y es el hallazgo H1. En la sesión 3 vamos a ver por qué esa decisión hace que 142.000 contraseñas se puedan atacar todas a la vez en lugar de una por una.</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38  MEDIDA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CUÁNTA ENTROPÍA TIENE UNA CONTRASEÑA</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45</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Una llave de 128 bits tiene 128 bits de entropía porque la produjo una máquina al azar. Una contraseña tiene la entropía del procedimiento con que se escogió, y casi siempre es mucho menor de lo que aparenta.</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492075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SECRETO</a:t>
            </a:r>
          </a:p>
        </p:txBody>
      </p:sp>
      <p:sp>
        <p:nvSpPr>
          <p:cNvPr id="12" name="TextBox 11"/>
          <p:cNvSpPr txBox="1"/>
          <p:nvPr/>
        </p:nvSpPr>
        <p:spPr>
          <a:xfrm>
            <a:off x="5652272" y="2423159"/>
            <a:ext cx="3151936"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CÓMO SE CALCULA</a:t>
            </a:r>
          </a:p>
        </p:txBody>
      </p:sp>
      <p:sp>
        <p:nvSpPr>
          <p:cNvPr id="13" name="TextBox 12"/>
          <p:cNvSpPr txBox="1"/>
          <p:nvPr/>
        </p:nvSpPr>
        <p:spPr>
          <a:xfrm>
            <a:off x="8968800" y="2423159"/>
            <a:ext cx="2488631"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ENTROPÍA MÁXIMA</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4920752" cy="32918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PIN de cuatro dígitos</a:t>
            </a:r>
          </a:p>
        </p:txBody>
      </p:sp>
      <p:sp>
        <p:nvSpPr>
          <p:cNvPr id="16" name="TextBox 15"/>
          <p:cNvSpPr txBox="1"/>
          <p:nvPr/>
        </p:nvSpPr>
        <p:spPr>
          <a:xfrm>
            <a:off x="5652272" y="2825495"/>
            <a:ext cx="3151936"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4 × log2(10)</a:t>
            </a:r>
          </a:p>
        </p:txBody>
      </p:sp>
      <p:sp>
        <p:nvSpPr>
          <p:cNvPr id="17" name="TextBox 16"/>
          <p:cNvSpPr txBox="1"/>
          <p:nvPr/>
        </p:nvSpPr>
        <p:spPr>
          <a:xfrm>
            <a:off x="8968800" y="2825495"/>
            <a:ext cx="2488631"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13 bits</a:t>
            </a:r>
          </a:p>
        </p:txBody>
      </p:sp>
      <p:sp>
        <p:nvSpPr>
          <p:cNvPr id="18" name="Rectangle 17"/>
          <p:cNvSpPr/>
          <p:nvPr/>
        </p:nvSpPr>
        <p:spPr>
          <a:xfrm>
            <a:off x="566928" y="311810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209543"/>
            <a:ext cx="4920752" cy="329184"/>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Seis minúsculas: la política de Coopaburrá</a:t>
            </a:r>
          </a:p>
        </p:txBody>
      </p:sp>
      <p:sp>
        <p:nvSpPr>
          <p:cNvPr id="20" name="TextBox 19"/>
          <p:cNvSpPr txBox="1"/>
          <p:nvPr/>
        </p:nvSpPr>
        <p:spPr>
          <a:xfrm>
            <a:off x="5652272" y="3209543"/>
            <a:ext cx="3151936"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6 × log2(26)</a:t>
            </a:r>
          </a:p>
        </p:txBody>
      </p:sp>
      <p:sp>
        <p:nvSpPr>
          <p:cNvPr id="21" name="TextBox 20"/>
          <p:cNvSpPr txBox="1"/>
          <p:nvPr/>
        </p:nvSpPr>
        <p:spPr>
          <a:xfrm>
            <a:off x="8968800" y="3209543"/>
            <a:ext cx="2488631"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28 bits</a:t>
            </a:r>
          </a:p>
        </p:txBody>
      </p:sp>
      <p:sp>
        <p:nvSpPr>
          <p:cNvPr id="22" name="Rectangle 21"/>
          <p:cNvSpPr/>
          <p:nvPr/>
        </p:nvSpPr>
        <p:spPr>
          <a:xfrm>
            <a:off x="566928" y="350215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593591"/>
            <a:ext cx="4920752" cy="32918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Ocho caracteres al azar entre 94 símbolos</a:t>
            </a:r>
          </a:p>
        </p:txBody>
      </p:sp>
      <p:sp>
        <p:nvSpPr>
          <p:cNvPr id="24" name="TextBox 23"/>
          <p:cNvSpPr txBox="1"/>
          <p:nvPr/>
        </p:nvSpPr>
        <p:spPr>
          <a:xfrm>
            <a:off x="5652272" y="3593591"/>
            <a:ext cx="3151936"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8 × log2(94)</a:t>
            </a:r>
          </a:p>
        </p:txBody>
      </p:sp>
      <p:sp>
        <p:nvSpPr>
          <p:cNvPr id="25" name="TextBox 24"/>
          <p:cNvSpPr txBox="1"/>
          <p:nvPr/>
        </p:nvSpPr>
        <p:spPr>
          <a:xfrm>
            <a:off x="8968800" y="3593591"/>
            <a:ext cx="2488631"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52 bits</a:t>
            </a:r>
          </a:p>
        </p:txBody>
      </p:sp>
      <p:sp>
        <p:nvSpPr>
          <p:cNvPr id="26" name="Rectangle 25"/>
          <p:cNvSpPr/>
          <p:nvPr/>
        </p:nvSpPr>
        <p:spPr>
          <a:xfrm>
            <a:off x="566928" y="388619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3977639"/>
            <a:ext cx="4920752" cy="32918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Cinco palabras al azar de una lista de 7.776</a:t>
            </a:r>
          </a:p>
        </p:txBody>
      </p:sp>
      <p:sp>
        <p:nvSpPr>
          <p:cNvPr id="28" name="TextBox 27"/>
          <p:cNvSpPr txBox="1"/>
          <p:nvPr/>
        </p:nvSpPr>
        <p:spPr>
          <a:xfrm>
            <a:off x="5652272" y="3977639"/>
            <a:ext cx="3151936"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5 × log2(7.776)</a:t>
            </a:r>
          </a:p>
        </p:txBody>
      </p:sp>
      <p:sp>
        <p:nvSpPr>
          <p:cNvPr id="29" name="TextBox 28"/>
          <p:cNvSpPr txBox="1"/>
          <p:nvPr/>
        </p:nvSpPr>
        <p:spPr>
          <a:xfrm>
            <a:off x="8968800" y="3977639"/>
            <a:ext cx="2488631"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65 bits</a:t>
            </a:r>
          </a:p>
        </p:txBody>
      </p:sp>
      <p:sp>
        <p:nvSpPr>
          <p:cNvPr id="30" name="Rectangle 29"/>
          <p:cNvSpPr/>
          <p:nvPr/>
        </p:nvSpPr>
        <p:spPr>
          <a:xfrm>
            <a:off x="566928" y="427024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361687"/>
            <a:ext cx="4920752" cy="32918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Llave AES-128 del generador del sistema</a:t>
            </a:r>
          </a:p>
        </p:txBody>
      </p:sp>
      <p:sp>
        <p:nvSpPr>
          <p:cNvPr id="32" name="TextBox 31"/>
          <p:cNvSpPr txBox="1"/>
          <p:nvPr/>
        </p:nvSpPr>
        <p:spPr>
          <a:xfrm>
            <a:off x="5652272" y="4361687"/>
            <a:ext cx="3151936"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128 bits al azar</a:t>
            </a:r>
          </a:p>
        </p:txBody>
      </p:sp>
      <p:sp>
        <p:nvSpPr>
          <p:cNvPr id="33" name="TextBox 32"/>
          <p:cNvSpPr txBox="1"/>
          <p:nvPr/>
        </p:nvSpPr>
        <p:spPr>
          <a:xfrm>
            <a:off x="8968800" y="4361687"/>
            <a:ext cx="2488631"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128 bits</a:t>
            </a:r>
          </a:p>
        </p:txBody>
      </p:sp>
      <p:sp>
        <p:nvSpPr>
          <p:cNvPr id="34" name="Rectangle 33"/>
          <p:cNvSpPr/>
          <p:nvPr/>
        </p:nvSpPr>
        <p:spPr>
          <a:xfrm>
            <a:off x="566928" y="465429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66928" y="4709159"/>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5010911"/>
            <a:ext cx="45720" cy="84124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4672" y="5029199"/>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CUENTA QUE HAY QUE HACER CON EL HALLAZGO H1</a:t>
            </a:r>
          </a:p>
        </p:txBody>
      </p:sp>
      <p:sp>
        <p:nvSpPr>
          <p:cNvPr id="38" name="TextBox 37"/>
          <p:cNvSpPr txBox="1"/>
          <p:nvPr/>
        </p:nvSpPr>
        <p:spPr>
          <a:xfrm>
            <a:off x="804672" y="5266943"/>
            <a:ext cx="10780776" cy="56692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Veintiocho bits son unos 270 millones de combinaciones. Una sola tarjeta gráfica calcula SHA-1 a razón de decenas de miles de millones por segundo: </a:t>
            </a:r>
            <a:r>
              <a:rPr sz="1150" b="1">
                <a:solidFill>
                  <a:srgbClr val="2A2A2A"/>
                </a:solidFill>
                <a:latin typeface="Arial"/>
              </a:rPr>
              <a:t>recorre todas las contraseñas de seis minúsculas en menos de un segundo</a:t>
            </a:r>
            <a:r>
              <a:rPr sz="1150" b="0">
                <a:solidFill>
                  <a:srgbClr val="2A2A2A"/>
                </a:solidFill>
                <a:latin typeface="Arial"/>
              </a:rPr>
              <a:t>. Y ese es el máximo teórico: las contraseñas que escoge la gente caen mucho antes.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0"/>
            <a:ext cx="11055096" cy="237744"/>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SECCIÓN</a:t>
            </a:r>
          </a:p>
        </p:txBody>
      </p:sp>
      <p:sp>
        <p:nvSpPr>
          <p:cNvPr id="3" name="TextBox 2"/>
          <p:cNvSpPr txBox="1"/>
          <p:nvPr/>
        </p:nvSpPr>
        <p:spPr>
          <a:xfrm>
            <a:off x="566928" y="2377440"/>
            <a:ext cx="1828800" cy="1005840"/>
          </a:xfrm>
          <a:prstGeom prst="rect">
            <a:avLst/>
          </a:prstGeom>
          <a:noFill/>
        </p:spPr>
        <p:txBody>
          <a:bodyPr wrap="square" lIns="0" rIns="0" tIns="0" bIns="0">
            <a:spAutoFit/>
          </a:bodyPr>
          <a:lstStyle/>
          <a:p>
            <a:pPr algn="l">
              <a:spcAft>
                <a:spcPts val="0"/>
              </a:spcAft>
            </a:pPr>
            <a:r>
              <a:rPr sz="5400" b="0">
                <a:solidFill>
                  <a:srgbClr val="F36406"/>
                </a:solidFill>
                <a:latin typeface="Arial Black"/>
              </a:rPr>
              <a:t>06</a:t>
            </a:r>
          </a:p>
        </p:txBody>
      </p:sp>
      <p:sp>
        <p:nvSpPr>
          <p:cNvPr id="4" name="TextBox 3"/>
          <p:cNvSpPr txBox="1"/>
          <p:nvPr/>
        </p:nvSpPr>
        <p:spPr>
          <a:xfrm>
            <a:off x="566928" y="3520440"/>
            <a:ext cx="11055096" cy="640080"/>
          </a:xfrm>
          <a:prstGeom prst="rect">
            <a:avLst/>
          </a:prstGeom>
          <a:noFill/>
        </p:spPr>
        <p:txBody>
          <a:bodyPr wrap="square" lIns="0" rIns="0" tIns="0" bIns="0">
            <a:spAutoFit/>
          </a:bodyPr>
          <a:lstStyle/>
          <a:p>
            <a:pPr algn="l">
              <a:spcAft>
                <a:spcPts val="0"/>
              </a:spcAft>
            </a:pPr>
            <a:r>
              <a:rPr sz="3000" b="0">
                <a:solidFill>
                  <a:srgbClr val="000000"/>
                </a:solidFill>
                <a:latin typeface="Arial Black"/>
              </a:rPr>
              <a:t>POR QUÉ FALLA LO QUE PARECE SEGURO</a:t>
            </a:r>
          </a:p>
        </p:txBody>
      </p:sp>
      <p:sp>
        <p:nvSpPr>
          <p:cNvPr id="5" name="Rectangle 4"/>
          <p:cNvSpPr/>
          <p:nvPr/>
        </p:nvSpPr>
        <p:spPr>
          <a:xfrm>
            <a:off x="566928" y="4315968"/>
            <a:ext cx="155448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4526280"/>
            <a:ext cx="10058400" cy="457200"/>
          </a:xfrm>
          <a:prstGeom prst="rect">
            <a:avLst/>
          </a:prstGeom>
          <a:noFill/>
        </p:spPr>
        <p:txBody>
          <a:bodyPr wrap="square" lIns="0" rIns="0" tIns="0" bIns="0">
            <a:spAutoFit/>
          </a:bodyPr>
          <a:lstStyle/>
          <a:p>
            <a:pPr algn="l">
              <a:lnSpc>
                <a:spcPct val="130000"/>
              </a:lnSpc>
              <a:spcAft>
                <a:spcPts val="0"/>
              </a:spcAft>
            </a:pPr>
            <a:r>
              <a:rPr sz="1200" b="0">
                <a:solidFill>
                  <a:srgbClr val="5C5C5C"/>
                </a:solidFill>
                <a:latin typeface="Arial"/>
              </a:rPr>
              <a:t>De César a AES: sustitución, transposición y las lecciones que siguen vigentes</a:t>
            </a:r>
          </a:p>
        </p:txBody>
      </p:sp>
      <p:sp>
        <p:nvSpPr>
          <p:cNvPr id="7" name="Rectangle 6"/>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1-1.png"/>
          <p:cNvPicPr>
            <a:picLocks noChangeAspect="1"/>
          </p:cNvPicPr>
          <p:nvPr/>
        </p:nvPicPr>
        <p:blipFill>
          <a:blip r:embed="rId2"/>
          <a:stretch>
            <a:fillRect/>
          </a:stretch>
        </p:blipFill>
        <p:spPr>
          <a:xfrm>
            <a:off x="566928" y="6336792"/>
            <a:ext cx="566928" cy="246888"/>
          </a:xfrm>
          <a:prstGeom prst="rect">
            <a:avLst/>
          </a:prstGeom>
        </p:spPr>
      </p:pic>
      <p:sp>
        <p:nvSpPr>
          <p:cNvPr id="9" name="TextBox 8"/>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10" name="TextBox 9"/>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39  ORIGEN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EL CIFRADO DE CÉSAR</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47</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Suetonio cuenta que Julio César desplazaba cada letra tres posiciones para su correspondencia militar. Es el punto de partida obligado, y se agota rápido: sirve para instalar el vocabulario.</a:t>
            </a:r>
          </a:p>
        </p:txBody>
      </p:sp>
      <p:sp>
        <p:nvSpPr>
          <p:cNvPr id="10" name="Rectangle 9"/>
          <p:cNvSpPr/>
          <p:nvPr/>
        </p:nvSpPr>
        <p:spPr>
          <a:xfrm>
            <a:off x="566928" y="2304287"/>
            <a:ext cx="11055096" cy="142646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EJEMPLO</a:t>
            </a:r>
          </a:p>
        </p:txBody>
      </p:sp>
      <p:sp>
        <p:nvSpPr>
          <p:cNvPr id="12" name="TextBox 11"/>
          <p:cNvSpPr txBox="1"/>
          <p:nvPr/>
        </p:nvSpPr>
        <p:spPr>
          <a:xfrm>
            <a:off x="768096" y="2633471"/>
            <a:ext cx="10652760" cy="1005840"/>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Texto claro : COOPABURRA</a:t>
            </a:r>
          </a:p>
          <a:p>
            <a:pPr algn="l">
              <a:lnSpc>
                <a:spcPct val="130000"/>
              </a:lnSpc>
              <a:spcAft>
                <a:spcPts val="0"/>
              </a:spcAft>
            </a:pPr>
            <a:r>
              <a:rPr sz="950" b="0">
                <a:solidFill>
                  <a:srgbClr val="000000"/>
                </a:solidFill>
                <a:latin typeface="Consolas"/>
              </a:rPr>
              <a:t>Desplazamiento de 3</a:t>
            </a:r>
          </a:p>
          <a:p>
            <a:pPr algn="l">
              <a:lnSpc>
                <a:spcPct val="130000"/>
              </a:lnSpc>
              <a:spcAft>
                <a:spcPts val="0"/>
              </a:spcAft>
            </a:pPr>
            <a:r>
              <a:rPr sz="950" b="0">
                <a:solidFill>
                  <a:srgbClr val="000000"/>
                </a:solidFill>
                <a:latin typeface="Consolas"/>
              </a:rPr>
              <a:t>Texto cifrado: FRRSDEXUUD</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Espacio de llaves: 25 desplazamientos posibles</a:t>
            </a:r>
          </a:p>
        </p:txBody>
      </p:sp>
      <p:sp>
        <p:nvSpPr>
          <p:cNvPr id="13" name="TextBox 12"/>
          <p:cNvSpPr txBox="1"/>
          <p:nvPr/>
        </p:nvSpPr>
        <p:spPr>
          <a:xfrm>
            <a:off x="566928" y="3986784"/>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LO QUE INTRODUCE</a:t>
            </a:r>
          </a:p>
        </p:txBody>
      </p:sp>
      <p:sp>
        <p:nvSpPr>
          <p:cNvPr id="14" name="TextBox 13"/>
          <p:cNvSpPr txBox="1"/>
          <p:nvPr/>
        </p:nvSpPr>
        <p:spPr>
          <a:xfrm>
            <a:off x="566928" y="4261104"/>
            <a:ext cx="5253228" cy="96012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La idea de algoritmo —desplazar— separada de la idea de llave —cuánto—.</a:t>
            </a:r>
          </a:p>
          <a:p>
            <a:pPr algn="l">
              <a:lnSpc>
                <a:spcPct val="128000"/>
              </a:lnSpc>
              <a:spcAft>
                <a:spcPts val="700"/>
              </a:spcAft>
            </a:pPr>
            <a:r>
              <a:rPr sz="1150" b="0">
                <a:solidFill>
                  <a:srgbClr val="000000"/>
                </a:solidFill>
                <a:latin typeface="Arial"/>
              </a:rPr>
              <a:t>Ese es el aporte conceptual y por eso vale la pena verlo.</a:t>
            </a:r>
          </a:p>
        </p:txBody>
      </p:sp>
      <p:sp>
        <p:nvSpPr>
          <p:cNvPr id="15" name="TextBox 14"/>
          <p:cNvSpPr txBox="1"/>
          <p:nvPr/>
        </p:nvSpPr>
        <p:spPr>
          <a:xfrm>
            <a:off x="6368796" y="3986784"/>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POR QUÉ MUERE</a:t>
            </a:r>
          </a:p>
        </p:txBody>
      </p:sp>
      <p:sp>
        <p:nvSpPr>
          <p:cNvPr id="16" name="TextBox 15"/>
          <p:cNvSpPr txBox="1"/>
          <p:nvPr/>
        </p:nvSpPr>
        <p:spPr>
          <a:xfrm>
            <a:off x="6368796" y="4261104"/>
            <a:ext cx="5253228" cy="96012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Veinticinco llaves posibles se prueban todas a mano en un par de minutos.</a:t>
            </a:r>
          </a:p>
          <a:p>
            <a:pPr algn="l">
              <a:lnSpc>
                <a:spcPct val="128000"/>
              </a:lnSpc>
              <a:spcAft>
                <a:spcPts val="700"/>
              </a:spcAft>
            </a:pPr>
            <a:r>
              <a:rPr sz="1150" b="0">
                <a:solidFill>
                  <a:srgbClr val="000000"/>
                </a:solidFill>
                <a:latin typeface="Arial"/>
              </a:rPr>
              <a:t>El espacio de llaves es tan pequeño que ni siquiera hace falta ser astuto.</a:t>
            </a:r>
          </a:p>
        </p:txBody>
      </p:sp>
      <p:sp>
        <p:nvSpPr>
          <p:cNvPr id="17" name="Rectangle 16"/>
          <p:cNvSpPr/>
          <p:nvPr/>
        </p:nvSpPr>
        <p:spPr>
          <a:xfrm>
            <a:off x="6085332" y="3986784"/>
            <a:ext cx="9144" cy="12344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40  EVOLUCIÓN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SUSTITUCIÓN: UN ESPACIO ENORME QUE IGUAL CAE</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48</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El paso siguiente parece resolverlo todo: en vez de desplazar, se asigna a cada letra otra cualquiera. El espacio de llaves se vuelve gigantesco y el sistema sigue siendo indefendible.</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32303"/>
            <a:ext cx="2580894" cy="548640"/>
          </a:xfrm>
          <a:prstGeom prst="rect">
            <a:avLst/>
          </a:prstGeom>
          <a:noFill/>
        </p:spPr>
        <p:txBody>
          <a:bodyPr wrap="square" lIns="0" rIns="0" tIns="0" bIns="0">
            <a:spAutoFit/>
          </a:bodyPr>
          <a:lstStyle/>
          <a:p>
            <a:pPr algn="l">
              <a:spcAft>
                <a:spcPts val="0"/>
              </a:spcAft>
            </a:pPr>
            <a:r>
              <a:rPr sz="2800" b="0">
                <a:solidFill>
                  <a:srgbClr val="000000"/>
                </a:solidFill>
                <a:latin typeface="Arial Black"/>
              </a:rPr>
              <a:t>26!</a:t>
            </a:r>
          </a:p>
        </p:txBody>
      </p:sp>
      <p:sp>
        <p:nvSpPr>
          <p:cNvPr id="12" name="TextBox 11"/>
          <p:cNvSpPr txBox="1"/>
          <p:nvPr/>
        </p:nvSpPr>
        <p:spPr>
          <a:xfrm>
            <a:off x="566928" y="3035808"/>
            <a:ext cx="2580894" cy="438912"/>
          </a:xfrm>
          <a:prstGeom prst="rect">
            <a:avLst/>
          </a:prstGeom>
          <a:noFill/>
        </p:spPr>
        <p:txBody>
          <a:bodyPr wrap="square" lIns="0" rIns="0" tIns="0" bIns="0">
            <a:spAutoFit/>
          </a:bodyPr>
          <a:lstStyle/>
          <a:p>
            <a:pPr algn="l">
              <a:lnSpc>
                <a:spcPct val="125000"/>
              </a:lnSpc>
              <a:spcAft>
                <a:spcPts val="0"/>
              </a:spcAft>
            </a:pPr>
            <a:r>
              <a:rPr sz="730" b="1" spc="130">
                <a:solidFill>
                  <a:srgbClr val="3A3A3A"/>
                </a:solidFill>
                <a:latin typeface="Consolas"/>
              </a:rPr>
              <a:t>PERMUTACIONES</a:t>
            </a:r>
          </a:p>
          <a:p>
            <a:pPr algn="l">
              <a:lnSpc>
                <a:spcPct val="125000"/>
              </a:lnSpc>
              <a:spcAft>
                <a:spcPts val="0"/>
              </a:spcAft>
            </a:pPr>
            <a:r>
              <a:rPr sz="730" b="1" spc="130">
                <a:solidFill>
                  <a:srgbClr val="3A3A3A"/>
                </a:solidFill>
                <a:latin typeface="Consolas"/>
              </a:rPr>
              <a:t>POSIBLES</a:t>
            </a:r>
          </a:p>
        </p:txBody>
      </p:sp>
      <p:sp>
        <p:nvSpPr>
          <p:cNvPr id="13" name="Rectangle 12"/>
          <p:cNvSpPr/>
          <p:nvPr/>
        </p:nvSpPr>
        <p:spPr>
          <a:xfrm>
            <a:off x="3220974" y="2414015"/>
            <a:ext cx="9144" cy="98755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30702" y="2432303"/>
            <a:ext cx="2580894" cy="548640"/>
          </a:xfrm>
          <a:prstGeom prst="rect">
            <a:avLst/>
          </a:prstGeom>
          <a:noFill/>
        </p:spPr>
        <p:txBody>
          <a:bodyPr wrap="square" lIns="0" rIns="0" tIns="0" bIns="0">
            <a:spAutoFit/>
          </a:bodyPr>
          <a:lstStyle/>
          <a:p>
            <a:pPr algn="l">
              <a:spcAft>
                <a:spcPts val="0"/>
              </a:spcAft>
            </a:pPr>
            <a:r>
              <a:rPr sz="2800" b="0">
                <a:solidFill>
                  <a:srgbClr val="000000"/>
                </a:solidFill>
                <a:latin typeface="Arial Black"/>
              </a:rPr>
              <a:t>4×10²⁶</a:t>
            </a:r>
          </a:p>
        </p:txBody>
      </p:sp>
      <p:sp>
        <p:nvSpPr>
          <p:cNvPr id="15" name="TextBox 14"/>
          <p:cNvSpPr txBox="1"/>
          <p:nvPr/>
        </p:nvSpPr>
        <p:spPr>
          <a:xfrm>
            <a:off x="3330702" y="3035808"/>
            <a:ext cx="2580894" cy="438912"/>
          </a:xfrm>
          <a:prstGeom prst="rect">
            <a:avLst/>
          </a:prstGeom>
          <a:noFill/>
        </p:spPr>
        <p:txBody>
          <a:bodyPr wrap="square" lIns="0" rIns="0" tIns="0" bIns="0">
            <a:spAutoFit/>
          </a:bodyPr>
          <a:lstStyle/>
          <a:p>
            <a:pPr algn="l">
              <a:lnSpc>
                <a:spcPct val="125000"/>
              </a:lnSpc>
              <a:spcAft>
                <a:spcPts val="0"/>
              </a:spcAft>
            </a:pPr>
            <a:r>
              <a:rPr sz="730" b="1" spc="130">
                <a:solidFill>
                  <a:srgbClr val="3A3A3A"/>
                </a:solidFill>
                <a:latin typeface="Consolas"/>
              </a:rPr>
              <a:t>LLAVES</a:t>
            </a:r>
          </a:p>
          <a:p>
            <a:pPr algn="l">
              <a:lnSpc>
                <a:spcPct val="125000"/>
              </a:lnSpc>
              <a:spcAft>
                <a:spcPts val="0"/>
              </a:spcAft>
            </a:pPr>
            <a:r>
              <a:rPr sz="730" b="1" spc="130">
                <a:solidFill>
                  <a:srgbClr val="3A3A3A"/>
                </a:solidFill>
                <a:latin typeface="Consolas"/>
              </a:rPr>
              <a:t>DISTINTAS</a:t>
            </a:r>
          </a:p>
        </p:txBody>
      </p:sp>
      <p:sp>
        <p:nvSpPr>
          <p:cNvPr id="16" name="Rectangle 15"/>
          <p:cNvSpPr/>
          <p:nvPr/>
        </p:nvSpPr>
        <p:spPr>
          <a:xfrm>
            <a:off x="5984748" y="2414015"/>
            <a:ext cx="9144" cy="98755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94476" y="2432303"/>
            <a:ext cx="2580894" cy="548640"/>
          </a:xfrm>
          <a:prstGeom prst="rect">
            <a:avLst/>
          </a:prstGeom>
          <a:noFill/>
        </p:spPr>
        <p:txBody>
          <a:bodyPr wrap="square" lIns="0" rIns="0" tIns="0" bIns="0">
            <a:spAutoFit/>
          </a:bodyPr>
          <a:lstStyle/>
          <a:p>
            <a:pPr algn="l">
              <a:spcAft>
                <a:spcPts val="0"/>
              </a:spcAft>
            </a:pPr>
            <a:r>
              <a:rPr sz="2800" b="0">
                <a:solidFill>
                  <a:srgbClr val="000000"/>
                </a:solidFill>
                <a:latin typeface="Arial Black"/>
              </a:rPr>
              <a:t>~88</a:t>
            </a:r>
          </a:p>
        </p:txBody>
      </p:sp>
      <p:sp>
        <p:nvSpPr>
          <p:cNvPr id="18" name="TextBox 17"/>
          <p:cNvSpPr txBox="1"/>
          <p:nvPr/>
        </p:nvSpPr>
        <p:spPr>
          <a:xfrm>
            <a:off x="6094476" y="3035808"/>
            <a:ext cx="2580894" cy="438912"/>
          </a:xfrm>
          <a:prstGeom prst="rect">
            <a:avLst/>
          </a:prstGeom>
          <a:noFill/>
        </p:spPr>
        <p:txBody>
          <a:bodyPr wrap="square" lIns="0" rIns="0" tIns="0" bIns="0">
            <a:spAutoFit/>
          </a:bodyPr>
          <a:lstStyle/>
          <a:p>
            <a:pPr algn="l">
              <a:lnSpc>
                <a:spcPct val="125000"/>
              </a:lnSpc>
              <a:spcAft>
                <a:spcPts val="0"/>
              </a:spcAft>
            </a:pPr>
            <a:r>
              <a:rPr sz="730" b="1" spc="130">
                <a:solidFill>
                  <a:srgbClr val="3A3A3A"/>
                </a:solidFill>
                <a:latin typeface="Consolas"/>
              </a:rPr>
              <a:t>BITS DE ESPACIO</a:t>
            </a:r>
          </a:p>
          <a:p>
            <a:pPr algn="l">
              <a:lnSpc>
                <a:spcPct val="125000"/>
              </a:lnSpc>
              <a:spcAft>
                <a:spcPts val="0"/>
              </a:spcAft>
            </a:pPr>
            <a:r>
              <a:rPr sz="730" b="1" spc="130">
                <a:solidFill>
                  <a:srgbClr val="3A3A3A"/>
                </a:solidFill>
                <a:latin typeface="Consolas"/>
              </a:rPr>
              <a:t>DE LLAVES</a:t>
            </a:r>
          </a:p>
        </p:txBody>
      </p:sp>
      <p:sp>
        <p:nvSpPr>
          <p:cNvPr id="19" name="Rectangle 18"/>
          <p:cNvSpPr/>
          <p:nvPr/>
        </p:nvSpPr>
        <p:spPr>
          <a:xfrm>
            <a:off x="8748522" y="2414015"/>
            <a:ext cx="9144" cy="98755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58249" y="2432303"/>
            <a:ext cx="2580894" cy="548640"/>
          </a:xfrm>
          <a:prstGeom prst="rect">
            <a:avLst/>
          </a:prstGeom>
          <a:noFill/>
        </p:spPr>
        <p:txBody>
          <a:bodyPr wrap="square" lIns="0" rIns="0" tIns="0" bIns="0">
            <a:spAutoFit/>
          </a:bodyPr>
          <a:lstStyle/>
          <a:p>
            <a:pPr algn="l">
              <a:spcAft>
                <a:spcPts val="0"/>
              </a:spcAft>
            </a:pPr>
            <a:r>
              <a:rPr sz="2800" b="0">
                <a:solidFill>
                  <a:srgbClr val="F36406"/>
                </a:solidFill>
                <a:latin typeface="Arial Black"/>
              </a:rPr>
              <a:t>Minutos</a:t>
            </a:r>
          </a:p>
        </p:txBody>
      </p:sp>
      <p:sp>
        <p:nvSpPr>
          <p:cNvPr id="21" name="TextBox 20"/>
          <p:cNvSpPr txBox="1"/>
          <p:nvPr/>
        </p:nvSpPr>
        <p:spPr>
          <a:xfrm>
            <a:off x="8858249" y="3035808"/>
            <a:ext cx="2580894" cy="438912"/>
          </a:xfrm>
          <a:prstGeom prst="rect">
            <a:avLst/>
          </a:prstGeom>
          <a:noFill/>
        </p:spPr>
        <p:txBody>
          <a:bodyPr wrap="square" lIns="0" rIns="0" tIns="0" bIns="0">
            <a:spAutoFit/>
          </a:bodyPr>
          <a:lstStyle/>
          <a:p>
            <a:pPr algn="l">
              <a:lnSpc>
                <a:spcPct val="125000"/>
              </a:lnSpc>
              <a:spcAft>
                <a:spcPts val="0"/>
              </a:spcAft>
            </a:pPr>
            <a:r>
              <a:rPr sz="730" b="1" spc="130">
                <a:solidFill>
                  <a:srgbClr val="3A3A3A"/>
                </a:solidFill>
                <a:latin typeface="Consolas"/>
              </a:rPr>
              <a:t>LO QUE TARDA</a:t>
            </a:r>
          </a:p>
          <a:p>
            <a:pPr algn="l">
              <a:lnSpc>
                <a:spcPct val="125000"/>
              </a:lnSpc>
              <a:spcAft>
                <a:spcPts val="0"/>
              </a:spcAft>
            </a:pPr>
            <a:r>
              <a:rPr sz="730" b="1" spc="130">
                <a:solidFill>
                  <a:srgbClr val="3A3A3A"/>
                </a:solidFill>
                <a:latin typeface="Consolas"/>
              </a:rPr>
              <a:t>ROMPERLO</a:t>
            </a:r>
          </a:p>
        </p:txBody>
      </p:sp>
      <p:sp>
        <p:nvSpPr>
          <p:cNvPr id="22" name="Rectangle 21"/>
          <p:cNvSpPr/>
          <p:nvPr/>
        </p:nvSpPr>
        <p:spPr>
          <a:xfrm>
            <a:off x="566928" y="3474720"/>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813048"/>
            <a:ext cx="45720" cy="105156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2" y="3831335"/>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LECCIÓN, Y ES LA MÁS IMPORTANTE DE ESTA SECCIÓN</a:t>
            </a:r>
          </a:p>
        </p:txBody>
      </p:sp>
      <p:sp>
        <p:nvSpPr>
          <p:cNvPr id="25" name="TextBox 24"/>
          <p:cNvSpPr txBox="1"/>
          <p:nvPr/>
        </p:nvSpPr>
        <p:spPr>
          <a:xfrm>
            <a:off x="804672" y="4069080"/>
            <a:ext cx="10780776" cy="777239"/>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Ochenta y ocho bits de espacio de llaves es una cifra respetable incluso para los estándares de hoy. Y sin embargo el sistema cae en minutos, porque el ataque no consiste en probar llaves: consiste en explotar una propiedad del texto que el cifrado no oculta. </a:t>
            </a:r>
            <a:r>
              <a:rPr sz="1150" b="1">
                <a:solidFill>
                  <a:srgbClr val="2A2A2A"/>
                </a:solidFill>
                <a:latin typeface="Arial"/>
              </a:rPr>
              <a:t>Un espacio de llaves grande es necesario pero nunca suficiente.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41  ATAQUE</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ANÁLISIS DE FRECUENCIAS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49</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La sustitución conserva intacta la estructura estadística del idioma: cada letra cambia de nombre pero mantiene su frecuencia. Con un texto suficientemente largo, eso basta.</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116201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LETRA</a:t>
            </a:r>
          </a:p>
        </p:txBody>
      </p:sp>
      <p:sp>
        <p:nvSpPr>
          <p:cNvPr id="12" name="TextBox 11"/>
          <p:cNvSpPr txBox="1"/>
          <p:nvPr/>
        </p:nvSpPr>
        <p:spPr>
          <a:xfrm>
            <a:off x="1893539" y="2423159"/>
            <a:ext cx="403634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FRECUENCIA APROXIMADA EN ESPAÑOL</a:t>
            </a:r>
          </a:p>
        </p:txBody>
      </p:sp>
      <p:sp>
        <p:nvSpPr>
          <p:cNvPr id="13" name="TextBox 12"/>
          <p:cNvSpPr txBox="1"/>
          <p:nvPr/>
        </p:nvSpPr>
        <p:spPr>
          <a:xfrm>
            <a:off x="6094475" y="2423159"/>
            <a:ext cx="116201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LETRA</a:t>
            </a:r>
          </a:p>
        </p:txBody>
      </p:sp>
      <p:sp>
        <p:nvSpPr>
          <p:cNvPr id="14" name="TextBox 13"/>
          <p:cNvSpPr txBox="1"/>
          <p:nvPr/>
        </p:nvSpPr>
        <p:spPr>
          <a:xfrm>
            <a:off x="7421087" y="2423159"/>
            <a:ext cx="403634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FRECUENCIA APROXIMADA EN ESPAÑOL</a:t>
            </a:r>
          </a:p>
        </p:txBody>
      </p:sp>
      <p:sp>
        <p:nvSpPr>
          <p:cNvPr id="15" name="Rectangle 14"/>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825495"/>
            <a:ext cx="1162019" cy="34747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E</a:t>
            </a:r>
          </a:p>
        </p:txBody>
      </p:sp>
      <p:sp>
        <p:nvSpPr>
          <p:cNvPr id="17" name="TextBox 16"/>
          <p:cNvSpPr txBox="1"/>
          <p:nvPr/>
        </p:nvSpPr>
        <p:spPr>
          <a:xfrm>
            <a:off x="1893539" y="2825495"/>
            <a:ext cx="4036344"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13,7 %</a:t>
            </a:r>
          </a:p>
        </p:txBody>
      </p:sp>
      <p:sp>
        <p:nvSpPr>
          <p:cNvPr id="18" name="TextBox 17"/>
          <p:cNvSpPr txBox="1"/>
          <p:nvPr/>
        </p:nvSpPr>
        <p:spPr>
          <a:xfrm>
            <a:off x="6094475" y="2825495"/>
            <a:ext cx="1162019" cy="34747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R</a:t>
            </a:r>
          </a:p>
        </p:txBody>
      </p:sp>
      <p:sp>
        <p:nvSpPr>
          <p:cNvPr id="19" name="TextBox 18"/>
          <p:cNvSpPr txBox="1"/>
          <p:nvPr/>
        </p:nvSpPr>
        <p:spPr>
          <a:xfrm>
            <a:off x="7421087" y="2825495"/>
            <a:ext cx="4036344"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6,9 %</a:t>
            </a:r>
          </a:p>
        </p:txBody>
      </p:sp>
      <p:sp>
        <p:nvSpPr>
          <p:cNvPr id="20" name="Rectangle 19"/>
          <p:cNvSpPr/>
          <p:nvPr/>
        </p:nvSpPr>
        <p:spPr>
          <a:xfrm>
            <a:off x="566928" y="313639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227831"/>
            <a:ext cx="1162019" cy="34747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A</a:t>
            </a:r>
          </a:p>
        </p:txBody>
      </p:sp>
      <p:sp>
        <p:nvSpPr>
          <p:cNvPr id="22" name="TextBox 21"/>
          <p:cNvSpPr txBox="1"/>
          <p:nvPr/>
        </p:nvSpPr>
        <p:spPr>
          <a:xfrm>
            <a:off x="1893539" y="3227831"/>
            <a:ext cx="4036344"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12,5 %</a:t>
            </a:r>
          </a:p>
        </p:txBody>
      </p:sp>
      <p:sp>
        <p:nvSpPr>
          <p:cNvPr id="23" name="TextBox 22"/>
          <p:cNvSpPr txBox="1"/>
          <p:nvPr/>
        </p:nvSpPr>
        <p:spPr>
          <a:xfrm>
            <a:off x="6094475" y="3227831"/>
            <a:ext cx="1162019" cy="34747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N</a:t>
            </a:r>
          </a:p>
        </p:txBody>
      </p:sp>
      <p:sp>
        <p:nvSpPr>
          <p:cNvPr id="24" name="TextBox 23"/>
          <p:cNvSpPr txBox="1"/>
          <p:nvPr/>
        </p:nvSpPr>
        <p:spPr>
          <a:xfrm>
            <a:off x="7421087" y="3227831"/>
            <a:ext cx="4036344"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6,7 %</a:t>
            </a:r>
          </a:p>
        </p:txBody>
      </p:sp>
      <p:sp>
        <p:nvSpPr>
          <p:cNvPr id="25" name="Rectangle 24"/>
          <p:cNvSpPr/>
          <p:nvPr/>
        </p:nvSpPr>
        <p:spPr>
          <a:xfrm>
            <a:off x="566928" y="353872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630167"/>
            <a:ext cx="1162019" cy="34747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O</a:t>
            </a:r>
          </a:p>
        </p:txBody>
      </p:sp>
      <p:sp>
        <p:nvSpPr>
          <p:cNvPr id="27" name="TextBox 26"/>
          <p:cNvSpPr txBox="1"/>
          <p:nvPr/>
        </p:nvSpPr>
        <p:spPr>
          <a:xfrm>
            <a:off x="1893539" y="3630167"/>
            <a:ext cx="4036344"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8,7 %</a:t>
            </a:r>
          </a:p>
        </p:txBody>
      </p:sp>
      <p:sp>
        <p:nvSpPr>
          <p:cNvPr id="28" name="TextBox 27"/>
          <p:cNvSpPr txBox="1"/>
          <p:nvPr/>
        </p:nvSpPr>
        <p:spPr>
          <a:xfrm>
            <a:off x="6094475" y="3630167"/>
            <a:ext cx="1162019" cy="34747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I</a:t>
            </a:r>
          </a:p>
        </p:txBody>
      </p:sp>
      <p:sp>
        <p:nvSpPr>
          <p:cNvPr id="29" name="TextBox 28"/>
          <p:cNvSpPr txBox="1"/>
          <p:nvPr/>
        </p:nvSpPr>
        <p:spPr>
          <a:xfrm>
            <a:off x="7421087" y="3630167"/>
            <a:ext cx="4036344"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6,2 %</a:t>
            </a:r>
          </a:p>
        </p:txBody>
      </p:sp>
      <p:sp>
        <p:nvSpPr>
          <p:cNvPr id="30" name="Rectangle 29"/>
          <p:cNvSpPr/>
          <p:nvPr/>
        </p:nvSpPr>
        <p:spPr>
          <a:xfrm>
            <a:off x="566928" y="394106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032503"/>
            <a:ext cx="1162019" cy="34747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S</a:t>
            </a:r>
          </a:p>
        </p:txBody>
      </p:sp>
      <p:sp>
        <p:nvSpPr>
          <p:cNvPr id="32" name="TextBox 31"/>
          <p:cNvSpPr txBox="1"/>
          <p:nvPr/>
        </p:nvSpPr>
        <p:spPr>
          <a:xfrm>
            <a:off x="1893539" y="4032503"/>
            <a:ext cx="4036344"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8,0 %</a:t>
            </a:r>
          </a:p>
        </p:txBody>
      </p:sp>
      <p:sp>
        <p:nvSpPr>
          <p:cNvPr id="33" name="TextBox 32"/>
          <p:cNvSpPr txBox="1"/>
          <p:nvPr/>
        </p:nvSpPr>
        <p:spPr>
          <a:xfrm>
            <a:off x="6094475" y="4032503"/>
            <a:ext cx="1162019" cy="34747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D</a:t>
            </a:r>
          </a:p>
        </p:txBody>
      </p:sp>
      <p:sp>
        <p:nvSpPr>
          <p:cNvPr id="34" name="TextBox 33"/>
          <p:cNvSpPr txBox="1"/>
          <p:nvPr/>
        </p:nvSpPr>
        <p:spPr>
          <a:xfrm>
            <a:off x="7421087" y="4032503"/>
            <a:ext cx="4036344"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5,9 %</a:t>
            </a:r>
          </a:p>
        </p:txBody>
      </p:sp>
      <p:sp>
        <p:nvSpPr>
          <p:cNvPr id="35" name="Rectangle 34"/>
          <p:cNvSpPr/>
          <p:nvPr/>
        </p:nvSpPr>
        <p:spPr>
          <a:xfrm>
            <a:off x="566928" y="4343400"/>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4398264"/>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66928" y="4700016"/>
            <a:ext cx="45720" cy="84124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4672" y="4718303"/>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CÓMO SE USA EN EL LABORATORIO</a:t>
            </a:r>
          </a:p>
        </p:txBody>
      </p:sp>
      <p:sp>
        <p:nvSpPr>
          <p:cNvPr id="39" name="TextBox 38"/>
          <p:cNvSpPr txBox="1"/>
          <p:nvPr/>
        </p:nvSpPr>
        <p:spPr>
          <a:xfrm>
            <a:off x="804672" y="4956048"/>
            <a:ext cx="10780776" cy="56692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Se cuenta la frecuencia de cada símbolo del texto cifrado, se ordena, y se prueba la correspondencia con esta tabla. Las primeras dos o tres letras suelen acertar de una vez; el resto se completa por contexto, buscando palabras cortas y terminaciones frecuentes del español.</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42  FAMILIA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TRANSPOSICIÓN: MOVER SIN CAMBIAR</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50</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La otra gran familia de los cifrados clásicos. No se cambia ninguna letra: se cambian de lugar. La escítala espartana, una cinta enrollada en un bastón, ya lo hacía en el siglo V antes de Cristo.</a:t>
            </a:r>
          </a:p>
        </p:txBody>
      </p:sp>
      <p:sp>
        <p:nvSpPr>
          <p:cNvPr id="10" name="Rectangle 9"/>
          <p:cNvSpPr/>
          <p:nvPr/>
        </p:nvSpPr>
        <p:spPr>
          <a:xfrm>
            <a:off x="566928" y="2304287"/>
            <a:ext cx="11055096" cy="246888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TRANSPOSICIÓN POR COLUMNAS</a:t>
            </a:r>
          </a:p>
        </p:txBody>
      </p:sp>
      <p:sp>
        <p:nvSpPr>
          <p:cNvPr id="12" name="TextBox 11"/>
          <p:cNvSpPr txBox="1"/>
          <p:nvPr/>
        </p:nvSpPr>
        <p:spPr>
          <a:xfrm>
            <a:off x="768096" y="2633471"/>
            <a:ext cx="10652760" cy="2048256"/>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Llave: CIFRA          Mensaje: PAGAR TODO EL VIERNES</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   C  I  F  R  A        ← la llave encabeza las columnas</a:t>
            </a:r>
          </a:p>
          <a:p>
            <a:pPr algn="l">
              <a:lnSpc>
                <a:spcPct val="130000"/>
              </a:lnSpc>
              <a:spcAft>
                <a:spcPts val="0"/>
              </a:spcAft>
            </a:pPr>
            <a:r>
              <a:rPr sz="950" b="0">
                <a:solidFill>
                  <a:srgbClr val="000000"/>
                </a:solidFill>
                <a:latin typeface="Consolas"/>
              </a:rPr>
              <a:t>   P  A  G  A  R</a:t>
            </a:r>
          </a:p>
          <a:p>
            <a:pPr algn="l">
              <a:lnSpc>
                <a:spcPct val="130000"/>
              </a:lnSpc>
              <a:spcAft>
                <a:spcPts val="0"/>
              </a:spcAft>
            </a:pPr>
            <a:r>
              <a:rPr sz="950" b="0">
                <a:solidFill>
                  <a:srgbClr val="000000"/>
                </a:solidFill>
                <a:latin typeface="Consolas"/>
              </a:rPr>
              <a:t>   T  O  D  O  E        ← el mensaje se escribe por filas</a:t>
            </a:r>
          </a:p>
          <a:p>
            <a:pPr algn="l">
              <a:lnSpc>
                <a:spcPct val="130000"/>
              </a:lnSpc>
              <a:spcAft>
                <a:spcPts val="0"/>
              </a:spcAft>
            </a:pPr>
            <a:r>
              <a:rPr sz="950" b="0">
                <a:solidFill>
                  <a:srgbClr val="000000"/>
                </a:solidFill>
                <a:latin typeface="Consolas"/>
              </a:rPr>
              <a:t>   L  V  I  E  R</a:t>
            </a:r>
          </a:p>
          <a:p>
            <a:pPr algn="l">
              <a:lnSpc>
                <a:spcPct val="130000"/>
              </a:lnSpc>
              <a:spcAft>
                <a:spcPts val="0"/>
              </a:spcAft>
            </a:pPr>
            <a:r>
              <a:rPr sz="950" b="0">
                <a:solidFill>
                  <a:srgbClr val="000000"/>
                </a:solidFill>
                <a:latin typeface="Consolas"/>
              </a:rPr>
              <a:t>   N  E  S  X  X        ← la última fila se completa con relleno</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Se leen las columnas en el orden alfabético de la llave: A, C, F, I, R</a:t>
            </a:r>
          </a:p>
          <a:p>
            <a:pPr algn="l">
              <a:lnSpc>
                <a:spcPct val="130000"/>
              </a:lnSpc>
              <a:spcAft>
                <a:spcPts val="0"/>
              </a:spcAft>
            </a:pPr>
            <a:r>
              <a:rPr sz="950" b="0">
                <a:solidFill>
                  <a:srgbClr val="000000"/>
                </a:solidFill>
                <a:latin typeface="Consolas"/>
              </a:rPr>
              <a:t>Cifrado:   RERX  PTLN  GDIS  AOVE  AOEX</a:t>
            </a:r>
          </a:p>
        </p:txBody>
      </p:sp>
      <p:sp>
        <p:nvSpPr>
          <p:cNvPr id="13" name="Rectangle 12"/>
          <p:cNvSpPr/>
          <p:nvPr/>
        </p:nvSpPr>
        <p:spPr>
          <a:xfrm>
            <a:off x="566928" y="5029200"/>
            <a:ext cx="45720" cy="77724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047488"/>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LO QUE HAY QUE NOTAR</a:t>
            </a:r>
          </a:p>
        </p:txBody>
      </p:sp>
      <p:sp>
        <p:nvSpPr>
          <p:cNvPr id="15" name="TextBox 14"/>
          <p:cNvSpPr txBox="1"/>
          <p:nvPr/>
        </p:nvSpPr>
        <p:spPr>
          <a:xfrm>
            <a:off x="804672" y="5285232"/>
            <a:ext cx="10780776" cy="50292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Las veinte letras del cifrado son exactamente las del mensaje, más dos de relleno. </a:t>
            </a:r>
            <a:r>
              <a:rPr sz="1150" b="1">
                <a:solidFill>
                  <a:srgbClr val="2A2A2A"/>
                </a:solidFill>
                <a:latin typeface="Arial"/>
              </a:rPr>
              <a:t>Ninguna cambió; todas se movieron.</a:t>
            </a:r>
            <a:r>
              <a:rPr sz="1150" b="0">
                <a:solidFill>
                  <a:srgbClr val="2A2A2A"/>
                </a:solidFill>
                <a:latin typeface="Arial"/>
              </a:rPr>
              <a:t> Esa diferencia con la sustitución es la que permite reconocer en segundos qué clase de cifrado se tiene delante.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43  ATAQUE</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200" b="0">
                <a:solidFill>
                  <a:srgbClr val="000000"/>
                </a:solidFill>
                <a:latin typeface="Arial Black"/>
              </a:rPr>
              <a:t>CÓMO SE DELATA Y CÓMO SE ROMPE UNA TRANSPOSICIÓN</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51</a:t>
            </a:r>
          </a:p>
        </p:txBody>
      </p:sp>
      <p:sp>
        <p:nvSpPr>
          <p:cNvPr id="9" name="TextBox 8"/>
          <p:cNvSpPr txBox="1"/>
          <p:nvPr/>
        </p:nvSpPr>
        <p:spPr>
          <a:xfrm>
            <a:off x="566928" y="1554480"/>
            <a:ext cx="11055096" cy="237744"/>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Cada familia deja una huella distinta, y aprender a leerla es el primer oficio del criptoanalista.</a:t>
            </a:r>
          </a:p>
        </p:txBody>
      </p:sp>
      <p:sp>
        <p:nvSpPr>
          <p:cNvPr id="10" name="TextBox 9"/>
          <p:cNvSpPr txBox="1"/>
          <p:nvPr/>
        </p:nvSpPr>
        <p:spPr>
          <a:xfrm>
            <a:off x="566928" y="2066543"/>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CÓMO SE DELATA</a:t>
            </a:r>
          </a:p>
        </p:txBody>
      </p:sp>
      <p:sp>
        <p:nvSpPr>
          <p:cNvPr id="11" name="TextBox 10"/>
          <p:cNvSpPr txBox="1"/>
          <p:nvPr/>
        </p:nvSpPr>
        <p:spPr>
          <a:xfrm>
            <a:off x="566928" y="2340863"/>
            <a:ext cx="5253228" cy="182879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El análisis de frecuencias devuelve exactamente la distribución del español: la E cerca del 14 %, la A cerca del 12,5 %, la O cerca del 9 %.</a:t>
            </a:r>
          </a:p>
          <a:p>
            <a:pPr algn="l">
              <a:lnSpc>
                <a:spcPct val="128000"/>
              </a:lnSpc>
              <a:spcAft>
                <a:spcPts val="700"/>
              </a:spcAft>
            </a:pPr>
            <a:r>
              <a:rPr sz="1150" b="0">
                <a:solidFill>
                  <a:srgbClr val="000000"/>
                </a:solidFill>
                <a:latin typeface="Arial"/>
              </a:rPr>
              <a:t>Con una sustitución eso no pasa, porque las letras cambiaron. Con una transposición pasa siempre.</a:t>
            </a:r>
          </a:p>
          <a:p>
            <a:pPr algn="l">
              <a:lnSpc>
                <a:spcPct val="128000"/>
              </a:lnSpc>
              <a:spcAft>
                <a:spcPts val="700"/>
              </a:spcAft>
            </a:pPr>
            <a:r>
              <a:rPr sz="1150" b="0">
                <a:solidFill>
                  <a:srgbClr val="000000"/>
                </a:solidFill>
                <a:latin typeface="Arial"/>
              </a:rPr>
              <a:t>Es la primera prueba que hace un analista: le dice qué familia tiene delante antes de intentar nada más.</a:t>
            </a:r>
          </a:p>
        </p:txBody>
      </p:sp>
      <p:sp>
        <p:nvSpPr>
          <p:cNvPr id="12" name="TextBox 11"/>
          <p:cNvSpPr txBox="1"/>
          <p:nvPr/>
        </p:nvSpPr>
        <p:spPr>
          <a:xfrm>
            <a:off x="6368796" y="2066543"/>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CÓMO SE ROMPE</a:t>
            </a:r>
          </a:p>
        </p:txBody>
      </p:sp>
      <p:sp>
        <p:nvSpPr>
          <p:cNvPr id="13" name="TextBox 12"/>
          <p:cNvSpPr txBox="1"/>
          <p:nvPr/>
        </p:nvSpPr>
        <p:spPr>
          <a:xfrm>
            <a:off x="6368796" y="2340863"/>
            <a:ext cx="5253228" cy="182879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Se prueban anchos de columna y se buscan combinaciones frecuentes del idioma: QU, ES, EN, DE, LA.</a:t>
            </a:r>
          </a:p>
          <a:p>
            <a:pPr algn="l">
              <a:lnSpc>
                <a:spcPct val="128000"/>
              </a:lnSpc>
              <a:spcAft>
                <a:spcPts val="700"/>
              </a:spcAft>
            </a:pPr>
            <a:r>
              <a:rPr sz="1150" b="0">
                <a:solidFill>
                  <a:srgbClr val="000000"/>
                </a:solidFill>
                <a:latin typeface="Arial"/>
              </a:rPr>
              <a:t>El espacio de llaves útil es pequeño, y cada acierto parcial ayuda a encontrar el siguiente, como en un crucigrama.</a:t>
            </a:r>
          </a:p>
          <a:p>
            <a:pPr algn="l">
              <a:lnSpc>
                <a:spcPct val="128000"/>
              </a:lnSpc>
              <a:spcAft>
                <a:spcPts val="700"/>
              </a:spcAft>
            </a:pPr>
            <a:r>
              <a:rPr sz="1150" b="0">
                <a:solidFill>
                  <a:srgbClr val="000000"/>
                </a:solidFill>
                <a:latin typeface="Arial"/>
              </a:rPr>
              <a:t>La doble transposición resiste mucho más, y se usó en operaciones militares hasta mediados del siglo XX.</a:t>
            </a:r>
          </a:p>
        </p:txBody>
      </p:sp>
      <p:sp>
        <p:nvSpPr>
          <p:cNvPr id="14" name="Rectangle 13"/>
          <p:cNvSpPr/>
          <p:nvPr/>
        </p:nvSpPr>
        <p:spPr>
          <a:xfrm>
            <a:off x="6085332" y="2066543"/>
            <a:ext cx="9144" cy="21031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4425696"/>
            <a:ext cx="45720" cy="77724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4443983"/>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LECCIÓN QUE LLEGA HASTA AES</a:t>
            </a:r>
          </a:p>
        </p:txBody>
      </p:sp>
      <p:sp>
        <p:nvSpPr>
          <p:cNvPr id="17" name="TextBox 16"/>
          <p:cNvSpPr txBox="1"/>
          <p:nvPr/>
        </p:nvSpPr>
        <p:spPr>
          <a:xfrm>
            <a:off x="804672" y="4681728"/>
            <a:ext cx="10780776" cy="50292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La sustitución sola cae por frecuencias; la transposición sola cae por anagramas. </a:t>
            </a:r>
            <a:r>
              <a:rPr sz="1150" b="1">
                <a:solidFill>
                  <a:srgbClr val="2A2A2A"/>
                </a:solidFill>
                <a:latin typeface="Arial"/>
              </a:rPr>
              <a:t>Combinadas y repetidas son mucho más fuertes que cada una por separado.</a:t>
            </a:r>
            <a:r>
              <a:rPr sz="1150" b="0">
                <a:solidFill>
                  <a:srgbClr val="2A2A2A"/>
                </a:solidFill>
                <a:latin typeface="Arial"/>
              </a:rPr>
              <a:t> Es la idea que Claude Shannon formalizó en 1949, y está dentro de todo cifrado de bloque moderno.</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44  EVOLUCIÓN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VIGENÈRE Y LA LLAVE QUE SE REPITE</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52</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Durante tres siglos se consideró indescifrable. La idea es buena y sobrevive hasta hoy: usar una llave que cambie el desplazamiento letra por letra, de modo que la misma letra del texto claro no produzca siempre el mismo símbolo.</a:t>
            </a:r>
          </a:p>
        </p:txBody>
      </p:sp>
      <p:sp>
        <p:nvSpPr>
          <p:cNvPr id="10" name="Rectangle 9"/>
          <p:cNvSpPr/>
          <p:nvPr/>
        </p:nvSpPr>
        <p:spPr>
          <a:xfrm>
            <a:off x="566928" y="2304287"/>
            <a:ext cx="11055096" cy="1009497"/>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EJEMPLO CON LA LLAVE «LLAVE»</a:t>
            </a:r>
          </a:p>
        </p:txBody>
      </p:sp>
      <p:sp>
        <p:nvSpPr>
          <p:cNvPr id="12" name="TextBox 11"/>
          <p:cNvSpPr txBox="1"/>
          <p:nvPr/>
        </p:nvSpPr>
        <p:spPr>
          <a:xfrm>
            <a:off x="768096" y="2633471"/>
            <a:ext cx="10652760" cy="588873"/>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Texto claro : C O O P A B U R R A</a:t>
            </a:r>
          </a:p>
          <a:p>
            <a:pPr algn="l">
              <a:lnSpc>
                <a:spcPct val="130000"/>
              </a:lnSpc>
              <a:spcAft>
                <a:spcPts val="0"/>
              </a:spcAft>
            </a:pPr>
            <a:r>
              <a:rPr sz="950" b="0">
                <a:solidFill>
                  <a:srgbClr val="000000"/>
                </a:solidFill>
                <a:latin typeface="Consolas"/>
              </a:rPr>
              <a:t>Llave       : L L A V E L L A V E   ← se repite cíclicamente</a:t>
            </a:r>
          </a:p>
          <a:p>
            <a:pPr algn="l">
              <a:lnSpc>
                <a:spcPct val="130000"/>
              </a:lnSpc>
              <a:spcAft>
                <a:spcPts val="0"/>
              </a:spcAft>
            </a:pPr>
            <a:r>
              <a:rPr sz="950" b="0">
                <a:solidFill>
                  <a:srgbClr val="000000"/>
                </a:solidFill>
                <a:latin typeface="Consolas"/>
              </a:rPr>
              <a:t>Texto cifrado: N Z O K E M F R M E</a:t>
            </a:r>
          </a:p>
        </p:txBody>
      </p:sp>
      <p:sp>
        <p:nvSpPr>
          <p:cNvPr id="13" name="TextBox 12"/>
          <p:cNvSpPr txBox="1"/>
          <p:nvPr/>
        </p:nvSpPr>
        <p:spPr>
          <a:xfrm>
            <a:off x="566928" y="356981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POR QUÉ RESISTE EL ANÁLISIS SIMPLE</a:t>
            </a:r>
          </a:p>
        </p:txBody>
      </p:sp>
      <p:sp>
        <p:nvSpPr>
          <p:cNvPr id="14" name="TextBox 13"/>
          <p:cNvSpPr txBox="1"/>
          <p:nvPr/>
        </p:nvSpPr>
        <p:spPr>
          <a:xfrm>
            <a:off x="566928" y="3844137"/>
            <a:ext cx="5253228" cy="150876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La misma letra produce símbolos distintos según su posición.</a:t>
            </a:r>
          </a:p>
          <a:p>
            <a:pPr algn="l">
              <a:lnSpc>
                <a:spcPct val="128000"/>
              </a:lnSpc>
              <a:spcAft>
                <a:spcPts val="700"/>
              </a:spcAft>
            </a:pPr>
            <a:r>
              <a:rPr sz="1150" b="0">
                <a:solidFill>
                  <a:srgbClr val="000000"/>
                </a:solidFill>
                <a:latin typeface="Arial"/>
              </a:rPr>
              <a:t>Las frecuencias del idioma quedan aplanadas y la tabla anterior deja de servir directamente.</a:t>
            </a:r>
          </a:p>
        </p:txBody>
      </p:sp>
      <p:sp>
        <p:nvSpPr>
          <p:cNvPr id="15" name="TextBox 14"/>
          <p:cNvSpPr txBox="1"/>
          <p:nvPr/>
        </p:nvSpPr>
        <p:spPr>
          <a:xfrm>
            <a:off x="6368796" y="356981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POR QUÉ CAE DE TODOS MODOS</a:t>
            </a:r>
          </a:p>
        </p:txBody>
      </p:sp>
      <p:sp>
        <p:nvSpPr>
          <p:cNvPr id="16" name="TextBox 15"/>
          <p:cNvSpPr txBox="1"/>
          <p:nvPr/>
        </p:nvSpPr>
        <p:spPr>
          <a:xfrm>
            <a:off x="6368796" y="3844137"/>
            <a:ext cx="5253228" cy="150876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La llave se repite. Si mide cinco letras, el texto son en realidad cinco cifrados de César intercalados.</a:t>
            </a:r>
          </a:p>
          <a:p>
            <a:pPr algn="l">
              <a:lnSpc>
                <a:spcPct val="128000"/>
              </a:lnSpc>
              <a:spcAft>
                <a:spcPts val="700"/>
              </a:spcAft>
            </a:pPr>
            <a:r>
              <a:rPr sz="1150" b="0">
                <a:solidFill>
                  <a:srgbClr val="000000"/>
                </a:solidFill>
                <a:latin typeface="Arial"/>
              </a:rPr>
              <a:t>Kasiski publicó en 1863 cómo deducir la longitud de la llave a partir de secuencias repetidas. Hallada la longitud, se aplica el análisis de frecuencias a cada posición.</a:t>
            </a:r>
          </a:p>
        </p:txBody>
      </p:sp>
      <p:sp>
        <p:nvSpPr>
          <p:cNvPr id="17" name="Rectangle 16"/>
          <p:cNvSpPr/>
          <p:nvPr/>
        </p:nvSpPr>
        <p:spPr>
          <a:xfrm>
            <a:off x="6085332" y="3569817"/>
            <a:ext cx="9144" cy="17830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45  HISTORIA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200" b="0">
                <a:solidFill>
                  <a:srgbClr val="000000"/>
                </a:solidFill>
                <a:latin typeface="Arial Black"/>
              </a:rPr>
              <a:t>ENIGMA: LA MÁQUINA NO FALLÓ, FALLÓ LA OPERACIÓN</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53</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Vigenère mecanizado: rotores que cambian la sustitución con cada letra y un tablero de conexiones. La versión del ejército alemán admitía unos 159 trillones de configuraciones. Cayó igual, y por las mismas razones que Coopaburrá.</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4146895"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DEBILIDAD</a:t>
            </a:r>
          </a:p>
        </p:txBody>
      </p:sp>
      <p:sp>
        <p:nvSpPr>
          <p:cNvPr id="12" name="TextBox 11"/>
          <p:cNvSpPr txBox="1"/>
          <p:nvPr/>
        </p:nvSpPr>
        <p:spPr>
          <a:xfrm>
            <a:off x="4878415" y="2423159"/>
            <a:ext cx="3041385"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DE QUÉ TIPO ERA</a:t>
            </a:r>
          </a:p>
        </p:txBody>
      </p:sp>
      <p:sp>
        <p:nvSpPr>
          <p:cNvPr id="13" name="TextBox 12"/>
          <p:cNvSpPr txBox="1"/>
          <p:nvPr/>
        </p:nvSpPr>
        <p:spPr>
          <a:xfrm>
            <a:off x="8084393" y="2423159"/>
            <a:ext cx="3373038"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SU EQUIVALENTE EN EL CASO</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4146895"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Una letra nunca se cifraba como sí misma</a:t>
            </a:r>
          </a:p>
        </p:txBody>
      </p:sp>
      <p:sp>
        <p:nvSpPr>
          <p:cNvPr id="16" name="TextBox 15"/>
          <p:cNvSpPr txBox="1"/>
          <p:nvPr/>
        </p:nvSpPr>
        <p:spPr>
          <a:xfrm>
            <a:off x="4878415" y="2825495"/>
            <a:ext cx="304138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Defecto de diseño, pequeño pero explotable</a:t>
            </a:r>
          </a:p>
        </p:txBody>
      </p:sp>
      <p:sp>
        <p:nvSpPr>
          <p:cNvPr id="17" name="TextBox 16"/>
          <p:cNvSpPr txBox="1"/>
          <p:nvPr/>
        </p:nvSpPr>
        <p:spPr>
          <a:xfrm>
            <a:off x="8084393" y="2825495"/>
            <a:ext cx="3373038"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Poco frecuente hoy: es la categoría del algoritmo débil</a:t>
            </a:r>
          </a:p>
        </p:txBody>
      </p:sp>
      <p:sp>
        <p:nvSpPr>
          <p:cNvPr id="18" name="Rectangle 17"/>
          <p:cNvSpPr/>
          <p:nvPr/>
        </p:nvSpPr>
        <p:spPr>
          <a:xfrm>
            <a:off x="566928" y="32739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365357"/>
            <a:ext cx="4146895"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Mensajes con texto predecible: partes del clima, fórmulas fijas</a:t>
            </a:r>
          </a:p>
        </p:txBody>
      </p:sp>
      <p:sp>
        <p:nvSpPr>
          <p:cNvPr id="20" name="TextBox 19"/>
          <p:cNvSpPr txBox="1"/>
          <p:nvPr/>
        </p:nvSpPr>
        <p:spPr>
          <a:xfrm>
            <a:off x="4878415" y="3365357"/>
            <a:ext cx="304138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Texto claro conocido</a:t>
            </a:r>
          </a:p>
        </p:txBody>
      </p:sp>
      <p:sp>
        <p:nvSpPr>
          <p:cNvPr id="21" name="TextBox 20"/>
          <p:cNvSpPr txBox="1"/>
          <p:nvPr/>
        </p:nvSpPr>
        <p:spPr>
          <a:xfrm>
            <a:off x="8084393" y="3365357"/>
            <a:ext cx="3373038"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encabezado idéntico de cada respaldo nocturno</a:t>
            </a:r>
          </a:p>
        </p:txBody>
      </p:sp>
      <p:sp>
        <p:nvSpPr>
          <p:cNvPr id="22" name="Rectangle 21"/>
          <p:cNvSpPr/>
          <p:nvPr/>
        </p:nvSpPr>
        <p:spPr>
          <a:xfrm>
            <a:off x="566928" y="381377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905219"/>
            <a:ext cx="4146895"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La llave de cada mensaje se transmitía dos veces al inicio</a:t>
            </a:r>
          </a:p>
        </p:txBody>
      </p:sp>
      <p:sp>
        <p:nvSpPr>
          <p:cNvPr id="24" name="TextBox 23"/>
          <p:cNvSpPr txBox="1"/>
          <p:nvPr/>
        </p:nvSpPr>
        <p:spPr>
          <a:xfrm>
            <a:off x="4878415" y="3905219"/>
            <a:ext cx="304138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Repetición que expuso la estructura</a:t>
            </a:r>
          </a:p>
        </p:txBody>
      </p:sp>
      <p:sp>
        <p:nvSpPr>
          <p:cNvPr id="25" name="TextBox 24"/>
          <p:cNvSpPr txBox="1"/>
          <p:nvPr/>
        </p:nvSpPr>
        <p:spPr>
          <a:xfrm>
            <a:off x="8084393" y="3905219"/>
            <a:ext cx="3373038"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misma llave de firma en todas las versiones desde 2023</a:t>
            </a:r>
          </a:p>
        </p:txBody>
      </p:sp>
      <p:sp>
        <p:nvSpPr>
          <p:cNvPr id="26" name="Rectangle 25"/>
          <p:cNvSpPr/>
          <p:nvPr/>
        </p:nvSpPr>
        <p:spPr>
          <a:xfrm>
            <a:off x="566928" y="435364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445081"/>
            <a:ext cx="4146895" cy="40233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Operadores que escogían llaves obvias o repetidas</a:t>
            </a:r>
          </a:p>
        </p:txBody>
      </p:sp>
      <p:sp>
        <p:nvSpPr>
          <p:cNvPr id="28" name="TextBox 27"/>
          <p:cNvSpPr txBox="1"/>
          <p:nvPr/>
        </p:nvSpPr>
        <p:spPr>
          <a:xfrm>
            <a:off x="4878415" y="4445081"/>
            <a:ext cx="3041385"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Mala generación de llave</a:t>
            </a:r>
          </a:p>
        </p:txBody>
      </p:sp>
      <p:sp>
        <p:nvSpPr>
          <p:cNvPr id="29" name="TextBox 28"/>
          <p:cNvSpPr txBox="1"/>
          <p:nvPr/>
        </p:nvSpPr>
        <p:spPr>
          <a:xfrm>
            <a:off x="8084393" y="4445081"/>
            <a:ext cx="3373038"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contraseña de seis caracteres</a:t>
            </a:r>
          </a:p>
        </p:txBody>
      </p:sp>
      <p:sp>
        <p:nvSpPr>
          <p:cNvPr id="30" name="Rectangle 29"/>
          <p:cNvSpPr/>
          <p:nvPr/>
        </p:nvSpPr>
        <p:spPr>
          <a:xfrm>
            <a:off x="566928" y="481084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865705"/>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 y="5167457"/>
            <a:ext cx="45720" cy="77724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2" y="5185745"/>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QUIÉNES LA ROMPIERON Y CÓMO</a:t>
            </a:r>
          </a:p>
        </p:txBody>
      </p:sp>
      <p:sp>
        <p:nvSpPr>
          <p:cNvPr id="34" name="TextBox 33"/>
          <p:cNvSpPr txBox="1"/>
          <p:nvPr/>
        </p:nvSpPr>
        <p:spPr>
          <a:xfrm>
            <a:off x="804672" y="5423489"/>
            <a:ext cx="10780776" cy="50292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Los matemáticos polacos Rejewski, Różycki y Zygalski desde 1932, y después el equipo de Bletchley Park con Turing. </a:t>
            </a:r>
            <a:r>
              <a:rPr sz="1150" b="1">
                <a:solidFill>
                  <a:srgbClr val="2A2A2A"/>
                </a:solidFill>
                <a:latin typeface="Arial"/>
              </a:rPr>
              <a:t>Ninguno atacó el espacio de llaves: atacaron la operación.</a:t>
            </a:r>
            <a:r>
              <a:rPr sz="1150" b="0">
                <a:solidFill>
                  <a:srgbClr val="2A2A2A"/>
                </a:solidFill>
                <a:latin typeface="Arial"/>
              </a:rPr>
              <a:t> Es la lección de historia más útil para un auditor.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46  LÍMITE</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EL ÚNICO CIFRADO PERFECTO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54</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Si el problema de Vigenère es que la llave se repite, la solución evidente es que no se repita nunca. Ese sistema existe, se llama cuaderno de un solo uso, y Claude Shannon demostró en 1949 que es matemáticamente irrompible.</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492075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CONDICIÓN</a:t>
            </a:r>
          </a:p>
        </p:txBody>
      </p:sp>
      <p:sp>
        <p:nvSpPr>
          <p:cNvPr id="12" name="TextBox 11"/>
          <p:cNvSpPr txBox="1"/>
          <p:nvPr/>
        </p:nvSpPr>
        <p:spPr>
          <a:xfrm>
            <a:off x="5652272" y="2423159"/>
            <a:ext cx="580515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POR QUÉ ES INDISPENSABLE</a:t>
            </a:r>
          </a:p>
        </p:txBody>
      </p:sp>
      <p:sp>
        <p:nvSpPr>
          <p:cNvPr id="13" name="Rectangle 12"/>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825495"/>
            <a:ext cx="4920752" cy="43891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La llave es tan larga como el mensaje</a:t>
            </a:r>
          </a:p>
        </p:txBody>
      </p:sp>
      <p:sp>
        <p:nvSpPr>
          <p:cNvPr id="15" name="TextBox 14"/>
          <p:cNvSpPr txBox="1"/>
          <p:nvPr/>
        </p:nvSpPr>
        <p:spPr>
          <a:xfrm>
            <a:off x="5652272" y="2825495"/>
            <a:ext cx="5805159" cy="43891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Si fuera más corta habría que repetirla, y volvería el ataque de Kasiski</a:t>
            </a:r>
          </a:p>
        </p:txBody>
      </p:sp>
      <p:sp>
        <p:nvSpPr>
          <p:cNvPr id="16" name="Rectangle 15"/>
          <p:cNvSpPr/>
          <p:nvPr/>
        </p:nvSpPr>
        <p:spPr>
          <a:xfrm>
            <a:off x="566928" y="322783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319271"/>
            <a:ext cx="4920752" cy="43891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La llave es perfectamente aleatoria</a:t>
            </a:r>
          </a:p>
        </p:txBody>
      </p:sp>
      <p:sp>
        <p:nvSpPr>
          <p:cNvPr id="18" name="TextBox 17"/>
          <p:cNvSpPr txBox="1"/>
          <p:nvPr/>
        </p:nvSpPr>
        <p:spPr>
          <a:xfrm>
            <a:off x="5652272" y="3319271"/>
            <a:ext cx="5805159" cy="43891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Cualquier patrón en la llave se traslada al texto cifrado</a:t>
            </a:r>
          </a:p>
        </p:txBody>
      </p:sp>
      <p:sp>
        <p:nvSpPr>
          <p:cNvPr id="19" name="Rectangle 18"/>
          <p:cNvSpPr/>
          <p:nvPr/>
        </p:nvSpPr>
        <p:spPr>
          <a:xfrm>
            <a:off x="566928" y="372160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813047"/>
            <a:ext cx="4920752"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La llave se usa una sola vez</a:t>
            </a:r>
          </a:p>
        </p:txBody>
      </p:sp>
      <p:sp>
        <p:nvSpPr>
          <p:cNvPr id="21" name="TextBox 20"/>
          <p:cNvSpPr txBox="1"/>
          <p:nvPr/>
        </p:nvSpPr>
        <p:spPr>
          <a:xfrm>
            <a:off x="5652272" y="3813047"/>
            <a:ext cx="5805159"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Dos mensajes con la misma llave se pueden combinar y la llave se cancela, dejando los textos relacionados</a:t>
            </a:r>
          </a:p>
        </p:txBody>
      </p:sp>
      <p:sp>
        <p:nvSpPr>
          <p:cNvPr id="22" name="Rectangle 21"/>
          <p:cNvSpPr/>
          <p:nvPr/>
        </p:nvSpPr>
        <p:spPr>
          <a:xfrm>
            <a:off x="566928" y="426146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4352909"/>
            <a:ext cx="4920752"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La llave se distribuye en secreto</a:t>
            </a:r>
          </a:p>
        </p:txBody>
      </p:sp>
      <p:sp>
        <p:nvSpPr>
          <p:cNvPr id="24" name="TextBox 23"/>
          <p:cNvSpPr txBox="1"/>
          <p:nvPr/>
        </p:nvSpPr>
        <p:spPr>
          <a:xfrm>
            <a:off x="5652272" y="4352909"/>
            <a:ext cx="5805159"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Hay que hacerle llegar al destinatario tantos bits secretos como bits vaya a enviar</a:t>
            </a:r>
          </a:p>
        </p:txBody>
      </p:sp>
      <p:sp>
        <p:nvSpPr>
          <p:cNvPr id="25" name="Rectangle 24"/>
          <p:cNvSpPr/>
          <p:nvPr/>
        </p:nvSpPr>
        <p:spPr>
          <a:xfrm>
            <a:off x="566928" y="480133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856195"/>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 y="5157947"/>
            <a:ext cx="45720" cy="100584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 y="5176235"/>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PARADOJA QUE ENSEÑA TODO EL OFICIO</a:t>
            </a:r>
          </a:p>
        </p:txBody>
      </p:sp>
      <p:sp>
        <p:nvSpPr>
          <p:cNvPr id="29" name="TextBox 28"/>
          <p:cNvSpPr txBox="1"/>
          <p:nvPr/>
        </p:nvSpPr>
        <p:spPr>
          <a:xfrm>
            <a:off x="804672" y="5413979"/>
            <a:ext cx="10780776" cy="73152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Es perfecto e inservible. Para enviar un gigabyte en secreto hay que haberle entregado antes al destinatario un gigabyte de llave en secreto, con lo cual el problema no se resolvió: se movió. </a:t>
            </a:r>
            <a:r>
              <a:rPr sz="1150" b="1">
                <a:solidFill>
                  <a:srgbClr val="2A2A2A"/>
                </a:solidFill>
                <a:latin typeface="Arial"/>
              </a:rPr>
              <a:t>Toda la criptografía moderna es la búsqueda de un compromiso practicable entre seguridad y manejabilidad de la llave.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47  PUENTE</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LA REUTILIZACIÓN DE LLAVE, QUE NO ES HISTORIA</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55</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La tercera condición del cuadro anterior no es una curiosidad histórica: es un error que se sigue cometiendo con algoritmos modernos, y lo vamos a ver en funcionamiento en el laboratorio.</a:t>
            </a:r>
          </a:p>
        </p:txBody>
      </p:sp>
      <p:sp>
        <p:nvSpPr>
          <p:cNvPr id="10" name="Rectangle 9"/>
          <p:cNvSpPr/>
          <p:nvPr/>
        </p:nvSpPr>
        <p:spPr>
          <a:xfrm>
            <a:off x="566928" y="2304287"/>
            <a:ext cx="11055096" cy="1634947"/>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POR QUÉ NUNCA SE REPITE UNA LLAVE DE FLUJO</a:t>
            </a:r>
          </a:p>
        </p:txBody>
      </p:sp>
      <p:sp>
        <p:nvSpPr>
          <p:cNvPr id="12" name="TextBox 11"/>
          <p:cNvSpPr txBox="1"/>
          <p:nvPr/>
        </p:nvSpPr>
        <p:spPr>
          <a:xfrm>
            <a:off x="768096" y="2633471"/>
            <a:ext cx="10652760" cy="1214323"/>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Si  C1 = M1 ⊕ K    y    C2 = M2 ⊕ K        (la misma llave K dos veces)</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entonces  C1 ⊕ C2 = M1 ⊕ M2                 ← la llave desaparece</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y quien tenga los dos textos cifrados obtiene una relación directa</a:t>
            </a:r>
          </a:p>
          <a:p>
            <a:pPr algn="l">
              <a:lnSpc>
                <a:spcPct val="130000"/>
              </a:lnSpc>
              <a:spcAft>
                <a:spcPts val="0"/>
              </a:spcAft>
            </a:pPr>
            <a:r>
              <a:rPr sz="950" b="0">
                <a:solidFill>
                  <a:srgbClr val="000000"/>
                </a:solidFill>
                <a:latin typeface="Consolas"/>
              </a:rPr>
              <a:t>entre los dos mensajes, sin conocer K jamás.</a:t>
            </a:r>
          </a:p>
        </p:txBody>
      </p:sp>
      <p:sp>
        <p:nvSpPr>
          <p:cNvPr id="13" name="Rectangle 12"/>
          <p:cNvSpPr/>
          <p:nvPr/>
        </p:nvSpPr>
        <p:spPr>
          <a:xfrm>
            <a:off x="566928" y="4195267"/>
            <a:ext cx="45720" cy="84124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4213555"/>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DÓNDE REAPARECE ESTO</a:t>
            </a:r>
          </a:p>
        </p:txBody>
      </p:sp>
      <p:sp>
        <p:nvSpPr>
          <p:cNvPr id="15" name="TextBox 14"/>
          <p:cNvSpPr txBox="1"/>
          <p:nvPr/>
        </p:nvSpPr>
        <p:spPr>
          <a:xfrm>
            <a:off x="804672" y="4451299"/>
            <a:ext cx="10780776" cy="56692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En la sesión 2, cuando veamos modos de operación, el vector de inicialización repetido produce exactamente este efecto sobre AES. Y en la sesión 4, el número que se repitió en el caso de la consola es la misma idea aplicada a firma digital. Es un solo error con tres disfraces.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48  PRINCIPIOS</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200" b="0">
                <a:solidFill>
                  <a:srgbClr val="000000"/>
                </a:solidFill>
                <a:latin typeface="Arial Black"/>
              </a:rPr>
              <a:t>CONFUSIÓN Y DIFUSIÓN: LO QUE SHANNON DEJÓ ESCRITO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56</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En 1949 Claude Shannon publicó el trabajo que convirtió la criptografía en ciencia. Demostró por qué el cuaderno de un solo uso es perfecto y dejó dos principios de diseño que siguen gobernando todo cifrado moderno.</a:t>
            </a:r>
          </a:p>
        </p:txBody>
      </p:sp>
      <p:sp>
        <p:nvSpPr>
          <p:cNvPr id="10" name="Rectangle 9"/>
          <p:cNvSpPr/>
          <p:nvPr/>
        </p:nvSpPr>
        <p:spPr>
          <a:xfrm>
            <a:off x="566928" y="2304287"/>
            <a:ext cx="5353812" cy="1874519"/>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2414015"/>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CONFUSIÓN</a:t>
            </a:r>
          </a:p>
        </p:txBody>
      </p:sp>
      <p:sp>
        <p:nvSpPr>
          <p:cNvPr id="12" name="TextBox 11"/>
          <p:cNvSpPr txBox="1"/>
          <p:nvPr/>
        </p:nvSpPr>
        <p:spPr>
          <a:xfrm>
            <a:off x="786384" y="2633471"/>
            <a:ext cx="4914900" cy="141731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Que la relación entre la llave y el texto cifrado sea lo más compleja posible.</a:t>
            </a:r>
          </a:p>
          <a:p>
            <a:pPr algn="l">
              <a:lnSpc>
                <a:spcPct val="128000"/>
              </a:lnSpc>
              <a:spcAft>
                <a:spcPts val="700"/>
              </a:spcAft>
            </a:pPr>
            <a:r>
              <a:rPr sz="1150" b="0">
                <a:solidFill>
                  <a:srgbClr val="000000"/>
                </a:solidFill>
                <a:latin typeface="Arial"/>
              </a:rPr>
              <a:t>Cada bit del cifrado debe depender de muchas partes de la llave, de modo que conocer pedazos del cifrado no revele pedazos de la llave.</a:t>
            </a:r>
          </a:p>
          <a:p>
            <a:pPr algn="l">
              <a:lnSpc>
                <a:spcPct val="128000"/>
              </a:lnSpc>
              <a:spcAft>
                <a:spcPts val="700"/>
              </a:spcAft>
            </a:pPr>
            <a:r>
              <a:rPr sz="1150" b="0">
                <a:solidFill>
                  <a:srgbClr val="000000"/>
                </a:solidFill>
                <a:latin typeface="Arial"/>
              </a:rPr>
              <a:t>Se consigue con </a:t>
            </a:r>
            <a:r>
              <a:rPr sz="1150" b="1">
                <a:solidFill>
                  <a:srgbClr val="000000"/>
                </a:solidFill>
                <a:latin typeface="Arial"/>
              </a:rPr>
              <a:t>sustitución</a:t>
            </a:r>
            <a:r>
              <a:rPr sz="1150" b="0">
                <a:solidFill>
                  <a:srgbClr val="000000"/>
                </a:solidFill>
                <a:latin typeface="Arial"/>
              </a:rPr>
              <a:t> no lineal.</a:t>
            </a:r>
          </a:p>
        </p:txBody>
      </p:sp>
      <p:sp>
        <p:nvSpPr>
          <p:cNvPr id="13" name="Rectangle 12"/>
          <p:cNvSpPr/>
          <p:nvPr/>
        </p:nvSpPr>
        <p:spPr>
          <a:xfrm>
            <a:off x="6268212" y="2304287"/>
            <a:ext cx="5353812" cy="1874519"/>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414015"/>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DIFUSIÓN</a:t>
            </a:r>
          </a:p>
        </p:txBody>
      </p:sp>
      <p:sp>
        <p:nvSpPr>
          <p:cNvPr id="15" name="TextBox 14"/>
          <p:cNvSpPr txBox="1"/>
          <p:nvPr/>
        </p:nvSpPr>
        <p:spPr>
          <a:xfrm>
            <a:off x="6487668" y="2633471"/>
            <a:ext cx="4914900" cy="141731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Que cada bit del texto claro influya en muchos bits del cifrado.</a:t>
            </a:r>
          </a:p>
          <a:p>
            <a:pPr algn="l">
              <a:lnSpc>
                <a:spcPct val="128000"/>
              </a:lnSpc>
              <a:spcAft>
                <a:spcPts val="700"/>
              </a:spcAft>
            </a:pPr>
            <a:r>
              <a:rPr sz="1150" b="0">
                <a:solidFill>
                  <a:srgbClr val="000000"/>
                </a:solidFill>
                <a:latin typeface="Arial"/>
              </a:rPr>
              <a:t>Cambiar una sola letra del mensaje debe cambiar, en promedio, la mitad del resultado: el efecto avalancha que van a medir en la sesión 3.</a:t>
            </a:r>
          </a:p>
          <a:p>
            <a:pPr algn="l">
              <a:lnSpc>
                <a:spcPct val="128000"/>
              </a:lnSpc>
              <a:spcAft>
                <a:spcPts val="700"/>
              </a:spcAft>
            </a:pPr>
            <a:r>
              <a:rPr sz="1150" b="0">
                <a:solidFill>
                  <a:srgbClr val="000000"/>
                </a:solidFill>
                <a:latin typeface="Arial"/>
              </a:rPr>
              <a:t>Se consigue con </a:t>
            </a:r>
            <a:r>
              <a:rPr sz="1150" b="1">
                <a:solidFill>
                  <a:srgbClr val="000000"/>
                </a:solidFill>
                <a:latin typeface="Arial"/>
              </a:rPr>
              <a:t>transposición</a:t>
            </a:r>
            <a:r>
              <a:rPr sz="1150" b="0">
                <a:solidFill>
                  <a:srgbClr val="000000"/>
                </a:solidFill>
                <a:latin typeface="Arial"/>
              </a:rPr>
              <a:t> y mezcla.</a:t>
            </a:r>
          </a:p>
        </p:txBody>
      </p:sp>
      <p:sp>
        <p:nvSpPr>
          <p:cNvPr id="16" name="Rectangle 15"/>
          <p:cNvSpPr/>
          <p:nvPr/>
        </p:nvSpPr>
        <p:spPr>
          <a:xfrm>
            <a:off x="566928" y="4544567"/>
            <a:ext cx="45720" cy="77724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4562855"/>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CONSECUENCIA</a:t>
            </a:r>
          </a:p>
        </p:txBody>
      </p:sp>
      <p:sp>
        <p:nvSpPr>
          <p:cNvPr id="18" name="TextBox 17"/>
          <p:cNvSpPr txBox="1"/>
          <p:nvPr/>
        </p:nvSpPr>
        <p:spPr>
          <a:xfrm>
            <a:off x="804672" y="4800599"/>
            <a:ext cx="10780776" cy="50292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Los patrones estadísticos del idioma, que son los que rompen a César, a la sustitución y a la transposición, quedan disueltos en el cifrado. </a:t>
            </a:r>
            <a:r>
              <a:rPr sz="1150" b="1">
                <a:solidFill>
                  <a:srgbClr val="2A2A2A"/>
                </a:solidFill>
                <a:latin typeface="Arial"/>
              </a:rPr>
              <a:t>El análisis de frecuencias deja de funcionar</a:t>
            </a:r>
            <a:r>
              <a:rPr sz="1150" b="0">
                <a:solidFill>
                  <a:srgbClr val="2A2A2A"/>
                </a:solidFill>
                <a:latin typeface="Arial"/>
              </a:rPr>
              <a:t>, y el atacante vuelve a quedar frente al espacio de llaves completo.</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49  PUENTE</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DE LOS CIFRADOS CLÁSICOS A AES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57</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Lo que van a ver el jueves ya lo conocen. AES es sustitución y transposición, combinadas con la llave y repetidas diez veces o más. Lo nuevo no es la idea: es el rigor con que se diseñó y se analizó en público.</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3704691"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OPERACIÓN DE CADA RONDA</a:t>
            </a:r>
          </a:p>
        </p:txBody>
      </p:sp>
      <p:sp>
        <p:nvSpPr>
          <p:cNvPr id="12" name="TextBox 11"/>
          <p:cNvSpPr txBox="1"/>
          <p:nvPr/>
        </p:nvSpPr>
        <p:spPr>
          <a:xfrm>
            <a:off x="4436211" y="2423159"/>
            <a:ext cx="458909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IDEA CLÁSICA DE LA QUE VIENE</a:t>
            </a:r>
          </a:p>
        </p:txBody>
      </p:sp>
      <p:sp>
        <p:nvSpPr>
          <p:cNvPr id="13" name="TextBox 12"/>
          <p:cNvSpPr txBox="1"/>
          <p:nvPr/>
        </p:nvSpPr>
        <p:spPr>
          <a:xfrm>
            <a:off x="9189902" y="2423159"/>
            <a:ext cx="226752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PRINCIPIO</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3704691" cy="34747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Sustituir cada byte con una tabla fija</a:t>
            </a:r>
          </a:p>
        </p:txBody>
      </p:sp>
      <p:sp>
        <p:nvSpPr>
          <p:cNvPr id="16" name="TextBox 15"/>
          <p:cNvSpPr txBox="1"/>
          <p:nvPr/>
        </p:nvSpPr>
        <p:spPr>
          <a:xfrm>
            <a:off x="4436211" y="2825495"/>
            <a:ext cx="4589099"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Sustitución, con una tabla construida para no dejar patrones</a:t>
            </a:r>
          </a:p>
        </p:txBody>
      </p:sp>
      <p:sp>
        <p:nvSpPr>
          <p:cNvPr id="17" name="TextBox 16"/>
          <p:cNvSpPr txBox="1"/>
          <p:nvPr/>
        </p:nvSpPr>
        <p:spPr>
          <a:xfrm>
            <a:off x="9189902" y="2825495"/>
            <a:ext cx="2267529"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Confusión</a:t>
            </a:r>
          </a:p>
        </p:txBody>
      </p:sp>
      <p:sp>
        <p:nvSpPr>
          <p:cNvPr id="18" name="Rectangle 17"/>
          <p:cNvSpPr/>
          <p:nvPr/>
        </p:nvSpPr>
        <p:spPr>
          <a:xfrm>
            <a:off x="566928" y="313639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227831"/>
            <a:ext cx="3704691" cy="34747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Desplazar las filas del bloque</a:t>
            </a:r>
          </a:p>
        </p:txBody>
      </p:sp>
      <p:sp>
        <p:nvSpPr>
          <p:cNvPr id="20" name="TextBox 19"/>
          <p:cNvSpPr txBox="1"/>
          <p:nvPr/>
        </p:nvSpPr>
        <p:spPr>
          <a:xfrm>
            <a:off x="4436211" y="3227831"/>
            <a:ext cx="4589099"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Transposición</a:t>
            </a:r>
          </a:p>
        </p:txBody>
      </p:sp>
      <p:sp>
        <p:nvSpPr>
          <p:cNvPr id="21" name="TextBox 20"/>
          <p:cNvSpPr txBox="1"/>
          <p:nvPr/>
        </p:nvSpPr>
        <p:spPr>
          <a:xfrm>
            <a:off x="9189902" y="3227831"/>
            <a:ext cx="2267529"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Difusión</a:t>
            </a:r>
          </a:p>
        </p:txBody>
      </p:sp>
      <p:sp>
        <p:nvSpPr>
          <p:cNvPr id="22" name="Rectangle 21"/>
          <p:cNvSpPr/>
          <p:nvPr/>
        </p:nvSpPr>
        <p:spPr>
          <a:xfrm>
            <a:off x="566928" y="353872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630167"/>
            <a:ext cx="3704691" cy="34747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Mezclar cada columna</a:t>
            </a:r>
          </a:p>
        </p:txBody>
      </p:sp>
      <p:sp>
        <p:nvSpPr>
          <p:cNvPr id="24" name="TextBox 23"/>
          <p:cNvSpPr txBox="1"/>
          <p:nvPr/>
        </p:nvSpPr>
        <p:spPr>
          <a:xfrm>
            <a:off x="4436211" y="3630167"/>
            <a:ext cx="4589099"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Cada byte pasa a depender de los otros tres de su columna</a:t>
            </a:r>
          </a:p>
        </p:txBody>
      </p:sp>
      <p:sp>
        <p:nvSpPr>
          <p:cNvPr id="25" name="TextBox 24"/>
          <p:cNvSpPr txBox="1"/>
          <p:nvPr/>
        </p:nvSpPr>
        <p:spPr>
          <a:xfrm>
            <a:off x="9189902" y="3630167"/>
            <a:ext cx="2267529"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Difusión</a:t>
            </a:r>
          </a:p>
        </p:txBody>
      </p:sp>
      <p:sp>
        <p:nvSpPr>
          <p:cNvPr id="26" name="Rectangle 25"/>
          <p:cNvSpPr/>
          <p:nvPr/>
        </p:nvSpPr>
        <p:spPr>
          <a:xfrm>
            <a:off x="566928" y="394106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032503"/>
            <a:ext cx="3704691" cy="347472"/>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Combinar con la llave de la ronda</a:t>
            </a:r>
          </a:p>
        </p:txBody>
      </p:sp>
      <p:sp>
        <p:nvSpPr>
          <p:cNvPr id="28" name="TextBox 27"/>
          <p:cNvSpPr txBox="1"/>
          <p:nvPr/>
        </p:nvSpPr>
        <p:spPr>
          <a:xfrm>
            <a:off x="4436211" y="4032503"/>
            <a:ext cx="4589099"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misma operación del cuaderno de un solo uso</a:t>
            </a:r>
          </a:p>
        </p:txBody>
      </p:sp>
      <p:sp>
        <p:nvSpPr>
          <p:cNvPr id="29" name="TextBox 28"/>
          <p:cNvSpPr txBox="1"/>
          <p:nvPr/>
        </p:nvSpPr>
        <p:spPr>
          <a:xfrm>
            <a:off x="9189902" y="4032503"/>
            <a:ext cx="2267529"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única parte secreta</a:t>
            </a:r>
          </a:p>
        </p:txBody>
      </p:sp>
      <p:sp>
        <p:nvSpPr>
          <p:cNvPr id="30" name="Rectangle 29"/>
          <p:cNvSpPr/>
          <p:nvPr/>
        </p:nvSpPr>
        <p:spPr>
          <a:xfrm>
            <a:off x="566928" y="4343400"/>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434840"/>
            <a:ext cx="3704691"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Repetir 10, 12 o 14 veces</a:t>
            </a:r>
          </a:p>
        </p:txBody>
      </p:sp>
      <p:sp>
        <p:nvSpPr>
          <p:cNvPr id="32" name="TextBox 31"/>
          <p:cNvSpPr txBox="1"/>
          <p:nvPr/>
        </p:nvSpPr>
        <p:spPr>
          <a:xfrm>
            <a:off x="4436211" y="4434840"/>
            <a:ext cx="4589099"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Según la llave sea de 128, 192 o 256 bits</a:t>
            </a:r>
          </a:p>
        </p:txBody>
      </p:sp>
      <p:sp>
        <p:nvSpPr>
          <p:cNvPr id="33" name="TextBox 32"/>
          <p:cNvSpPr txBox="1"/>
          <p:nvPr/>
        </p:nvSpPr>
        <p:spPr>
          <a:xfrm>
            <a:off x="9189902" y="4434840"/>
            <a:ext cx="2267529"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Hasta que la salida sea indistinguible del azar</a:t>
            </a:r>
          </a:p>
        </p:txBody>
      </p:sp>
      <p:sp>
        <p:nvSpPr>
          <p:cNvPr id="34" name="Rectangle 33"/>
          <p:cNvSpPr/>
          <p:nvPr/>
        </p:nvSpPr>
        <p:spPr>
          <a:xfrm>
            <a:off x="566928" y="488326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66928" y="4938125"/>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5239877"/>
            <a:ext cx="45720" cy="82296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4672" y="5258165"/>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POR QUÉ NADIE LO DISCUTE</a:t>
            </a:r>
          </a:p>
        </p:txBody>
      </p:sp>
      <p:sp>
        <p:nvSpPr>
          <p:cNvPr id="38" name="TextBox 37"/>
          <p:cNvSpPr txBox="1"/>
          <p:nvPr/>
        </p:nvSpPr>
        <p:spPr>
          <a:xfrm>
            <a:off x="804672" y="5495909"/>
            <a:ext cx="10780776" cy="54864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Quince candidatos, un concurso público abierto a cualquier criptoanalista del mundo y un ganador, Rijndael, escogido en 2000. </a:t>
            </a:r>
            <a:r>
              <a:rPr sz="1150" b="1">
                <a:solidFill>
                  <a:srgbClr val="2A2A2A"/>
                </a:solidFill>
                <a:latin typeface="Arial"/>
              </a:rPr>
              <a:t>Veinticinco años después, el mejor ataque conocido contra AES completo es apenas mejor que probar todas las llaves.</a:t>
            </a:r>
            <a:r>
              <a:rPr sz="1150" b="0">
                <a:solidFill>
                  <a:srgbClr val="2A2A2A"/>
                </a:solidFill>
                <a:latin typeface="Arial"/>
              </a:rPr>
              <a:t> Eso es lo que significa un algoritmo estándar.</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0"/>
            <a:ext cx="11055096" cy="237744"/>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SECCIÓN</a:t>
            </a:r>
          </a:p>
        </p:txBody>
      </p:sp>
      <p:sp>
        <p:nvSpPr>
          <p:cNvPr id="3" name="TextBox 2"/>
          <p:cNvSpPr txBox="1"/>
          <p:nvPr/>
        </p:nvSpPr>
        <p:spPr>
          <a:xfrm>
            <a:off x="566928" y="2377440"/>
            <a:ext cx="1828800" cy="1005840"/>
          </a:xfrm>
          <a:prstGeom prst="rect">
            <a:avLst/>
          </a:prstGeom>
          <a:noFill/>
        </p:spPr>
        <p:txBody>
          <a:bodyPr wrap="square" lIns="0" rIns="0" tIns="0" bIns="0">
            <a:spAutoFit/>
          </a:bodyPr>
          <a:lstStyle/>
          <a:p>
            <a:pPr algn="l">
              <a:spcAft>
                <a:spcPts val="0"/>
              </a:spcAft>
            </a:pPr>
            <a:r>
              <a:rPr sz="5400" b="0">
                <a:solidFill>
                  <a:srgbClr val="F36406"/>
                </a:solidFill>
                <a:latin typeface="Arial Black"/>
              </a:rPr>
              <a:t>07</a:t>
            </a:r>
          </a:p>
        </p:txBody>
      </p:sp>
      <p:sp>
        <p:nvSpPr>
          <p:cNvPr id="4" name="TextBox 3"/>
          <p:cNvSpPr txBox="1"/>
          <p:nvPr/>
        </p:nvSpPr>
        <p:spPr>
          <a:xfrm>
            <a:off x="566928" y="3520440"/>
            <a:ext cx="11055096" cy="640080"/>
          </a:xfrm>
          <a:prstGeom prst="rect">
            <a:avLst/>
          </a:prstGeom>
          <a:noFill/>
        </p:spPr>
        <p:txBody>
          <a:bodyPr wrap="square" lIns="0" rIns="0" tIns="0" bIns="0">
            <a:spAutoFit/>
          </a:bodyPr>
          <a:lstStyle/>
          <a:p>
            <a:pPr algn="l">
              <a:spcAft>
                <a:spcPts val="0"/>
              </a:spcAft>
            </a:pPr>
            <a:r>
              <a:rPr sz="3000" b="0">
                <a:solidFill>
                  <a:srgbClr val="000000"/>
                </a:solidFill>
                <a:latin typeface="Arial Black"/>
              </a:rPr>
              <a:t>LABORATORIO 1</a:t>
            </a:r>
          </a:p>
        </p:txBody>
      </p:sp>
      <p:sp>
        <p:nvSpPr>
          <p:cNvPr id="5" name="Rectangle 4"/>
          <p:cNvSpPr/>
          <p:nvPr/>
        </p:nvSpPr>
        <p:spPr>
          <a:xfrm>
            <a:off x="566928" y="4315968"/>
            <a:ext cx="155448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4526280"/>
            <a:ext cx="10058400" cy="457200"/>
          </a:xfrm>
          <a:prstGeom prst="rect">
            <a:avLst/>
          </a:prstGeom>
          <a:noFill/>
        </p:spPr>
        <p:txBody>
          <a:bodyPr wrap="square" lIns="0" rIns="0" tIns="0" bIns="0">
            <a:spAutoFit/>
          </a:bodyPr>
          <a:lstStyle/>
          <a:p>
            <a:pPr algn="l">
              <a:lnSpc>
                <a:spcPct val="130000"/>
              </a:lnSpc>
              <a:spcAft>
                <a:spcPts val="0"/>
              </a:spcAft>
            </a:pPr>
            <a:r>
              <a:rPr sz="1200" b="0">
                <a:solidFill>
                  <a:srgbClr val="5C5C5C"/>
                </a:solidFill>
                <a:latin typeface="Arial"/>
              </a:rPr>
              <a:t>Romper tres cifrados clásicos y entender por qué cayeron</a:t>
            </a:r>
          </a:p>
        </p:txBody>
      </p:sp>
      <p:sp>
        <p:nvSpPr>
          <p:cNvPr id="7" name="Rectangle 6"/>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1-1.png"/>
          <p:cNvPicPr>
            <a:picLocks noChangeAspect="1"/>
          </p:cNvPicPr>
          <p:nvPr/>
        </p:nvPicPr>
        <p:blipFill>
          <a:blip r:embed="rId2"/>
          <a:stretch>
            <a:fillRect/>
          </a:stretch>
        </p:blipFill>
        <p:spPr>
          <a:xfrm>
            <a:off x="566928" y="6336792"/>
            <a:ext cx="566928" cy="246888"/>
          </a:xfrm>
          <a:prstGeom prst="rect">
            <a:avLst/>
          </a:prstGeom>
        </p:spPr>
      </p:pic>
      <p:sp>
        <p:nvSpPr>
          <p:cNvPr id="9" name="TextBox 8"/>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10" name="TextBox 9"/>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50  LABORATORIO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OBJETIVO Y ENTREGABLE</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59</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Treinta minutos, en los equipos de tres que se conformaron al inicio. No se trata de resolver los retos: se trata de documentar por qué se pudieron resolver. Lo que no se cierre en clase se termina como trabajo independiente.</a:t>
            </a:r>
          </a:p>
        </p:txBody>
      </p:sp>
      <p:sp>
        <p:nvSpPr>
          <p:cNvPr id="10" name="TextBox 9"/>
          <p:cNvSpPr txBox="1"/>
          <p:nvPr/>
        </p:nvSpPr>
        <p:spPr>
          <a:xfrm>
            <a:off x="566928" y="2304287"/>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01</a:t>
            </a:r>
          </a:p>
        </p:txBody>
      </p:sp>
      <p:sp>
        <p:nvSpPr>
          <p:cNvPr id="11" name="TextBox 10"/>
          <p:cNvSpPr txBox="1"/>
          <p:nvPr/>
        </p:nvSpPr>
        <p:spPr>
          <a:xfrm>
            <a:off x="1280160" y="2322575"/>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Ejercicio 1 · Un desplazamiento</a:t>
            </a:r>
          </a:p>
        </p:txBody>
      </p:sp>
      <p:sp>
        <p:nvSpPr>
          <p:cNvPr id="12" name="TextBox 11"/>
          <p:cNvSpPr txBox="1"/>
          <p:nvPr/>
        </p:nvSpPr>
        <p:spPr>
          <a:xfrm>
            <a:off x="1280160" y="2560320"/>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Descifrar un mensaje cifrado con César sin conocer el desplazamiento. Registrar cuántos intentos hicieron falta y cuánto tiempo tomó.</a:t>
            </a:r>
          </a:p>
        </p:txBody>
      </p:sp>
      <p:sp>
        <p:nvSpPr>
          <p:cNvPr id="13" name="TextBox 12"/>
          <p:cNvSpPr txBox="1"/>
          <p:nvPr/>
        </p:nvSpPr>
        <p:spPr>
          <a:xfrm>
            <a:off x="566928" y="3017520"/>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02</a:t>
            </a:r>
          </a:p>
        </p:txBody>
      </p:sp>
      <p:sp>
        <p:nvSpPr>
          <p:cNvPr id="14" name="TextBox 13"/>
          <p:cNvSpPr txBox="1"/>
          <p:nvPr/>
        </p:nvSpPr>
        <p:spPr>
          <a:xfrm>
            <a:off x="1280160" y="3035808"/>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Ejercicio 2 · Una sustitución</a:t>
            </a:r>
          </a:p>
        </p:txBody>
      </p:sp>
      <p:sp>
        <p:nvSpPr>
          <p:cNvPr id="15" name="TextBox 14"/>
          <p:cNvSpPr txBox="1"/>
          <p:nvPr/>
        </p:nvSpPr>
        <p:spPr>
          <a:xfrm>
            <a:off x="1280160" y="3273552"/>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Romper un texto cifrado por sustitución usando análisis de frecuencias. Entregar la correspondencia deducida y el método seguido.</a:t>
            </a:r>
          </a:p>
        </p:txBody>
      </p:sp>
      <p:sp>
        <p:nvSpPr>
          <p:cNvPr id="16" name="TextBox 15"/>
          <p:cNvSpPr txBox="1"/>
          <p:nvPr/>
        </p:nvSpPr>
        <p:spPr>
          <a:xfrm>
            <a:off x="566928" y="3730752"/>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03</a:t>
            </a:r>
          </a:p>
        </p:txBody>
      </p:sp>
      <p:sp>
        <p:nvSpPr>
          <p:cNvPr id="17" name="TextBox 16"/>
          <p:cNvSpPr txBox="1"/>
          <p:nvPr/>
        </p:nvSpPr>
        <p:spPr>
          <a:xfrm>
            <a:off x="1280160" y="3749039"/>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Ejercicio 3 · Dos mensajes, una llave</a:t>
            </a:r>
          </a:p>
        </p:txBody>
      </p:sp>
      <p:sp>
        <p:nvSpPr>
          <p:cNvPr id="18" name="TextBox 17"/>
          <p:cNvSpPr txBox="1"/>
          <p:nvPr/>
        </p:nvSpPr>
        <p:spPr>
          <a:xfrm>
            <a:off x="1280160" y="3986784"/>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Se les entregan dos textos cifrados con la misma llave de flujo. Combinarlos y explicar qué información aparece y por qué.</a:t>
            </a:r>
          </a:p>
        </p:txBody>
      </p:sp>
      <p:sp>
        <p:nvSpPr>
          <p:cNvPr id="19" name="Rectangle 18"/>
          <p:cNvSpPr/>
          <p:nvPr/>
        </p:nvSpPr>
        <p:spPr>
          <a:xfrm>
            <a:off x="566928" y="4626864"/>
            <a:ext cx="45720" cy="84124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 y="4645151"/>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LO QUE SE ENTREGA</a:t>
            </a:r>
          </a:p>
        </p:txBody>
      </p:sp>
      <p:sp>
        <p:nvSpPr>
          <p:cNvPr id="21" name="TextBox 20"/>
          <p:cNvSpPr txBox="1"/>
          <p:nvPr/>
        </p:nvSpPr>
        <p:spPr>
          <a:xfrm>
            <a:off x="804672" y="4882896"/>
            <a:ext cx="10780776" cy="56692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Una página por equipo, al final del bloque: para cada ejercicio, el resultado obtenido, el método empleado y —lo que realmente se evalúa— </a:t>
            </a:r>
            <a:r>
              <a:rPr sz="1150" b="1">
                <a:solidFill>
                  <a:srgbClr val="2A2A2A"/>
                </a:solidFill>
                <a:latin typeface="Arial"/>
              </a:rPr>
              <a:t>qué propiedad del cifrado permitió el ataque</a:t>
            </a:r>
            <a:r>
              <a:rPr sz="1150" b="0">
                <a:solidFill>
                  <a:srgbClr val="2A2A2A"/>
                </a:solidFill>
                <a:latin typeface="Arial"/>
              </a:rPr>
              <a:t>. Un ejercicio resuelto sin esa explicación vale la mitad.</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51  LABORATORIO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ENTORNO DE TRABAJO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60</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Todo el laboratorio funciona sin conexión a internet y sin permisos de administrador: Python se instala para el usuario, y la librería también.</a:t>
            </a:r>
          </a:p>
        </p:txBody>
      </p:sp>
      <p:sp>
        <p:nvSpPr>
          <p:cNvPr id="10" name="Rectangle 9"/>
          <p:cNvSpPr/>
          <p:nvPr/>
        </p:nvSpPr>
        <p:spPr>
          <a:xfrm>
            <a:off x="566928" y="2304287"/>
            <a:ext cx="5353812" cy="1417320"/>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2414015"/>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HERRAMIENTA PRINCIPAL</a:t>
            </a:r>
          </a:p>
        </p:txBody>
      </p:sp>
      <p:sp>
        <p:nvSpPr>
          <p:cNvPr id="12" name="TextBox 11"/>
          <p:cNvSpPr txBox="1"/>
          <p:nvPr/>
        </p:nvSpPr>
        <p:spPr>
          <a:xfrm>
            <a:off x="786384" y="2633471"/>
            <a:ext cx="4914900" cy="96012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Una página de utilidades criptográficas que se ejecuta dentro del navegador, sin enviar nada a ningún servidor.</a:t>
            </a:r>
          </a:p>
          <a:p>
            <a:pPr algn="l">
              <a:lnSpc>
                <a:spcPct val="128000"/>
              </a:lnSpc>
              <a:spcAft>
                <a:spcPts val="700"/>
              </a:spcAft>
            </a:pPr>
            <a:r>
              <a:rPr sz="1150" b="0">
                <a:solidFill>
                  <a:srgbClr val="000000"/>
                </a:solidFill>
                <a:latin typeface="Arial"/>
              </a:rPr>
              <a:t>Se les entrega el archivo; se abre con doble clic y funciona aunque la sala no tenga internet.</a:t>
            </a:r>
          </a:p>
        </p:txBody>
      </p:sp>
      <p:sp>
        <p:nvSpPr>
          <p:cNvPr id="13" name="Rectangle 12"/>
          <p:cNvSpPr/>
          <p:nvPr/>
        </p:nvSpPr>
        <p:spPr>
          <a:xfrm>
            <a:off x="6268212" y="2304287"/>
            <a:ext cx="5353812" cy="1417320"/>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414015"/>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PYTHON, EN TODOS LOS LABORATORIOS</a:t>
            </a:r>
          </a:p>
        </p:txBody>
      </p:sp>
      <p:sp>
        <p:nvSpPr>
          <p:cNvPr id="15" name="TextBox 14"/>
          <p:cNvSpPr txBox="1"/>
          <p:nvPr/>
        </p:nvSpPr>
        <p:spPr>
          <a:xfrm>
            <a:off x="6487668" y="2633471"/>
            <a:ext cx="4914900" cy="96012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Python 3 con su biblioteca estándar alcanza para hoy. Desde la sesión 2 se suma la librería cryptography.</a:t>
            </a:r>
          </a:p>
          <a:p>
            <a:pPr algn="l">
              <a:lnSpc>
                <a:spcPct val="128000"/>
              </a:lnSpc>
              <a:spcAft>
                <a:spcPts val="700"/>
              </a:spcAft>
            </a:pPr>
            <a:r>
              <a:rPr sz="1150" b="0">
                <a:solidFill>
                  <a:srgbClr val="000000"/>
                </a:solidFill>
                <a:latin typeface="Arial"/>
              </a:rPr>
              <a:t>El análisis de frecuencias son diez líneas de código, y escribirlas enseña más que usar la herramienta.</a:t>
            </a:r>
          </a:p>
        </p:txBody>
      </p:sp>
      <p:sp>
        <p:nvSpPr>
          <p:cNvPr id="16" name="Rectangle 15"/>
          <p:cNvSpPr/>
          <p:nvPr/>
        </p:nvSpPr>
        <p:spPr>
          <a:xfrm>
            <a:off x="566928" y="4087367"/>
            <a:ext cx="45720" cy="84124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4105655"/>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ADVERTENCIA PARA TODO EL MÓDULO</a:t>
            </a:r>
          </a:p>
        </p:txBody>
      </p:sp>
      <p:sp>
        <p:nvSpPr>
          <p:cNvPr id="18" name="TextBox 17"/>
          <p:cNvSpPr txBox="1"/>
          <p:nvPr/>
        </p:nvSpPr>
        <p:spPr>
          <a:xfrm>
            <a:off x="804672" y="4343399"/>
            <a:ext cx="10780776" cy="56692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No carguen material del caso ni textos de los ejercicios en servicios en línea de terceros. Además de la regla 5 del caso, es una costumbre profesional: lo que se pega en un sitio público deja de ser confidencial en ese instante.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52  PYTHON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LABORATORIO 1 · EL EJERCICIO EN PYTHON</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61</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Como pide la carta descriptiva: implementar y analizar con librerías estándar. Hoy, el ejercicio 2 hecho con código, más una prueba sobre generadores.</a:t>
            </a:r>
          </a:p>
        </p:txBody>
      </p:sp>
      <p:sp>
        <p:nvSpPr>
          <p:cNvPr id="10" name="Rectangle 9"/>
          <p:cNvSpPr/>
          <p:nvPr/>
        </p:nvSpPr>
        <p:spPr>
          <a:xfrm>
            <a:off x="566928" y="2304287"/>
            <a:ext cx="11055096" cy="288584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LABORATORIO 1 · PYTHON 3, SOLO BIBLIOTECA ESTÁNDAR</a:t>
            </a:r>
          </a:p>
        </p:txBody>
      </p:sp>
      <p:sp>
        <p:nvSpPr>
          <p:cNvPr id="12" name="TextBox 11"/>
          <p:cNvSpPr txBox="1"/>
          <p:nvPr/>
        </p:nvSpPr>
        <p:spPr>
          <a:xfrm>
            <a:off x="768096" y="2633471"/>
            <a:ext cx="10652760" cy="2465222"/>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from collections import Counter</a:t>
            </a:r>
          </a:p>
          <a:p>
            <a:pPr algn="l">
              <a:lnSpc>
                <a:spcPct val="130000"/>
              </a:lnSpc>
              <a:spcAft>
                <a:spcPts val="0"/>
              </a:spcAft>
            </a:pPr>
            <a:r>
              <a:rPr sz="950" b="0">
                <a:solidFill>
                  <a:srgbClr val="000000"/>
                </a:solidFill>
                <a:latin typeface="Consolas"/>
              </a:rPr>
              <a:t>import random, secrets</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 Ejercicio 2 con código: frecuencias del texto cifrado</a:t>
            </a:r>
          </a:p>
          <a:p>
            <a:pPr algn="l">
              <a:lnSpc>
                <a:spcPct val="130000"/>
              </a:lnSpc>
              <a:spcAft>
                <a:spcPts val="0"/>
              </a:spcAft>
            </a:pPr>
            <a:r>
              <a:rPr sz="950" b="0">
                <a:solidFill>
                  <a:srgbClr val="000000"/>
                </a:solidFill>
                <a:latin typeface="Consolas"/>
              </a:rPr>
              <a:t>cifrado = open("ejercicio2.txt", encoding="utf-8").read().upper()</a:t>
            </a:r>
          </a:p>
          <a:p>
            <a:pPr algn="l">
              <a:lnSpc>
                <a:spcPct val="130000"/>
              </a:lnSpc>
              <a:spcAft>
                <a:spcPts val="0"/>
              </a:spcAft>
            </a:pPr>
            <a:r>
              <a:rPr sz="950" b="0">
                <a:solidFill>
                  <a:srgbClr val="000000"/>
                </a:solidFill>
                <a:latin typeface="Consolas"/>
              </a:rPr>
              <a:t>letras = [c for c in cifrado if c.isalpha()]</a:t>
            </a:r>
          </a:p>
          <a:p>
            <a:pPr algn="l">
              <a:lnSpc>
                <a:spcPct val="130000"/>
              </a:lnSpc>
              <a:spcAft>
                <a:spcPts val="0"/>
              </a:spcAft>
            </a:pPr>
            <a:r>
              <a:rPr sz="950" b="0">
                <a:solidFill>
                  <a:srgbClr val="000000"/>
                </a:solidFill>
                <a:latin typeface="Consolas"/>
              </a:rPr>
              <a:t>for letra, n in Counter(letras).most_common(8):</a:t>
            </a:r>
          </a:p>
          <a:p>
            <a:pPr algn="l">
              <a:lnSpc>
                <a:spcPct val="130000"/>
              </a:lnSpc>
              <a:spcAft>
                <a:spcPts val="0"/>
              </a:spcAft>
            </a:pPr>
            <a:r>
              <a:rPr sz="950" b="0">
                <a:solidFill>
                  <a:srgbClr val="000000"/>
                </a:solidFill>
                <a:latin typeface="Consolas"/>
              </a:rPr>
              <a:t>    print(letra, round(100 * n / len(letras), 1), "%")</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 Dos generadores: uno que se puede repetir y uno que no</a:t>
            </a:r>
          </a:p>
          <a:p>
            <a:pPr algn="l">
              <a:lnSpc>
                <a:spcPct val="130000"/>
              </a:lnSpc>
              <a:spcAft>
                <a:spcPts val="0"/>
              </a:spcAft>
            </a:pPr>
            <a:r>
              <a:rPr sz="950" b="0">
                <a:solidFill>
                  <a:srgbClr val="000000"/>
                </a:solidFill>
                <a:latin typeface="Consolas"/>
              </a:rPr>
              <a:t>random.seed(2019);  print(random.getrandbits(128))   # siempre el mismo</a:t>
            </a:r>
          </a:p>
          <a:p>
            <a:pPr algn="l">
              <a:lnSpc>
                <a:spcPct val="130000"/>
              </a:lnSpc>
              <a:spcAft>
                <a:spcPts val="0"/>
              </a:spcAft>
            </a:pPr>
            <a:r>
              <a:rPr sz="950" b="0">
                <a:solidFill>
                  <a:srgbClr val="000000"/>
                </a:solidFill>
                <a:latin typeface="Consolas"/>
              </a:rPr>
              <a:t>print(secrets.token_hex(16))                          # 128 bits del sistema</a:t>
            </a:r>
          </a:p>
        </p:txBody>
      </p:sp>
      <p:sp>
        <p:nvSpPr>
          <p:cNvPr id="13" name="Rectangle 12"/>
          <p:cNvSpPr/>
          <p:nvPr/>
        </p:nvSpPr>
        <p:spPr>
          <a:xfrm>
            <a:off x="566928" y="5446166"/>
            <a:ext cx="45720" cy="713232"/>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464454"/>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LAS DOS PREGUNTAS QUE VAN EN EL INFORME</a:t>
            </a:r>
          </a:p>
        </p:txBody>
      </p:sp>
      <p:sp>
        <p:nvSpPr>
          <p:cNvPr id="15" name="TextBox 14"/>
          <p:cNvSpPr txBox="1"/>
          <p:nvPr/>
        </p:nvSpPr>
        <p:spPr>
          <a:xfrm>
            <a:off x="804672" y="5702198"/>
            <a:ext cx="10780776" cy="438912"/>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¿Qué letra del cifrado corresponde a la E, y cómo lo saben? Y ejecuten la línea del generador tres veces: </a:t>
            </a:r>
            <a:r>
              <a:rPr sz="1150" b="1">
                <a:solidFill>
                  <a:srgbClr val="2A2A2A"/>
                </a:solidFill>
                <a:latin typeface="Arial"/>
              </a:rPr>
              <a:t>¿por qué el primer número sale siempre igual, y qué tiene que ver con Debian en 2008?</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53  SÍNTESIS</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LO QUE LLEVAMOS DE LA SESIÓN</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62</a:t>
            </a:r>
          </a:p>
        </p:txBody>
      </p:sp>
      <p:sp>
        <p:nvSpPr>
          <p:cNvPr id="9" name="TextBox 8"/>
          <p:cNvSpPr txBox="1"/>
          <p:nvPr/>
        </p:nvSpPr>
        <p:spPr>
          <a:xfrm>
            <a:off x="566928" y="1600200"/>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01</a:t>
            </a:r>
          </a:p>
        </p:txBody>
      </p:sp>
      <p:sp>
        <p:nvSpPr>
          <p:cNvPr id="10" name="TextBox 9"/>
          <p:cNvSpPr txBox="1"/>
          <p:nvPr/>
        </p:nvSpPr>
        <p:spPr>
          <a:xfrm>
            <a:off x="1280160" y="1618488"/>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Cuatro servicios, no uno</a:t>
            </a:r>
          </a:p>
        </p:txBody>
      </p:sp>
      <p:sp>
        <p:nvSpPr>
          <p:cNvPr id="11" name="TextBox 10"/>
          <p:cNvSpPr txBox="1"/>
          <p:nvPr/>
        </p:nvSpPr>
        <p:spPr>
          <a:xfrm>
            <a:off x="1280160" y="1856232"/>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Y el que le faltaba a Coopaburrá —no repudio— no se consigue con el mecanismo que eligieron.</a:t>
            </a:r>
          </a:p>
        </p:txBody>
      </p:sp>
      <p:sp>
        <p:nvSpPr>
          <p:cNvPr id="12" name="TextBox 11"/>
          <p:cNvSpPr txBox="1"/>
          <p:nvPr/>
        </p:nvSpPr>
        <p:spPr>
          <a:xfrm>
            <a:off x="566928" y="2313432"/>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02</a:t>
            </a:r>
          </a:p>
        </p:txBody>
      </p:sp>
      <p:sp>
        <p:nvSpPr>
          <p:cNvPr id="13" name="TextBox 12"/>
          <p:cNvSpPr txBox="1"/>
          <p:nvPr/>
        </p:nvSpPr>
        <p:spPr>
          <a:xfrm>
            <a:off x="1280160" y="2331720"/>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La seguridad vive en la llave</a:t>
            </a:r>
          </a:p>
        </p:txBody>
      </p:sp>
      <p:sp>
        <p:nvSpPr>
          <p:cNvPr id="14" name="TextBox 13"/>
          <p:cNvSpPr txBox="1"/>
          <p:nvPr/>
        </p:nvSpPr>
        <p:spPr>
          <a:xfrm>
            <a:off x="1280160" y="2569464"/>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Kerckhoffs, 1883. Sigue siendo el criterio con el que se juzga cualquier diseño.</a:t>
            </a:r>
          </a:p>
        </p:txBody>
      </p:sp>
      <p:sp>
        <p:nvSpPr>
          <p:cNvPr id="15" name="TextBox 14"/>
          <p:cNvSpPr txBox="1"/>
          <p:nvPr/>
        </p:nvSpPr>
        <p:spPr>
          <a:xfrm>
            <a:off x="566928" y="3026664"/>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03</a:t>
            </a:r>
          </a:p>
        </p:txBody>
      </p:sp>
      <p:sp>
        <p:nvSpPr>
          <p:cNvPr id="16" name="TextBox 15"/>
          <p:cNvSpPr txBox="1"/>
          <p:nvPr/>
        </p:nvSpPr>
        <p:spPr>
          <a:xfrm>
            <a:off x="1280160" y="3044952"/>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Una llave sin entropía no es una llave</a:t>
            </a:r>
          </a:p>
        </p:txBody>
      </p:sp>
      <p:sp>
        <p:nvSpPr>
          <p:cNvPr id="17" name="TextBox 16"/>
          <p:cNvSpPr txBox="1"/>
          <p:nvPr/>
        </p:nvSpPr>
        <p:spPr>
          <a:xfrm>
            <a:off x="1280160" y="3282696"/>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Debian y la consola de videojuegos lo demuestran: el algoritmo puede ser perfecto y el sistema caer igual.</a:t>
            </a:r>
          </a:p>
        </p:txBody>
      </p:sp>
      <p:sp>
        <p:nvSpPr>
          <p:cNvPr id="18" name="TextBox 17"/>
          <p:cNvSpPr txBox="1"/>
          <p:nvPr/>
        </p:nvSpPr>
        <p:spPr>
          <a:xfrm>
            <a:off x="566928" y="3739896"/>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04</a:t>
            </a:r>
          </a:p>
        </p:txBody>
      </p:sp>
      <p:sp>
        <p:nvSpPr>
          <p:cNvPr id="19" name="TextBox 18"/>
          <p:cNvSpPr txBox="1"/>
          <p:nvPr/>
        </p:nvSpPr>
        <p:spPr>
          <a:xfrm>
            <a:off x="1280160" y="3758183"/>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Un espacio de llaves grande no basta</a:t>
            </a:r>
          </a:p>
        </p:txBody>
      </p:sp>
      <p:sp>
        <p:nvSpPr>
          <p:cNvPr id="20" name="TextBox 19"/>
          <p:cNvSpPr txBox="1"/>
          <p:nvPr/>
        </p:nvSpPr>
        <p:spPr>
          <a:xfrm>
            <a:off x="1280160" y="3995928"/>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La sustitución tiene ochenta y ocho bits y cae en minutos, porque el ataque no prueba llaves.</a:t>
            </a:r>
          </a:p>
        </p:txBody>
      </p:sp>
      <p:sp>
        <p:nvSpPr>
          <p:cNvPr id="21" name="TextBox 20"/>
          <p:cNvSpPr txBox="1"/>
          <p:nvPr/>
        </p:nvSpPr>
        <p:spPr>
          <a:xfrm>
            <a:off x="566928" y="4453128"/>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05</a:t>
            </a:r>
          </a:p>
        </p:txBody>
      </p:sp>
      <p:sp>
        <p:nvSpPr>
          <p:cNvPr id="22" name="TextBox 21"/>
          <p:cNvSpPr txBox="1"/>
          <p:nvPr/>
        </p:nvSpPr>
        <p:spPr>
          <a:xfrm>
            <a:off x="1280160" y="4471416"/>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Repetir una llave la destruye</a:t>
            </a:r>
          </a:p>
        </p:txBody>
      </p:sp>
      <p:sp>
        <p:nvSpPr>
          <p:cNvPr id="23" name="TextBox 22"/>
          <p:cNvSpPr txBox="1"/>
          <p:nvPr/>
        </p:nvSpPr>
        <p:spPr>
          <a:xfrm>
            <a:off x="1280160" y="4709160"/>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Es el mismo error en el cuaderno de un solo uso, en los modos de cifrado y en la firma digital.</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54  ENTREGA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PRIMERA PARTE DEL PRODUCTO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63</a:t>
            </a:r>
          </a:p>
        </p:txBody>
      </p:sp>
      <p:sp>
        <p:nvSpPr>
          <p:cNvPr id="9" name="TextBox 8"/>
          <p:cNvSpPr txBox="1"/>
          <p:nvPr/>
        </p:nvSpPr>
        <p:spPr>
          <a:xfrm>
            <a:off x="566928" y="1554480"/>
            <a:ext cx="11055096" cy="237744"/>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Se entrega al inicio de la sesión 2. Es el hallazgo H8 y la base de todo lo que sigue.</a:t>
            </a:r>
          </a:p>
        </p:txBody>
      </p:sp>
      <p:sp>
        <p:nvSpPr>
          <p:cNvPr id="10" name="Rectangle 9"/>
          <p:cNvSpPr/>
          <p:nvPr/>
        </p:nvSpPr>
        <p:spPr>
          <a:xfrm>
            <a:off x="566928" y="2066543"/>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185415"/>
            <a:ext cx="3594140"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COLUMNA DEL INVENTARIO</a:t>
            </a:r>
          </a:p>
        </p:txBody>
      </p:sp>
      <p:sp>
        <p:nvSpPr>
          <p:cNvPr id="12" name="TextBox 11"/>
          <p:cNvSpPr txBox="1"/>
          <p:nvPr/>
        </p:nvSpPr>
        <p:spPr>
          <a:xfrm>
            <a:off x="4325660" y="2185415"/>
            <a:ext cx="492075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SE REGISTRA</a:t>
            </a:r>
          </a:p>
        </p:txBody>
      </p:sp>
      <p:sp>
        <p:nvSpPr>
          <p:cNvPr id="13" name="TextBox 12"/>
          <p:cNvSpPr txBox="1"/>
          <p:nvPr/>
        </p:nvSpPr>
        <p:spPr>
          <a:xfrm>
            <a:off x="9411004" y="2185415"/>
            <a:ext cx="2046427"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DÓNDE ESTÁ EN EL CASO</a:t>
            </a:r>
          </a:p>
        </p:txBody>
      </p:sp>
      <p:sp>
        <p:nvSpPr>
          <p:cNvPr id="14" name="Rectangle 13"/>
          <p:cNvSpPr/>
          <p:nvPr/>
        </p:nvSpPr>
        <p:spPr>
          <a:xfrm>
            <a:off x="566928" y="2478023"/>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587751"/>
            <a:ext cx="3594140"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Dónde está la criptografía</a:t>
            </a:r>
          </a:p>
        </p:txBody>
      </p:sp>
      <p:sp>
        <p:nvSpPr>
          <p:cNvPr id="16" name="TextBox 15"/>
          <p:cNvSpPr txBox="1"/>
          <p:nvPr/>
        </p:nvSpPr>
        <p:spPr>
          <a:xfrm>
            <a:off x="4325660" y="2587751"/>
            <a:ext cx="492075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Sistema, canal o proceso donde se usa</a:t>
            </a:r>
          </a:p>
        </p:txBody>
      </p:sp>
      <p:sp>
        <p:nvSpPr>
          <p:cNvPr id="17" name="TextBox 16"/>
          <p:cNvSpPr txBox="1"/>
          <p:nvPr/>
        </p:nvSpPr>
        <p:spPr>
          <a:xfrm>
            <a:off x="9411004" y="2587751"/>
            <a:ext cx="2046427"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Parte 3 del documento del caso</a:t>
            </a:r>
          </a:p>
        </p:txBody>
      </p:sp>
      <p:sp>
        <p:nvSpPr>
          <p:cNvPr id="18" name="Rectangle 17"/>
          <p:cNvSpPr/>
          <p:nvPr/>
        </p:nvSpPr>
        <p:spPr>
          <a:xfrm>
            <a:off x="566928" y="303617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127613"/>
            <a:ext cx="3594140"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Para qué sirve ahí</a:t>
            </a:r>
          </a:p>
        </p:txBody>
      </p:sp>
      <p:sp>
        <p:nvSpPr>
          <p:cNvPr id="20" name="TextBox 19"/>
          <p:cNvSpPr txBox="1"/>
          <p:nvPr/>
        </p:nvSpPr>
        <p:spPr>
          <a:xfrm>
            <a:off x="4325660" y="3127613"/>
            <a:ext cx="4920752"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Cuál de los cuatro servicios pretende dar</a:t>
            </a:r>
          </a:p>
        </p:txBody>
      </p:sp>
      <p:sp>
        <p:nvSpPr>
          <p:cNvPr id="21" name="TextBox 20"/>
          <p:cNvSpPr txBox="1"/>
          <p:nvPr/>
        </p:nvSpPr>
        <p:spPr>
          <a:xfrm>
            <a:off x="9411004" y="3127613"/>
            <a:ext cx="204642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Lo deducen ustedes</a:t>
            </a:r>
          </a:p>
        </p:txBody>
      </p:sp>
      <p:sp>
        <p:nvSpPr>
          <p:cNvPr id="22" name="Rectangle 21"/>
          <p:cNvSpPr/>
          <p:nvPr/>
        </p:nvSpPr>
        <p:spPr>
          <a:xfrm>
            <a:off x="566928" y="340193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493373"/>
            <a:ext cx="3594140"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Qué algoritmo y qué versión</a:t>
            </a:r>
          </a:p>
        </p:txBody>
      </p:sp>
      <p:sp>
        <p:nvSpPr>
          <p:cNvPr id="24" name="TextBox 23"/>
          <p:cNvSpPr txBox="1"/>
          <p:nvPr/>
        </p:nvSpPr>
        <p:spPr>
          <a:xfrm>
            <a:off x="4325660" y="3493373"/>
            <a:ext cx="492075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Nombre, modo y longitud; «desconocido» es respuesta válida y reveladora</a:t>
            </a:r>
          </a:p>
        </p:txBody>
      </p:sp>
      <p:sp>
        <p:nvSpPr>
          <p:cNvPr id="25" name="TextBox 24"/>
          <p:cNvSpPr txBox="1"/>
          <p:nvPr/>
        </p:nvSpPr>
        <p:spPr>
          <a:xfrm>
            <a:off x="9411004" y="3493373"/>
            <a:ext cx="2046427"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Partes 3 y 8</a:t>
            </a:r>
          </a:p>
        </p:txBody>
      </p:sp>
      <p:sp>
        <p:nvSpPr>
          <p:cNvPr id="26" name="Rectangle 25"/>
          <p:cNvSpPr/>
          <p:nvPr/>
        </p:nvSpPr>
        <p:spPr>
          <a:xfrm>
            <a:off x="566928" y="394179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033235"/>
            <a:ext cx="3594140"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Qué llave lo protege</a:t>
            </a:r>
          </a:p>
        </p:txBody>
      </p:sp>
      <p:sp>
        <p:nvSpPr>
          <p:cNvPr id="28" name="TextBox 27"/>
          <p:cNvSpPr txBox="1"/>
          <p:nvPr/>
        </p:nvSpPr>
        <p:spPr>
          <a:xfrm>
            <a:off x="4325660" y="4033235"/>
            <a:ext cx="4920752"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Cuántas hay, quién las conoce, dónde se guardan</a:t>
            </a:r>
          </a:p>
        </p:txBody>
      </p:sp>
      <p:sp>
        <p:nvSpPr>
          <p:cNvPr id="29" name="TextBox 28"/>
          <p:cNvSpPr txBox="1"/>
          <p:nvPr/>
        </p:nvSpPr>
        <p:spPr>
          <a:xfrm>
            <a:off x="9411004" y="4033235"/>
            <a:ext cx="204642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Partes 7 y 8</a:t>
            </a:r>
          </a:p>
        </p:txBody>
      </p:sp>
      <p:sp>
        <p:nvSpPr>
          <p:cNvPr id="30" name="Rectangle 29"/>
          <p:cNvSpPr/>
          <p:nvPr/>
        </p:nvSpPr>
        <p:spPr>
          <a:xfrm>
            <a:off x="566928" y="430755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398995"/>
            <a:ext cx="3594140"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Quién responde por ella</a:t>
            </a:r>
          </a:p>
        </p:txBody>
      </p:sp>
      <p:sp>
        <p:nvSpPr>
          <p:cNvPr id="32" name="TextBox 31"/>
          <p:cNvSpPr txBox="1"/>
          <p:nvPr/>
        </p:nvSpPr>
        <p:spPr>
          <a:xfrm>
            <a:off x="4325660" y="4398995"/>
            <a:ext cx="4920752"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Nombre y cargo de la Parte 2 del caso</a:t>
            </a:r>
          </a:p>
        </p:txBody>
      </p:sp>
      <p:sp>
        <p:nvSpPr>
          <p:cNvPr id="33" name="TextBox 32"/>
          <p:cNvSpPr txBox="1"/>
          <p:nvPr/>
        </p:nvSpPr>
        <p:spPr>
          <a:xfrm>
            <a:off x="9411004" y="4398995"/>
            <a:ext cx="204642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Parte 2</a:t>
            </a:r>
          </a:p>
        </p:txBody>
      </p:sp>
      <p:sp>
        <p:nvSpPr>
          <p:cNvPr id="34" name="Rectangle 33"/>
          <p:cNvSpPr/>
          <p:nvPr/>
        </p:nvSpPr>
        <p:spPr>
          <a:xfrm>
            <a:off x="566928" y="467331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6928" y="4764755"/>
            <a:ext cx="3594140"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Cuándo vence o se rota</a:t>
            </a:r>
          </a:p>
        </p:txBody>
      </p:sp>
      <p:sp>
        <p:nvSpPr>
          <p:cNvPr id="36" name="TextBox 35"/>
          <p:cNvSpPr txBox="1"/>
          <p:nvPr/>
        </p:nvSpPr>
        <p:spPr>
          <a:xfrm>
            <a:off x="4325660" y="4764755"/>
            <a:ext cx="4920752"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Fecha conocida o «nunca se ha rotado»</a:t>
            </a:r>
          </a:p>
        </p:txBody>
      </p:sp>
      <p:sp>
        <p:nvSpPr>
          <p:cNvPr id="37" name="TextBox 36"/>
          <p:cNvSpPr txBox="1"/>
          <p:nvPr/>
        </p:nvSpPr>
        <p:spPr>
          <a:xfrm>
            <a:off x="9411004" y="4764755"/>
            <a:ext cx="204642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Partes 7 y 10</a:t>
            </a:r>
          </a:p>
        </p:txBody>
      </p:sp>
      <p:sp>
        <p:nvSpPr>
          <p:cNvPr id="38" name="Rectangle 37"/>
          <p:cNvSpPr/>
          <p:nvPr/>
        </p:nvSpPr>
        <p:spPr>
          <a:xfrm>
            <a:off x="566928" y="503907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66928" y="5093939"/>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66928" y="5395691"/>
            <a:ext cx="45720" cy="65836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04672" y="5413979"/>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CRITERIO DE EVALUACIÓN</a:t>
            </a:r>
          </a:p>
        </p:txBody>
      </p:sp>
      <p:sp>
        <p:nvSpPr>
          <p:cNvPr id="42" name="TextBox 41"/>
          <p:cNvSpPr txBox="1"/>
          <p:nvPr/>
        </p:nvSpPr>
        <p:spPr>
          <a:xfrm>
            <a:off x="804672" y="5651723"/>
            <a:ext cx="10780776" cy="38404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No se evalúa que esté completo: es imposible completarlo. Se evalúa que </a:t>
            </a:r>
            <a:r>
              <a:rPr sz="1150" b="1">
                <a:solidFill>
                  <a:srgbClr val="2A2A2A"/>
                </a:solidFill>
                <a:latin typeface="Arial"/>
              </a:rPr>
              <a:t>las casillas vacías estén marcadas como desconocidas</a:t>
            </a:r>
            <a:r>
              <a:rPr sz="1150" b="0">
                <a:solidFill>
                  <a:srgbClr val="2A2A2A"/>
                </a:solidFill>
                <a:latin typeface="Arial"/>
              </a:rPr>
              <a:t> y que se diga a quién preguntarle.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55  CIERRE</a:t>
            </a:r>
          </a:p>
        </p:txBody>
      </p:sp>
      <p:sp>
        <p:nvSpPr>
          <p:cNvPr id="4" name="TextBox 3"/>
          <p:cNvSpPr txBox="1"/>
          <p:nvPr/>
        </p:nvSpPr>
        <p:spPr>
          <a:xfrm>
            <a:off x="566928" y="731520"/>
            <a:ext cx="11055096" cy="868680"/>
          </a:xfrm>
          <a:prstGeom prst="rect">
            <a:avLst/>
          </a:prstGeom>
          <a:noFill/>
        </p:spPr>
        <p:txBody>
          <a:bodyPr wrap="square" lIns="0" rIns="0" tIns="0" bIns="0">
            <a:spAutoFit/>
          </a:bodyPr>
          <a:lstStyle/>
          <a:p>
            <a:pPr algn="l">
              <a:lnSpc>
                <a:spcPct val="108000"/>
              </a:lnSpc>
              <a:spcAft>
                <a:spcPts val="0"/>
              </a:spcAft>
            </a:pPr>
            <a:r>
              <a:rPr sz="2300" b="0">
                <a:solidFill>
                  <a:srgbClr val="000000"/>
                </a:solidFill>
                <a:latin typeface="Arial Black"/>
              </a:rPr>
              <a:t>TRABAJO INDEPENDIENTE</a:t>
            </a:r>
          </a:p>
          <a:p>
            <a:pPr algn="l">
              <a:lnSpc>
                <a:spcPct val="108000"/>
              </a:lnSpc>
              <a:spcAft>
                <a:spcPts val="0"/>
              </a:spcAft>
            </a:pPr>
            <a:r>
              <a:rPr sz="2300" b="0">
                <a:solidFill>
                  <a:srgbClr val="000000"/>
                </a:solidFill>
                <a:latin typeface="Arial Black"/>
              </a:rPr>
              <a:t>HASTA LA SESIÓN 2</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64</a:t>
            </a:r>
          </a:p>
        </p:txBody>
      </p:sp>
      <p:sp>
        <p:nvSpPr>
          <p:cNvPr id="9" name="Rectangle 8"/>
          <p:cNvSpPr/>
          <p:nvPr/>
        </p:nvSpPr>
        <p:spPr>
          <a:xfrm>
            <a:off x="566928" y="1792224"/>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920240"/>
            <a:ext cx="3502152" cy="548640"/>
          </a:xfrm>
          <a:prstGeom prst="rect">
            <a:avLst/>
          </a:prstGeom>
          <a:noFill/>
        </p:spPr>
        <p:txBody>
          <a:bodyPr wrap="square" lIns="0" rIns="0" tIns="0" bIns="0">
            <a:spAutoFit/>
          </a:bodyPr>
          <a:lstStyle/>
          <a:p>
            <a:pPr algn="l">
              <a:spcAft>
                <a:spcPts val="0"/>
              </a:spcAft>
            </a:pPr>
            <a:r>
              <a:rPr sz="2800" b="0">
                <a:solidFill>
                  <a:srgbClr val="000000"/>
                </a:solidFill>
                <a:latin typeface="Arial Black"/>
              </a:rPr>
              <a:t>8 h</a:t>
            </a:r>
          </a:p>
        </p:txBody>
      </p:sp>
      <p:sp>
        <p:nvSpPr>
          <p:cNvPr id="11" name="TextBox 10"/>
          <p:cNvSpPr txBox="1"/>
          <p:nvPr/>
        </p:nvSpPr>
        <p:spPr>
          <a:xfrm>
            <a:off x="566928" y="2523744"/>
            <a:ext cx="3502152" cy="438912"/>
          </a:xfrm>
          <a:prstGeom prst="rect">
            <a:avLst/>
          </a:prstGeom>
          <a:noFill/>
        </p:spPr>
        <p:txBody>
          <a:bodyPr wrap="square" lIns="0" rIns="0" tIns="0" bIns="0">
            <a:spAutoFit/>
          </a:bodyPr>
          <a:lstStyle/>
          <a:p>
            <a:pPr algn="l">
              <a:lnSpc>
                <a:spcPct val="125000"/>
              </a:lnSpc>
              <a:spcAft>
                <a:spcPts val="0"/>
              </a:spcAft>
            </a:pPr>
            <a:r>
              <a:rPr sz="730" b="1" spc="130">
                <a:solidFill>
                  <a:srgbClr val="3A3A3A"/>
                </a:solidFill>
                <a:latin typeface="Consolas"/>
              </a:rPr>
              <a:t>TOTAL ENTRE</a:t>
            </a:r>
          </a:p>
          <a:p>
            <a:pPr algn="l">
              <a:lnSpc>
                <a:spcPct val="125000"/>
              </a:lnSpc>
              <a:spcAft>
                <a:spcPts val="0"/>
              </a:spcAft>
            </a:pPr>
            <a:r>
              <a:rPr sz="730" b="1" spc="130">
                <a:solidFill>
                  <a:srgbClr val="3A3A3A"/>
                </a:solidFill>
                <a:latin typeface="Consolas"/>
              </a:rPr>
              <a:t>MARTES Y JUEVES</a:t>
            </a:r>
          </a:p>
        </p:txBody>
      </p:sp>
      <p:sp>
        <p:nvSpPr>
          <p:cNvPr id="12" name="Rectangle 11"/>
          <p:cNvSpPr/>
          <p:nvPr/>
        </p:nvSpPr>
        <p:spPr>
          <a:xfrm>
            <a:off x="4142232" y="1901952"/>
            <a:ext cx="9144" cy="98755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51960" y="1920240"/>
            <a:ext cx="3502152" cy="548640"/>
          </a:xfrm>
          <a:prstGeom prst="rect">
            <a:avLst/>
          </a:prstGeom>
          <a:noFill/>
        </p:spPr>
        <p:txBody>
          <a:bodyPr wrap="square" lIns="0" rIns="0" tIns="0" bIns="0">
            <a:spAutoFit/>
          </a:bodyPr>
          <a:lstStyle/>
          <a:p>
            <a:pPr algn="l">
              <a:spcAft>
                <a:spcPts val="0"/>
              </a:spcAft>
            </a:pPr>
            <a:r>
              <a:rPr sz="2800" b="0">
                <a:solidFill>
                  <a:srgbClr val="000000"/>
                </a:solidFill>
                <a:latin typeface="Arial Black"/>
              </a:rPr>
              <a:t>3,5 h</a:t>
            </a:r>
          </a:p>
        </p:txBody>
      </p:sp>
      <p:sp>
        <p:nvSpPr>
          <p:cNvPr id="14" name="TextBox 13"/>
          <p:cNvSpPr txBox="1"/>
          <p:nvPr/>
        </p:nvSpPr>
        <p:spPr>
          <a:xfrm>
            <a:off x="4251960" y="2523744"/>
            <a:ext cx="3502152" cy="438912"/>
          </a:xfrm>
          <a:prstGeom prst="rect">
            <a:avLst/>
          </a:prstGeom>
          <a:noFill/>
        </p:spPr>
        <p:txBody>
          <a:bodyPr wrap="square" lIns="0" rIns="0" tIns="0" bIns="0">
            <a:spAutoFit/>
          </a:bodyPr>
          <a:lstStyle/>
          <a:p>
            <a:pPr algn="l">
              <a:lnSpc>
                <a:spcPct val="125000"/>
              </a:lnSpc>
              <a:spcAft>
                <a:spcPts val="0"/>
              </a:spcAft>
            </a:pPr>
            <a:r>
              <a:rPr sz="730" b="1" spc="130">
                <a:solidFill>
                  <a:srgbClr val="3A3A3A"/>
                </a:solidFill>
                <a:latin typeface="Consolas"/>
              </a:rPr>
              <a:t>LECTURA</a:t>
            </a:r>
          </a:p>
          <a:p>
            <a:pPr algn="l">
              <a:lnSpc>
                <a:spcPct val="125000"/>
              </a:lnSpc>
              <a:spcAft>
                <a:spcPts val="0"/>
              </a:spcAft>
            </a:pPr>
            <a:r>
              <a:rPr sz="730" b="1" spc="130">
                <a:solidFill>
                  <a:srgbClr val="3A3A3A"/>
                </a:solidFill>
                <a:latin typeface="Consolas"/>
              </a:rPr>
              <a:t>PREVIA</a:t>
            </a:r>
          </a:p>
        </p:txBody>
      </p:sp>
      <p:sp>
        <p:nvSpPr>
          <p:cNvPr id="15" name="Rectangle 14"/>
          <p:cNvSpPr/>
          <p:nvPr/>
        </p:nvSpPr>
        <p:spPr>
          <a:xfrm>
            <a:off x="7827264" y="1901952"/>
            <a:ext cx="9144" cy="98755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36992" y="1920240"/>
            <a:ext cx="3502152" cy="548640"/>
          </a:xfrm>
          <a:prstGeom prst="rect">
            <a:avLst/>
          </a:prstGeom>
          <a:noFill/>
        </p:spPr>
        <p:txBody>
          <a:bodyPr wrap="square" lIns="0" rIns="0" tIns="0" bIns="0">
            <a:spAutoFit/>
          </a:bodyPr>
          <a:lstStyle/>
          <a:p>
            <a:pPr algn="l">
              <a:spcAft>
                <a:spcPts val="0"/>
              </a:spcAft>
            </a:pPr>
            <a:r>
              <a:rPr sz="2800" b="0">
                <a:solidFill>
                  <a:srgbClr val="F36406"/>
                </a:solidFill>
                <a:latin typeface="Arial Black"/>
              </a:rPr>
              <a:t>4,5 h</a:t>
            </a:r>
          </a:p>
        </p:txBody>
      </p:sp>
      <p:sp>
        <p:nvSpPr>
          <p:cNvPr id="17" name="TextBox 16"/>
          <p:cNvSpPr txBox="1"/>
          <p:nvPr/>
        </p:nvSpPr>
        <p:spPr>
          <a:xfrm>
            <a:off x="7936992" y="2523744"/>
            <a:ext cx="3502152" cy="438912"/>
          </a:xfrm>
          <a:prstGeom prst="rect">
            <a:avLst/>
          </a:prstGeom>
          <a:noFill/>
        </p:spPr>
        <p:txBody>
          <a:bodyPr wrap="square" lIns="0" rIns="0" tIns="0" bIns="0">
            <a:spAutoFit/>
          </a:bodyPr>
          <a:lstStyle/>
          <a:p>
            <a:pPr algn="l">
              <a:lnSpc>
                <a:spcPct val="125000"/>
              </a:lnSpc>
              <a:spcAft>
                <a:spcPts val="0"/>
              </a:spcAft>
            </a:pPr>
            <a:r>
              <a:rPr sz="730" b="1" spc="130">
                <a:solidFill>
                  <a:srgbClr val="3A3A3A"/>
                </a:solidFill>
                <a:latin typeface="Consolas"/>
              </a:rPr>
              <a:t>INVENTARIO E INFORME</a:t>
            </a:r>
          </a:p>
          <a:p>
            <a:pPr algn="l">
              <a:lnSpc>
                <a:spcPct val="125000"/>
              </a:lnSpc>
              <a:spcAft>
                <a:spcPts val="0"/>
              </a:spcAft>
            </a:pPr>
            <a:r>
              <a:rPr sz="730" b="1" spc="130">
                <a:solidFill>
                  <a:srgbClr val="3A3A3A"/>
                </a:solidFill>
                <a:latin typeface="Consolas"/>
              </a:rPr>
              <a:t>DEL LABORATORIO 1</a:t>
            </a:r>
          </a:p>
        </p:txBody>
      </p:sp>
      <p:sp>
        <p:nvSpPr>
          <p:cNvPr id="18" name="Rectangle 17"/>
          <p:cNvSpPr/>
          <p:nvPr/>
        </p:nvSpPr>
        <p:spPr>
          <a:xfrm>
            <a:off x="566928" y="2962656"/>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191256"/>
            <a:ext cx="11055096" cy="274320"/>
          </a:xfrm>
          <a:prstGeom prst="rect">
            <a:avLst/>
          </a:prstGeom>
          <a:noFill/>
        </p:spPr>
        <p:txBody>
          <a:bodyPr wrap="square" lIns="0" rIns="0" tIns="0" bIns="0">
            <a:spAutoFit/>
          </a:bodyPr>
          <a:lstStyle/>
          <a:p>
            <a:pPr algn="l">
              <a:spcAft>
                <a:spcPts val="0"/>
              </a:spcAft>
            </a:pPr>
            <a:r>
              <a:rPr sz="1350" b="1">
                <a:solidFill>
                  <a:srgbClr val="000000"/>
                </a:solidFill>
                <a:latin typeface="Arial"/>
              </a:rPr>
              <a:t>Lectura previa · 3,5 horas</a:t>
            </a:r>
          </a:p>
        </p:txBody>
      </p:sp>
      <p:sp>
        <p:nvSpPr>
          <p:cNvPr id="20" name="TextBox 19"/>
          <p:cNvSpPr txBox="1"/>
          <p:nvPr/>
        </p:nvSpPr>
        <p:spPr>
          <a:xfrm>
            <a:off x="566928" y="3520439"/>
            <a:ext cx="2651760" cy="457200"/>
          </a:xfrm>
          <a:prstGeom prst="rect">
            <a:avLst/>
          </a:prstGeom>
          <a:noFill/>
        </p:spPr>
        <p:txBody>
          <a:bodyPr wrap="square" lIns="0" rIns="0" tIns="0" bIns="0">
            <a:spAutoFit/>
          </a:bodyPr>
          <a:lstStyle/>
          <a:p>
            <a:pPr algn="l">
              <a:lnSpc>
                <a:spcPct val="115000"/>
              </a:lnSpc>
              <a:spcAft>
                <a:spcPts val="0"/>
              </a:spcAft>
            </a:pPr>
            <a:r>
              <a:rPr sz="1200" b="1">
                <a:solidFill>
                  <a:srgbClr val="000000"/>
                </a:solidFill>
                <a:latin typeface="Arial"/>
              </a:rPr>
              <a:t>El caso Coopaburrá</a:t>
            </a:r>
          </a:p>
        </p:txBody>
      </p:sp>
      <p:sp>
        <p:nvSpPr>
          <p:cNvPr id="21" name="TextBox 20"/>
          <p:cNvSpPr txBox="1"/>
          <p:nvPr/>
        </p:nvSpPr>
        <p:spPr>
          <a:xfrm>
            <a:off x="3401568" y="3520439"/>
            <a:ext cx="8183879" cy="457200"/>
          </a:xfrm>
          <a:prstGeom prst="rect">
            <a:avLst/>
          </a:prstGeom>
          <a:noFill/>
        </p:spPr>
        <p:txBody>
          <a:bodyPr wrap="square" lIns="0" rIns="0" tIns="0" bIns="0">
            <a:spAutoFit/>
          </a:bodyPr>
          <a:lstStyle/>
          <a:p>
            <a:pPr algn="l">
              <a:lnSpc>
                <a:spcPct val="120000"/>
              </a:lnSpc>
              <a:spcAft>
                <a:spcPts val="0"/>
              </a:spcAft>
            </a:pPr>
            <a:r>
              <a:rPr sz="1150" b="0">
                <a:solidFill>
                  <a:srgbClr val="2A2A2A"/>
                </a:solidFill>
                <a:latin typeface="Arial"/>
              </a:rPr>
              <a:t>Las catorce páginas, 1,5 horas. El jueves se asume leído, en especial las partes 7, 8 y 10, que alimentan el inventario.</a:t>
            </a:r>
          </a:p>
        </p:txBody>
      </p:sp>
      <p:sp>
        <p:nvSpPr>
          <p:cNvPr id="22" name="Rectangle 21"/>
          <p:cNvSpPr/>
          <p:nvPr/>
        </p:nvSpPr>
        <p:spPr>
          <a:xfrm>
            <a:off x="566928" y="4014215"/>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4105655"/>
            <a:ext cx="2651760" cy="457200"/>
          </a:xfrm>
          <a:prstGeom prst="rect">
            <a:avLst/>
          </a:prstGeom>
          <a:noFill/>
        </p:spPr>
        <p:txBody>
          <a:bodyPr wrap="square" lIns="0" rIns="0" tIns="0" bIns="0">
            <a:spAutoFit/>
          </a:bodyPr>
          <a:lstStyle/>
          <a:p>
            <a:pPr algn="l">
              <a:lnSpc>
                <a:spcPct val="115000"/>
              </a:lnSpc>
              <a:spcAft>
                <a:spcPts val="0"/>
              </a:spcAft>
            </a:pPr>
            <a:r>
              <a:rPr sz="1200" b="1">
                <a:solidFill>
                  <a:srgbClr val="000000"/>
                </a:solidFill>
                <a:latin typeface="Arial"/>
              </a:rPr>
              <a:t>Katz y Lindell (2020)</a:t>
            </a:r>
          </a:p>
        </p:txBody>
      </p:sp>
      <p:sp>
        <p:nvSpPr>
          <p:cNvPr id="24" name="TextBox 23"/>
          <p:cNvSpPr txBox="1"/>
          <p:nvPr/>
        </p:nvSpPr>
        <p:spPr>
          <a:xfrm>
            <a:off x="3401568" y="4105655"/>
            <a:ext cx="8183879" cy="457200"/>
          </a:xfrm>
          <a:prstGeom prst="rect">
            <a:avLst/>
          </a:prstGeom>
          <a:noFill/>
        </p:spPr>
        <p:txBody>
          <a:bodyPr wrap="square" lIns="0" rIns="0" tIns="0" bIns="0">
            <a:spAutoFit/>
          </a:bodyPr>
          <a:lstStyle/>
          <a:p>
            <a:pPr algn="l">
              <a:lnSpc>
                <a:spcPct val="120000"/>
              </a:lnSpc>
              <a:spcAft>
                <a:spcPts val="0"/>
              </a:spcAft>
            </a:pPr>
            <a:r>
              <a:rPr sz="1150" b="0">
                <a:solidFill>
                  <a:srgbClr val="2A2A2A"/>
                </a:solidFill>
                <a:latin typeface="Arial"/>
              </a:rPr>
              <a:t>Introduction to Modern Cryptography, capítulos 1 y 2: cifrados clásicos, principios de la criptografía moderna y secreto perfecto. Una hora.</a:t>
            </a:r>
          </a:p>
        </p:txBody>
      </p:sp>
      <p:sp>
        <p:nvSpPr>
          <p:cNvPr id="25" name="Rectangle 24"/>
          <p:cNvSpPr/>
          <p:nvPr/>
        </p:nvSpPr>
        <p:spPr>
          <a:xfrm>
            <a:off x="566928" y="4599431"/>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4690871"/>
            <a:ext cx="2651760" cy="457200"/>
          </a:xfrm>
          <a:prstGeom prst="rect">
            <a:avLst/>
          </a:prstGeom>
          <a:noFill/>
        </p:spPr>
        <p:txBody>
          <a:bodyPr wrap="square" lIns="0" rIns="0" tIns="0" bIns="0">
            <a:spAutoFit/>
          </a:bodyPr>
          <a:lstStyle/>
          <a:p>
            <a:pPr algn="l">
              <a:lnSpc>
                <a:spcPct val="115000"/>
              </a:lnSpc>
              <a:spcAft>
                <a:spcPts val="0"/>
              </a:spcAft>
            </a:pPr>
            <a:r>
              <a:rPr sz="1200" b="1">
                <a:solidFill>
                  <a:srgbClr val="000000"/>
                </a:solidFill>
                <a:latin typeface="Arial"/>
              </a:rPr>
              <a:t>NIST SP 800-38A</a:t>
            </a:r>
          </a:p>
        </p:txBody>
      </p:sp>
      <p:sp>
        <p:nvSpPr>
          <p:cNvPr id="27" name="TextBox 26"/>
          <p:cNvSpPr txBox="1"/>
          <p:nvPr/>
        </p:nvSpPr>
        <p:spPr>
          <a:xfrm>
            <a:off x="3401568" y="4690871"/>
            <a:ext cx="8183879" cy="457200"/>
          </a:xfrm>
          <a:prstGeom prst="rect">
            <a:avLst/>
          </a:prstGeom>
          <a:noFill/>
        </p:spPr>
        <p:txBody>
          <a:bodyPr wrap="square" lIns="0" rIns="0" tIns="0" bIns="0">
            <a:spAutoFit/>
          </a:bodyPr>
          <a:lstStyle/>
          <a:p>
            <a:pPr algn="l">
              <a:lnSpc>
                <a:spcPct val="120000"/>
              </a:lnSpc>
              <a:spcAft>
                <a:spcPts val="0"/>
              </a:spcAft>
            </a:pPr>
            <a:r>
              <a:rPr sz="1150" b="0">
                <a:solidFill>
                  <a:srgbClr val="2A2A2A"/>
                </a:solidFill>
                <a:latin typeface="Arial"/>
              </a:rPr>
              <a:t>Recommendation for Block Cipher Modes of Operation, sección 6: los modos ECB, CBC y CTR. Una hora. Es la base del bloque 3.</a:t>
            </a:r>
          </a:p>
        </p:txBody>
      </p:sp>
      <p:sp>
        <p:nvSpPr>
          <p:cNvPr id="28" name="Rectangle 27"/>
          <p:cNvSpPr/>
          <p:nvPr/>
        </p:nvSpPr>
        <p:spPr>
          <a:xfrm>
            <a:off x="566928" y="5184647"/>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66928" y="5321808"/>
            <a:ext cx="45720" cy="786384"/>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340096"/>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CONDICIÓN DE ENTRADA A LA SESIÓN 2</a:t>
            </a:r>
          </a:p>
        </p:txBody>
      </p:sp>
      <p:sp>
        <p:nvSpPr>
          <p:cNvPr id="31" name="TextBox 30"/>
          <p:cNvSpPr txBox="1"/>
          <p:nvPr/>
        </p:nvSpPr>
        <p:spPr>
          <a:xfrm>
            <a:off x="804672" y="5577840"/>
            <a:ext cx="10780776" cy="512064"/>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El jueves no se explica qué es un modo de operación: se discute cuál escoger. Las 4,5 horas de elaboración son el inventario (3 h, en equipo) y el cierre del informe del laboratorio (1,5 h). El quiz 1 incluye preguntas sobre estas lecturas.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56  ADELANTO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LO QUE VIENE EL JUEVES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65</a:t>
            </a:r>
          </a:p>
        </p:txBody>
      </p:sp>
      <p:sp>
        <p:nvSpPr>
          <p:cNvPr id="9" name="TextBox 8"/>
          <p:cNvSpPr txBox="1"/>
          <p:nvPr/>
        </p:nvSpPr>
        <p:spPr>
          <a:xfrm>
            <a:off x="566928" y="1554480"/>
            <a:ext cx="11055096" cy="237744"/>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Sesión 2: cifrado simétrico. El bloque más práctico del módulo y el que ataca directamente dos hallazgos del caso.</a:t>
            </a:r>
          </a:p>
        </p:txBody>
      </p:sp>
      <p:sp>
        <p:nvSpPr>
          <p:cNvPr id="10" name="Rectangle 9"/>
          <p:cNvSpPr/>
          <p:nvPr/>
        </p:nvSpPr>
        <p:spPr>
          <a:xfrm>
            <a:off x="566928" y="2066543"/>
            <a:ext cx="5353812" cy="1874519"/>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2176272"/>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BLOQUE 1 · AES Y LOS MODOS DE OPERACIÓN</a:t>
            </a:r>
          </a:p>
        </p:txBody>
      </p:sp>
      <p:sp>
        <p:nvSpPr>
          <p:cNvPr id="12" name="TextBox 11"/>
          <p:cNvSpPr txBox="1"/>
          <p:nvPr/>
        </p:nvSpPr>
        <p:spPr>
          <a:xfrm>
            <a:off x="786384" y="2395727"/>
            <a:ext cx="4914900" cy="141731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Qué es realmente AES y qué no es.</a:t>
            </a:r>
          </a:p>
          <a:p>
            <a:pPr algn="l">
              <a:lnSpc>
                <a:spcPct val="128000"/>
              </a:lnSpc>
              <a:spcAft>
                <a:spcPts val="700"/>
              </a:spcAft>
            </a:pPr>
            <a:r>
              <a:rPr sz="1150" b="0">
                <a:solidFill>
                  <a:srgbClr val="000000"/>
                </a:solidFill>
                <a:latin typeface="Arial"/>
              </a:rPr>
              <a:t>Por qué el modo de operación importa más que el algoritmo, y por qué elegirlo mal deja los datos a la vista aunque estén «cifrados».</a:t>
            </a:r>
          </a:p>
          <a:p>
            <a:pPr algn="l">
              <a:lnSpc>
                <a:spcPct val="128000"/>
              </a:lnSpc>
              <a:spcAft>
                <a:spcPts val="700"/>
              </a:spcAft>
            </a:pPr>
            <a:r>
              <a:rPr sz="1150" b="0">
                <a:solidFill>
                  <a:srgbClr val="000000"/>
                </a:solidFill>
                <a:latin typeface="Arial"/>
              </a:rPr>
              <a:t>Cifrado autenticado: el modo que da confidencialidad e integridad al tiempo, y por qué hoy es el que se debe usar por defecto.</a:t>
            </a:r>
          </a:p>
        </p:txBody>
      </p:sp>
      <p:sp>
        <p:nvSpPr>
          <p:cNvPr id="13" name="Rectangle 12"/>
          <p:cNvSpPr/>
          <p:nvPr/>
        </p:nvSpPr>
        <p:spPr>
          <a:xfrm>
            <a:off x="6268212" y="2066543"/>
            <a:ext cx="5353812" cy="1874519"/>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76272"/>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BLOQUE 2 · LABORATORIO Y HALLAZGOS</a:t>
            </a:r>
          </a:p>
        </p:txBody>
      </p:sp>
      <p:sp>
        <p:nvSpPr>
          <p:cNvPr id="15" name="TextBox 14"/>
          <p:cNvSpPr txBox="1"/>
          <p:nvPr/>
        </p:nvSpPr>
        <p:spPr>
          <a:xfrm>
            <a:off x="6487668" y="2395727"/>
            <a:ext cx="4914900" cy="141731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Una demostración que no se olvida: el escudo de la Institución cifrado con AES-256, todavía perfectamente reconocible.</a:t>
            </a:r>
          </a:p>
          <a:p>
            <a:pPr algn="l">
              <a:lnSpc>
                <a:spcPct val="128000"/>
              </a:lnSpc>
              <a:spcAft>
                <a:spcPts val="700"/>
              </a:spcAft>
            </a:pPr>
            <a:r>
              <a:rPr sz="1150" b="0">
                <a:solidFill>
                  <a:srgbClr val="000000"/>
                </a:solidFill>
                <a:latin typeface="Arial"/>
              </a:rPr>
              <a:t>Análisis de la línea real del script de respaldo de Coopaburrá, que tiene tres errores distintos y solo uno es evidente.</a:t>
            </a:r>
          </a:p>
          <a:p>
            <a:pPr algn="l">
              <a:lnSpc>
                <a:spcPct val="128000"/>
              </a:lnSpc>
              <a:spcAft>
                <a:spcPts val="700"/>
              </a:spcAft>
            </a:pPr>
            <a:r>
              <a:rPr sz="1150" b="0">
                <a:solidFill>
                  <a:srgbClr val="000000"/>
                </a:solidFill>
                <a:latin typeface="Arial"/>
              </a:rPr>
              <a:t>Entrega y realimentación de la primera parte del inventario.</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57  GLOSARIO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SIGLAS DE LA SESIÓN · 1 DE 2</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66</a:t>
            </a:r>
          </a:p>
        </p:txBody>
      </p:sp>
      <p:sp>
        <p:nvSpPr>
          <p:cNvPr id="9" name="Rectangle 8"/>
          <p:cNvSpPr/>
          <p:nvPr/>
        </p:nvSpPr>
        <p:spPr>
          <a:xfrm>
            <a:off x="566928" y="1481328"/>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572768"/>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AES</a:t>
            </a:r>
          </a:p>
        </p:txBody>
      </p:sp>
      <p:sp>
        <p:nvSpPr>
          <p:cNvPr id="11" name="TextBox 10"/>
          <p:cNvSpPr txBox="1"/>
          <p:nvPr/>
        </p:nvSpPr>
        <p:spPr>
          <a:xfrm>
            <a:off x="749808" y="1828800"/>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Advanced Encryption Standard — Estándar de cifrado avanzado. Cifrado simétrico de bloque adoptado por el NIST en 2001.</a:t>
            </a:r>
          </a:p>
        </p:txBody>
      </p:sp>
      <p:sp>
        <p:nvSpPr>
          <p:cNvPr id="12" name="Rectangle 11"/>
          <p:cNvSpPr/>
          <p:nvPr/>
        </p:nvSpPr>
        <p:spPr>
          <a:xfrm>
            <a:off x="566928" y="2340864"/>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432304"/>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Base64</a:t>
            </a:r>
          </a:p>
        </p:txBody>
      </p:sp>
      <p:sp>
        <p:nvSpPr>
          <p:cNvPr id="14" name="TextBox 13"/>
          <p:cNvSpPr txBox="1"/>
          <p:nvPr/>
        </p:nvSpPr>
        <p:spPr>
          <a:xfrm>
            <a:off x="749808" y="2688336"/>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Codificación que representa datos binarios con 64 caracteres imprimibles. No es cifrado: se revierte sin llave.</a:t>
            </a:r>
          </a:p>
        </p:txBody>
      </p:sp>
      <p:sp>
        <p:nvSpPr>
          <p:cNvPr id="15" name="Rectangle 14"/>
          <p:cNvSpPr/>
          <p:nvPr/>
        </p:nvSpPr>
        <p:spPr>
          <a:xfrm>
            <a:off x="566928" y="3200400"/>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3291840"/>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CSPRNG</a:t>
            </a:r>
          </a:p>
        </p:txBody>
      </p:sp>
      <p:sp>
        <p:nvSpPr>
          <p:cNvPr id="17" name="TextBox 16"/>
          <p:cNvSpPr txBox="1"/>
          <p:nvPr/>
        </p:nvSpPr>
        <p:spPr>
          <a:xfrm>
            <a:off x="749808" y="3547872"/>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Cryptographically Secure Pseudorandom Number Generator — Generador de números aleatorios apto para criptografía.</a:t>
            </a:r>
          </a:p>
        </p:txBody>
      </p:sp>
      <p:sp>
        <p:nvSpPr>
          <p:cNvPr id="18" name="Rectangle 17"/>
          <p:cNvSpPr/>
          <p:nvPr/>
        </p:nvSpPr>
        <p:spPr>
          <a:xfrm>
            <a:off x="566928" y="4059935"/>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151375"/>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DES</a:t>
            </a:r>
          </a:p>
        </p:txBody>
      </p:sp>
      <p:sp>
        <p:nvSpPr>
          <p:cNvPr id="20" name="TextBox 19"/>
          <p:cNvSpPr txBox="1"/>
          <p:nvPr/>
        </p:nvSpPr>
        <p:spPr>
          <a:xfrm>
            <a:off x="749808" y="4407407"/>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Data Encryption Standard — Estándar de cifrado de datos de 1977, con llave de 56 bits. Retirado.</a:t>
            </a:r>
          </a:p>
        </p:txBody>
      </p:sp>
      <p:sp>
        <p:nvSpPr>
          <p:cNvPr id="21" name="Rectangle 20"/>
          <p:cNvSpPr/>
          <p:nvPr/>
        </p:nvSpPr>
        <p:spPr>
          <a:xfrm>
            <a:off x="566928" y="4919472"/>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5010912"/>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ECB / CBC / CTR</a:t>
            </a:r>
          </a:p>
        </p:txBody>
      </p:sp>
      <p:sp>
        <p:nvSpPr>
          <p:cNvPr id="23" name="TextBox 22"/>
          <p:cNvSpPr txBox="1"/>
          <p:nvPr/>
        </p:nvSpPr>
        <p:spPr>
          <a:xfrm>
            <a:off x="749808" y="5266944"/>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Electronic Codebook, Cipher Block Chaining, Counter — Modos de operación de un cifrado de bloque. Sesión 2.</a:t>
            </a:r>
          </a:p>
        </p:txBody>
      </p:sp>
      <p:sp>
        <p:nvSpPr>
          <p:cNvPr id="24" name="Rectangle 23"/>
          <p:cNvSpPr/>
          <p:nvPr/>
        </p:nvSpPr>
        <p:spPr>
          <a:xfrm>
            <a:off x="6272784" y="1481328"/>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1572768"/>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H1 … H8</a:t>
            </a:r>
          </a:p>
        </p:txBody>
      </p:sp>
      <p:sp>
        <p:nvSpPr>
          <p:cNvPr id="26" name="TextBox 25"/>
          <p:cNvSpPr txBox="1"/>
          <p:nvPr/>
        </p:nvSpPr>
        <p:spPr>
          <a:xfrm>
            <a:off x="6455664" y="1828800"/>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Los ocho hallazgos del diagnóstico criptográfico de Coopaburrá, numerados como en el documento del caso.</a:t>
            </a:r>
          </a:p>
        </p:txBody>
      </p:sp>
      <p:sp>
        <p:nvSpPr>
          <p:cNvPr id="27" name="Rectangle 26"/>
          <p:cNvSpPr/>
          <p:nvPr/>
        </p:nvSpPr>
        <p:spPr>
          <a:xfrm>
            <a:off x="6272784" y="2340864"/>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55664" y="2432304"/>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HMAC</a:t>
            </a:r>
          </a:p>
        </p:txBody>
      </p:sp>
      <p:sp>
        <p:nvSpPr>
          <p:cNvPr id="29" name="TextBox 28"/>
          <p:cNvSpPr txBox="1"/>
          <p:nvPr/>
        </p:nvSpPr>
        <p:spPr>
          <a:xfrm>
            <a:off x="6455664" y="2688336"/>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Hash-based Message Authentication Code — Código de autenticación de mensajes basado en una función resumen. Sesión 3.</a:t>
            </a:r>
          </a:p>
        </p:txBody>
      </p:sp>
      <p:sp>
        <p:nvSpPr>
          <p:cNvPr id="30" name="Rectangle 29"/>
          <p:cNvSpPr/>
          <p:nvPr/>
        </p:nvSpPr>
        <p:spPr>
          <a:xfrm>
            <a:off x="6272784" y="3200400"/>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55664" y="3291840"/>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IV</a:t>
            </a:r>
          </a:p>
        </p:txBody>
      </p:sp>
      <p:sp>
        <p:nvSpPr>
          <p:cNvPr id="32" name="TextBox 31"/>
          <p:cNvSpPr txBox="1"/>
          <p:nvPr/>
        </p:nvSpPr>
        <p:spPr>
          <a:xfrm>
            <a:off x="6455664" y="3547872"/>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Initialization Vector — Vector de inicialización. Valor que debe cambiar en cada cifrado. Sesión 2.</a:t>
            </a:r>
          </a:p>
        </p:txBody>
      </p:sp>
      <p:sp>
        <p:nvSpPr>
          <p:cNvPr id="33" name="Rectangle 32"/>
          <p:cNvSpPr/>
          <p:nvPr/>
        </p:nvSpPr>
        <p:spPr>
          <a:xfrm>
            <a:off x="6272784" y="4059935"/>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55664" y="4151375"/>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NIST</a:t>
            </a:r>
          </a:p>
        </p:txBody>
      </p:sp>
      <p:sp>
        <p:nvSpPr>
          <p:cNvPr id="35" name="TextBox 34"/>
          <p:cNvSpPr txBox="1"/>
          <p:nvPr/>
        </p:nvSpPr>
        <p:spPr>
          <a:xfrm>
            <a:off x="6455664" y="4407407"/>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National Institute of Standards and Technology — Instituto Nacional de Estándares y Tecnología de Estados Unidos.</a:t>
            </a:r>
          </a:p>
        </p:txBody>
      </p:sp>
      <p:sp>
        <p:nvSpPr>
          <p:cNvPr id="36" name="Rectangle 35"/>
          <p:cNvSpPr/>
          <p:nvPr/>
        </p:nvSpPr>
        <p:spPr>
          <a:xfrm>
            <a:off x="6272784" y="4919472"/>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55664" y="5010912"/>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OTP</a:t>
            </a:r>
          </a:p>
        </p:txBody>
      </p:sp>
      <p:sp>
        <p:nvSpPr>
          <p:cNvPr id="38" name="TextBox 37"/>
          <p:cNvSpPr txBox="1"/>
          <p:nvPr/>
        </p:nvSpPr>
        <p:spPr>
          <a:xfrm>
            <a:off x="6455664" y="5266944"/>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One-Time Pad — Cuaderno de un solo uso. El único cifrado con secreto perfecto demostrado.</a:t>
            </a:r>
          </a:p>
        </p:txBody>
      </p:sp>
      <p:sp>
        <p:nvSpPr>
          <p:cNvPr id="39" name="TextBox 38"/>
          <p:cNvSpPr txBox="1"/>
          <p:nvPr/>
        </p:nvSpPr>
        <p:spPr>
          <a:xfrm>
            <a:off x="566928" y="5815584"/>
            <a:ext cx="11055096" cy="329184"/>
          </a:xfrm>
          <a:prstGeom prst="rect">
            <a:avLst/>
          </a:prstGeom>
          <a:noFill/>
        </p:spPr>
        <p:txBody>
          <a:bodyPr wrap="square" lIns="0" rIns="0" tIns="0" bIns="0">
            <a:spAutoFit/>
          </a:bodyPr>
          <a:lstStyle/>
          <a:p>
            <a:pPr algn="l">
              <a:spcAft>
                <a:spcPts val="0"/>
              </a:spcAft>
            </a:pPr>
            <a:r>
              <a:rPr sz="1100" b="0">
                <a:solidFill>
                  <a:srgbClr val="2A2A2A"/>
                </a:solidFill>
                <a:latin typeface="Arial"/>
              </a:rPr>
              <a:t>Toda sigla utilizada en la sesión aparece en el glosario con su forma completa en el idioma original y su equivalencia en español.</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58  GLOSARIO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SIGLAS DE LA SESIÓN · 2 DE 2</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67</a:t>
            </a:r>
          </a:p>
        </p:txBody>
      </p:sp>
      <p:sp>
        <p:nvSpPr>
          <p:cNvPr id="9" name="Rectangle 8"/>
          <p:cNvSpPr/>
          <p:nvPr/>
        </p:nvSpPr>
        <p:spPr>
          <a:xfrm>
            <a:off x="566928" y="1481328"/>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572768"/>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PIN</a:t>
            </a:r>
          </a:p>
        </p:txBody>
      </p:sp>
      <p:sp>
        <p:nvSpPr>
          <p:cNvPr id="11" name="TextBox 10"/>
          <p:cNvSpPr txBox="1"/>
          <p:nvPr/>
        </p:nvSpPr>
        <p:spPr>
          <a:xfrm>
            <a:off x="749808" y="1828800"/>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Personal Identification Number — Número de identificación personal.</a:t>
            </a:r>
          </a:p>
        </p:txBody>
      </p:sp>
      <p:sp>
        <p:nvSpPr>
          <p:cNvPr id="12" name="Rectangle 11"/>
          <p:cNvSpPr/>
          <p:nvPr/>
        </p:nvSpPr>
        <p:spPr>
          <a:xfrm>
            <a:off x="566928" y="2340864"/>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432304"/>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PS3</a:t>
            </a:r>
          </a:p>
        </p:txBody>
      </p:sp>
      <p:sp>
        <p:nvSpPr>
          <p:cNvPr id="14" name="TextBox 13"/>
          <p:cNvSpPr txBox="1"/>
          <p:nvPr/>
        </p:nvSpPr>
        <p:spPr>
          <a:xfrm>
            <a:off x="749808" y="2688336"/>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PlayStation 3 — Consola cuya llave de firma se recuperó en 2010 porque un número que debía cambiar era constante.</a:t>
            </a:r>
          </a:p>
        </p:txBody>
      </p:sp>
      <p:sp>
        <p:nvSpPr>
          <p:cNvPr id="15" name="Rectangle 14"/>
          <p:cNvSpPr/>
          <p:nvPr/>
        </p:nvSpPr>
        <p:spPr>
          <a:xfrm>
            <a:off x="566928" y="3200400"/>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3291840"/>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RSA</a:t>
            </a:r>
          </a:p>
        </p:txBody>
      </p:sp>
      <p:sp>
        <p:nvSpPr>
          <p:cNvPr id="17" name="TextBox 16"/>
          <p:cNvSpPr txBox="1"/>
          <p:nvPr/>
        </p:nvSpPr>
        <p:spPr>
          <a:xfrm>
            <a:off x="749808" y="3547872"/>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Rivest, Shamir y Adleman — Algoritmo de llave pública de 1977, nombrado por sus autores. Sesión 4.</a:t>
            </a:r>
          </a:p>
        </p:txBody>
      </p:sp>
      <p:sp>
        <p:nvSpPr>
          <p:cNvPr id="18" name="Rectangle 17"/>
          <p:cNvSpPr/>
          <p:nvPr/>
        </p:nvSpPr>
        <p:spPr>
          <a:xfrm>
            <a:off x="566928" y="4059935"/>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151375"/>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SHA-1</a:t>
            </a:r>
          </a:p>
        </p:txBody>
      </p:sp>
      <p:sp>
        <p:nvSpPr>
          <p:cNvPr id="20" name="TextBox 19"/>
          <p:cNvSpPr txBox="1"/>
          <p:nvPr/>
        </p:nvSpPr>
        <p:spPr>
          <a:xfrm>
            <a:off x="749808" y="4407407"/>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Secure Hash Algorithm 1 — Función resumen de 160 bits, rota desde 2017. La que usa Coopaburrá para contraseñas.</a:t>
            </a:r>
          </a:p>
        </p:txBody>
      </p:sp>
      <p:sp>
        <p:nvSpPr>
          <p:cNvPr id="21" name="Rectangle 20"/>
          <p:cNvSpPr/>
          <p:nvPr/>
        </p:nvSpPr>
        <p:spPr>
          <a:xfrm>
            <a:off x="566928" y="4919472"/>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5010912"/>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SQL</a:t>
            </a:r>
          </a:p>
        </p:txBody>
      </p:sp>
      <p:sp>
        <p:nvSpPr>
          <p:cNvPr id="23" name="TextBox 22"/>
          <p:cNvSpPr txBox="1"/>
          <p:nvPr/>
        </p:nvSpPr>
        <p:spPr>
          <a:xfrm>
            <a:off x="749808" y="5266944"/>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Structured Query Language — Lenguaje de consulta de bases de datos. El respaldo del caso es un volcado SQL.</a:t>
            </a:r>
          </a:p>
        </p:txBody>
      </p:sp>
      <p:sp>
        <p:nvSpPr>
          <p:cNvPr id="24" name="Rectangle 23"/>
          <p:cNvSpPr/>
          <p:nvPr/>
        </p:nvSpPr>
        <p:spPr>
          <a:xfrm>
            <a:off x="6272784" y="1481328"/>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1572768"/>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SSL / TLS</a:t>
            </a:r>
          </a:p>
        </p:txBody>
      </p:sp>
      <p:sp>
        <p:nvSpPr>
          <p:cNvPr id="26" name="TextBox 25"/>
          <p:cNvSpPr txBox="1"/>
          <p:nvPr/>
        </p:nvSpPr>
        <p:spPr>
          <a:xfrm>
            <a:off x="6455664" y="1828800"/>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Secure Sockets Layer / Transport Layer Security — Protocolos de canal seguro. Sesión 5.</a:t>
            </a:r>
          </a:p>
        </p:txBody>
      </p:sp>
      <p:sp>
        <p:nvSpPr>
          <p:cNvPr id="27" name="Rectangle 26"/>
          <p:cNvSpPr/>
          <p:nvPr/>
        </p:nvSpPr>
        <p:spPr>
          <a:xfrm>
            <a:off x="6272784" y="2340864"/>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55664" y="2432304"/>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XOR</a:t>
            </a:r>
          </a:p>
        </p:txBody>
      </p:sp>
      <p:sp>
        <p:nvSpPr>
          <p:cNvPr id="29" name="TextBox 28"/>
          <p:cNvSpPr txBox="1"/>
          <p:nvPr/>
        </p:nvSpPr>
        <p:spPr>
          <a:xfrm>
            <a:off x="6455664" y="2688336"/>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Exclusive OR — O exclusivo. Operación bit a bit con la que se combina la llave en el cuaderno de un solo uso.</a:t>
            </a:r>
          </a:p>
        </p:txBody>
      </p:sp>
      <p:sp>
        <p:nvSpPr>
          <p:cNvPr id="30" name="Rectangle 29"/>
          <p:cNvSpPr/>
          <p:nvPr/>
        </p:nvSpPr>
        <p:spPr>
          <a:xfrm>
            <a:off x="6272784" y="3200400"/>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55664" y="3291840"/>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MD5</a:t>
            </a:r>
          </a:p>
        </p:txBody>
      </p:sp>
      <p:sp>
        <p:nvSpPr>
          <p:cNvPr id="32" name="TextBox 31"/>
          <p:cNvSpPr txBox="1"/>
          <p:nvPr/>
        </p:nvSpPr>
        <p:spPr>
          <a:xfrm>
            <a:off x="6455664" y="3547872"/>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Message Digest 5 — Función resumen de 128 bits de 1992. Rota desde 2004: no sirve para nada que exija seguridad.</a:t>
            </a:r>
          </a:p>
        </p:txBody>
      </p:sp>
      <p:sp>
        <p:nvSpPr>
          <p:cNvPr id="33" name="Rectangle 32"/>
          <p:cNvSpPr/>
          <p:nvPr/>
        </p:nvSpPr>
        <p:spPr>
          <a:xfrm>
            <a:off x="6272784" y="4059935"/>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55664" y="4151375"/>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SP</a:t>
            </a:r>
          </a:p>
        </p:txBody>
      </p:sp>
      <p:sp>
        <p:nvSpPr>
          <p:cNvPr id="35" name="TextBox 34"/>
          <p:cNvSpPr txBox="1"/>
          <p:nvPr/>
        </p:nvSpPr>
        <p:spPr>
          <a:xfrm>
            <a:off x="6455664" y="4407407"/>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Special Publication — Serie de publicaciones técnicas del NIST, como la SP 800-38A sobre modos de operación.</a:t>
            </a:r>
          </a:p>
        </p:txBody>
      </p:sp>
      <p:sp>
        <p:nvSpPr>
          <p:cNvPr id="36" name="Rectangle 35"/>
          <p:cNvSpPr/>
          <p:nvPr/>
        </p:nvSpPr>
        <p:spPr>
          <a:xfrm>
            <a:off x="6272784" y="4919472"/>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55664" y="5010912"/>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WEP</a:t>
            </a:r>
          </a:p>
        </p:txBody>
      </p:sp>
      <p:sp>
        <p:nvSpPr>
          <p:cNvPr id="38" name="TextBox 37"/>
          <p:cNvSpPr txBox="1"/>
          <p:nvPr/>
        </p:nvSpPr>
        <p:spPr>
          <a:xfrm>
            <a:off x="6455664" y="5266944"/>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Wired Equivalent Privacy — Primer cifrado de redes inalámbricas. Roto en 2001 y reemplazado por WPA.</a:t>
            </a:r>
          </a:p>
        </p:txBody>
      </p:sp>
      <p:sp>
        <p:nvSpPr>
          <p:cNvPr id="39" name="TextBox 38"/>
          <p:cNvSpPr txBox="1"/>
          <p:nvPr/>
        </p:nvSpPr>
        <p:spPr>
          <a:xfrm>
            <a:off x="566928" y="5815584"/>
            <a:ext cx="11055096" cy="329184"/>
          </a:xfrm>
          <a:prstGeom prst="rect">
            <a:avLst/>
          </a:prstGeom>
          <a:noFill/>
        </p:spPr>
        <p:txBody>
          <a:bodyPr wrap="square" lIns="0" rIns="0" tIns="0" bIns="0">
            <a:spAutoFit/>
          </a:bodyPr>
          <a:lstStyle/>
          <a:p>
            <a:pPr algn="l">
              <a:spcAft>
                <a:spcPts val="0"/>
              </a:spcAft>
            </a:pPr>
            <a:r>
              <a:rPr sz="1100" b="0">
                <a:solidFill>
                  <a:srgbClr val="2A2A2A"/>
                </a:solidFill>
                <a:latin typeface="Arial"/>
              </a:rPr>
              <a:t>Toda sigla utilizada en la sesión aparece en el glosario con su forma completa en el idioma original y su equivalencia en español.</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59  FUENTES</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REFERENCIAS DE LA SESIÓN</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1</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68</a:t>
            </a:r>
          </a:p>
        </p:txBody>
      </p:sp>
      <p:sp>
        <p:nvSpPr>
          <p:cNvPr id="9" name="TextBox 8"/>
          <p:cNvSpPr txBox="1"/>
          <p:nvPr/>
        </p:nvSpPr>
        <p:spPr>
          <a:xfrm>
            <a:off x="566928" y="1572768"/>
            <a:ext cx="2331720" cy="418011"/>
          </a:xfrm>
          <a:prstGeom prst="rect">
            <a:avLst/>
          </a:prstGeom>
          <a:noFill/>
        </p:spPr>
        <p:txBody>
          <a:bodyPr wrap="square" lIns="0" rIns="0" tIns="0" bIns="0">
            <a:spAutoFit/>
          </a:bodyPr>
          <a:lstStyle/>
          <a:p>
            <a:pPr algn="l">
              <a:lnSpc>
                <a:spcPct val="115000"/>
              </a:lnSpc>
              <a:spcAft>
                <a:spcPts val="0"/>
              </a:spcAft>
            </a:pPr>
            <a:r>
              <a:rPr sz="1050" b="1">
                <a:solidFill>
                  <a:srgbClr val="000000"/>
                </a:solidFill>
                <a:latin typeface="Arial"/>
              </a:rPr>
              <a:t>Katz, J. y Lindell, Y. (2020).</a:t>
            </a:r>
          </a:p>
        </p:txBody>
      </p:sp>
      <p:sp>
        <p:nvSpPr>
          <p:cNvPr id="10" name="TextBox 9"/>
          <p:cNvSpPr txBox="1"/>
          <p:nvPr/>
        </p:nvSpPr>
        <p:spPr>
          <a:xfrm>
            <a:off x="3081528" y="1572768"/>
            <a:ext cx="5074920" cy="418011"/>
          </a:xfrm>
          <a:prstGeom prst="rect">
            <a:avLst/>
          </a:prstGeom>
          <a:noFill/>
        </p:spPr>
        <p:txBody>
          <a:bodyPr wrap="square" lIns="0" rIns="0" tIns="0" bIns="0">
            <a:spAutoFit/>
          </a:bodyPr>
          <a:lstStyle/>
          <a:p>
            <a:pPr algn="l">
              <a:lnSpc>
                <a:spcPct val="115000"/>
              </a:lnSpc>
              <a:spcAft>
                <a:spcPts val="0"/>
              </a:spcAft>
            </a:pPr>
            <a:r>
              <a:rPr sz="1050" b="0">
                <a:solidFill>
                  <a:srgbClr val="000000"/>
                </a:solidFill>
                <a:latin typeface="Arial"/>
              </a:rPr>
              <a:t>Introduction to modern cryptography (3.ª ed.). CRC Press.</a:t>
            </a:r>
          </a:p>
        </p:txBody>
      </p:sp>
      <p:sp>
        <p:nvSpPr>
          <p:cNvPr id="11" name="TextBox 10"/>
          <p:cNvSpPr txBox="1"/>
          <p:nvPr/>
        </p:nvSpPr>
        <p:spPr>
          <a:xfrm>
            <a:off x="8385048" y="1572768"/>
            <a:ext cx="3200400" cy="418011"/>
          </a:xfrm>
          <a:prstGeom prst="rect">
            <a:avLst/>
          </a:prstGeom>
          <a:noFill/>
        </p:spPr>
        <p:txBody>
          <a:bodyPr wrap="square" lIns="0" rIns="0" tIns="0" bIns="0">
            <a:spAutoFit/>
          </a:bodyPr>
          <a:lstStyle/>
          <a:p>
            <a:pPr algn="l">
              <a:lnSpc>
                <a:spcPct val="115000"/>
              </a:lnSpc>
              <a:spcAft>
                <a:spcPts val="0"/>
              </a:spcAft>
            </a:pPr>
            <a:r>
              <a:rPr sz="1000" b="0">
                <a:solidFill>
                  <a:srgbClr val="2A2A2A"/>
                </a:solidFill>
                <a:latin typeface="Arial"/>
              </a:rPr>
              <a:t>Capítulos 1 y 2: cifrados clásicos, principios y secreto perfecto · lectura previa</a:t>
            </a:r>
          </a:p>
        </p:txBody>
      </p:sp>
      <p:sp>
        <p:nvSpPr>
          <p:cNvPr id="12" name="Rectangle 11"/>
          <p:cNvSpPr/>
          <p:nvPr/>
        </p:nvSpPr>
        <p:spPr>
          <a:xfrm>
            <a:off x="566928" y="1990779"/>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2082219"/>
            <a:ext cx="2331720" cy="418011"/>
          </a:xfrm>
          <a:prstGeom prst="rect">
            <a:avLst/>
          </a:prstGeom>
          <a:noFill/>
        </p:spPr>
        <p:txBody>
          <a:bodyPr wrap="square" lIns="0" rIns="0" tIns="0" bIns="0">
            <a:spAutoFit/>
          </a:bodyPr>
          <a:lstStyle/>
          <a:p>
            <a:pPr algn="l">
              <a:lnSpc>
                <a:spcPct val="115000"/>
              </a:lnSpc>
              <a:spcAft>
                <a:spcPts val="0"/>
              </a:spcAft>
            </a:pPr>
            <a:r>
              <a:rPr sz="1050" b="1">
                <a:solidFill>
                  <a:srgbClr val="000000"/>
                </a:solidFill>
                <a:latin typeface="Arial"/>
              </a:rPr>
              <a:t>Stallings, W. (edición vigente).</a:t>
            </a:r>
          </a:p>
        </p:txBody>
      </p:sp>
      <p:sp>
        <p:nvSpPr>
          <p:cNvPr id="14" name="TextBox 13"/>
          <p:cNvSpPr txBox="1"/>
          <p:nvPr/>
        </p:nvSpPr>
        <p:spPr>
          <a:xfrm>
            <a:off x="3081528" y="2082219"/>
            <a:ext cx="5074920" cy="418011"/>
          </a:xfrm>
          <a:prstGeom prst="rect">
            <a:avLst/>
          </a:prstGeom>
          <a:noFill/>
        </p:spPr>
        <p:txBody>
          <a:bodyPr wrap="square" lIns="0" rIns="0" tIns="0" bIns="0">
            <a:spAutoFit/>
          </a:bodyPr>
          <a:lstStyle/>
          <a:p>
            <a:pPr algn="l">
              <a:lnSpc>
                <a:spcPct val="115000"/>
              </a:lnSpc>
              <a:spcAft>
                <a:spcPts val="0"/>
              </a:spcAft>
            </a:pPr>
            <a:r>
              <a:rPr sz="1050" b="0">
                <a:solidFill>
                  <a:srgbClr val="000000"/>
                </a:solidFill>
                <a:latin typeface="Arial"/>
              </a:rPr>
              <a:t>Cryptography and network security: Principles and practice. Pearson.</a:t>
            </a:r>
          </a:p>
        </p:txBody>
      </p:sp>
      <p:sp>
        <p:nvSpPr>
          <p:cNvPr id="15" name="TextBox 14"/>
          <p:cNvSpPr txBox="1"/>
          <p:nvPr/>
        </p:nvSpPr>
        <p:spPr>
          <a:xfrm>
            <a:off x="8385048" y="2082219"/>
            <a:ext cx="3200400" cy="418011"/>
          </a:xfrm>
          <a:prstGeom prst="rect">
            <a:avLst/>
          </a:prstGeom>
          <a:noFill/>
        </p:spPr>
        <p:txBody>
          <a:bodyPr wrap="square" lIns="0" rIns="0" tIns="0" bIns="0">
            <a:spAutoFit/>
          </a:bodyPr>
          <a:lstStyle/>
          <a:p>
            <a:pPr algn="l">
              <a:lnSpc>
                <a:spcPct val="115000"/>
              </a:lnSpc>
              <a:spcAft>
                <a:spcPts val="0"/>
              </a:spcAft>
            </a:pPr>
            <a:r>
              <a:rPr sz="1000" b="0">
                <a:solidFill>
                  <a:srgbClr val="2A2A2A"/>
                </a:solidFill>
                <a:latin typeface="Arial"/>
              </a:rPr>
              <a:t>Técnicas clásicas de cifrado: sustitución y transposición</a:t>
            </a:r>
          </a:p>
        </p:txBody>
      </p:sp>
      <p:sp>
        <p:nvSpPr>
          <p:cNvPr id="16" name="Rectangle 15"/>
          <p:cNvSpPr/>
          <p:nvPr/>
        </p:nvSpPr>
        <p:spPr>
          <a:xfrm>
            <a:off x="566928" y="250023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2591670"/>
            <a:ext cx="2331720" cy="418011"/>
          </a:xfrm>
          <a:prstGeom prst="rect">
            <a:avLst/>
          </a:prstGeom>
          <a:noFill/>
        </p:spPr>
        <p:txBody>
          <a:bodyPr wrap="square" lIns="0" rIns="0" tIns="0" bIns="0">
            <a:spAutoFit/>
          </a:bodyPr>
          <a:lstStyle/>
          <a:p>
            <a:pPr algn="l">
              <a:lnSpc>
                <a:spcPct val="115000"/>
              </a:lnSpc>
              <a:spcAft>
                <a:spcPts val="0"/>
              </a:spcAft>
            </a:pPr>
            <a:r>
              <a:rPr sz="1050" b="1">
                <a:solidFill>
                  <a:srgbClr val="000000"/>
                </a:solidFill>
                <a:latin typeface="Arial"/>
              </a:rPr>
              <a:t>Kerckhoffs, A. (1883).</a:t>
            </a:r>
          </a:p>
        </p:txBody>
      </p:sp>
      <p:sp>
        <p:nvSpPr>
          <p:cNvPr id="18" name="TextBox 17"/>
          <p:cNvSpPr txBox="1"/>
          <p:nvPr/>
        </p:nvSpPr>
        <p:spPr>
          <a:xfrm>
            <a:off x="3081528" y="2591670"/>
            <a:ext cx="5074920" cy="418011"/>
          </a:xfrm>
          <a:prstGeom prst="rect">
            <a:avLst/>
          </a:prstGeom>
          <a:noFill/>
        </p:spPr>
        <p:txBody>
          <a:bodyPr wrap="square" lIns="0" rIns="0" tIns="0" bIns="0">
            <a:spAutoFit/>
          </a:bodyPr>
          <a:lstStyle/>
          <a:p>
            <a:pPr algn="l">
              <a:lnSpc>
                <a:spcPct val="115000"/>
              </a:lnSpc>
              <a:spcAft>
                <a:spcPts val="0"/>
              </a:spcAft>
            </a:pPr>
            <a:r>
              <a:rPr sz="1050" b="0">
                <a:solidFill>
                  <a:srgbClr val="000000"/>
                </a:solidFill>
                <a:latin typeface="Arial"/>
              </a:rPr>
              <a:t>La cryptographie militaire. Journal des sciences militaires, 9, 5–38.</a:t>
            </a:r>
          </a:p>
        </p:txBody>
      </p:sp>
      <p:sp>
        <p:nvSpPr>
          <p:cNvPr id="19" name="TextBox 18"/>
          <p:cNvSpPr txBox="1"/>
          <p:nvPr/>
        </p:nvSpPr>
        <p:spPr>
          <a:xfrm>
            <a:off x="8385048" y="2591670"/>
            <a:ext cx="3200400" cy="418011"/>
          </a:xfrm>
          <a:prstGeom prst="rect">
            <a:avLst/>
          </a:prstGeom>
          <a:noFill/>
        </p:spPr>
        <p:txBody>
          <a:bodyPr wrap="square" lIns="0" rIns="0" tIns="0" bIns="0">
            <a:spAutoFit/>
          </a:bodyPr>
          <a:lstStyle/>
          <a:p>
            <a:pPr algn="l">
              <a:lnSpc>
                <a:spcPct val="115000"/>
              </a:lnSpc>
              <a:spcAft>
                <a:spcPts val="0"/>
              </a:spcAft>
            </a:pPr>
            <a:r>
              <a:rPr sz="1000" b="0">
                <a:solidFill>
                  <a:srgbClr val="2A2A2A"/>
                </a:solidFill>
                <a:latin typeface="Arial"/>
              </a:rPr>
              <a:t>Los seis requisitos; el segundo es el principio de Kerckhoffs</a:t>
            </a:r>
          </a:p>
        </p:txBody>
      </p:sp>
      <p:sp>
        <p:nvSpPr>
          <p:cNvPr id="20" name="Rectangle 19"/>
          <p:cNvSpPr/>
          <p:nvPr/>
        </p:nvSpPr>
        <p:spPr>
          <a:xfrm>
            <a:off x="566928" y="3009682"/>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101122"/>
            <a:ext cx="2331720" cy="418011"/>
          </a:xfrm>
          <a:prstGeom prst="rect">
            <a:avLst/>
          </a:prstGeom>
          <a:noFill/>
        </p:spPr>
        <p:txBody>
          <a:bodyPr wrap="square" lIns="0" rIns="0" tIns="0" bIns="0">
            <a:spAutoFit/>
          </a:bodyPr>
          <a:lstStyle/>
          <a:p>
            <a:pPr algn="l">
              <a:lnSpc>
                <a:spcPct val="115000"/>
              </a:lnSpc>
              <a:spcAft>
                <a:spcPts val="0"/>
              </a:spcAft>
            </a:pPr>
            <a:r>
              <a:rPr sz="1050" b="1">
                <a:solidFill>
                  <a:srgbClr val="000000"/>
                </a:solidFill>
                <a:latin typeface="Arial"/>
              </a:rPr>
              <a:t>Shannon, C. E. (1949).</a:t>
            </a:r>
          </a:p>
        </p:txBody>
      </p:sp>
      <p:sp>
        <p:nvSpPr>
          <p:cNvPr id="22" name="TextBox 21"/>
          <p:cNvSpPr txBox="1"/>
          <p:nvPr/>
        </p:nvSpPr>
        <p:spPr>
          <a:xfrm>
            <a:off x="3081528" y="3101122"/>
            <a:ext cx="5074920" cy="418011"/>
          </a:xfrm>
          <a:prstGeom prst="rect">
            <a:avLst/>
          </a:prstGeom>
          <a:noFill/>
        </p:spPr>
        <p:txBody>
          <a:bodyPr wrap="square" lIns="0" rIns="0" tIns="0" bIns="0">
            <a:spAutoFit/>
          </a:bodyPr>
          <a:lstStyle/>
          <a:p>
            <a:pPr algn="l">
              <a:lnSpc>
                <a:spcPct val="115000"/>
              </a:lnSpc>
              <a:spcAft>
                <a:spcPts val="0"/>
              </a:spcAft>
            </a:pPr>
            <a:r>
              <a:rPr sz="1050" b="0">
                <a:solidFill>
                  <a:srgbClr val="000000"/>
                </a:solidFill>
                <a:latin typeface="Arial"/>
              </a:rPr>
              <a:t>Communication theory of secrecy systems. Bell System Technical Journal, 28(4), 656–715.</a:t>
            </a:r>
          </a:p>
        </p:txBody>
      </p:sp>
      <p:sp>
        <p:nvSpPr>
          <p:cNvPr id="23" name="TextBox 22"/>
          <p:cNvSpPr txBox="1"/>
          <p:nvPr/>
        </p:nvSpPr>
        <p:spPr>
          <a:xfrm>
            <a:off x="8385048" y="3101122"/>
            <a:ext cx="3200400" cy="418011"/>
          </a:xfrm>
          <a:prstGeom prst="rect">
            <a:avLst/>
          </a:prstGeom>
          <a:noFill/>
        </p:spPr>
        <p:txBody>
          <a:bodyPr wrap="square" lIns="0" rIns="0" tIns="0" bIns="0">
            <a:spAutoFit/>
          </a:bodyPr>
          <a:lstStyle/>
          <a:p>
            <a:pPr algn="l">
              <a:lnSpc>
                <a:spcPct val="115000"/>
              </a:lnSpc>
              <a:spcAft>
                <a:spcPts val="0"/>
              </a:spcAft>
            </a:pPr>
            <a:r>
              <a:rPr sz="1000" b="0">
                <a:solidFill>
                  <a:srgbClr val="2A2A2A"/>
                </a:solidFill>
                <a:latin typeface="Arial"/>
              </a:rPr>
              <a:t>Secreto perfecto, confusión y difusión</a:t>
            </a:r>
          </a:p>
        </p:txBody>
      </p:sp>
      <p:sp>
        <p:nvSpPr>
          <p:cNvPr id="24" name="Rectangle 23"/>
          <p:cNvSpPr/>
          <p:nvPr/>
        </p:nvSpPr>
        <p:spPr>
          <a:xfrm>
            <a:off x="566928" y="3519133"/>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3610573"/>
            <a:ext cx="2331720" cy="418011"/>
          </a:xfrm>
          <a:prstGeom prst="rect">
            <a:avLst/>
          </a:prstGeom>
          <a:noFill/>
        </p:spPr>
        <p:txBody>
          <a:bodyPr wrap="square" lIns="0" rIns="0" tIns="0" bIns="0">
            <a:spAutoFit/>
          </a:bodyPr>
          <a:lstStyle/>
          <a:p>
            <a:pPr algn="l">
              <a:lnSpc>
                <a:spcPct val="115000"/>
              </a:lnSpc>
              <a:spcAft>
                <a:spcPts val="0"/>
              </a:spcAft>
            </a:pPr>
            <a:r>
              <a:rPr sz="1050" b="1">
                <a:solidFill>
                  <a:srgbClr val="000000"/>
                </a:solidFill>
                <a:latin typeface="Arial"/>
              </a:rPr>
              <a:t>Singh, S. (2000).</a:t>
            </a:r>
          </a:p>
        </p:txBody>
      </p:sp>
      <p:sp>
        <p:nvSpPr>
          <p:cNvPr id="26" name="TextBox 25"/>
          <p:cNvSpPr txBox="1"/>
          <p:nvPr/>
        </p:nvSpPr>
        <p:spPr>
          <a:xfrm>
            <a:off x="3081528" y="3610573"/>
            <a:ext cx="5074920" cy="418011"/>
          </a:xfrm>
          <a:prstGeom prst="rect">
            <a:avLst/>
          </a:prstGeom>
          <a:noFill/>
        </p:spPr>
        <p:txBody>
          <a:bodyPr wrap="square" lIns="0" rIns="0" tIns="0" bIns="0">
            <a:spAutoFit/>
          </a:bodyPr>
          <a:lstStyle/>
          <a:p>
            <a:pPr algn="l">
              <a:lnSpc>
                <a:spcPct val="115000"/>
              </a:lnSpc>
              <a:spcAft>
                <a:spcPts val="0"/>
              </a:spcAft>
            </a:pPr>
            <a:r>
              <a:rPr sz="1050" b="0">
                <a:solidFill>
                  <a:srgbClr val="000000"/>
                </a:solidFill>
                <a:latin typeface="Arial"/>
              </a:rPr>
              <a:t>Los códigos secretos. Debate.</a:t>
            </a:r>
          </a:p>
        </p:txBody>
      </p:sp>
      <p:sp>
        <p:nvSpPr>
          <p:cNvPr id="27" name="TextBox 26"/>
          <p:cNvSpPr txBox="1"/>
          <p:nvPr/>
        </p:nvSpPr>
        <p:spPr>
          <a:xfrm>
            <a:off x="8385048" y="3610573"/>
            <a:ext cx="3200400" cy="418011"/>
          </a:xfrm>
          <a:prstGeom prst="rect">
            <a:avLst/>
          </a:prstGeom>
          <a:noFill/>
        </p:spPr>
        <p:txBody>
          <a:bodyPr wrap="square" lIns="0" rIns="0" tIns="0" bIns="0">
            <a:spAutoFit/>
          </a:bodyPr>
          <a:lstStyle/>
          <a:p>
            <a:pPr algn="l">
              <a:lnSpc>
                <a:spcPct val="115000"/>
              </a:lnSpc>
              <a:spcAft>
                <a:spcPts val="0"/>
              </a:spcAft>
            </a:pPr>
            <a:r>
              <a:rPr sz="1000" b="0">
                <a:solidFill>
                  <a:srgbClr val="2A2A2A"/>
                </a:solidFill>
                <a:latin typeface="Arial"/>
              </a:rPr>
              <a:t>De César a Enigma: la parte histórica de la sesión</a:t>
            </a:r>
          </a:p>
        </p:txBody>
      </p:sp>
      <p:sp>
        <p:nvSpPr>
          <p:cNvPr id="28" name="Rectangle 27"/>
          <p:cNvSpPr/>
          <p:nvPr/>
        </p:nvSpPr>
        <p:spPr>
          <a:xfrm>
            <a:off x="566928" y="4028585"/>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4120025"/>
            <a:ext cx="2331720" cy="418011"/>
          </a:xfrm>
          <a:prstGeom prst="rect">
            <a:avLst/>
          </a:prstGeom>
          <a:noFill/>
        </p:spPr>
        <p:txBody>
          <a:bodyPr wrap="square" lIns="0" rIns="0" tIns="0" bIns="0">
            <a:spAutoFit/>
          </a:bodyPr>
          <a:lstStyle/>
          <a:p>
            <a:pPr algn="l">
              <a:lnSpc>
                <a:spcPct val="115000"/>
              </a:lnSpc>
              <a:spcAft>
                <a:spcPts val="0"/>
              </a:spcAft>
            </a:pPr>
            <a:r>
              <a:rPr sz="1050" b="1">
                <a:solidFill>
                  <a:srgbClr val="000000"/>
                </a:solidFill>
                <a:latin typeface="Arial"/>
              </a:rPr>
              <a:t>NIST. (2015).</a:t>
            </a:r>
          </a:p>
        </p:txBody>
      </p:sp>
      <p:sp>
        <p:nvSpPr>
          <p:cNvPr id="30" name="TextBox 29"/>
          <p:cNvSpPr txBox="1"/>
          <p:nvPr/>
        </p:nvSpPr>
        <p:spPr>
          <a:xfrm>
            <a:off x="3081528" y="4120025"/>
            <a:ext cx="5074920" cy="418011"/>
          </a:xfrm>
          <a:prstGeom prst="rect">
            <a:avLst/>
          </a:prstGeom>
          <a:noFill/>
        </p:spPr>
        <p:txBody>
          <a:bodyPr wrap="square" lIns="0" rIns="0" tIns="0" bIns="0">
            <a:spAutoFit/>
          </a:bodyPr>
          <a:lstStyle/>
          <a:p>
            <a:pPr algn="l">
              <a:lnSpc>
                <a:spcPct val="115000"/>
              </a:lnSpc>
              <a:spcAft>
                <a:spcPts val="0"/>
              </a:spcAft>
            </a:pPr>
            <a:r>
              <a:rPr sz="1050" b="0">
                <a:solidFill>
                  <a:srgbClr val="000000"/>
                </a:solidFill>
                <a:latin typeface="Arial"/>
              </a:rPr>
              <a:t>SP 800-90A Rev. 1: Recommendation for random number generation using deterministic random bit generators.</a:t>
            </a:r>
          </a:p>
        </p:txBody>
      </p:sp>
      <p:sp>
        <p:nvSpPr>
          <p:cNvPr id="31" name="TextBox 30"/>
          <p:cNvSpPr txBox="1"/>
          <p:nvPr/>
        </p:nvSpPr>
        <p:spPr>
          <a:xfrm>
            <a:off x="8385048" y="4120025"/>
            <a:ext cx="3200400" cy="418011"/>
          </a:xfrm>
          <a:prstGeom prst="rect">
            <a:avLst/>
          </a:prstGeom>
          <a:noFill/>
        </p:spPr>
        <p:txBody>
          <a:bodyPr wrap="square" lIns="0" rIns="0" tIns="0" bIns="0">
            <a:spAutoFit/>
          </a:bodyPr>
          <a:lstStyle/>
          <a:p>
            <a:pPr algn="l">
              <a:lnSpc>
                <a:spcPct val="115000"/>
              </a:lnSpc>
              <a:spcAft>
                <a:spcPts val="0"/>
              </a:spcAft>
            </a:pPr>
            <a:r>
              <a:rPr sz="1000" b="0">
                <a:solidFill>
                  <a:srgbClr val="2A2A2A"/>
                </a:solidFill>
                <a:latin typeface="Arial"/>
              </a:rPr>
              <a:t>Qué es un generador determinista y cómo se siembra</a:t>
            </a:r>
          </a:p>
        </p:txBody>
      </p:sp>
      <p:sp>
        <p:nvSpPr>
          <p:cNvPr id="32" name="Rectangle 31"/>
          <p:cNvSpPr/>
          <p:nvPr/>
        </p:nvSpPr>
        <p:spPr>
          <a:xfrm>
            <a:off x="566928" y="4538036"/>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6928" y="4629476"/>
            <a:ext cx="2331720" cy="418011"/>
          </a:xfrm>
          <a:prstGeom prst="rect">
            <a:avLst/>
          </a:prstGeom>
          <a:noFill/>
        </p:spPr>
        <p:txBody>
          <a:bodyPr wrap="square" lIns="0" rIns="0" tIns="0" bIns="0">
            <a:spAutoFit/>
          </a:bodyPr>
          <a:lstStyle/>
          <a:p>
            <a:pPr algn="l">
              <a:lnSpc>
                <a:spcPct val="115000"/>
              </a:lnSpc>
              <a:spcAft>
                <a:spcPts val="0"/>
              </a:spcAft>
            </a:pPr>
            <a:r>
              <a:rPr sz="1050" b="1">
                <a:solidFill>
                  <a:srgbClr val="000000"/>
                </a:solidFill>
                <a:latin typeface="Arial"/>
              </a:rPr>
              <a:t>NIST. (2001).</a:t>
            </a:r>
          </a:p>
        </p:txBody>
      </p:sp>
      <p:sp>
        <p:nvSpPr>
          <p:cNvPr id="34" name="TextBox 33"/>
          <p:cNvSpPr txBox="1"/>
          <p:nvPr/>
        </p:nvSpPr>
        <p:spPr>
          <a:xfrm>
            <a:off x="3081528" y="4629476"/>
            <a:ext cx="5074920" cy="418011"/>
          </a:xfrm>
          <a:prstGeom prst="rect">
            <a:avLst/>
          </a:prstGeom>
          <a:noFill/>
        </p:spPr>
        <p:txBody>
          <a:bodyPr wrap="square" lIns="0" rIns="0" tIns="0" bIns="0">
            <a:spAutoFit/>
          </a:bodyPr>
          <a:lstStyle/>
          <a:p>
            <a:pPr algn="l">
              <a:lnSpc>
                <a:spcPct val="115000"/>
              </a:lnSpc>
              <a:spcAft>
                <a:spcPts val="0"/>
              </a:spcAft>
            </a:pPr>
            <a:r>
              <a:rPr sz="1050" b="0">
                <a:solidFill>
                  <a:srgbClr val="000000"/>
                </a:solidFill>
                <a:latin typeface="Arial"/>
              </a:rPr>
              <a:t>SP 800-38A: Recommendation for block cipher modes of operation.</a:t>
            </a:r>
          </a:p>
        </p:txBody>
      </p:sp>
      <p:sp>
        <p:nvSpPr>
          <p:cNvPr id="35" name="TextBox 34"/>
          <p:cNvSpPr txBox="1"/>
          <p:nvPr/>
        </p:nvSpPr>
        <p:spPr>
          <a:xfrm>
            <a:off x="8385048" y="4629476"/>
            <a:ext cx="3200400" cy="418011"/>
          </a:xfrm>
          <a:prstGeom prst="rect">
            <a:avLst/>
          </a:prstGeom>
          <a:noFill/>
        </p:spPr>
        <p:txBody>
          <a:bodyPr wrap="square" lIns="0" rIns="0" tIns="0" bIns="0">
            <a:spAutoFit/>
          </a:bodyPr>
          <a:lstStyle/>
          <a:p>
            <a:pPr algn="l">
              <a:lnSpc>
                <a:spcPct val="115000"/>
              </a:lnSpc>
              <a:spcAft>
                <a:spcPts val="0"/>
              </a:spcAft>
            </a:pPr>
            <a:r>
              <a:rPr sz="1000" b="0">
                <a:solidFill>
                  <a:srgbClr val="2A2A2A"/>
                </a:solidFill>
                <a:latin typeface="Arial"/>
              </a:rPr>
              <a:t>Sección 6 · lectura previa de la sesión 2</a:t>
            </a:r>
          </a:p>
        </p:txBody>
      </p:sp>
      <p:sp>
        <p:nvSpPr>
          <p:cNvPr id="36" name="Rectangle 35"/>
          <p:cNvSpPr/>
          <p:nvPr/>
        </p:nvSpPr>
        <p:spPr>
          <a:xfrm>
            <a:off x="566928" y="5047488"/>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66928" y="5321808"/>
            <a:ext cx="45720" cy="786384"/>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4672" y="5340096"/>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ACCESO A LAS FUENTES</a:t>
            </a:r>
          </a:p>
        </p:txBody>
      </p:sp>
      <p:sp>
        <p:nvSpPr>
          <p:cNvPr id="39" name="TextBox 38"/>
          <p:cNvSpPr txBox="1"/>
          <p:nvPr/>
        </p:nvSpPr>
        <p:spPr>
          <a:xfrm>
            <a:off x="804672" y="5577840"/>
            <a:ext cx="10780776" cy="512064"/>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Las publicaciones del NIST son de acceso libre. Los libros se consultan en las bases de datos de la Institución o en la biblioteca; no está autorizado el uso de copias obtenidas por otros medios.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