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1.png"/>
          <p:cNvPicPr>
            <a:picLocks noChangeAspect="1"/>
          </p:cNvPicPr>
          <p:nvPr/>
        </p:nvPicPr>
        <p:blipFill>
          <a:blip r:embed="rId2"/>
          <a:stretch>
            <a:fillRect/>
          </a:stretch>
        </p:blipFill>
        <p:spPr>
          <a:xfrm>
            <a:off x="566928" y="502920"/>
            <a:ext cx="1417320" cy="612648"/>
          </a:xfrm>
          <a:prstGeom prst="rect">
            <a:avLst/>
          </a:prstGeom>
        </p:spPr>
      </p:pic>
      <p:sp>
        <p:nvSpPr>
          <p:cNvPr id="3" name="Rectangle 2"/>
          <p:cNvSpPr/>
          <p:nvPr/>
        </p:nvSpPr>
        <p:spPr>
          <a:xfrm>
            <a:off x="566928" y="1783080"/>
            <a:ext cx="11055096"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75104"/>
            <a:ext cx="11055096" cy="237744"/>
          </a:xfrm>
          <a:prstGeom prst="rect">
            <a:avLst/>
          </a:prstGeom>
          <a:noFill/>
        </p:spPr>
        <p:txBody>
          <a:bodyPr wrap="square" lIns="0" rIns="0" tIns="0" bIns="0">
            <a:spAutoFit/>
          </a:bodyPr>
          <a:lstStyle/>
          <a:p>
            <a:pPr algn="l">
              <a:spcAft>
                <a:spcPts val="0"/>
              </a:spcAft>
            </a:pPr>
            <a:r>
              <a:rPr sz="850" b="1" spc="220">
                <a:solidFill>
                  <a:srgbClr val="5C5C5C"/>
                </a:solidFill>
                <a:latin typeface="Consolas"/>
              </a:rPr>
              <a:t>SESIÓN 3 DE 6 · 5 HORAS · BLOQUE 5: 2H15 · DESCANSO 30 MIN · BLOQUE 6: 2H15</a:t>
            </a:r>
          </a:p>
        </p:txBody>
      </p:sp>
      <p:sp>
        <p:nvSpPr>
          <p:cNvPr id="5" name="TextBox 4"/>
          <p:cNvSpPr txBox="1"/>
          <p:nvPr/>
        </p:nvSpPr>
        <p:spPr>
          <a:xfrm>
            <a:off x="566928" y="2286000"/>
            <a:ext cx="9601200" cy="2148840"/>
          </a:xfrm>
          <a:prstGeom prst="rect">
            <a:avLst/>
          </a:prstGeom>
          <a:noFill/>
        </p:spPr>
        <p:txBody>
          <a:bodyPr wrap="square" lIns="0" rIns="0" tIns="0" bIns="0">
            <a:spAutoFit/>
          </a:bodyPr>
          <a:lstStyle/>
          <a:p>
            <a:pPr algn="l">
              <a:lnSpc>
                <a:spcPct val="105000"/>
              </a:lnSpc>
              <a:spcAft>
                <a:spcPts val="0"/>
              </a:spcAft>
            </a:pPr>
            <a:r>
              <a:rPr sz="4000" b="0">
                <a:solidFill>
                  <a:srgbClr val="000000"/>
                </a:solidFill>
                <a:latin typeface="Arial Black"/>
              </a:rPr>
              <a:t>RESÚMENES,</a:t>
            </a:r>
          </a:p>
          <a:p>
            <a:pPr algn="l">
              <a:lnSpc>
                <a:spcPct val="105000"/>
              </a:lnSpc>
              <a:spcAft>
                <a:spcPts val="0"/>
              </a:spcAft>
            </a:pPr>
            <a:r>
              <a:rPr sz="4000" b="0">
                <a:solidFill>
                  <a:srgbClr val="000000"/>
                </a:solidFill>
                <a:latin typeface="Arial Black"/>
              </a:rPr>
              <a:t>AUTENTICACIÓN</a:t>
            </a:r>
          </a:p>
          <a:p>
            <a:pPr algn="l">
              <a:lnSpc>
                <a:spcPct val="105000"/>
              </a:lnSpc>
              <a:spcAft>
                <a:spcPts val="0"/>
              </a:spcAft>
            </a:pPr>
            <a:r>
              <a:rPr sz="4000" b="0">
                <a:solidFill>
                  <a:srgbClr val="000000"/>
                </a:solidFill>
                <a:latin typeface="Arial Black"/>
              </a:rPr>
              <a:t>Y CONTRASEÑAS</a:t>
            </a:r>
          </a:p>
        </p:txBody>
      </p:sp>
      <p:sp>
        <p:nvSpPr>
          <p:cNvPr id="6" name="Rectangle 5"/>
          <p:cNvSpPr/>
          <p:nvPr/>
        </p:nvSpPr>
        <p:spPr>
          <a:xfrm>
            <a:off x="566928" y="4590288"/>
            <a:ext cx="1554480" cy="5486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46320"/>
            <a:ext cx="10424160" cy="365760"/>
          </a:xfrm>
          <a:prstGeom prst="rect">
            <a:avLst/>
          </a:prstGeom>
          <a:noFill/>
        </p:spPr>
        <p:txBody>
          <a:bodyPr wrap="square" lIns="0" rIns="0" tIns="0" bIns="0">
            <a:spAutoFit/>
          </a:bodyPr>
          <a:lstStyle/>
          <a:p>
            <a:pPr algn="l">
              <a:spcAft>
                <a:spcPts val="0"/>
              </a:spcAft>
            </a:pPr>
            <a:r>
              <a:rPr sz="1400" b="1">
                <a:solidFill>
                  <a:srgbClr val="000000"/>
                </a:solidFill>
                <a:latin typeface="Arial"/>
              </a:rPr>
              <a:t>HMAC-SHA256 NO ESTÁ ROTO. ENTONCES, ¿POR QUÉ NO LE SIRVIÓ A COOPABURRÁ?</a:t>
            </a:r>
          </a:p>
        </p:txBody>
      </p:sp>
      <p:sp>
        <p:nvSpPr>
          <p:cNvPr id="8" name="TextBox 7"/>
          <p:cNvSpPr txBox="1"/>
          <p:nvPr/>
        </p:nvSpPr>
        <p:spPr>
          <a:xfrm>
            <a:off x="566928" y="5285232"/>
            <a:ext cx="10424160" cy="502920"/>
          </a:xfrm>
          <a:prstGeom prst="rect">
            <a:avLst/>
          </a:prstGeom>
          <a:noFill/>
        </p:spPr>
        <p:txBody>
          <a:bodyPr wrap="square" lIns="0" rIns="0" tIns="0" bIns="0">
            <a:spAutoFit/>
          </a:bodyPr>
          <a:lstStyle/>
          <a:p>
            <a:pPr algn="l">
              <a:lnSpc>
                <a:spcPct val="125000"/>
              </a:lnSpc>
              <a:spcAft>
                <a:spcPts val="0"/>
              </a:spcAft>
            </a:pPr>
            <a:r>
              <a:rPr sz="1100" b="0">
                <a:solidFill>
                  <a:srgbClr val="5C5C5C"/>
                </a:solidFill>
                <a:latin typeface="Arial"/>
              </a:rPr>
              <a:t>SIO0010 · Técnicas Criptográficas · Especialización en Seguridad de la Información de las Organizaciones · Facultad de Ingeniería · Institución Universitaria de Envigado</a:t>
            </a:r>
          </a:p>
        </p:txBody>
      </p:sp>
      <p:sp>
        <p:nvSpPr>
          <p:cNvPr id="9" name="Rectangle 8"/>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1.png"/>
          <p:cNvPicPr>
            <a:picLocks noChangeAspect="1"/>
          </p:cNvPicPr>
          <p:nvPr/>
        </p:nvPicPr>
        <p:blipFill>
          <a:blip r:embed="rId2"/>
          <a:stretch>
            <a:fillRect/>
          </a:stretch>
        </p:blipFill>
        <p:spPr>
          <a:xfrm>
            <a:off x="566928" y="6336792"/>
            <a:ext cx="566928" cy="246888"/>
          </a:xfrm>
          <a:prstGeom prst="rect">
            <a:avLst/>
          </a:prstGeom>
        </p:spPr>
      </p:pic>
      <p:sp>
        <p:nvSpPr>
          <p:cNvPr id="11" name="TextBox 10"/>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12" name="TextBox 11"/>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01</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DONDE QUEDAMOS</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Realimentación de la entrega 2 y lo que hoy resolvemos del caso</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01  AGENDA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AGENDA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Hoy resolvemos los dos hallazgos que hicieron posible el fraude: H1, las contraseñas, y H2, la firma de operaciones. Son los dos que explican por qué alguien pudo transferir dinero ajeno.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3747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BLOQUE</a:t>
            </a:r>
          </a:p>
        </p:txBody>
      </p:sp>
      <p:sp>
        <p:nvSpPr>
          <p:cNvPr id="12" name="TextBox 11"/>
          <p:cNvSpPr txBox="1"/>
          <p:nvPr/>
        </p:nvSpPr>
        <p:spPr>
          <a:xfrm>
            <a:off x="2106245" y="2423159"/>
            <a:ext cx="12347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MINUTOS</a:t>
            </a:r>
          </a:p>
        </p:txBody>
      </p:sp>
      <p:sp>
        <p:nvSpPr>
          <p:cNvPr id="13" name="TextBox 12"/>
          <p:cNvSpPr txBox="1"/>
          <p:nvPr/>
        </p:nvSpPr>
        <p:spPr>
          <a:xfrm>
            <a:off x="3505624" y="2423159"/>
            <a:ext cx="599267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CONTENIDO</a:t>
            </a:r>
          </a:p>
        </p:txBody>
      </p:sp>
      <p:sp>
        <p:nvSpPr>
          <p:cNvPr id="14" name="TextBox 13"/>
          <p:cNvSpPr txBox="1"/>
          <p:nvPr/>
        </p:nvSpPr>
        <p:spPr>
          <a:xfrm>
            <a:off x="9662893" y="2423159"/>
            <a:ext cx="17945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MODALIDAD</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5</a:t>
            </a:r>
          </a:p>
        </p:txBody>
      </p:sp>
      <p:sp>
        <p:nvSpPr>
          <p:cNvPr id="17" name="TextBox 16"/>
          <p:cNvSpPr txBox="1"/>
          <p:nvPr/>
        </p:nvSpPr>
        <p:spPr>
          <a:xfrm>
            <a:off x="2106245" y="282549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20</a:t>
            </a:r>
          </a:p>
        </p:txBody>
      </p:sp>
      <p:sp>
        <p:nvSpPr>
          <p:cNvPr id="18" name="TextBox 17"/>
          <p:cNvSpPr txBox="1"/>
          <p:nvPr/>
        </p:nvSpPr>
        <p:spPr>
          <a:xfrm>
            <a:off x="3505624" y="282549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Realimentación de la entrega 2 y hallazgos comunes</a:t>
            </a:r>
          </a:p>
        </p:txBody>
      </p:sp>
      <p:sp>
        <p:nvSpPr>
          <p:cNvPr id="19" name="TextBox 18"/>
          <p:cNvSpPr txBox="1"/>
          <p:nvPr/>
        </p:nvSpPr>
        <p:spPr>
          <a:xfrm>
            <a:off x="9662893" y="282549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a:t>
            </a:r>
          </a:p>
        </p:txBody>
      </p:sp>
      <p:sp>
        <p:nvSpPr>
          <p:cNvPr id="20" name="Rectangle 19"/>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9125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2" name="TextBox 21"/>
          <p:cNvSpPr txBox="1"/>
          <p:nvPr/>
        </p:nvSpPr>
        <p:spPr>
          <a:xfrm>
            <a:off x="2106245" y="319125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 – 80</a:t>
            </a:r>
          </a:p>
        </p:txBody>
      </p:sp>
      <p:sp>
        <p:nvSpPr>
          <p:cNvPr id="23" name="TextBox 22"/>
          <p:cNvSpPr txBox="1"/>
          <p:nvPr/>
        </p:nvSpPr>
        <p:spPr>
          <a:xfrm>
            <a:off x="3505624" y="319125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Funciones resumen: qué prometen, cuáles ya no sirven y para qué sirven</a:t>
            </a:r>
          </a:p>
        </p:txBody>
      </p:sp>
      <p:sp>
        <p:nvSpPr>
          <p:cNvPr id="24" name="TextBox 23"/>
          <p:cNvSpPr txBox="1"/>
          <p:nvPr/>
        </p:nvSpPr>
        <p:spPr>
          <a:xfrm>
            <a:off x="9662893" y="319125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25" name="Rectangle 24"/>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57015"/>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7" name="TextBox 26"/>
          <p:cNvSpPr txBox="1"/>
          <p:nvPr/>
        </p:nvSpPr>
        <p:spPr>
          <a:xfrm>
            <a:off x="2106245" y="355701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80 – 135</a:t>
            </a:r>
          </a:p>
        </p:txBody>
      </p:sp>
      <p:sp>
        <p:nvSpPr>
          <p:cNvPr id="28" name="TextBox 27"/>
          <p:cNvSpPr txBox="1"/>
          <p:nvPr/>
        </p:nvSpPr>
        <p:spPr>
          <a:xfrm>
            <a:off x="3505624" y="355701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Integridad no es autenticidad: HMAC, HKDF y la pregunta del abogado</a:t>
            </a:r>
          </a:p>
        </p:txBody>
      </p:sp>
      <p:sp>
        <p:nvSpPr>
          <p:cNvPr id="29" name="TextBox 28"/>
          <p:cNvSpPr txBox="1"/>
          <p:nvPr/>
        </p:nvSpPr>
        <p:spPr>
          <a:xfrm>
            <a:off x="9662893" y="355701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30" name="Rectangle 29"/>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922775"/>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Descanso</a:t>
            </a:r>
          </a:p>
        </p:txBody>
      </p:sp>
      <p:sp>
        <p:nvSpPr>
          <p:cNvPr id="32" name="TextBox 31"/>
          <p:cNvSpPr txBox="1"/>
          <p:nvPr/>
        </p:nvSpPr>
        <p:spPr>
          <a:xfrm>
            <a:off x="2106245" y="3922775"/>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a:t>
            </a:r>
          </a:p>
        </p:txBody>
      </p:sp>
      <p:sp>
        <p:nvSpPr>
          <p:cNvPr id="33" name="TextBox 32"/>
          <p:cNvSpPr txBox="1"/>
          <p:nvPr/>
        </p:nvSpPr>
        <p:spPr>
          <a:xfrm>
            <a:off x="3505624" y="3922775"/>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4" name="TextBox 33"/>
          <p:cNvSpPr txBox="1"/>
          <p:nvPr/>
        </p:nvSpPr>
        <p:spPr>
          <a:xfrm>
            <a:off x="9662893" y="3922775"/>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5" name="Rectangle 34"/>
          <p:cNvSpPr/>
          <p:nvPr/>
        </p:nvSpPr>
        <p:spPr>
          <a:xfrm>
            <a:off x="566928" y="41970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288536"/>
            <a:ext cx="1374725"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6</a:t>
            </a:r>
          </a:p>
        </p:txBody>
      </p:sp>
      <p:sp>
        <p:nvSpPr>
          <p:cNvPr id="37" name="TextBox 36"/>
          <p:cNvSpPr txBox="1"/>
          <p:nvPr/>
        </p:nvSpPr>
        <p:spPr>
          <a:xfrm>
            <a:off x="2106245" y="428853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60</a:t>
            </a:r>
          </a:p>
        </p:txBody>
      </p:sp>
      <p:sp>
        <p:nvSpPr>
          <p:cNvPr id="38" name="TextBox 37"/>
          <p:cNvSpPr txBox="1"/>
          <p:nvPr/>
        </p:nvSpPr>
        <p:spPr>
          <a:xfrm>
            <a:off x="3505624" y="428853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Contraseñas: derivación, Argon2id, pimienta, llaves de acceso y recuperación</a:t>
            </a:r>
          </a:p>
        </p:txBody>
      </p:sp>
      <p:sp>
        <p:nvSpPr>
          <p:cNvPr id="39" name="TextBox 38"/>
          <p:cNvSpPr txBox="1"/>
          <p:nvPr/>
        </p:nvSpPr>
        <p:spPr>
          <a:xfrm>
            <a:off x="9662893" y="428853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40" name="Rectangle 39"/>
          <p:cNvSpPr/>
          <p:nvPr/>
        </p:nvSpPr>
        <p:spPr>
          <a:xfrm>
            <a:off x="566928" y="45628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65429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2" name="TextBox 41"/>
          <p:cNvSpPr txBox="1"/>
          <p:nvPr/>
        </p:nvSpPr>
        <p:spPr>
          <a:xfrm>
            <a:off x="2106245" y="465429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60 – 110</a:t>
            </a:r>
          </a:p>
        </p:txBody>
      </p:sp>
      <p:sp>
        <p:nvSpPr>
          <p:cNvPr id="43" name="TextBox 42"/>
          <p:cNvSpPr txBox="1"/>
          <p:nvPr/>
        </p:nvSpPr>
        <p:spPr>
          <a:xfrm>
            <a:off x="3505624" y="465429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 3: atacar la evidencia B, con el ejercicio en Python</a:t>
            </a:r>
          </a:p>
        </p:txBody>
      </p:sp>
      <p:sp>
        <p:nvSpPr>
          <p:cNvPr id="44" name="TextBox 43"/>
          <p:cNvSpPr txBox="1"/>
          <p:nvPr/>
        </p:nvSpPr>
        <p:spPr>
          <a:xfrm>
            <a:off x="9662893" y="465429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a:t>
            </a:r>
          </a:p>
        </p:txBody>
      </p:sp>
      <p:sp>
        <p:nvSpPr>
          <p:cNvPr id="45" name="Rectangle 44"/>
          <p:cNvSpPr/>
          <p:nvPr/>
        </p:nvSpPr>
        <p:spPr>
          <a:xfrm>
            <a:off x="566928" y="492861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502005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7" name="TextBox 46"/>
          <p:cNvSpPr txBox="1"/>
          <p:nvPr/>
        </p:nvSpPr>
        <p:spPr>
          <a:xfrm>
            <a:off x="2106245" y="502005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110 – 130</a:t>
            </a:r>
          </a:p>
        </p:txBody>
      </p:sp>
      <p:sp>
        <p:nvSpPr>
          <p:cNvPr id="48" name="TextBox 47"/>
          <p:cNvSpPr txBox="1"/>
          <p:nvPr/>
        </p:nvSpPr>
        <p:spPr>
          <a:xfrm>
            <a:off x="3505624" y="502005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Primera evaluación de conocimiento</a:t>
            </a:r>
          </a:p>
        </p:txBody>
      </p:sp>
      <p:sp>
        <p:nvSpPr>
          <p:cNvPr id="49" name="TextBox 48"/>
          <p:cNvSpPr txBox="1"/>
          <p:nvPr/>
        </p:nvSpPr>
        <p:spPr>
          <a:xfrm>
            <a:off x="9662893" y="502005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Evaluación</a:t>
            </a:r>
          </a:p>
        </p:txBody>
      </p:sp>
      <p:sp>
        <p:nvSpPr>
          <p:cNvPr id="50" name="Rectangle 49"/>
          <p:cNvSpPr/>
          <p:nvPr/>
        </p:nvSpPr>
        <p:spPr>
          <a:xfrm>
            <a:off x="566928" y="529437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5385816"/>
            <a:ext cx="137472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52" name="TextBox 51"/>
          <p:cNvSpPr txBox="1"/>
          <p:nvPr/>
        </p:nvSpPr>
        <p:spPr>
          <a:xfrm>
            <a:off x="2106245" y="5385816"/>
            <a:ext cx="123478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130 – 135</a:t>
            </a:r>
          </a:p>
        </p:txBody>
      </p:sp>
      <p:sp>
        <p:nvSpPr>
          <p:cNvPr id="53" name="TextBox 52"/>
          <p:cNvSpPr txBox="1"/>
          <p:nvPr/>
        </p:nvSpPr>
        <p:spPr>
          <a:xfrm>
            <a:off x="3505624" y="5385816"/>
            <a:ext cx="599267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Cierre y trabajo independiente</a:t>
            </a:r>
          </a:p>
        </p:txBody>
      </p:sp>
      <p:sp>
        <p:nvSpPr>
          <p:cNvPr id="54" name="TextBox 53"/>
          <p:cNvSpPr txBox="1"/>
          <p:nvPr/>
        </p:nvSpPr>
        <p:spPr>
          <a:xfrm>
            <a:off x="9662893" y="5385816"/>
            <a:ext cx="1794538"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55" name="Rectangle 54"/>
          <p:cNvSpPr/>
          <p:nvPr/>
        </p:nvSpPr>
        <p:spPr>
          <a:xfrm>
            <a:off x="566928" y="566013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571500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02  REPASO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QUEDÓ DEL JUEVES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04</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modo de operación importa más que el algoritmo</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AES-256 en ECB deja ver el escudo; el mismo AES-256 en CBC no deja ver nada.</a:t>
            </a:r>
          </a:p>
        </p:txBody>
      </p:sp>
      <p:sp>
        <p:nvSpPr>
          <p:cNvPr id="12" name="TextBox 11"/>
          <p:cNvSpPr txBox="1"/>
          <p:nvPr/>
        </p:nvSpPr>
        <p:spPr>
          <a:xfrm>
            <a:off x="566928" y="231343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3172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Cifrar no es proteger</a:t>
            </a:r>
          </a:p>
        </p:txBody>
      </p:sp>
      <p:sp>
        <p:nvSpPr>
          <p:cNvPr id="14" name="TextBox 13"/>
          <p:cNvSpPr txBox="1"/>
          <p:nvPr/>
        </p:nvSpPr>
        <p:spPr>
          <a:xfrm>
            <a:off x="1280160" y="25694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Confidencialidad sin integridad permite manipulación controlada. Por eso GCM es la respuesta por defecto.</a:t>
            </a:r>
          </a:p>
        </p:txBody>
      </p:sp>
      <p:sp>
        <p:nvSpPr>
          <p:cNvPr id="15" name="TextBox 14"/>
          <p:cNvSpPr txBox="1"/>
          <p:nvPr/>
        </p:nvSpPr>
        <p:spPr>
          <a:xfrm>
            <a:off x="566928" y="302666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4495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cifrado de disco protege un solo escenario</a:t>
            </a:r>
          </a:p>
        </p:txBody>
      </p:sp>
      <p:sp>
        <p:nvSpPr>
          <p:cNvPr id="17" name="TextBox 16"/>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servidor apagado. Encendido, los once que consultan la base lo ven todo en claro.</a:t>
            </a:r>
          </a:p>
        </p:txBody>
      </p:sp>
      <p:sp>
        <p:nvSpPr>
          <p:cNvPr id="18" name="TextBox 17"/>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Tres preguntas bastan para auditar</a:t>
            </a:r>
          </a:p>
        </p:txBody>
      </p:sp>
      <p:sp>
        <p:nvSpPr>
          <p:cNvPr id="20" name="TextBox 19"/>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Qué algoritmo, qué modo, de dónde sale el vector.</a:t>
            </a:r>
          </a:p>
        </p:txBody>
      </p:sp>
      <p:sp>
        <p:nvSpPr>
          <p:cNvPr id="21" name="Rectangle 20"/>
          <p:cNvSpPr/>
          <p:nvPr/>
        </p:nvSpPr>
        <p:spPr>
          <a:xfrm>
            <a:off x="566928" y="5074920"/>
            <a:ext cx="45720" cy="86868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0932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HOY CAMBIAMOS DE FAMILIA</a:t>
            </a:r>
          </a:p>
        </p:txBody>
      </p:sp>
      <p:sp>
        <p:nvSpPr>
          <p:cNvPr id="23" name="TextBox 22"/>
          <p:cNvSpPr txBox="1"/>
          <p:nvPr/>
        </p:nvSpPr>
        <p:spPr>
          <a:xfrm>
            <a:off x="804672" y="5330952"/>
            <a:ext cx="10780776" cy="594359"/>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Todo lo del jueves era sobre </a:t>
            </a:r>
            <a:r>
              <a:rPr sz="1150" b="1">
                <a:solidFill>
                  <a:srgbClr val="2A2A2A"/>
                </a:solidFill>
                <a:latin typeface="Arial"/>
              </a:rPr>
              <a:t>ocultar</a:t>
            </a:r>
            <a:r>
              <a:rPr sz="1150" b="0">
                <a:solidFill>
                  <a:srgbClr val="2A2A2A"/>
                </a:solidFill>
                <a:latin typeface="Arial"/>
              </a:rPr>
              <a:t>. Hoy pasamos a lo contrario: mecanismos que no ocultan nada y cuyo único trabajo es </a:t>
            </a:r>
            <a:r>
              <a:rPr sz="1150" b="1">
                <a:solidFill>
                  <a:srgbClr val="2A2A2A"/>
                </a:solidFill>
                <a:latin typeface="Arial"/>
              </a:rPr>
              <a:t>demostrar</a:t>
            </a:r>
            <a:r>
              <a:rPr sz="1150" b="0">
                <a:solidFill>
                  <a:srgbClr val="2A2A2A"/>
                </a:solidFill>
                <a:latin typeface="Arial"/>
              </a:rPr>
              <a:t> que algo no fue alterado y que viene de quien dice venir.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03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MOSTRÓ LA ENTREGA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Veinte minutos de realimentación colectiva sobre el análisis de datos en reposo y respaldos. Estos son los cuatro puntos donde más equipos tropezaron.</a:t>
            </a:r>
          </a:p>
        </p:txBody>
      </p:sp>
      <p:sp>
        <p:nvSpPr>
          <p:cNvPr id="10" name="Rectangle 9"/>
          <p:cNvSpPr/>
          <p:nvPr/>
        </p:nvSpPr>
        <p:spPr>
          <a:xfrm>
            <a:off x="566928" y="2304287"/>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SE CONFUNDIÓ AMENAZA CON CONTROL</a:t>
            </a:r>
          </a:p>
        </p:txBody>
      </p:sp>
      <p:sp>
        <p:nvSpPr>
          <p:cNvPr id="12" name="TextBox 11"/>
          <p:cNvSpPr txBox="1"/>
          <p:nvPr/>
        </p:nvSpPr>
        <p:spPr>
          <a:xfrm>
            <a:off x="786384" y="2633471"/>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Varios informes listan controles sin decir contra qué amenaza sirven.</a:t>
            </a:r>
          </a:p>
          <a:p>
            <a:pPr algn="l">
              <a:lnSpc>
                <a:spcPct val="128000"/>
              </a:lnSpc>
              <a:spcAft>
                <a:spcPts val="700"/>
              </a:spcAft>
            </a:pPr>
            <a:r>
              <a:rPr sz="1150" b="0">
                <a:solidFill>
                  <a:srgbClr val="000000"/>
                </a:solidFill>
                <a:latin typeface="Arial"/>
              </a:rPr>
              <a:t>La tabla del jueves existe justamente para eso: una fila por amenaza, y en cada una si el control la detiene o no.</a:t>
            </a:r>
          </a:p>
        </p:txBody>
      </p:sp>
      <p:sp>
        <p:nvSpPr>
          <p:cNvPr id="13" name="Rectangle 12"/>
          <p:cNvSpPr/>
          <p:nvPr/>
        </p:nvSpPr>
        <p:spPr>
          <a:xfrm>
            <a:off x="6268212" y="2304287"/>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SE RECOMENDÓ SIN COSTO NI PLAZO</a:t>
            </a:r>
          </a:p>
        </p:txBody>
      </p:sp>
      <p:sp>
        <p:nvSpPr>
          <p:cNvPr id="15" name="TextBox 14"/>
          <p:cNvSpPr txBox="1"/>
          <p:nvPr/>
        </p:nvSpPr>
        <p:spPr>
          <a:xfrm>
            <a:off x="6487668" y="2633471"/>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«Implementar cifrado a nivel de campo» no es una recomendación: es un deseo.</a:t>
            </a:r>
          </a:p>
          <a:p>
            <a:pPr algn="l">
              <a:lnSpc>
                <a:spcPct val="128000"/>
              </a:lnSpc>
              <a:spcAft>
                <a:spcPts val="700"/>
              </a:spcAft>
            </a:pPr>
            <a:r>
              <a:rPr sz="1150" b="0">
                <a:solidFill>
                  <a:srgbClr val="000000"/>
                </a:solidFill>
                <a:latin typeface="Arial"/>
              </a:rPr>
              <a:t>Falta quién lo ejecuta, cuánto tarda y qué dice el contrato del core, que exige cotización para tocar el esquema.</a:t>
            </a:r>
          </a:p>
        </p:txBody>
      </p:sp>
      <p:sp>
        <p:nvSpPr>
          <p:cNvPr id="16" name="Rectangle 15"/>
          <p:cNvSpPr/>
          <p:nvPr/>
        </p:nvSpPr>
        <p:spPr>
          <a:xfrm>
            <a:off x="566928" y="4279392"/>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38912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NO SE MENCIONÓ EL MENSAJERO</a:t>
            </a:r>
          </a:p>
        </p:txBody>
      </p:sp>
      <p:sp>
        <p:nvSpPr>
          <p:cNvPr id="18" name="TextBox 17"/>
          <p:cNvSpPr txBox="1"/>
          <p:nvPr/>
        </p:nvSpPr>
        <p:spPr>
          <a:xfrm>
            <a:off x="786384" y="4608576"/>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disco de respaldo viaja los viernes a Sabaneta con la llave dentro.</a:t>
            </a:r>
          </a:p>
          <a:p>
            <a:pPr algn="l">
              <a:lnSpc>
                <a:spcPct val="128000"/>
              </a:lnSpc>
              <a:spcAft>
                <a:spcPts val="700"/>
              </a:spcAft>
            </a:pPr>
            <a:r>
              <a:rPr sz="1150" b="0">
                <a:solidFill>
                  <a:srgbClr val="000000"/>
                </a:solidFill>
                <a:latin typeface="Arial"/>
              </a:rPr>
              <a:t>Es el escenario más fácil de explicar ante un comité y el que menos apareció.</a:t>
            </a:r>
          </a:p>
        </p:txBody>
      </p:sp>
      <p:sp>
        <p:nvSpPr>
          <p:cNvPr id="19" name="Rectangle 18"/>
          <p:cNvSpPr/>
          <p:nvPr/>
        </p:nvSpPr>
        <p:spPr>
          <a:xfrm>
            <a:off x="6268212" y="4279392"/>
            <a:ext cx="5353812" cy="1700784"/>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7668" y="4389120"/>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SE OLVIDÓ LA DISPONIBILIDAD</a:t>
            </a:r>
          </a:p>
        </p:txBody>
      </p:sp>
      <p:sp>
        <p:nvSpPr>
          <p:cNvPr id="21" name="TextBox 20"/>
          <p:cNvSpPr txBox="1"/>
          <p:nvPr/>
        </p:nvSpPr>
        <p:spPr>
          <a:xfrm>
            <a:off x="6487668" y="4608576"/>
            <a:ext cx="4914900" cy="1243584"/>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Casi nadie evaluó qué pasa si la llave de respaldos se pierde.</a:t>
            </a:r>
          </a:p>
          <a:p>
            <a:pPr algn="l">
              <a:lnSpc>
                <a:spcPct val="128000"/>
              </a:lnSpc>
              <a:spcAft>
                <a:spcPts val="700"/>
              </a:spcAft>
            </a:pPr>
            <a:r>
              <a:rPr sz="1150" b="0">
                <a:solidFill>
                  <a:srgbClr val="000000"/>
                </a:solidFill>
                <a:latin typeface="Arial"/>
              </a:rPr>
              <a:t>Cifrar mal expone el dato; cifrar sin custodia lo destruye. Las dos cosas son hallazgos.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02</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FUNCIONES RESUMEN</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La huella digital de un dato: qué promete y cuáles ya no cumplen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04  CONCEPTO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ES UNA FUNCIÓN RESUMEN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Toma una entrada de cualquier tamaño y produce una salida de tamaño fijo. No es cifrado: no hay llave y no hay vuelta atrás. Su trabajo no es ocultar, es identificar.</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TAMAÑO FIJO, SEA CUAL SEA LA ENTRADA</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«Coopaburrá»                      →  SHA-256  →  8f4a...  (32 bytes)</a:t>
            </a:r>
          </a:p>
          <a:p>
            <a:pPr algn="l">
              <a:lnSpc>
                <a:spcPct val="130000"/>
              </a:lnSpc>
              <a:spcAft>
                <a:spcPts val="0"/>
              </a:spcAft>
            </a:pPr>
            <a:r>
              <a:rPr sz="950" b="0">
                <a:solidFill>
                  <a:srgbClr val="000000"/>
                </a:solidFill>
                <a:latin typeface="Consolas"/>
              </a:rPr>
              <a:t>El documento completo de 14 páginas →  SHA-256  →  3c91...  (32 bytes)</a:t>
            </a:r>
          </a:p>
          <a:p>
            <a:pPr algn="l">
              <a:lnSpc>
                <a:spcPct val="130000"/>
              </a:lnSpc>
              <a:spcAft>
                <a:spcPts val="0"/>
              </a:spcAft>
            </a:pPr>
            <a:r>
              <a:rPr sz="950" b="0">
                <a:solidFill>
                  <a:srgbClr val="000000"/>
                </a:solidFill>
                <a:latin typeface="Consolas"/>
              </a:rPr>
              <a:t>2,3 TB de base de datos            →  SHA-256  →  b70e...  (32 bytes)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Siempre 32 bytes. Siempre el mismo resultado para la misma entrada.</a:t>
            </a:r>
          </a:p>
        </p:txBody>
      </p:sp>
      <p:sp>
        <p:nvSpPr>
          <p:cNvPr id="13" name="TextBox 12"/>
          <p:cNvSpPr txBox="1"/>
          <p:nvPr/>
        </p:nvSpPr>
        <p:spPr>
          <a:xfrm>
            <a:off x="566928"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PARA QUÉ SIRVE</a:t>
            </a:r>
          </a:p>
        </p:txBody>
      </p:sp>
      <p:sp>
        <p:nvSpPr>
          <p:cNvPr id="14" name="TextBox 13"/>
          <p:cNvSpPr txBox="1"/>
          <p:nvPr/>
        </p:nvSpPr>
        <p:spPr>
          <a:xfrm>
            <a:off x="566928" y="4261104"/>
            <a:ext cx="5253228"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Verificar que un archivo no cambió.</a:t>
            </a:r>
          </a:p>
          <a:p>
            <a:pPr algn="l">
              <a:lnSpc>
                <a:spcPct val="128000"/>
              </a:lnSpc>
              <a:spcAft>
                <a:spcPts val="700"/>
              </a:spcAft>
            </a:pPr>
            <a:r>
              <a:rPr sz="1150" b="0">
                <a:solidFill>
                  <a:srgbClr val="000000"/>
                </a:solidFill>
                <a:latin typeface="Arial"/>
              </a:rPr>
              <a:t>Identificar contenido sin revelarlo.</a:t>
            </a:r>
          </a:p>
          <a:p>
            <a:pPr algn="l">
              <a:lnSpc>
                <a:spcPct val="128000"/>
              </a:lnSpc>
              <a:spcAft>
                <a:spcPts val="700"/>
              </a:spcAft>
            </a:pPr>
            <a:r>
              <a:rPr sz="1150" b="0">
                <a:solidFill>
                  <a:srgbClr val="000000"/>
                </a:solidFill>
                <a:latin typeface="Arial"/>
              </a:rPr>
              <a:t>Construir estructuras de integridad encadenadas, como los registros que Coopaburrá no tiene.</a:t>
            </a:r>
          </a:p>
        </p:txBody>
      </p:sp>
      <p:sp>
        <p:nvSpPr>
          <p:cNvPr id="15" name="TextBox 14"/>
          <p:cNvSpPr txBox="1"/>
          <p:nvPr/>
        </p:nvSpPr>
        <p:spPr>
          <a:xfrm>
            <a:off x="6368796"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PARA QUÉ NO SIRVE</a:t>
            </a:r>
          </a:p>
        </p:txBody>
      </p:sp>
      <p:sp>
        <p:nvSpPr>
          <p:cNvPr id="16" name="TextBox 15"/>
          <p:cNvSpPr txBox="1"/>
          <p:nvPr/>
        </p:nvSpPr>
        <p:spPr>
          <a:xfrm>
            <a:off x="6368796" y="4261104"/>
            <a:ext cx="5253228"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No es cifrado: no se puede recuperar la entrada a partir del resumen.</a:t>
            </a:r>
          </a:p>
          <a:p>
            <a:pPr algn="l">
              <a:lnSpc>
                <a:spcPct val="128000"/>
              </a:lnSpc>
              <a:spcAft>
                <a:spcPts val="700"/>
              </a:spcAft>
            </a:pPr>
            <a:r>
              <a:rPr sz="1150" b="0">
                <a:solidFill>
                  <a:srgbClr val="000000"/>
                </a:solidFill>
                <a:latin typeface="Arial"/>
              </a:rPr>
              <a:t>No autentica: cualquiera puede recalcularlo, así que no prueba quién lo produjo.</a:t>
            </a:r>
          </a:p>
          <a:p>
            <a:pPr algn="l">
              <a:lnSpc>
                <a:spcPct val="128000"/>
              </a:lnSpc>
              <a:spcAft>
                <a:spcPts val="700"/>
              </a:spcAft>
            </a:pPr>
            <a:r>
              <a:rPr sz="1150" b="0">
                <a:solidFill>
                  <a:srgbClr val="000000"/>
                </a:solidFill>
                <a:latin typeface="Arial"/>
              </a:rPr>
              <a:t>Y por sí sola no protege contraseñas, como vamos a ver en el segundo bloque.</a:t>
            </a:r>
          </a:p>
        </p:txBody>
      </p:sp>
      <p:sp>
        <p:nvSpPr>
          <p:cNvPr id="17" name="Rectangle 16"/>
          <p:cNvSpPr/>
          <p:nvPr/>
        </p:nvSpPr>
        <p:spPr>
          <a:xfrm>
            <a:off x="6085332" y="3986784"/>
            <a:ext cx="9144" cy="1600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05  PROPIEDADES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LAS TRES PROMESAS QUE DEBE CUMPLIR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08</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278343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PROPIEDAD</a:t>
            </a:r>
          </a:p>
        </p:txBody>
      </p:sp>
      <p:sp>
        <p:nvSpPr>
          <p:cNvPr id="11" name="TextBox 10"/>
          <p:cNvSpPr txBox="1"/>
          <p:nvPr/>
        </p:nvSpPr>
        <p:spPr>
          <a:xfrm>
            <a:off x="3514953" y="1673352"/>
            <a:ext cx="407319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SIGNIFICA</a:t>
            </a:r>
          </a:p>
        </p:txBody>
      </p:sp>
      <p:sp>
        <p:nvSpPr>
          <p:cNvPr id="12" name="TextBox 11"/>
          <p:cNvSpPr txBox="1"/>
          <p:nvPr/>
        </p:nvSpPr>
        <p:spPr>
          <a:xfrm>
            <a:off x="7752740" y="1673352"/>
            <a:ext cx="37046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SI SE ROMPE…</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2783433"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Resistencia a preimagen</a:t>
            </a:r>
          </a:p>
        </p:txBody>
      </p:sp>
      <p:sp>
        <p:nvSpPr>
          <p:cNvPr id="15" name="TextBox 14"/>
          <p:cNvSpPr txBox="1"/>
          <p:nvPr/>
        </p:nvSpPr>
        <p:spPr>
          <a:xfrm>
            <a:off x="3514953" y="2075688"/>
            <a:ext cx="4073194"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Dado un resumen, no se puede encontrar una entrada que lo produzca</a:t>
            </a:r>
          </a:p>
        </p:txBody>
      </p:sp>
      <p:sp>
        <p:nvSpPr>
          <p:cNvPr id="16" name="TextBox 15"/>
          <p:cNvSpPr txBox="1"/>
          <p:nvPr/>
        </p:nvSpPr>
        <p:spPr>
          <a:xfrm>
            <a:off x="7752740" y="2075688"/>
            <a:ext cx="3704691"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podría deducir el contenido a partir de la huella</a:t>
            </a:r>
          </a:p>
        </p:txBody>
      </p:sp>
      <p:sp>
        <p:nvSpPr>
          <p:cNvPr id="17" name="Rectangle 16"/>
          <p:cNvSpPr/>
          <p:nvPr/>
        </p:nvSpPr>
        <p:spPr>
          <a:xfrm>
            <a:off x="566928" y="255117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642616"/>
            <a:ext cx="2783433" cy="51206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Resistencia a segunda preimagen</a:t>
            </a:r>
          </a:p>
        </p:txBody>
      </p:sp>
      <p:sp>
        <p:nvSpPr>
          <p:cNvPr id="19" name="TextBox 18"/>
          <p:cNvSpPr txBox="1"/>
          <p:nvPr/>
        </p:nvSpPr>
        <p:spPr>
          <a:xfrm>
            <a:off x="3514953" y="2642616"/>
            <a:ext cx="4073194"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Dado un documento, no se puede fabricar otro con el mismo resumen</a:t>
            </a:r>
          </a:p>
        </p:txBody>
      </p:sp>
      <p:sp>
        <p:nvSpPr>
          <p:cNvPr id="20" name="TextBox 19"/>
          <p:cNvSpPr txBox="1"/>
          <p:nvPr/>
        </p:nvSpPr>
        <p:spPr>
          <a:xfrm>
            <a:off x="7752740" y="2642616"/>
            <a:ext cx="3704691"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podría sustituir un contrato por otro sin que la verificación lo note</a:t>
            </a:r>
          </a:p>
        </p:txBody>
      </p:sp>
      <p:sp>
        <p:nvSpPr>
          <p:cNvPr id="21" name="Rectangle 20"/>
          <p:cNvSpPr/>
          <p:nvPr/>
        </p:nvSpPr>
        <p:spPr>
          <a:xfrm>
            <a:off x="566928" y="311810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209544"/>
            <a:ext cx="2783433" cy="51206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Resistencia a colisión</a:t>
            </a:r>
          </a:p>
        </p:txBody>
      </p:sp>
      <p:sp>
        <p:nvSpPr>
          <p:cNvPr id="23" name="TextBox 22"/>
          <p:cNvSpPr txBox="1"/>
          <p:nvPr/>
        </p:nvSpPr>
        <p:spPr>
          <a:xfrm>
            <a:off x="3514953" y="3209544"/>
            <a:ext cx="4073194"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pueden encontrar dos entradas cualesquiera con el mismo resumen</a:t>
            </a:r>
          </a:p>
        </p:txBody>
      </p:sp>
      <p:sp>
        <p:nvSpPr>
          <p:cNvPr id="24" name="TextBox 23"/>
          <p:cNvSpPr txBox="1"/>
          <p:nvPr/>
        </p:nvSpPr>
        <p:spPr>
          <a:xfrm>
            <a:off x="7752740" y="3209544"/>
            <a:ext cx="3704691" cy="51206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pueden preparar dos documentos con la misma huella y firmar uno para usar el otro</a:t>
            </a:r>
          </a:p>
        </p:txBody>
      </p:sp>
      <p:sp>
        <p:nvSpPr>
          <p:cNvPr id="25" name="Rectangle 24"/>
          <p:cNvSpPr/>
          <p:nvPr/>
        </p:nvSpPr>
        <p:spPr>
          <a:xfrm>
            <a:off x="566928" y="368503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73989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041648"/>
            <a:ext cx="45720" cy="82296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05993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QUE CAE PRIMERO Y LA QUE MÁS DUELE</a:t>
            </a:r>
          </a:p>
        </p:txBody>
      </p:sp>
      <p:sp>
        <p:nvSpPr>
          <p:cNvPr id="29" name="TextBox 28"/>
          <p:cNvSpPr txBox="1"/>
          <p:nvPr/>
        </p:nvSpPr>
        <p:spPr>
          <a:xfrm>
            <a:off x="804672" y="4297680"/>
            <a:ext cx="10780776" cy="54864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resistencia a colisión es la más frágil de las tres porque el atacante elige </a:t>
            </a:r>
            <a:r>
              <a:rPr sz="1150" b="1">
                <a:solidFill>
                  <a:srgbClr val="2A2A2A"/>
                </a:solidFill>
                <a:latin typeface="Arial"/>
              </a:rPr>
              <a:t>las dos</a:t>
            </a:r>
            <a:r>
              <a:rPr sz="1150" b="0">
                <a:solidFill>
                  <a:srgbClr val="2A2A2A"/>
                </a:solidFill>
                <a:latin typeface="Arial"/>
              </a:rPr>
              <a:t> entradas. Es la que se rompió en MD5 y en SHA-1, y es la que importa para firma digital: si puedo fabricar dos contratos con la misma huella, la firma sobre uno vale para el otro.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06  MATEMÁTICA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POR QUÉ 256 BITS Y NO 128</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Encontrar una colisión no exige probar todas las salidas posibles: basta con la raíz cuadrada de ese número. Es la llamada paradoja del cumpleaños, y reduce a la mitad los bits de seguridad.</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67792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FUNCIÓN</a:t>
            </a:r>
          </a:p>
        </p:txBody>
      </p:sp>
      <p:sp>
        <p:nvSpPr>
          <p:cNvPr id="12" name="TextBox 11"/>
          <p:cNvSpPr txBox="1"/>
          <p:nvPr/>
        </p:nvSpPr>
        <p:spPr>
          <a:xfrm>
            <a:off x="2409444" y="2423159"/>
            <a:ext cx="204642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TAMAÑO DEL RESUMEN</a:t>
            </a:r>
          </a:p>
        </p:txBody>
      </p:sp>
      <p:sp>
        <p:nvSpPr>
          <p:cNvPr id="13" name="TextBox 12"/>
          <p:cNvSpPr txBox="1"/>
          <p:nvPr/>
        </p:nvSpPr>
        <p:spPr>
          <a:xfrm>
            <a:off x="4620463"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ESFUERZO PARA UNA COLISIÓN</a:t>
            </a:r>
          </a:p>
        </p:txBody>
      </p:sp>
      <p:sp>
        <p:nvSpPr>
          <p:cNvPr id="14" name="TextBox 13"/>
          <p:cNvSpPr txBox="1"/>
          <p:nvPr/>
        </p:nvSpPr>
        <p:spPr>
          <a:xfrm>
            <a:off x="7936992" y="2423159"/>
            <a:ext cx="35204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ESTADO</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677924"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MD5</a:t>
            </a:r>
          </a:p>
        </p:txBody>
      </p:sp>
      <p:sp>
        <p:nvSpPr>
          <p:cNvPr id="17" name="TextBox 16"/>
          <p:cNvSpPr txBox="1"/>
          <p:nvPr/>
        </p:nvSpPr>
        <p:spPr>
          <a:xfrm>
            <a:off x="2409444" y="2825495"/>
            <a:ext cx="2046427"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128 bits</a:t>
            </a:r>
          </a:p>
        </p:txBody>
      </p:sp>
      <p:sp>
        <p:nvSpPr>
          <p:cNvPr id="18" name="TextBox 17"/>
          <p:cNvSpPr txBox="1"/>
          <p:nvPr/>
        </p:nvSpPr>
        <p:spPr>
          <a:xfrm>
            <a:off x="4620463" y="2825495"/>
            <a:ext cx="3151936"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 teoría 2⁶⁴; en la práctica, segundos</a:t>
            </a:r>
          </a:p>
        </p:txBody>
      </p:sp>
      <p:sp>
        <p:nvSpPr>
          <p:cNvPr id="19" name="TextBox 18"/>
          <p:cNvSpPr txBox="1"/>
          <p:nvPr/>
        </p:nvSpPr>
        <p:spPr>
          <a:xfrm>
            <a:off x="7936992" y="2825495"/>
            <a:ext cx="3520440"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Roto. No usar bajo ninguna circunstancia</a:t>
            </a:r>
          </a:p>
        </p:txBody>
      </p:sp>
      <p:sp>
        <p:nvSpPr>
          <p:cNvPr id="20" name="Rectangle 19"/>
          <p:cNvSpPr/>
          <p:nvPr/>
        </p:nvSpPr>
        <p:spPr>
          <a:xfrm>
            <a:off x="566928" y="32095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00983"/>
            <a:ext cx="167792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SHA-1</a:t>
            </a:r>
          </a:p>
        </p:txBody>
      </p:sp>
      <p:sp>
        <p:nvSpPr>
          <p:cNvPr id="22" name="TextBox 21"/>
          <p:cNvSpPr txBox="1"/>
          <p:nvPr/>
        </p:nvSpPr>
        <p:spPr>
          <a:xfrm>
            <a:off x="2409444" y="3300983"/>
            <a:ext cx="204642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160 bits</a:t>
            </a:r>
          </a:p>
        </p:txBody>
      </p:sp>
      <p:sp>
        <p:nvSpPr>
          <p:cNvPr id="23" name="TextBox 22"/>
          <p:cNvSpPr txBox="1"/>
          <p:nvPr/>
        </p:nvSpPr>
        <p:spPr>
          <a:xfrm>
            <a:off x="4620463" y="3300983"/>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 teoría 2⁸⁰; demostrado en la práctica en 2017</a:t>
            </a:r>
          </a:p>
        </p:txBody>
      </p:sp>
      <p:sp>
        <p:nvSpPr>
          <p:cNvPr id="24" name="TextBox 23"/>
          <p:cNvSpPr txBox="1"/>
          <p:nvPr/>
        </p:nvSpPr>
        <p:spPr>
          <a:xfrm>
            <a:off x="7936992" y="3300983"/>
            <a:ext cx="35204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Roto. Retirado de todos los usos de seguridad</a:t>
            </a:r>
          </a:p>
        </p:txBody>
      </p:sp>
      <p:sp>
        <p:nvSpPr>
          <p:cNvPr id="25" name="Rectangle 24"/>
          <p:cNvSpPr/>
          <p:nvPr/>
        </p:nvSpPr>
        <p:spPr>
          <a:xfrm>
            <a:off x="566928" y="374940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840845"/>
            <a:ext cx="1677924"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SHA-256</a:t>
            </a:r>
          </a:p>
        </p:txBody>
      </p:sp>
      <p:sp>
        <p:nvSpPr>
          <p:cNvPr id="27" name="TextBox 26"/>
          <p:cNvSpPr txBox="1"/>
          <p:nvPr/>
        </p:nvSpPr>
        <p:spPr>
          <a:xfrm>
            <a:off x="2409444" y="3840845"/>
            <a:ext cx="2046427"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256 bits</a:t>
            </a:r>
          </a:p>
        </p:txBody>
      </p:sp>
      <p:sp>
        <p:nvSpPr>
          <p:cNvPr id="28" name="TextBox 27"/>
          <p:cNvSpPr txBox="1"/>
          <p:nvPr/>
        </p:nvSpPr>
        <p:spPr>
          <a:xfrm>
            <a:off x="4620463" y="3840845"/>
            <a:ext cx="3151936"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2¹²⁸, fuera de alcance</a:t>
            </a:r>
          </a:p>
        </p:txBody>
      </p:sp>
      <p:sp>
        <p:nvSpPr>
          <p:cNvPr id="29" name="TextBox 28"/>
          <p:cNvSpPr txBox="1"/>
          <p:nvPr/>
        </p:nvSpPr>
        <p:spPr>
          <a:xfrm>
            <a:off x="7936992" y="3840845"/>
            <a:ext cx="3520440"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Vigente. Es la opción por defecto</a:t>
            </a:r>
          </a:p>
        </p:txBody>
      </p:sp>
      <p:sp>
        <p:nvSpPr>
          <p:cNvPr id="30" name="Rectangle 29"/>
          <p:cNvSpPr/>
          <p:nvPr/>
        </p:nvSpPr>
        <p:spPr>
          <a:xfrm>
            <a:off x="566928" y="422489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16333"/>
            <a:ext cx="1677924"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SHA-3 / SHA-512</a:t>
            </a:r>
          </a:p>
        </p:txBody>
      </p:sp>
      <p:sp>
        <p:nvSpPr>
          <p:cNvPr id="32" name="TextBox 31"/>
          <p:cNvSpPr txBox="1"/>
          <p:nvPr/>
        </p:nvSpPr>
        <p:spPr>
          <a:xfrm>
            <a:off x="2409444" y="4316333"/>
            <a:ext cx="2046427"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256 a 512 bits</a:t>
            </a:r>
          </a:p>
        </p:txBody>
      </p:sp>
      <p:sp>
        <p:nvSpPr>
          <p:cNvPr id="33" name="TextBox 32"/>
          <p:cNvSpPr txBox="1"/>
          <p:nvPr/>
        </p:nvSpPr>
        <p:spPr>
          <a:xfrm>
            <a:off x="4620463" y="4316333"/>
            <a:ext cx="3151936"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2¹²⁸ o más</a:t>
            </a:r>
          </a:p>
        </p:txBody>
      </p:sp>
      <p:sp>
        <p:nvSpPr>
          <p:cNvPr id="34" name="TextBox 33"/>
          <p:cNvSpPr txBox="1"/>
          <p:nvPr/>
        </p:nvSpPr>
        <p:spPr>
          <a:xfrm>
            <a:off x="7936992" y="4316333"/>
            <a:ext cx="3520440"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Vigentes. Diseño interno distinto al de SHA-2</a:t>
            </a:r>
          </a:p>
        </p:txBody>
      </p:sp>
      <p:sp>
        <p:nvSpPr>
          <p:cNvPr id="35" name="Rectangle 34"/>
          <p:cNvSpPr/>
          <p:nvPr/>
        </p:nvSpPr>
        <p:spPr>
          <a:xfrm>
            <a:off x="566928" y="47003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75524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056997"/>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07528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REGLA PRÁCTICA</a:t>
            </a:r>
          </a:p>
        </p:txBody>
      </p:sp>
      <p:sp>
        <p:nvSpPr>
          <p:cNvPr id="39" name="TextBox 38"/>
          <p:cNvSpPr txBox="1"/>
          <p:nvPr/>
        </p:nvSpPr>
        <p:spPr>
          <a:xfrm>
            <a:off x="804672" y="5313029"/>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resumen de </a:t>
            </a:r>
            <a:r>
              <a:rPr sz="1150" b="1">
                <a:solidFill>
                  <a:srgbClr val="2A2A2A"/>
                </a:solidFill>
                <a:latin typeface="Arial"/>
              </a:rPr>
              <a:t>n</a:t>
            </a:r>
            <a:r>
              <a:rPr sz="1150" b="0">
                <a:solidFill>
                  <a:srgbClr val="2A2A2A"/>
                </a:solidFill>
                <a:latin typeface="Arial"/>
              </a:rPr>
              <a:t> bits ofrece </a:t>
            </a:r>
            <a:r>
              <a:rPr sz="1150" b="1">
                <a:solidFill>
                  <a:srgbClr val="2A2A2A"/>
                </a:solidFill>
                <a:latin typeface="Arial"/>
              </a:rPr>
              <a:t>n/2</a:t>
            </a:r>
            <a:r>
              <a:rPr sz="1150" b="0">
                <a:solidFill>
                  <a:srgbClr val="2A2A2A"/>
                </a:solidFill>
                <a:latin typeface="Arial"/>
              </a:rPr>
              <a:t> bits de seguridad frente a colisiones. Por eso 128 bits de resumen ya no bastan y 256 es el mínimo razonable hoy.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07  HISTORIA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MURIERON MD5 Y SHA-1</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10</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116201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AÑO</a:t>
            </a:r>
          </a:p>
        </p:txBody>
      </p:sp>
      <p:sp>
        <p:nvSpPr>
          <p:cNvPr id="11" name="TextBox 10"/>
          <p:cNvSpPr txBox="1"/>
          <p:nvPr/>
        </p:nvSpPr>
        <p:spPr>
          <a:xfrm>
            <a:off x="1893539" y="1673352"/>
            <a:ext cx="956389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PASÓ</a:t>
            </a:r>
          </a:p>
        </p:txBody>
      </p:sp>
      <p:sp>
        <p:nvSpPr>
          <p:cNvPr id="12" name="Rectangle 11"/>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75688"/>
            <a:ext cx="116201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2004</a:t>
            </a:r>
          </a:p>
        </p:txBody>
      </p:sp>
      <p:sp>
        <p:nvSpPr>
          <p:cNvPr id="14" name="TextBox 13"/>
          <p:cNvSpPr txBox="1"/>
          <p:nvPr/>
        </p:nvSpPr>
        <p:spPr>
          <a:xfrm>
            <a:off x="1893539" y="2075688"/>
            <a:ext cx="9563892"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publica el primer método práctico para producir colisiones en MD5. La comunidad recomienda abandonarlo.</a:t>
            </a:r>
          </a:p>
        </p:txBody>
      </p:sp>
      <p:sp>
        <p:nvSpPr>
          <p:cNvPr id="15" name="Rectangle 14"/>
          <p:cNvSpPr/>
          <p:nvPr/>
        </p:nvSpPr>
        <p:spPr>
          <a:xfrm>
            <a:off x="566928" y="242316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14600"/>
            <a:ext cx="116201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2008</a:t>
            </a:r>
          </a:p>
        </p:txBody>
      </p:sp>
      <p:sp>
        <p:nvSpPr>
          <p:cNvPr id="17" name="TextBox 16"/>
          <p:cNvSpPr txBox="1"/>
          <p:nvPr/>
        </p:nvSpPr>
        <p:spPr>
          <a:xfrm>
            <a:off x="1893539" y="2514600"/>
            <a:ext cx="956389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equipo demuestra que con colisiones de MD5 se puede fabricar un certificado de autoridad certificadora falso, aceptado por los navegadores.</a:t>
            </a:r>
          </a:p>
        </p:txBody>
      </p:sp>
      <p:sp>
        <p:nvSpPr>
          <p:cNvPr id="18" name="Rectangle 17"/>
          <p:cNvSpPr/>
          <p:nvPr/>
        </p:nvSpPr>
        <p:spPr>
          <a:xfrm>
            <a:off x="566928" y="296302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54461"/>
            <a:ext cx="116201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2012</a:t>
            </a:r>
          </a:p>
        </p:txBody>
      </p:sp>
      <p:sp>
        <p:nvSpPr>
          <p:cNvPr id="20" name="TextBox 19"/>
          <p:cNvSpPr txBox="1"/>
          <p:nvPr/>
        </p:nvSpPr>
        <p:spPr>
          <a:xfrm>
            <a:off x="1893539" y="3054461"/>
            <a:ext cx="956389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programa malicioso de alto perfil usa una colisión de MD5 para hacerse pasar por software firmado por un fabricante legítimo. Deja de ser un ejercicio académico.</a:t>
            </a:r>
          </a:p>
        </p:txBody>
      </p:sp>
      <p:sp>
        <p:nvSpPr>
          <p:cNvPr id="21" name="Rectangle 20"/>
          <p:cNvSpPr/>
          <p:nvPr/>
        </p:nvSpPr>
        <p:spPr>
          <a:xfrm>
            <a:off x="566928" y="35028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594323"/>
            <a:ext cx="116201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2017</a:t>
            </a:r>
          </a:p>
        </p:txBody>
      </p:sp>
      <p:sp>
        <p:nvSpPr>
          <p:cNvPr id="23" name="TextBox 22"/>
          <p:cNvSpPr txBox="1"/>
          <p:nvPr/>
        </p:nvSpPr>
        <p:spPr>
          <a:xfrm>
            <a:off x="1893539" y="3594323"/>
            <a:ext cx="9563892"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publica la primera colisión práctica de SHA-1: dos documentos PDF distintos con el mismo resumen. El cálculo fue costoso pero real.</a:t>
            </a:r>
          </a:p>
        </p:txBody>
      </p:sp>
      <p:sp>
        <p:nvSpPr>
          <p:cNvPr id="24" name="Rectangle 23"/>
          <p:cNvSpPr/>
          <p:nvPr/>
        </p:nvSpPr>
        <p:spPr>
          <a:xfrm>
            <a:off x="566928" y="39417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033235"/>
            <a:ext cx="116201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2020</a:t>
            </a:r>
          </a:p>
        </p:txBody>
      </p:sp>
      <p:sp>
        <p:nvSpPr>
          <p:cNvPr id="26" name="TextBox 25"/>
          <p:cNvSpPr txBox="1"/>
          <p:nvPr/>
        </p:nvSpPr>
        <p:spPr>
          <a:xfrm>
            <a:off x="1893539" y="4033235"/>
            <a:ext cx="9563892"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logra una colisión con prefijo elegido en SHA-1, mucho más peligrosa, y a un costo al alcance de un atacante con recursos moderados.</a:t>
            </a:r>
          </a:p>
        </p:txBody>
      </p:sp>
      <p:sp>
        <p:nvSpPr>
          <p:cNvPr id="27" name="Rectangle 26"/>
          <p:cNvSpPr/>
          <p:nvPr/>
        </p:nvSpPr>
        <p:spPr>
          <a:xfrm>
            <a:off x="566928" y="438070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472147"/>
            <a:ext cx="116201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Hoy</a:t>
            </a:r>
          </a:p>
        </p:txBody>
      </p:sp>
      <p:sp>
        <p:nvSpPr>
          <p:cNvPr id="29" name="TextBox 28"/>
          <p:cNvSpPr txBox="1"/>
          <p:nvPr/>
        </p:nvSpPr>
        <p:spPr>
          <a:xfrm>
            <a:off x="1893539" y="4472147"/>
            <a:ext cx="9563892"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Ambas siguen apareciendo en sistemas heredados. Coopaburrá guarda las contraseñas de sus 142.000 asociados con SHA-1.</a:t>
            </a:r>
          </a:p>
        </p:txBody>
      </p:sp>
      <p:sp>
        <p:nvSpPr>
          <p:cNvPr id="30" name="Rectangle 29"/>
          <p:cNvSpPr/>
          <p:nvPr/>
        </p:nvSpPr>
        <p:spPr>
          <a:xfrm>
            <a:off x="566928" y="481961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87448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08  DEMOSTRACIÓN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EFECTO AVALANCHA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Cambiar un solo carácter de la entrada cambia aproximadamente la mitad de los bits de salida. No hay parecido parcial: dos entradas casi iguales producen resúmenes sin ninguna relación visible.</a:t>
            </a:r>
          </a:p>
        </p:txBody>
      </p:sp>
      <p:sp>
        <p:nvSpPr>
          <p:cNvPr id="10" name="Rectangle 9"/>
          <p:cNvSpPr/>
          <p:nvPr/>
        </p:nvSpPr>
        <p:spPr>
          <a:xfrm>
            <a:off x="566928" y="2304287"/>
            <a:ext cx="11055096" cy="12179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DEMOSTRACIÓN EN VIVO</a:t>
            </a:r>
          </a:p>
        </p:txBody>
      </p:sp>
      <p:sp>
        <p:nvSpPr>
          <p:cNvPr id="12" name="TextBox 11"/>
          <p:cNvSpPr txBox="1"/>
          <p:nvPr/>
        </p:nvSpPr>
        <p:spPr>
          <a:xfrm>
            <a:off x="768096" y="2633471"/>
            <a:ext cx="10652760" cy="7973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echo -n "Coopaburra"  | openssl dgst -sha256</a:t>
            </a:r>
          </a:p>
          <a:p>
            <a:pPr algn="l">
              <a:lnSpc>
                <a:spcPct val="130000"/>
              </a:lnSpc>
              <a:spcAft>
                <a:spcPts val="0"/>
              </a:spcAft>
            </a:pPr>
            <a:r>
              <a:rPr sz="950" b="0">
                <a:solidFill>
                  <a:srgbClr val="000000"/>
                </a:solidFill>
                <a:latin typeface="Consolas"/>
              </a:rPr>
              <a:t>echo -n "Coopaburrá"  | openssl dgst -sha256      # una sola tilde de diferencia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Las dos salidas no se parecen en nada. No existe «casi igual» en un resumen.</a:t>
            </a:r>
          </a:p>
        </p:txBody>
      </p:sp>
      <p:sp>
        <p:nvSpPr>
          <p:cNvPr id="13" name="Rectangle 12"/>
          <p:cNvSpPr/>
          <p:nvPr/>
        </p:nvSpPr>
        <p:spPr>
          <a:xfrm>
            <a:off x="566928" y="3778300"/>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7965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IMPORTA ESTA PROPIEDAD</a:t>
            </a:r>
          </a:p>
        </p:txBody>
      </p:sp>
      <p:sp>
        <p:nvSpPr>
          <p:cNvPr id="15" name="TextBox 14"/>
          <p:cNvSpPr txBox="1"/>
          <p:nvPr/>
        </p:nvSpPr>
        <p:spPr>
          <a:xfrm>
            <a:off x="804672" y="4034332"/>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Es lo que permite usar un resumen para detectar alteraciones: no hace falta comparar el documento entero, basta comparar 32 bytes. Y si alguien cambió una coma, se nota igual que si hubiera cambiado el archivo completo.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09  USO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PARA QUÉ SIRVE Y PARA QUÉ NO SIRVE UN RESUMEN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Una función resumen es una herramienta de propósito general, y por eso se usa mal con frecuencia. Conviene tener la lista a mano al revisar cualquier diseño.</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USOS LEGÍTIMOS</a:t>
            </a:r>
          </a:p>
        </p:txBody>
      </p:sp>
      <p:sp>
        <p:nvSpPr>
          <p:cNvPr id="11" name="TextBox 10"/>
          <p:cNvSpPr txBox="1"/>
          <p:nvPr/>
        </p:nvSpPr>
        <p:spPr>
          <a:xfrm>
            <a:off x="566928"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Verificar que un archivo descargado es exactamente el publicado.</a:t>
            </a:r>
          </a:p>
          <a:p>
            <a:pPr algn="l">
              <a:lnSpc>
                <a:spcPct val="128000"/>
              </a:lnSpc>
              <a:spcAft>
                <a:spcPts val="700"/>
              </a:spcAft>
            </a:pPr>
            <a:r>
              <a:rPr sz="1150" b="0">
                <a:solidFill>
                  <a:srgbClr val="000000"/>
                </a:solidFill>
                <a:latin typeface="Arial"/>
              </a:rPr>
              <a:t>Detectar cambios en un expediente o en un registro.</a:t>
            </a:r>
          </a:p>
          <a:p>
            <a:pPr algn="l">
              <a:lnSpc>
                <a:spcPct val="128000"/>
              </a:lnSpc>
              <a:spcAft>
                <a:spcPts val="700"/>
              </a:spcAft>
            </a:pPr>
            <a:r>
              <a:rPr sz="1150" b="0">
                <a:solidFill>
                  <a:srgbClr val="000000"/>
                </a:solidFill>
                <a:latin typeface="Arial"/>
              </a:rPr>
              <a:t>Identificar un contenido sin compararlo completo: deduplicación, control de versiones.</a:t>
            </a:r>
          </a:p>
          <a:p>
            <a:pPr algn="l">
              <a:lnSpc>
                <a:spcPct val="128000"/>
              </a:lnSpc>
              <a:spcAft>
                <a:spcPts val="700"/>
              </a:spcAft>
            </a:pPr>
            <a:r>
              <a:rPr sz="1150" b="0">
                <a:solidFill>
                  <a:srgbClr val="000000"/>
                </a:solidFill>
                <a:latin typeface="Arial"/>
              </a:rPr>
              <a:t>Construir cadenas y árboles que protegen la integridad de conjuntos enteros de datos.</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USOS INDEBIDOS</a:t>
            </a:r>
          </a:p>
        </p:txBody>
      </p:sp>
      <p:sp>
        <p:nvSpPr>
          <p:cNvPr id="13" name="TextBox 12"/>
          <p:cNvSpPr txBox="1"/>
          <p:nvPr/>
        </p:nvSpPr>
        <p:spPr>
          <a:xfrm>
            <a:off x="6368796"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Guardar contraseñas sin función de derivación: el hallazgo H1.</a:t>
            </a:r>
          </a:p>
          <a:p>
            <a:pPr algn="l">
              <a:lnSpc>
                <a:spcPct val="128000"/>
              </a:lnSpc>
              <a:spcAft>
                <a:spcPts val="700"/>
              </a:spcAft>
            </a:pPr>
            <a:r>
              <a:rPr sz="1150" b="0">
                <a:solidFill>
                  <a:srgbClr val="000000"/>
                </a:solidFill>
                <a:latin typeface="Arial"/>
              </a:rPr>
              <a:t>Autenticar sin llave: cualquiera puede recalcular el resumen.</a:t>
            </a:r>
          </a:p>
          <a:p>
            <a:pPr algn="l">
              <a:lnSpc>
                <a:spcPct val="128000"/>
              </a:lnSpc>
              <a:spcAft>
                <a:spcPts val="700"/>
              </a:spcAft>
            </a:pPr>
            <a:r>
              <a:rPr sz="1150" b="1">
                <a:solidFill>
                  <a:srgbClr val="000000"/>
                </a:solidFill>
                <a:latin typeface="Arial"/>
              </a:rPr>
              <a:t>«Anonimizar» cédulas resumiéndolas.</a:t>
            </a:r>
            <a:r>
              <a:rPr sz="1150" b="0">
                <a:solidFill>
                  <a:srgbClr val="000000"/>
                </a:solidFill>
                <a:latin typeface="Arial"/>
              </a:rPr>
              <a:t> Hay menos de diez mil millones de cédulas posibles: se calculan todas en segundos y el resumen se revierte por simple búsqueda.</a:t>
            </a:r>
          </a:p>
        </p:txBody>
      </p:sp>
      <p:sp>
        <p:nvSpPr>
          <p:cNvPr id="14" name="Rectangle 13"/>
          <p:cNvSpPr/>
          <p:nvPr/>
        </p:nvSpPr>
        <p:spPr>
          <a:xfrm>
            <a:off x="6085332" y="2304287"/>
            <a:ext cx="9144" cy="2103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663440"/>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6817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ÚLTIMO ES UN HALLAZGO FRECUENTE EN COLOMBIA</a:t>
            </a:r>
          </a:p>
        </p:txBody>
      </p:sp>
      <p:sp>
        <p:nvSpPr>
          <p:cNvPr id="17" name="TextBox 16"/>
          <p:cNvSpPr txBox="1"/>
          <p:nvPr/>
        </p:nvSpPr>
        <p:spPr>
          <a:xfrm>
            <a:off x="804672" y="4919472"/>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Bases «anonimizadas» para analítica o para terceros con la cédula resumida. Frente a la Ley 1581 ese dato sigue siendo personal, porque se puede volver a identificar. </a:t>
            </a:r>
            <a:r>
              <a:rPr sz="1150" b="1">
                <a:solidFill>
                  <a:srgbClr val="2A2A2A"/>
                </a:solidFill>
                <a:latin typeface="Arial"/>
              </a:rPr>
              <a:t>Resumir un dato de espacio pequeño no lo anonimiza: lo disfraza.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10  DETALLE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CÓMO SE CONSTRUYE UNA FUNCIÓN RESUMEN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hace falta implementarla, pero sí conocer la forma, porque explica un ataque que casi nadie conoce y que justifica por qué el HMAC existe.</a:t>
            </a:r>
          </a:p>
        </p:txBody>
      </p:sp>
      <p:sp>
        <p:nvSpPr>
          <p:cNvPr id="10" name="Rectangle 9"/>
          <p:cNvSpPr/>
          <p:nvPr/>
        </p:nvSpPr>
        <p:spPr>
          <a:xfrm>
            <a:off x="566928" y="2304287"/>
            <a:ext cx="11055096" cy="142646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CONSTRUCCIÓN ENCADENADA · MD5, SHA-1 Y SHA-2</a:t>
            </a:r>
          </a:p>
        </p:txBody>
      </p:sp>
      <p:sp>
        <p:nvSpPr>
          <p:cNvPr id="12" name="TextBox 11"/>
          <p:cNvSpPr txBox="1"/>
          <p:nvPr/>
        </p:nvSpPr>
        <p:spPr>
          <a:xfrm>
            <a:off x="768096" y="2633471"/>
            <a:ext cx="10652760" cy="100584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El mensaje se parte en bloques y se procesa uno tras otro: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estado inicial → [bloque 1] → estado → [bloque 2] → estado → … → resumen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El resumen final NO es otra cosa que el estado interno al terminar.</a:t>
            </a:r>
          </a:p>
        </p:txBody>
      </p:sp>
      <p:sp>
        <p:nvSpPr>
          <p:cNvPr id="13" name="TextBox 12"/>
          <p:cNvSpPr txBox="1"/>
          <p:nvPr/>
        </p:nvSpPr>
        <p:spPr>
          <a:xfrm>
            <a:off x="566928"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CONSECUENCIA INCÓMODA</a:t>
            </a:r>
          </a:p>
        </p:txBody>
      </p:sp>
      <p:sp>
        <p:nvSpPr>
          <p:cNvPr id="14" name="TextBox 13"/>
          <p:cNvSpPr txBox="1"/>
          <p:nvPr/>
        </p:nvSpPr>
        <p:spPr>
          <a:xfrm>
            <a:off x="566928" y="4261104"/>
            <a:ext cx="5253228" cy="14173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Si el resumen es el estado interno, quien lo conoce puede continuar el cálculo desde ahí.</a:t>
            </a:r>
          </a:p>
          <a:p>
            <a:pPr algn="l">
              <a:lnSpc>
                <a:spcPct val="128000"/>
              </a:lnSpc>
              <a:spcAft>
                <a:spcPts val="700"/>
              </a:spcAft>
            </a:pPr>
            <a:r>
              <a:rPr sz="1150" b="0">
                <a:solidFill>
                  <a:srgbClr val="000000"/>
                </a:solidFill>
                <a:latin typeface="Arial"/>
              </a:rPr>
              <a:t>Puede añadir contenido al final del mensaje y producir el resumen correcto del mensaje ampliado, sin conocer el principio.</a:t>
            </a:r>
          </a:p>
        </p:txBody>
      </p:sp>
      <p:sp>
        <p:nvSpPr>
          <p:cNvPr id="15" name="TextBox 14"/>
          <p:cNvSpPr txBox="1"/>
          <p:nvPr/>
        </p:nvSpPr>
        <p:spPr>
          <a:xfrm>
            <a:off x="6368796" y="3986784"/>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SE LLAMA Y A QUIÉN AFECTA</a:t>
            </a:r>
          </a:p>
        </p:txBody>
      </p:sp>
      <p:sp>
        <p:nvSpPr>
          <p:cNvPr id="16" name="TextBox 15"/>
          <p:cNvSpPr txBox="1"/>
          <p:nvPr/>
        </p:nvSpPr>
        <p:spPr>
          <a:xfrm>
            <a:off x="6368796" y="4261104"/>
            <a:ext cx="5253228" cy="141732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Se llama ataque de extensión de longitud.</a:t>
            </a:r>
          </a:p>
          <a:p>
            <a:pPr algn="l">
              <a:lnSpc>
                <a:spcPct val="128000"/>
              </a:lnSpc>
              <a:spcAft>
                <a:spcPts val="700"/>
              </a:spcAft>
            </a:pPr>
            <a:r>
              <a:rPr sz="1150" b="0">
                <a:solidFill>
                  <a:srgbClr val="000000"/>
                </a:solidFill>
                <a:latin typeface="Arial"/>
              </a:rPr>
              <a:t>Afecta a MD5, SHA-1 y SHA-2 por su construcción encadenada.</a:t>
            </a:r>
          </a:p>
          <a:p>
            <a:pPr algn="l">
              <a:lnSpc>
                <a:spcPct val="128000"/>
              </a:lnSpc>
              <a:spcAft>
                <a:spcPts val="700"/>
              </a:spcAft>
            </a:pPr>
            <a:r>
              <a:rPr sz="1150" b="0">
                <a:solidFill>
                  <a:srgbClr val="000000"/>
                </a:solidFill>
                <a:latin typeface="Arial"/>
              </a:rPr>
              <a:t>SHA-3 usa un diseño distinto, de esponja, y es inmune por construcción.</a:t>
            </a:r>
          </a:p>
        </p:txBody>
      </p:sp>
      <p:sp>
        <p:nvSpPr>
          <p:cNvPr id="17" name="Rectangle 16"/>
          <p:cNvSpPr/>
          <p:nvPr/>
        </p:nvSpPr>
        <p:spPr>
          <a:xfrm>
            <a:off x="6085332" y="3986784"/>
            <a:ext cx="9144" cy="1691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11  FAMILIAS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SHA-2 Y SHA-3: DOS DISEÑOS PARA LA MISMA PROMESA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SHA-3 no reemplaza a SHA-2: es una alternativa con un diseño interno completamente distinto, escogida en un concurso público en 2012 precisamente para no depender de una sola construcción.</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a:t>
            </a:r>
          </a:p>
        </p:txBody>
      </p:sp>
      <p:sp>
        <p:nvSpPr>
          <p:cNvPr id="12" name="TextBox 11"/>
          <p:cNvSpPr txBox="1"/>
          <p:nvPr/>
        </p:nvSpPr>
        <p:spPr>
          <a:xfrm>
            <a:off x="3662354"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SHA-2</a:t>
            </a:r>
          </a:p>
        </p:txBody>
      </p:sp>
      <p:sp>
        <p:nvSpPr>
          <p:cNvPr id="13" name="TextBox 12"/>
          <p:cNvSpPr txBox="1"/>
          <p:nvPr/>
        </p:nvSpPr>
        <p:spPr>
          <a:xfrm>
            <a:off x="7642189"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SHA-3</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930834"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Construcción</a:t>
            </a:r>
          </a:p>
        </p:txBody>
      </p:sp>
      <p:sp>
        <p:nvSpPr>
          <p:cNvPr id="16" name="TextBox 15"/>
          <p:cNvSpPr txBox="1"/>
          <p:nvPr/>
        </p:nvSpPr>
        <p:spPr>
          <a:xfrm>
            <a:off x="3662354" y="2825495"/>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Encadenada: bloque tras bloque, como MD5 y SHA-1</a:t>
            </a:r>
          </a:p>
        </p:txBody>
      </p:sp>
      <p:sp>
        <p:nvSpPr>
          <p:cNvPr id="17" name="TextBox 16"/>
          <p:cNvSpPr txBox="1"/>
          <p:nvPr/>
        </p:nvSpPr>
        <p:spPr>
          <a:xfrm>
            <a:off x="7642189" y="2825495"/>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Esponja: absorbe el mensaje y luego exprime la salida</a:t>
            </a:r>
          </a:p>
        </p:txBody>
      </p:sp>
      <p:sp>
        <p:nvSpPr>
          <p:cNvPr id="18" name="Rectangle 17"/>
          <p:cNvSpPr/>
          <p:nvPr/>
        </p:nvSpPr>
        <p:spPr>
          <a:xfrm>
            <a:off x="566928" y="31546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46119"/>
            <a:ext cx="2930834"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Extensión de longitud</a:t>
            </a:r>
          </a:p>
        </p:txBody>
      </p:sp>
      <p:sp>
        <p:nvSpPr>
          <p:cNvPr id="20" name="TextBox 19"/>
          <p:cNvSpPr txBox="1"/>
          <p:nvPr/>
        </p:nvSpPr>
        <p:spPr>
          <a:xfrm>
            <a:off x="3662354" y="3246119"/>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Vulnerable, por construcción</a:t>
            </a:r>
          </a:p>
        </p:txBody>
      </p:sp>
      <p:sp>
        <p:nvSpPr>
          <p:cNvPr id="21" name="TextBox 20"/>
          <p:cNvSpPr txBox="1"/>
          <p:nvPr/>
        </p:nvSpPr>
        <p:spPr>
          <a:xfrm>
            <a:off x="7642189" y="3246119"/>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Inmune, por construcción</a:t>
            </a:r>
          </a:p>
        </p:txBody>
      </p:sp>
      <p:sp>
        <p:nvSpPr>
          <p:cNvPr id="22" name="Rectangle 21"/>
          <p:cNvSpPr/>
          <p:nvPr/>
        </p:nvSpPr>
        <p:spPr>
          <a:xfrm>
            <a:off x="566928" y="35753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6743"/>
            <a:ext cx="2930834"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Rendimiento en software</a:t>
            </a:r>
          </a:p>
        </p:txBody>
      </p:sp>
      <p:sp>
        <p:nvSpPr>
          <p:cNvPr id="24" name="TextBox 23"/>
          <p:cNvSpPr txBox="1"/>
          <p:nvPr/>
        </p:nvSpPr>
        <p:spPr>
          <a:xfrm>
            <a:off x="3662354" y="3666743"/>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Muy alto, con aceleración en los procesadores modernos</a:t>
            </a:r>
          </a:p>
        </p:txBody>
      </p:sp>
      <p:sp>
        <p:nvSpPr>
          <p:cNvPr id="25" name="TextBox 24"/>
          <p:cNvSpPr txBox="1"/>
          <p:nvPr/>
        </p:nvSpPr>
        <p:spPr>
          <a:xfrm>
            <a:off x="7642189" y="3666743"/>
            <a:ext cx="3815242"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Algo menor en software; muy eficiente en hardware</a:t>
            </a:r>
          </a:p>
        </p:txBody>
      </p:sp>
      <p:sp>
        <p:nvSpPr>
          <p:cNvPr id="26" name="Rectangle 25"/>
          <p:cNvSpPr/>
          <p:nvPr/>
        </p:nvSpPr>
        <p:spPr>
          <a:xfrm>
            <a:off x="566928" y="39959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87367"/>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Salida de longitud variable</a:t>
            </a:r>
          </a:p>
        </p:txBody>
      </p:sp>
      <p:sp>
        <p:nvSpPr>
          <p:cNvPr id="28" name="TextBox 27"/>
          <p:cNvSpPr txBox="1"/>
          <p:nvPr/>
        </p:nvSpPr>
        <p:spPr>
          <a:xfrm>
            <a:off x="3662354" y="4087367"/>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a:t>
            </a:r>
          </a:p>
        </p:txBody>
      </p:sp>
      <p:sp>
        <p:nvSpPr>
          <p:cNvPr id="29" name="TextBox 28"/>
          <p:cNvSpPr txBox="1"/>
          <p:nvPr/>
        </p:nvSpPr>
        <p:spPr>
          <a:xfrm>
            <a:off x="7642189" y="4087367"/>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 SHAKE128 y SHAKE256 entregan tantos bits como se pidan</a:t>
            </a:r>
          </a:p>
        </p:txBody>
      </p:sp>
      <p:sp>
        <p:nvSpPr>
          <p:cNvPr id="30" name="Rectangle 29"/>
          <p:cNvSpPr/>
          <p:nvPr/>
        </p:nvSpPr>
        <p:spPr>
          <a:xfrm>
            <a:off x="566928" y="45357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27229"/>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Uso recomendado</a:t>
            </a:r>
          </a:p>
        </p:txBody>
      </p:sp>
      <p:sp>
        <p:nvSpPr>
          <p:cNvPr id="32" name="TextBox 31"/>
          <p:cNvSpPr txBox="1"/>
          <p:nvPr/>
        </p:nvSpPr>
        <p:spPr>
          <a:xfrm>
            <a:off x="3662354" y="4627229"/>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opción por defecto hoy</a:t>
            </a:r>
          </a:p>
        </p:txBody>
      </p:sp>
      <p:sp>
        <p:nvSpPr>
          <p:cNvPr id="33" name="TextBox 32"/>
          <p:cNvSpPr txBox="1"/>
          <p:nvPr/>
        </p:nvSpPr>
        <p:spPr>
          <a:xfrm>
            <a:off x="7642189" y="4627229"/>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Diversificación, y pieza interna de los estándares post-cuánticos</a:t>
            </a:r>
          </a:p>
        </p:txBody>
      </p:sp>
      <p:sp>
        <p:nvSpPr>
          <p:cNvPr id="34" name="Rectangle 33"/>
          <p:cNvSpPr/>
          <p:nvPr/>
        </p:nvSpPr>
        <p:spPr>
          <a:xfrm>
            <a:off x="566928" y="50756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513051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432267"/>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450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PARA EL INVENTARIO</a:t>
            </a:r>
          </a:p>
        </p:txBody>
      </p:sp>
      <p:sp>
        <p:nvSpPr>
          <p:cNvPr id="38" name="TextBox 37"/>
          <p:cNvSpPr txBox="1"/>
          <p:nvPr/>
        </p:nvSpPr>
        <p:spPr>
          <a:xfrm>
            <a:off x="804672" y="5688299"/>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SHA-256 es la respuesta correcta en la gran mayoría de los casos. </a:t>
            </a:r>
            <a:r>
              <a:rPr sz="1150" b="1">
                <a:solidFill>
                  <a:srgbClr val="2A2A2A"/>
                </a:solidFill>
                <a:latin typeface="Arial"/>
              </a:rPr>
              <a:t>El hallazgo no es usar SHA-2 en lugar de SHA-3: es usar SHA-2 pegando una llave al mensaje</a:t>
            </a:r>
            <a:r>
              <a:rPr sz="1150" b="0">
                <a:solidFill>
                  <a:srgbClr val="2A2A2A"/>
                </a:solidFill>
                <a:latin typeface="Arial"/>
              </a:rPr>
              <a:t>, que es el error de la diapositiva siguiente.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12  CONSECUENCIA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POR QUÉ HMAC NO ES SIMPLEMENTE RESUMEN DE LLAVE Y MENSAJE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forma intuitiva de meter un secreto en un resumen es pegarlo delante del mensaje. Es intuitiva y es insegura, precisamente por el ataque de extensión de longitud.</a:t>
            </a:r>
          </a:p>
        </p:txBody>
      </p:sp>
      <p:sp>
        <p:nvSpPr>
          <p:cNvPr id="10" name="Rectangle 9"/>
          <p:cNvSpPr/>
          <p:nvPr/>
        </p:nvSpPr>
        <p:spPr>
          <a:xfrm>
            <a:off x="566928" y="2304287"/>
            <a:ext cx="11055096" cy="163494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RAZÓN DE LA CONSTRUCCIÓN ANIDADA</a:t>
            </a:r>
          </a:p>
        </p:txBody>
      </p:sp>
      <p:sp>
        <p:nvSpPr>
          <p:cNvPr id="12" name="TextBox 11"/>
          <p:cNvSpPr txBox="1"/>
          <p:nvPr/>
        </p:nvSpPr>
        <p:spPr>
          <a:xfrm>
            <a:off x="768096" y="2633471"/>
            <a:ext cx="10652760" cy="121432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Ingenuo :  resumen( llave ‖ mensaje )</a:t>
            </a:r>
          </a:p>
          <a:p>
            <a:pPr algn="l">
              <a:lnSpc>
                <a:spcPct val="130000"/>
              </a:lnSpc>
              <a:spcAft>
                <a:spcPts val="0"/>
              </a:spcAft>
            </a:pPr>
            <a:r>
              <a:rPr sz="950" b="0">
                <a:solidFill>
                  <a:srgbClr val="000000"/>
                </a:solidFill>
                <a:latin typeface="Consolas"/>
              </a:rPr>
              <a:t>           un atacante que vea ese valor puede añadir texto al mensaje</a:t>
            </a:r>
          </a:p>
          <a:p>
            <a:pPr algn="l">
              <a:lnSpc>
                <a:spcPct val="130000"/>
              </a:lnSpc>
              <a:spcAft>
                <a:spcPts val="0"/>
              </a:spcAft>
            </a:pPr>
            <a:r>
              <a:rPr sz="950" b="0">
                <a:solidFill>
                  <a:srgbClr val="000000"/>
                </a:solidFill>
                <a:latin typeface="Consolas"/>
              </a:rPr>
              <a:t>           y calcular el resumen correcto del resultado, sin saber la llave.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HMAC    :  resumen( llave⊕relleno_externo ‖ resumen( llave⊕relleno_interno ‖ mensaje ) )</a:t>
            </a:r>
          </a:p>
          <a:p>
            <a:pPr algn="l">
              <a:lnSpc>
                <a:spcPct val="130000"/>
              </a:lnSpc>
              <a:spcAft>
                <a:spcPts val="0"/>
              </a:spcAft>
            </a:pPr>
            <a:r>
              <a:rPr sz="950" b="0">
                <a:solidFill>
                  <a:srgbClr val="000000"/>
                </a:solidFill>
                <a:latin typeface="Consolas"/>
              </a:rPr>
              <a:t>           dos pasadas anidadas: el estado interno nunca queda expuesto.</a:t>
            </a:r>
          </a:p>
        </p:txBody>
      </p:sp>
      <p:sp>
        <p:nvSpPr>
          <p:cNvPr id="13" name="Rectangle 12"/>
          <p:cNvSpPr/>
          <p:nvPr/>
        </p:nvSpPr>
        <p:spPr>
          <a:xfrm>
            <a:off x="566928" y="4195267"/>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213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LECCIÓN GENERAL</a:t>
            </a:r>
          </a:p>
        </p:txBody>
      </p:sp>
      <p:sp>
        <p:nvSpPr>
          <p:cNvPr id="15" name="TextBox 14"/>
          <p:cNvSpPr txBox="1"/>
          <p:nvPr/>
        </p:nvSpPr>
        <p:spPr>
          <a:xfrm>
            <a:off x="804672" y="4451299"/>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HMAC no es una ocurrencia: es una construcción diseñada y demostrada para resistir un ataque concreto. </a:t>
            </a:r>
            <a:r>
              <a:rPr sz="1150" b="1">
                <a:solidFill>
                  <a:srgbClr val="2A2A2A"/>
                </a:solidFill>
                <a:latin typeface="Arial"/>
              </a:rPr>
              <a:t>Cuando alguien arma su propio esquema de autenticación pegando la llave al mensaje, casi siempre está reinventando la versión insegura.</a:t>
            </a:r>
            <a:r>
              <a:rPr sz="1150" b="0">
                <a:solidFill>
                  <a:srgbClr val="2A2A2A"/>
                </a:solidFill>
                <a:latin typeface="Arial"/>
              </a:rPr>
              <a:t> Es la regla del martes de la sesión 1 aplicada aquí.</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13  DETALLE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COMPARAR TAMBIÉN TIENE QUE HACERSE BIEN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16</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detalle de implementación que arruina un HMAC correcto: cómo se comparan los dos valores al verificar.</a:t>
            </a:r>
          </a:p>
        </p:txBody>
      </p:sp>
      <p:sp>
        <p:nvSpPr>
          <p:cNvPr id="10" name="TextBox 9"/>
          <p:cNvSpPr txBox="1"/>
          <p:nvPr/>
        </p:nvSpPr>
        <p:spPr>
          <a:xfrm>
            <a:off x="566928"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COMPARACIÓN INGENUA</a:t>
            </a:r>
          </a:p>
        </p:txBody>
      </p:sp>
      <p:sp>
        <p:nvSpPr>
          <p:cNvPr id="11" name="TextBox 10"/>
          <p:cNvSpPr txBox="1"/>
          <p:nvPr/>
        </p:nvSpPr>
        <p:spPr>
          <a:xfrm>
            <a:off x="566928" y="2340863"/>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comparación normal de cadenas se detiene en el primer byte que no coincide.</a:t>
            </a:r>
          </a:p>
          <a:p>
            <a:pPr algn="l">
              <a:lnSpc>
                <a:spcPct val="128000"/>
              </a:lnSpc>
              <a:spcAft>
                <a:spcPts val="700"/>
              </a:spcAft>
            </a:pPr>
            <a:r>
              <a:rPr sz="1150" b="0">
                <a:solidFill>
                  <a:srgbClr val="000000"/>
                </a:solidFill>
                <a:latin typeface="Arial"/>
              </a:rPr>
              <a:t>Eso significa que tarda un poquito más cuando los primeros bytes son correctos.</a:t>
            </a:r>
          </a:p>
          <a:p>
            <a:pPr algn="l">
              <a:lnSpc>
                <a:spcPct val="128000"/>
              </a:lnSpc>
              <a:spcAft>
                <a:spcPts val="700"/>
              </a:spcAft>
            </a:pPr>
            <a:r>
              <a:rPr sz="1150" b="0">
                <a:solidFill>
                  <a:srgbClr val="000000"/>
                </a:solidFill>
                <a:latin typeface="Arial"/>
              </a:rPr>
              <a:t>Un atacante que mida esos tiempos puede ir descubriendo el valor byte por byte.</a:t>
            </a:r>
          </a:p>
        </p:txBody>
      </p:sp>
      <p:sp>
        <p:nvSpPr>
          <p:cNvPr id="12" name="TextBox 11"/>
          <p:cNvSpPr txBox="1"/>
          <p:nvPr/>
        </p:nvSpPr>
        <p:spPr>
          <a:xfrm>
            <a:off x="6368796" y="2066543"/>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COMPARACIÓN EN TIEMPO CONSTANTE</a:t>
            </a:r>
          </a:p>
        </p:txBody>
      </p:sp>
      <p:sp>
        <p:nvSpPr>
          <p:cNvPr id="13" name="TextBox 12"/>
          <p:cNvSpPr txBox="1"/>
          <p:nvPr/>
        </p:nvSpPr>
        <p:spPr>
          <a:xfrm>
            <a:off x="6368796" y="2340863"/>
            <a:ext cx="5253228" cy="16001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Recorre siempre los dos valores completos y acumula las diferencias.</a:t>
            </a:r>
          </a:p>
          <a:p>
            <a:pPr algn="l">
              <a:lnSpc>
                <a:spcPct val="128000"/>
              </a:lnSpc>
              <a:spcAft>
                <a:spcPts val="700"/>
              </a:spcAft>
            </a:pPr>
            <a:r>
              <a:rPr sz="1150" b="0">
                <a:solidFill>
                  <a:srgbClr val="000000"/>
                </a:solidFill>
                <a:latin typeface="Arial"/>
              </a:rPr>
              <a:t>Tarda lo mismo coincida o no, así que no filtra información.</a:t>
            </a:r>
          </a:p>
          <a:p>
            <a:pPr algn="l">
              <a:lnSpc>
                <a:spcPct val="128000"/>
              </a:lnSpc>
              <a:spcAft>
                <a:spcPts val="700"/>
              </a:spcAft>
            </a:pPr>
            <a:r>
              <a:rPr sz="1150" b="0">
                <a:solidFill>
                  <a:srgbClr val="000000"/>
                </a:solidFill>
                <a:latin typeface="Arial"/>
              </a:rPr>
              <a:t>Todas las bibliotecas serias traen una función para esto. Usarla es gratis; no usarla es un hallazgo.</a:t>
            </a:r>
          </a:p>
        </p:txBody>
      </p:sp>
      <p:sp>
        <p:nvSpPr>
          <p:cNvPr id="14" name="Rectangle 13"/>
          <p:cNvSpPr/>
          <p:nvPr/>
        </p:nvSpPr>
        <p:spPr>
          <a:xfrm>
            <a:off x="6085332" y="2066543"/>
            <a:ext cx="9144" cy="187451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03</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INTEGRIDAD NO ES AUTENTICIDAD</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Por qué un resumen no prueba nada por sí solo, y hasta dónde llega el HMAC</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14  LÍMITE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 RESUMEN NO AUTENTICA NADA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 el malentendido más común del tema. Publicar el resumen de un archivo junto al archivo no prueba que el archivo sea legítimo: solo prueba que coincide consigo mismo.</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RAZONAMIENTO EQUIVOCADO</a:t>
            </a:r>
          </a:p>
        </p:txBody>
      </p:sp>
      <p:sp>
        <p:nvSpPr>
          <p:cNvPr id="11" name="TextBox 10"/>
          <p:cNvSpPr txBox="1"/>
          <p:nvPr/>
        </p:nvSpPr>
        <p:spPr>
          <a:xfrm>
            <a:off x="566928" y="2578607"/>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«Publico el archivo y su resumen. Si alguien lo altera, el resumen no coincide y nos damos cuenta.»</a:t>
            </a:r>
          </a:p>
          <a:p>
            <a:pPr algn="l">
              <a:lnSpc>
                <a:spcPct val="128000"/>
              </a:lnSpc>
              <a:spcAft>
                <a:spcPts val="700"/>
              </a:spcAft>
            </a:pPr>
            <a:r>
              <a:rPr sz="1150" b="0">
                <a:solidFill>
                  <a:srgbClr val="000000"/>
                </a:solidFill>
                <a:latin typeface="Arial"/>
              </a:rPr>
              <a:t>Suena razonable y es falso.</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REALMENTE PASA</a:t>
            </a:r>
          </a:p>
        </p:txBody>
      </p:sp>
      <p:sp>
        <p:nvSpPr>
          <p:cNvPr id="13" name="TextBox 12"/>
          <p:cNvSpPr txBox="1"/>
          <p:nvPr/>
        </p:nvSpPr>
        <p:spPr>
          <a:xfrm>
            <a:off x="6368796" y="2578607"/>
            <a:ext cx="5253228" cy="15087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Quien altera el archivo también recalcula el resumen y publica el nuevo.</a:t>
            </a:r>
          </a:p>
          <a:p>
            <a:pPr algn="l">
              <a:lnSpc>
                <a:spcPct val="128000"/>
              </a:lnSpc>
              <a:spcAft>
                <a:spcPts val="700"/>
              </a:spcAft>
            </a:pPr>
            <a:r>
              <a:rPr sz="1150" b="0">
                <a:solidFill>
                  <a:srgbClr val="000000"/>
                </a:solidFill>
                <a:latin typeface="Arial"/>
              </a:rPr>
              <a:t>La función resumen es pública: cualquiera puede calcularla.</a:t>
            </a:r>
          </a:p>
          <a:p>
            <a:pPr algn="l">
              <a:lnSpc>
                <a:spcPct val="128000"/>
              </a:lnSpc>
              <a:spcAft>
                <a:spcPts val="700"/>
              </a:spcAft>
            </a:pPr>
            <a:r>
              <a:rPr sz="1150" b="0">
                <a:solidFill>
                  <a:srgbClr val="000000"/>
                </a:solidFill>
                <a:latin typeface="Arial"/>
              </a:rPr>
              <a:t>Sin un secreto de por medio, el resumen detecta accidentes —un archivo corrupto, un error de transmisión— pero no detecta a un adversario.</a:t>
            </a:r>
          </a:p>
        </p:txBody>
      </p:sp>
      <p:sp>
        <p:nvSpPr>
          <p:cNvPr id="14" name="Rectangle 13"/>
          <p:cNvSpPr/>
          <p:nvPr/>
        </p:nvSpPr>
        <p:spPr>
          <a:xfrm>
            <a:off x="6085332" y="2304287"/>
            <a:ext cx="9144" cy="17830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343400"/>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3616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DISTINCIÓN QUE HAY QUE FIJAR HOY</a:t>
            </a:r>
          </a:p>
        </p:txBody>
      </p:sp>
      <p:sp>
        <p:nvSpPr>
          <p:cNvPr id="17" name="TextBox 16"/>
          <p:cNvSpPr txBox="1"/>
          <p:nvPr/>
        </p:nvSpPr>
        <p:spPr>
          <a:xfrm>
            <a:off x="804672" y="4599432"/>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resumen da </a:t>
            </a:r>
            <a:r>
              <a:rPr sz="1150" b="1">
                <a:solidFill>
                  <a:srgbClr val="2A2A2A"/>
                </a:solidFill>
                <a:latin typeface="Arial"/>
              </a:rPr>
              <a:t>integridad frente a accidentes</a:t>
            </a:r>
            <a:r>
              <a:rPr sz="1150" b="0">
                <a:solidFill>
                  <a:srgbClr val="2A2A2A"/>
                </a:solidFill>
                <a:latin typeface="Arial"/>
              </a:rPr>
              <a:t>. Para tener integridad frente a un adversario hace falta meter un secreto en la operación, y ahí aparecen dos caminos distintos: el código de autenticación de mensajes y la firma digital.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15  MECANISMO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HMAC: UN RESUMEN CON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Combina el mensaje con una llave secreta antes y después de resumirlo. El resultado solo lo puede calcular —y verificar— quien tenga la llave.</a:t>
            </a:r>
          </a:p>
        </p:txBody>
      </p:sp>
      <p:sp>
        <p:nvSpPr>
          <p:cNvPr id="10" name="Rectangle 9"/>
          <p:cNvSpPr/>
          <p:nvPr/>
        </p:nvSpPr>
        <p:spPr>
          <a:xfrm>
            <a:off x="566928" y="2304287"/>
            <a:ext cx="11055096" cy="163494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DIFERENCIA ESTÁ EN EL SECRETO</a:t>
            </a:r>
          </a:p>
        </p:txBody>
      </p:sp>
      <p:sp>
        <p:nvSpPr>
          <p:cNvPr id="12" name="TextBox 11"/>
          <p:cNvSpPr txBox="1"/>
          <p:nvPr/>
        </p:nvSpPr>
        <p:spPr>
          <a:xfrm>
            <a:off x="768096" y="2633471"/>
            <a:ext cx="10652760" cy="121432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resumen simple :  SHA-256(mensaje)                  → cualquiera lo calcula</a:t>
            </a:r>
          </a:p>
          <a:p>
            <a:pPr algn="l">
              <a:lnSpc>
                <a:spcPct val="130000"/>
              </a:lnSpc>
              <a:spcAft>
                <a:spcPts val="0"/>
              </a:spcAft>
            </a:pPr>
            <a:r>
              <a:rPr sz="950" b="0">
                <a:solidFill>
                  <a:srgbClr val="000000"/>
                </a:solidFill>
                <a:latin typeface="Consolas"/>
              </a:rPr>
              <a:t>HMAC           :  HMAC-SHA256(llave, mensaje)       → solo quien tiene la llave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Quien recibe el mensaje recalcula el HMAC con su copia de la llave</a:t>
            </a:r>
          </a:p>
          <a:p>
            <a:pPr algn="l">
              <a:lnSpc>
                <a:spcPct val="130000"/>
              </a:lnSpc>
              <a:spcAft>
                <a:spcPts val="0"/>
              </a:spcAft>
            </a:pPr>
            <a:r>
              <a:rPr sz="950" b="0">
                <a:solidFill>
                  <a:srgbClr val="000000"/>
                </a:solidFill>
                <a:latin typeface="Consolas"/>
              </a:rPr>
              <a:t>y compara. Si coincide: el mensaje no fue alterado y viene de alguien</a:t>
            </a:r>
          </a:p>
          <a:p>
            <a:pPr algn="l">
              <a:lnSpc>
                <a:spcPct val="130000"/>
              </a:lnSpc>
              <a:spcAft>
                <a:spcPts val="0"/>
              </a:spcAft>
            </a:pPr>
            <a:r>
              <a:rPr sz="950" b="0">
                <a:solidFill>
                  <a:srgbClr val="000000"/>
                </a:solidFill>
                <a:latin typeface="Consolas"/>
              </a:rPr>
              <a:t>que tiene la llave.</a:t>
            </a:r>
          </a:p>
        </p:txBody>
      </p:sp>
      <p:sp>
        <p:nvSpPr>
          <p:cNvPr id="13" name="Rectangle 12"/>
          <p:cNvSpPr/>
          <p:nvPr/>
        </p:nvSpPr>
        <p:spPr>
          <a:xfrm>
            <a:off x="566928" y="4195267"/>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213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FÍJENSE EN LA ÚLTIMA FRASE</a:t>
            </a:r>
          </a:p>
        </p:txBody>
      </p:sp>
      <p:sp>
        <p:nvSpPr>
          <p:cNvPr id="15" name="TextBox 14"/>
          <p:cNvSpPr txBox="1"/>
          <p:nvPr/>
        </p:nvSpPr>
        <p:spPr>
          <a:xfrm>
            <a:off x="804672" y="4451299"/>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«Alguien que tiene la llave». No dice quién. Esa imprecisión, que parece un detalle de redacción, es exactamente el problema de Coopaburrá.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16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HMAC PASO A PASO SOBRE UNA TRANSFERENCIA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Así funciona exactamente el mecanismo del hallazgo H2. Vale la pena seguirlo con una operación concreta, porque el defecto no está en ningún paso: está en quién tiene la llave.</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EL MECANISMO DE H2, OPERACIÓN POR OPERACIÓN</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Mensaje:   origen=4471|destino=9920|monto=2500000|hora=2026-01-14T09:12:05</a:t>
            </a:r>
          </a:p>
          <a:p>
            <a:pPr algn="l">
              <a:lnSpc>
                <a:spcPct val="130000"/>
              </a:lnSpc>
              <a:spcAft>
                <a:spcPts val="0"/>
              </a:spcAft>
            </a:pPr>
            <a:r>
              <a:rPr sz="950" b="0">
                <a:solidFill>
                  <a:srgbClr val="000000"/>
                </a:solidFill>
                <a:latin typeface="Consolas"/>
              </a:rPr>
              <a:t>Llave:     la de la aplicación, igual en todos los teléfonos (evidencia D)</a:t>
            </a:r>
          </a:p>
          <a:p>
            <a:pPr algn="l">
              <a:lnSpc>
                <a:spcPct val="130000"/>
              </a:lnSpc>
              <a:spcAft>
                <a:spcPts val="0"/>
              </a:spcAft>
            </a:pPr>
            <a:r>
              <a:rPr sz="950" b="0">
                <a:solidFill>
                  <a:srgbClr val="000000"/>
                </a:solidFill>
                <a:latin typeface="Consolas"/>
              </a:rPr>
              <a:t>Etiqueta:  HMAC-SHA256(llave, mensaje)  →  64 caracteres hexadecimales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El servidor recibe mensaje y etiqueta, recalcula con la misma llave y compara.</a:t>
            </a:r>
          </a:p>
          <a:p>
            <a:pPr algn="l">
              <a:lnSpc>
                <a:spcPct val="130000"/>
              </a:lnSpc>
              <a:spcAft>
                <a:spcPts val="0"/>
              </a:spcAft>
            </a:pPr>
            <a:r>
              <a:rPr sz="950" b="0">
                <a:solidFill>
                  <a:srgbClr val="000000"/>
                </a:solidFill>
                <a:latin typeface="Consolas"/>
              </a:rPr>
              <a:t>Si coinciden:  el mensaje no cambió  Y  lo produjo alguien que tiene la llave.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«Alguien que tiene la llave» = cualquiera que haya descargado la aplicación.</a:t>
            </a:r>
          </a:p>
        </p:txBody>
      </p:sp>
      <p:sp>
        <p:nvSpPr>
          <p:cNvPr id="13" name="Rectangle 12"/>
          <p:cNvSpPr/>
          <p:nvPr/>
        </p:nvSpPr>
        <p:spPr>
          <a:xfrm>
            <a:off x="566928" y="4612233"/>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DÓNDE ESTÁ EL DEFECTO</a:t>
            </a:r>
          </a:p>
        </p:txBody>
      </p:sp>
      <p:sp>
        <p:nvSpPr>
          <p:cNvPr id="15" name="TextBox 14"/>
          <p:cNvSpPr txBox="1"/>
          <p:nvPr/>
        </p:nvSpPr>
        <p:spPr>
          <a:xfrm>
            <a:off x="804672" y="4868265"/>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Cada paso es correcto: HMAC-SHA256 es un buen mecanismo y la comparación puede hacerse bien. </a:t>
            </a:r>
            <a:r>
              <a:rPr sz="1150" b="1">
                <a:solidFill>
                  <a:srgbClr val="2A2A2A"/>
                </a:solidFill>
                <a:latin typeface="Arial"/>
              </a:rPr>
              <a:t>El defecto es que la llave no identifica a nadie</a:t>
            </a:r>
            <a:r>
              <a:rPr sz="1150" b="0">
                <a:solidFill>
                  <a:srgbClr val="2A2A2A"/>
                </a:solidFill>
                <a:latin typeface="Arial"/>
              </a:rPr>
              <a:t>, porque la tienen 142.000 teléfonos y cualquiera que descompile el paquete. Una etiqueta válida prueba integridad, no autoría.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17  LLAVE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LA LLAVE DE UN HMAC: TAMAÑO, ORIGEN Y PROPÓSITO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HMAC es tan fuerte como su llave. Estas son las cinco preguntas que hay que hacerle a cualquier llave de autenticación, con las respuestas del caso al lado.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PREGUNTA</a:t>
            </a:r>
          </a:p>
        </p:txBody>
      </p:sp>
      <p:sp>
        <p:nvSpPr>
          <p:cNvPr id="12" name="TextBox 11"/>
          <p:cNvSpPr txBox="1"/>
          <p:nvPr/>
        </p:nvSpPr>
        <p:spPr>
          <a:xfrm>
            <a:off x="3220151" y="2423159"/>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CORRECTO</a:t>
            </a:r>
          </a:p>
        </p:txBody>
      </p:sp>
      <p:sp>
        <p:nvSpPr>
          <p:cNvPr id="13" name="TextBox 12"/>
          <p:cNvSpPr txBox="1"/>
          <p:nvPr/>
        </p:nvSpPr>
        <p:spPr>
          <a:xfrm>
            <a:off x="7642189"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 COOPABURRÁ</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488631"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Cuánto debe medir</a:t>
            </a:r>
          </a:p>
        </p:txBody>
      </p:sp>
      <p:sp>
        <p:nvSpPr>
          <p:cNvPr id="16" name="TextBox 15"/>
          <p:cNvSpPr txBox="1"/>
          <p:nvPr/>
        </p:nvSpPr>
        <p:spPr>
          <a:xfrm>
            <a:off x="3220151" y="2825495"/>
            <a:ext cx="4257446"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 menos lo que mide la salida: 32 bytes para HMAC-SHA256</a:t>
            </a:r>
          </a:p>
        </p:txBody>
      </p:sp>
      <p:sp>
        <p:nvSpPr>
          <p:cNvPr id="17" name="TextBox 16"/>
          <p:cNvSpPr txBox="1"/>
          <p:nvPr/>
        </p:nvSpPr>
        <p:spPr>
          <a:xfrm>
            <a:off x="7642189" y="2825495"/>
            <a:ext cx="381524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Veinte caracteres de texto escritos a mano</a:t>
            </a:r>
          </a:p>
        </p:txBody>
      </p:sp>
      <p:sp>
        <p:nvSpPr>
          <p:cNvPr id="18" name="Rectangle 17"/>
          <p:cNvSpPr/>
          <p:nvPr/>
        </p:nvSpPr>
        <p:spPr>
          <a:xfrm>
            <a:off x="566928" y="31363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27831"/>
            <a:ext cx="248863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 dónde sale</a:t>
            </a:r>
          </a:p>
        </p:txBody>
      </p:sp>
      <p:sp>
        <p:nvSpPr>
          <p:cNvPr id="20" name="TextBox 19"/>
          <p:cNvSpPr txBox="1"/>
          <p:nvPr/>
        </p:nvSpPr>
        <p:spPr>
          <a:xfrm>
            <a:off x="3220151" y="3227831"/>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 un generador criptográfico</a:t>
            </a:r>
          </a:p>
        </p:txBody>
      </p:sp>
      <p:sp>
        <p:nvSpPr>
          <p:cNvPr id="21" name="TextBox 20"/>
          <p:cNvSpPr txBox="1"/>
          <p:nvPr/>
        </p:nvSpPr>
        <p:spPr>
          <a:xfrm>
            <a:off x="7642189" y="3227831"/>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 la imaginación de un programador: «Cb4rr4-2023-HMAC-k3y»</a:t>
            </a:r>
          </a:p>
        </p:txBody>
      </p:sp>
      <p:sp>
        <p:nvSpPr>
          <p:cNvPr id="22" name="Rectangle 21"/>
          <p:cNvSpPr/>
          <p:nvPr/>
        </p:nvSpPr>
        <p:spPr>
          <a:xfrm>
            <a:off x="566928" y="367625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67693"/>
            <a:ext cx="2488631"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Quién la tiene</a:t>
            </a:r>
          </a:p>
        </p:txBody>
      </p:sp>
      <p:sp>
        <p:nvSpPr>
          <p:cNvPr id="24" name="TextBox 23"/>
          <p:cNvSpPr txBox="1"/>
          <p:nvPr/>
        </p:nvSpPr>
        <p:spPr>
          <a:xfrm>
            <a:off x="3220151" y="3767693"/>
            <a:ext cx="4257446"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Las dos partes que se autentican, y nadie más</a:t>
            </a:r>
          </a:p>
        </p:txBody>
      </p:sp>
      <p:sp>
        <p:nvSpPr>
          <p:cNvPr id="25" name="TextBox 24"/>
          <p:cNvSpPr txBox="1"/>
          <p:nvPr/>
        </p:nvSpPr>
        <p:spPr>
          <a:xfrm>
            <a:off x="7642189" y="3767693"/>
            <a:ext cx="381524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teléfono con la aplicación instalada</a:t>
            </a:r>
          </a:p>
        </p:txBody>
      </p:sp>
      <p:sp>
        <p:nvSpPr>
          <p:cNvPr id="26" name="Rectangle 25"/>
          <p:cNvSpPr/>
          <p:nvPr/>
        </p:nvSpPr>
        <p:spPr>
          <a:xfrm>
            <a:off x="566928" y="407858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170029"/>
            <a:ext cx="2488631"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Para qué se usa</a:t>
            </a:r>
          </a:p>
        </p:txBody>
      </p:sp>
      <p:sp>
        <p:nvSpPr>
          <p:cNvPr id="28" name="TextBox 27"/>
          <p:cNvSpPr txBox="1"/>
          <p:nvPr/>
        </p:nvSpPr>
        <p:spPr>
          <a:xfrm>
            <a:off x="3220151" y="4170029"/>
            <a:ext cx="4257446"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solo propósito</a:t>
            </a:r>
          </a:p>
        </p:txBody>
      </p:sp>
      <p:sp>
        <p:nvSpPr>
          <p:cNvPr id="29" name="TextBox 28"/>
          <p:cNvSpPr txBox="1"/>
          <p:nvPr/>
        </p:nvSpPr>
        <p:spPr>
          <a:xfrm>
            <a:off x="7642189" y="4170029"/>
            <a:ext cx="381524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Todas las operaciones de todos los usuarios</a:t>
            </a:r>
          </a:p>
        </p:txBody>
      </p:sp>
      <p:sp>
        <p:nvSpPr>
          <p:cNvPr id="30" name="Rectangle 29"/>
          <p:cNvSpPr/>
          <p:nvPr/>
        </p:nvSpPr>
        <p:spPr>
          <a:xfrm>
            <a:off x="566928" y="448092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572365"/>
            <a:ext cx="2488631"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Cada cuánto cambia</a:t>
            </a:r>
          </a:p>
        </p:txBody>
      </p:sp>
      <p:sp>
        <p:nvSpPr>
          <p:cNvPr id="32" name="TextBox 31"/>
          <p:cNvSpPr txBox="1"/>
          <p:nvPr/>
        </p:nvSpPr>
        <p:spPr>
          <a:xfrm>
            <a:off x="3220151" y="4572365"/>
            <a:ext cx="4257446"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Según su periodo criptográfico, que fija la política</a:t>
            </a:r>
          </a:p>
        </p:txBody>
      </p:sp>
      <p:sp>
        <p:nvSpPr>
          <p:cNvPr id="33" name="TextBox 32"/>
          <p:cNvSpPr txBox="1"/>
          <p:nvPr/>
        </p:nvSpPr>
        <p:spPr>
          <a:xfrm>
            <a:off x="7642189" y="4572365"/>
            <a:ext cx="3815242"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Nunca, desde marzo de 2023</a:t>
            </a:r>
          </a:p>
        </p:txBody>
      </p:sp>
      <p:sp>
        <p:nvSpPr>
          <p:cNvPr id="34" name="Rectangle 33"/>
          <p:cNvSpPr/>
          <p:nvPr/>
        </p:nvSpPr>
        <p:spPr>
          <a:xfrm>
            <a:off x="566928" y="488326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93812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239877"/>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25816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VEREDICTO</a:t>
            </a:r>
          </a:p>
        </p:txBody>
      </p:sp>
      <p:sp>
        <p:nvSpPr>
          <p:cNvPr id="38" name="TextBox 37"/>
          <p:cNvSpPr txBox="1"/>
          <p:nvPr/>
        </p:nvSpPr>
        <p:spPr>
          <a:xfrm>
            <a:off x="804672" y="5495909"/>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Cinco de cinco respuestas incorrectas. </a:t>
            </a:r>
            <a:r>
              <a:rPr sz="1150" b="1">
                <a:solidFill>
                  <a:srgbClr val="2A2A2A"/>
                </a:solidFill>
                <a:latin typeface="Arial"/>
              </a:rPr>
              <a:t>Ni una llave perfecta arreglaría H2</a:t>
            </a:r>
            <a:r>
              <a:rPr sz="1150" b="0">
                <a:solidFill>
                  <a:srgbClr val="2A2A2A"/>
                </a:solidFill>
                <a:latin typeface="Arial"/>
              </a:rPr>
              <a:t>, porque el problema de fondo es que es compartida; pero con estas respuestas, además, la llave es mala en sí misma.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18  DERIVACIÓN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DERIVAR MUCHAS LLAVES DE UN SOLO SECRETO: HKDF</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error 4 de la sesión 2 decía: una llave, un propósito. La objeción inmediata es que eso multiplica las llaves que hay que custodiar. HKDF resuelve la objeción.</a:t>
            </a:r>
          </a:p>
        </p:txBody>
      </p:sp>
      <p:sp>
        <p:nvSpPr>
          <p:cNvPr id="10" name="Rectangle 9"/>
          <p:cNvSpPr/>
          <p:nvPr/>
        </p:nvSpPr>
        <p:spPr>
          <a:xfrm>
            <a:off x="566928" y="2304287"/>
            <a:ext cx="11055096" cy="184343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EXTRAER Y EXPANDIR · RFC 5869</a:t>
            </a:r>
          </a:p>
        </p:txBody>
      </p:sp>
      <p:sp>
        <p:nvSpPr>
          <p:cNvPr id="12" name="TextBox 11"/>
          <p:cNvSpPr txBox="1"/>
          <p:nvPr/>
        </p:nvSpPr>
        <p:spPr>
          <a:xfrm>
            <a:off x="768096" y="2633471"/>
            <a:ext cx="10652760" cy="142280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secreto_maestro = 32 bytes de un generador criptográfico     ← el único que se custodia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llave_cifrado   = HKDF(secreto_maestro, info="respaldo/cifrado/2026")</a:t>
            </a:r>
          </a:p>
          <a:p>
            <a:pPr algn="l">
              <a:lnSpc>
                <a:spcPct val="130000"/>
              </a:lnSpc>
              <a:spcAft>
                <a:spcPts val="0"/>
              </a:spcAft>
            </a:pPr>
            <a:r>
              <a:rPr sz="950" b="0">
                <a:solidFill>
                  <a:srgbClr val="000000"/>
                </a:solidFill>
                <a:latin typeface="Consolas"/>
              </a:rPr>
              <a:t>llave_autentic  = HKDF(secreto_maestro, info="respaldo/autenticacion/2026")</a:t>
            </a:r>
          </a:p>
          <a:p>
            <a:pPr algn="l">
              <a:lnSpc>
                <a:spcPct val="130000"/>
              </a:lnSpc>
              <a:spcAft>
                <a:spcPts val="0"/>
              </a:spcAft>
            </a:pPr>
            <a:r>
              <a:rPr sz="950" b="0">
                <a:solidFill>
                  <a:srgbClr val="000000"/>
                </a:solidFill>
                <a:latin typeface="Consolas"/>
              </a:rPr>
              <a:t>llave_indice    = HKDF(secreto_maestro, info="indice-ciego/cedula")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Tres llaves independientes: conocer una no revela las otras ni el secreto maestro.</a:t>
            </a:r>
          </a:p>
        </p:txBody>
      </p:sp>
      <p:sp>
        <p:nvSpPr>
          <p:cNvPr id="13" name="Rectangle 12"/>
          <p:cNvSpPr/>
          <p:nvPr/>
        </p:nvSpPr>
        <p:spPr>
          <a:xfrm>
            <a:off x="566928" y="4403750"/>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42203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DIFERENCIA CON LAS FUNCIONES DE CONTRASEÑA</a:t>
            </a:r>
          </a:p>
        </p:txBody>
      </p:sp>
      <p:sp>
        <p:nvSpPr>
          <p:cNvPr id="15" name="TextBox 14"/>
          <p:cNvSpPr txBox="1"/>
          <p:nvPr/>
        </p:nvSpPr>
        <p:spPr>
          <a:xfrm>
            <a:off x="804672" y="4659782"/>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HKDF supone que la entrada ya tiene entropía alta, y por eso es rápida. </a:t>
            </a:r>
            <a:r>
              <a:rPr sz="1150" b="1">
                <a:solidFill>
                  <a:srgbClr val="2A2A2A"/>
                </a:solidFill>
                <a:latin typeface="Arial"/>
              </a:rPr>
              <a:t>Para contraseñas no sirve</a:t>
            </a:r>
            <a:r>
              <a:rPr sz="1150" b="0">
                <a:solidFill>
                  <a:srgbClr val="2A2A2A"/>
                </a:solidFill>
                <a:latin typeface="Arial"/>
              </a:rPr>
              <a:t>: ahí hace falta una función lenta a propósito, que es el bloque 6. Y es HKDF lo que usa el canal seguro para derivar sus llaves de sesión, en la sesión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19  COMPARACIÓN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HMAC FRENTE A FIRMA DIGITAL</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23</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dos dan integridad y autenticidad. Solo uno da no repudio, y la diferencia está en cuántas partes conocen el secreto.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ASPECTO</a:t>
            </a:r>
          </a:p>
        </p:txBody>
      </p:sp>
      <p:sp>
        <p:nvSpPr>
          <p:cNvPr id="12" name="TextBox 11"/>
          <p:cNvSpPr txBox="1"/>
          <p:nvPr/>
        </p:nvSpPr>
        <p:spPr>
          <a:xfrm>
            <a:off x="2999049" y="2185415"/>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CÓDIGO DE AUTENTICACIÓN (HMAC)</a:t>
            </a:r>
          </a:p>
        </p:txBody>
      </p:sp>
      <p:sp>
        <p:nvSpPr>
          <p:cNvPr id="13" name="TextBox 12"/>
          <p:cNvSpPr txBox="1"/>
          <p:nvPr/>
        </p:nvSpPr>
        <p:spPr>
          <a:xfrm>
            <a:off x="7863291" y="2185415"/>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FIRMA DIGITAL</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Tipo de llave</a:t>
            </a:r>
          </a:p>
        </p:txBody>
      </p:sp>
      <p:sp>
        <p:nvSpPr>
          <p:cNvPr id="16" name="TextBox 15"/>
          <p:cNvSpPr txBox="1"/>
          <p:nvPr/>
        </p:nvSpPr>
        <p:spPr>
          <a:xfrm>
            <a:off x="2999049" y="2587751"/>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sola llave, compartida entre emisor y receptor</a:t>
            </a:r>
          </a:p>
        </p:txBody>
      </p:sp>
      <p:sp>
        <p:nvSpPr>
          <p:cNvPr id="17" name="TextBox 16"/>
          <p:cNvSpPr txBox="1"/>
          <p:nvPr/>
        </p:nvSpPr>
        <p:spPr>
          <a:xfrm>
            <a:off x="7863291" y="2587751"/>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Dos llaves: privada para firmar, pública para verificar</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226752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puede generar</a:t>
            </a:r>
          </a:p>
        </p:txBody>
      </p:sp>
      <p:sp>
        <p:nvSpPr>
          <p:cNvPr id="20" name="TextBox 19"/>
          <p:cNvSpPr txBox="1"/>
          <p:nvPr/>
        </p:nvSpPr>
        <p:spPr>
          <a:xfrm>
            <a:off x="2999049" y="3127613"/>
            <a:ext cx="469965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Cualquiera de las dos partes</a:t>
            </a:r>
          </a:p>
        </p:txBody>
      </p:sp>
      <p:sp>
        <p:nvSpPr>
          <p:cNvPr id="21" name="TextBox 20"/>
          <p:cNvSpPr txBox="1"/>
          <p:nvPr/>
        </p:nvSpPr>
        <p:spPr>
          <a:xfrm>
            <a:off x="7863291" y="3127613"/>
            <a:ext cx="359414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quien tiene la llave privada</a:t>
            </a:r>
          </a:p>
        </p:txBody>
      </p:sp>
      <p:sp>
        <p:nvSpPr>
          <p:cNvPr id="22" name="Rectangle 21"/>
          <p:cNvSpPr/>
          <p:nvPr/>
        </p:nvSpPr>
        <p:spPr>
          <a:xfrm>
            <a:off x="566928" y="347508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66525"/>
            <a:ext cx="226752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Quién puede verificar</a:t>
            </a:r>
          </a:p>
        </p:txBody>
      </p:sp>
      <p:sp>
        <p:nvSpPr>
          <p:cNvPr id="24" name="TextBox 23"/>
          <p:cNvSpPr txBox="1"/>
          <p:nvPr/>
        </p:nvSpPr>
        <p:spPr>
          <a:xfrm>
            <a:off x="2999049" y="3566525"/>
            <a:ext cx="469965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quien tiene la misma llave</a:t>
            </a:r>
          </a:p>
        </p:txBody>
      </p:sp>
      <p:sp>
        <p:nvSpPr>
          <p:cNvPr id="25" name="TextBox 24"/>
          <p:cNvSpPr txBox="1"/>
          <p:nvPr/>
        </p:nvSpPr>
        <p:spPr>
          <a:xfrm>
            <a:off x="7863291" y="3566525"/>
            <a:ext cx="359414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Cualquiera, con la llave pública</a:t>
            </a:r>
          </a:p>
        </p:txBody>
      </p:sp>
      <p:sp>
        <p:nvSpPr>
          <p:cNvPr id="26" name="Rectangle 25"/>
          <p:cNvSpPr/>
          <p:nvPr/>
        </p:nvSpPr>
        <p:spPr>
          <a:xfrm>
            <a:off x="566928" y="39139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05437"/>
            <a:ext cx="2267529" cy="384048"/>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¿Da no repudio?</a:t>
            </a:r>
          </a:p>
        </p:txBody>
      </p:sp>
      <p:sp>
        <p:nvSpPr>
          <p:cNvPr id="28" name="TextBox 27"/>
          <p:cNvSpPr txBox="1"/>
          <p:nvPr/>
        </p:nvSpPr>
        <p:spPr>
          <a:xfrm>
            <a:off x="2999049" y="4005437"/>
            <a:ext cx="4699650" cy="384048"/>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Ambas partes pudieron generarlo</a:t>
            </a:r>
          </a:p>
        </p:txBody>
      </p:sp>
      <p:sp>
        <p:nvSpPr>
          <p:cNvPr id="29" name="TextBox 28"/>
          <p:cNvSpPr txBox="1"/>
          <p:nvPr/>
        </p:nvSpPr>
        <p:spPr>
          <a:xfrm>
            <a:off x="7863291" y="4005437"/>
            <a:ext cx="3594140"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Sí. Solo el titular de la privada pudo</a:t>
            </a:r>
          </a:p>
        </p:txBody>
      </p:sp>
      <p:sp>
        <p:nvSpPr>
          <p:cNvPr id="30" name="Rectangle 29"/>
          <p:cNvSpPr/>
          <p:nvPr/>
        </p:nvSpPr>
        <p:spPr>
          <a:xfrm>
            <a:off x="566928" y="43529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444349"/>
            <a:ext cx="226752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Velocidad</a:t>
            </a:r>
          </a:p>
        </p:txBody>
      </p:sp>
      <p:sp>
        <p:nvSpPr>
          <p:cNvPr id="32" name="TextBox 31"/>
          <p:cNvSpPr txBox="1"/>
          <p:nvPr/>
        </p:nvSpPr>
        <p:spPr>
          <a:xfrm>
            <a:off x="2999049" y="4444349"/>
            <a:ext cx="469965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Muy rápido</a:t>
            </a:r>
          </a:p>
        </p:txBody>
      </p:sp>
      <p:sp>
        <p:nvSpPr>
          <p:cNvPr id="33" name="TextBox 32"/>
          <p:cNvSpPr txBox="1"/>
          <p:nvPr/>
        </p:nvSpPr>
        <p:spPr>
          <a:xfrm>
            <a:off x="7863291" y="4444349"/>
            <a:ext cx="359414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Entre cientos y miles de veces más lento</a:t>
            </a:r>
          </a:p>
        </p:txBody>
      </p:sp>
      <p:sp>
        <p:nvSpPr>
          <p:cNvPr id="34" name="Rectangle 33"/>
          <p:cNvSpPr/>
          <p:nvPr/>
        </p:nvSpPr>
        <p:spPr>
          <a:xfrm>
            <a:off x="566928" y="479182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883261"/>
            <a:ext cx="2267529"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Cuándo se usa</a:t>
            </a:r>
          </a:p>
        </p:txBody>
      </p:sp>
      <p:sp>
        <p:nvSpPr>
          <p:cNvPr id="36" name="TextBox 35"/>
          <p:cNvSpPr txBox="1"/>
          <p:nvPr/>
        </p:nvSpPr>
        <p:spPr>
          <a:xfrm>
            <a:off x="2999049" y="4883261"/>
            <a:ext cx="469965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Integridad entre dos sistemas que ya confían entre sí</a:t>
            </a:r>
          </a:p>
        </p:txBody>
      </p:sp>
      <p:sp>
        <p:nvSpPr>
          <p:cNvPr id="37" name="TextBox 36"/>
          <p:cNvSpPr txBox="1"/>
          <p:nvPr/>
        </p:nvSpPr>
        <p:spPr>
          <a:xfrm>
            <a:off x="7863291" y="4883261"/>
            <a:ext cx="3594140"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Cuando hace falta probar autoría ante un tercero</a:t>
            </a:r>
          </a:p>
        </p:txBody>
      </p:sp>
      <p:sp>
        <p:nvSpPr>
          <p:cNvPr id="38" name="Rectangle 37"/>
          <p:cNvSpPr/>
          <p:nvPr/>
        </p:nvSpPr>
        <p:spPr>
          <a:xfrm>
            <a:off x="566928" y="523073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28559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20  PRÁCTICA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DÓNDE APARECE HMAC SIN QUE NADIE LO NOMBRE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HMAC está en muchos más lugares de los que parece. Reconocerlo permite hacerle a cada uno las mismas cinco preguntas sobre su llave que le hicimos a Coopaburrá.</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a:t>
            </a:r>
          </a:p>
        </p:txBody>
      </p:sp>
      <p:sp>
        <p:nvSpPr>
          <p:cNvPr id="12" name="TextBox 11"/>
          <p:cNvSpPr txBox="1"/>
          <p:nvPr/>
        </p:nvSpPr>
        <p:spPr>
          <a:xfrm>
            <a:off x="4767864" y="2423159"/>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AUTENTICA</a:t>
            </a:r>
          </a:p>
        </p:txBody>
      </p:sp>
      <p:sp>
        <p:nvSpPr>
          <p:cNvPr id="13" name="TextBox 12"/>
          <p:cNvSpPr txBox="1"/>
          <p:nvPr/>
        </p:nvSpPr>
        <p:spPr>
          <a:xfrm>
            <a:off x="8416046" y="2423159"/>
            <a:ext cx="304138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LA PREGUNTA DE AUDITORÍA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Los códigos de seis dígitos de una aplicación autenticadora</a:t>
            </a:r>
          </a:p>
        </p:txBody>
      </p:sp>
      <p:sp>
        <p:nvSpPr>
          <p:cNvPr id="16" name="TextBox 15"/>
          <p:cNvSpPr txBox="1"/>
          <p:nvPr/>
        </p:nvSpPr>
        <p:spPr>
          <a:xfrm>
            <a:off x="4767864" y="2825495"/>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quien ingresa tiene la semilla compartida: el código es un HMAC de la hora</a:t>
            </a:r>
          </a:p>
        </p:txBody>
      </p:sp>
      <p:sp>
        <p:nvSpPr>
          <p:cNvPr id="17" name="TextBox 16"/>
          <p:cNvSpPr txBox="1"/>
          <p:nvPr/>
        </p:nvSpPr>
        <p:spPr>
          <a:xfrm>
            <a:off x="8416046" y="2825495"/>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¿Dónde guarda el servidor las semillas, y cifradas con qué?</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Los tokens de sesión JWT con algoritmo HS256</a:t>
            </a:r>
          </a:p>
        </p:txBody>
      </p:sp>
      <p:sp>
        <p:nvSpPr>
          <p:cNvPr id="20" name="TextBox 19"/>
          <p:cNvSpPr txBox="1"/>
          <p:nvPr/>
        </p:nvSpPr>
        <p:spPr>
          <a:xfrm>
            <a:off x="4767864" y="3365357"/>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el token lo emitió el servidor y nadie lo alteró</a:t>
            </a:r>
          </a:p>
        </p:txBody>
      </p:sp>
      <p:sp>
        <p:nvSpPr>
          <p:cNvPr id="21" name="TextBox 20"/>
          <p:cNvSpPr txBox="1"/>
          <p:nvPr/>
        </p:nvSpPr>
        <p:spPr>
          <a:xfrm>
            <a:off x="8416046" y="3365357"/>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es larga y aleatoria, o una palabra en la configuración?</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Las notificaciones entre sistemas</a:t>
            </a:r>
          </a:p>
        </p:txBody>
      </p:sp>
      <p:sp>
        <p:nvSpPr>
          <p:cNvPr id="24" name="TextBox 23"/>
          <p:cNvSpPr txBox="1"/>
          <p:nvPr/>
        </p:nvSpPr>
        <p:spPr>
          <a:xfrm>
            <a:off x="4767864" y="3905219"/>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la notificación viene realmente del proveedor</a:t>
            </a:r>
          </a:p>
        </p:txBody>
      </p:sp>
      <p:sp>
        <p:nvSpPr>
          <p:cNvPr id="25" name="TextBox 24"/>
          <p:cNvSpPr txBox="1"/>
          <p:nvPr/>
        </p:nvSpPr>
        <p:spPr>
          <a:xfrm>
            <a:off x="8416046" y="3905219"/>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verifica la etiqueta, y en tiempo constante?</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403634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Las cookies de sesión firmadas</a:t>
            </a:r>
          </a:p>
        </p:txBody>
      </p:sp>
      <p:sp>
        <p:nvSpPr>
          <p:cNvPr id="28" name="TextBox 27"/>
          <p:cNvSpPr txBox="1"/>
          <p:nvPr/>
        </p:nvSpPr>
        <p:spPr>
          <a:xfrm>
            <a:off x="4767864" y="4445081"/>
            <a:ext cx="348358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el navegador no modificó el contenido</a:t>
            </a:r>
          </a:p>
        </p:txBody>
      </p:sp>
      <p:sp>
        <p:nvSpPr>
          <p:cNvPr id="29" name="TextBox 28"/>
          <p:cNvSpPr txBox="1"/>
          <p:nvPr/>
        </p:nvSpPr>
        <p:spPr>
          <a:xfrm>
            <a:off x="8416046" y="4445081"/>
            <a:ext cx="304138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pasa si la llave del servidor se filtra?</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50119"/>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684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PUENTE CON LA SESIÓN 4</a:t>
            </a:r>
          </a:p>
        </p:txBody>
      </p:sp>
      <p:sp>
        <p:nvSpPr>
          <p:cNvPr id="34" name="TextBox 33"/>
          <p:cNvSpPr txBox="1"/>
          <p:nvPr/>
        </p:nvSpPr>
        <p:spPr>
          <a:xfrm>
            <a:off x="804672" y="5506151"/>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los tokens JWT la librería lee del propio token qué algoritmo usar. Si acepta «ninguno», cualquiera fabrica tokens válidos. </a:t>
            </a:r>
            <a:r>
              <a:rPr sz="1150" b="1">
                <a:solidFill>
                  <a:srgbClr val="2A2A2A"/>
                </a:solidFill>
                <a:latin typeface="Arial"/>
              </a:rPr>
              <a:t>Es el primero de los cinco errores de firma del jueves</a:t>
            </a:r>
            <a:r>
              <a:rPr sz="1150" b="0">
                <a:solidFill>
                  <a:srgbClr val="2A2A2A"/>
                </a:solidFill>
                <a:latin typeface="Arial"/>
              </a:rPr>
              <a:t>, y aparece en auditorías reales.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21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CORREO DE BITLAB, OTRA VEZ</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25</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Volvamos al documento 2 del expediente con lo que ya sabemos. La frase clave cabe en una línea.</a:t>
            </a:r>
          </a:p>
        </p:txBody>
      </p:sp>
      <p:sp>
        <p:nvSpPr>
          <p:cNvPr id="10" name="Rectangle 9"/>
          <p:cNvSpPr/>
          <p:nvPr/>
        </p:nvSpPr>
        <p:spPr>
          <a:xfrm>
            <a:off x="566928" y="2066543"/>
            <a:ext cx="11055096" cy="80101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57984"/>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DOCUMENTO 2 · CORREO DE BITLAB S.A.S. · 27 DE ENERO DE 2026</a:t>
            </a:r>
          </a:p>
        </p:txBody>
      </p:sp>
      <p:sp>
        <p:nvSpPr>
          <p:cNvPr id="12" name="TextBox 11"/>
          <p:cNvSpPr txBox="1"/>
          <p:nvPr/>
        </p:nvSpPr>
        <p:spPr>
          <a:xfrm>
            <a:off x="768096" y="2395727"/>
            <a:ext cx="10652760" cy="380390"/>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«…el esquema de firma de operaciones utiliza HMAC-SHA256 con una clave</a:t>
            </a:r>
          </a:p>
          <a:p>
            <a:pPr algn="l">
              <a:lnSpc>
                <a:spcPct val="130000"/>
              </a:lnSpc>
              <a:spcAft>
                <a:spcPts val="0"/>
              </a:spcAft>
            </a:pPr>
            <a:r>
              <a:rPr sz="950" b="0">
                <a:solidFill>
                  <a:srgbClr val="000000"/>
                </a:solidFill>
                <a:latin typeface="Consolas"/>
              </a:rPr>
              <a:t> compartida provisionada en tiempo de compilación…»</a:t>
            </a:r>
          </a:p>
        </p:txBody>
      </p:sp>
      <p:sp>
        <p:nvSpPr>
          <p:cNvPr id="13" name="Rectangle 12"/>
          <p:cNvSpPr/>
          <p:nvPr/>
        </p:nvSpPr>
        <p:spPr>
          <a:xfrm>
            <a:off x="566928" y="312359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242462"/>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DICE</a:t>
            </a:r>
          </a:p>
        </p:txBody>
      </p:sp>
      <p:sp>
        <p:nvSpPr>
          <p:cNvPr id="15" name="TextBox 14"/>
          <p:cNvSpPr txBox="1"/>
          <p:nvPr/>
        </p:nvSpPr>
        <p:spPr>
          <a:xfrm>
            <a:off x="4988966" y="3242462"/>
            <a:ext cx="646846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SIGNIFICA TÉCNICAMENTE</a:t>
            </a:r>
          </a:p>
        </p:txBody>
      </p:sp>
      <p:sp>
        <p:nvSpPr>
          <p:cNvPr id="16" name="Rectangle 15"/>
          <p:cNvSpPr/>
          <p:nvPr/>
        </p:nvSpPr>
        <p:spPr>
          <a:xfrm>
            <a:off x="566928" y="353507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644798"/>
            <a:ext cx="4257446"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«HMAC-SHA256»</a:t>
            </a:r>
          </a:p>
        </p:txBody>
      </p:sp>
      <p:sp>
        <p:nvSpPr>
          <p:cNvPr id="18" name="TextBox 17"/>
          <p:cNvSpPr txBox="1"/>
          <p:nvPr/>
        </p:nvSpPr>
        <p:spPr>
          <a:xfrm>
            <a:off x="4988966" y="3644798"/>
            <a:ext cx="6468465"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Mecanismo correcto y vigente. No está roto. Da integridad y autenticidad</a:t>
            </a:r>
          </a:p>
        </p:txBody>
      </p:sp>
      <p:sp>
        <p:nvSpPr>
          <p:cNvPr id="19" name="Rectangle 18"/>
          <p:cNvSpPr/>
          <p:nvPr/>
        </p:nvSpPr>
        <p:spPr>
          <a:xfrm>
            <a:off x="566928" y="402884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4120286"/>
            <a:ext cx="4257446"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«clave compartida»</a:t>
            </a:r>
          </a:p>
        </p:txBody>
      </p:sp>
      <p:sp>
        <p:nvSpPr>
          <p:cNvPr id="21" name="TextBox 20"/>
          <p:cNvSpPr txBox="1"/>
          <p:nvPr/>
        </p:nvSpPr>
        <p:spPr>
          <a:xfrm>
            <a:off x="4988966" y="4120286"/>
            <a:ext cx="6468465"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definición, HMAC no puede dar no repudio: las dos partes pueden generar el mismo código</a:t>
            </a:r>
          </a:p>
        </p:txBody>
      </p:sp>
      <p:sp>
        <p:nvSpPr>
          <p:cNvPr id="22" name="Rectangle 21"/>
          <p:cNvSpPr/>
          <p:nvPr/>
        </p:nvSpPr>
        <p:spPr>
          <a:xfrm>
            <a:off x="566928" y="450433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595774"/>
            <a:ext cx="4257446"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«provisionada en tiempo de compilación»</a:t>
            </a:r>
          </a:p>
        </p:txBody>
      </p:sp>
      <p:sp>
        <p:nvSpPr>
          <p:cNvPr id="24" name="TextBox 23"/>
          <p:cNvSpPr txBox="1"/>
          <p:nvPr/>
        </p:nvSpPr>
        <p:spPr>
          <a:xfrm>
            <a:off x="4988966" y="4595774"/>
            <a:ext cx="6468465"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misma llave para los 142.000 asociados, dentro del paquete que cualquiera descarga</a:t>
            </a:r>
          </a:p>
        </p:txBody>
      </p:sp>
      <p:sp>
        <p:nvSpPr>
          <p:cNvPr id="25" name="Rectangle 24"/>
          <p:cNvSpPr/>
          <p:nvPr/>
        </p:nvSpPr>
        <p:spPr>
          <a:xfrm>
            <a:off x="566928" y="497982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5071262"/>
            <a:ext cx="4257446"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alcance no incluía gestión de llaves»</a:t>
            </a:r>
          </a:p>
        </p:txBody>
      </p:sp>
      <p:sp>
        <p:nvSpPr>
          <p:cNvPr id="27" name="TextBox 26"/>
          <p:cNvSpPr txBox="1"/>
          <p:nvPr/>
        </p:nvSpPr>
        <p:spPr>
          <a:xfrm>
            <a:off x="4988966" y="5071262"/>
            <a:ext cx="6468465"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Nadie era responsable de la pieza de la que dependía todo el esquema</a:t>
            </a:r>
          </a:p>
        </p:txBody>
      </p:sp>
      <p:sp>
        <p:nvSpPr>
          <p:cNvPr id="28" name="Rectangle 27"/>
          <p:cNvSpPr/>
          <p:nvPr/>
        </p:nvSpPr>
        <p:spPr>
          <a:xfrm>
            <a:off x="566928" y="545531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51017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22  APLICACIÓN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LA PREGUNTA DEL ABOGADO TIENE RESPUESTA TÉCNICA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5 de febrero el apoderado preguntó si existe forma técnica de demostrar que los registros no fueron alterados. Nadie respondió. La respuesta existe y se construye con lo que acabamos de ver.</a:t>
            </a:r>
          </a:p>
        </p:txBody>
      </p:sp>
      <p:sp>
        <p:nvSpPr>
          <p:cNvPr id="10" name="Rectangle 9"/>
          <p:cNvSpPr/>
          <p:nvPr/>
        </p:nvSpPr>
        <p:spPr>
          <a:xfrm>
            <a:off x="566928" y="2304287"/>
            <a:ext cx="11055096" cy="163494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REGISTROS ENCADENADOS POR RESUMEN</a:t>
            </a:r>
          </a:p>
        </p:txBody>
      </p:sp>
      <p:sp>
        <p:nvSpPr>
          <p:cNvPr id="12" name="TextBox 11"/>
          <p:cNvSpPr txBox="1"/>
          <p:nvPr/>
        </p:nvSpPr>
        <p:spPr>
          <a:xfrm>
            <a:off x="768096" y="2633471"/>
            <a:ext cx="10652760" cy="121432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Registro 1:  datos_1 + resumen( datos_1 )                        → H1</a:t>
            </a:r>
          </a:p>
          <a:p>
            <a:pPr algn="l">
              <a:lnSpc>
                <a:spcPct val="130000"/>
              </a:lnSpc>
              <a:spcAft>
                <a:spcPts val="0"/>
              </a:spcAft>
            </a:pPr>
            <a:r>
              <a:rPr sz="950" b="0">
                <a:solidFill>
                  <a:srgbClr val="000000"/>
                </a:solidFill>
                <a:latin typeface="Consolas"/>
              </a:rPr>
              <a:t>Registro 2:  datos_2 + resumen( datos_2 ‖ H1 )                   → H2</a:t>
            </a:r>
          </a:p>
          <a:p>
            <a:pPr algn="l">
              <a:lnSpc>
                <a:spcPct val="130000"/>
              </a:lnSpc>
              <a:spcAft>
                <a:spcPts val="0"/>
              </a:spcAft>
            </a:pPr>
            <a:r>
              <a:rPr sz="950" b="0">
                <a:solidFill>
                  <a:srgbClr val="000000"/>
                </a:solidFill>
                <a:latin typeface="Consolas"/>
              </a:rPr>
              <a:t>Registro 3:  datos_3 + resumen( datos_3 ‖ H2 )                   → H3</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Cada registro incorpora el resumen del anterior. Alterar el registro 2</a:t>
            </a:r>
          </a:p>
          <a:p>
            <a:pPr algn="l">
              <a:lnSpc>
                <a:spcPct val="130000"/>
              </a:lnSpc>
              <a:spcAft>
                <a:spcPts val="0"/>
              </a:spcAft>
            </a:pPr>
            <a:r>
              <a:rPr sz="950" b="0">
                <a:solidFill>
                  <a:srgbClr val="000000"/>
                </a:solidFill>
                <a:latin typeface="Consolas"/>
              </a:rPr>
              <a:t>invalida H2, y con él H3 y todos los que siguen.</a:t>
            </a:r>
          </a:p>
        </p:txBody>
      </p:sp>
      <p:sp>
        <p:nvSpPr>
          <p:cNvPr id="13" name="TextBox 12"/>
          <p:cNvSpPr txBox="1"/>
          <p:nvPr/>
        </p:nvSpPr>
        <p:spPr>
          <a:xfrm>
            <a:off x="566928" y="419526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ESTO SÍ RESUELVE</a:t>
            </a:r>
          </a:p>
        </p:txBody>
      </p:sp>
      <p:sp>
        <p:nvSpPr>
          <p:cNvPr id="14" name="TextBox 13"/>
          <p:cNvSpPr txBox="1"/>
          <p:nvPr/>
        </p:nvSpPr>
        <p:spPr>
          <a:xfrm>
            <a:off x="566928" y="4469587"/>
            <a:ext cx="5253228" cy="12344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Nadie puede modificar un registro del pasado sin recalcular toda la cadena posterior.</a:t>
            </a:r>
          </a:p>
          <a:p>
            <a:pPr algn="l">
              <a:lnSpc>
                <a:spcPct val="128000"/>
              </a:lnSpc>
              <a:spcAft>
                <a:spcPts val="700"/>
              </a:spcAft>
            </a:pPr>
            <a:r>
              <a:rPr sz="1150" b="0">
                <a:solidFill>
                  <a:srgbClr val="000000"/>
                </a:solidFill>
                <a:latin typeface="Arial"/>
              </a:rPr>
              <a:t>Una alteración deja de ser invisible: se detecta comparando la cadena.</a:t>
            </a:r>
          </a:p>
        </p:txBody>
      </p:sp>
      <p:sp>
        <p:nvSpPr>
          <p:cNvPr id="15" name="TextBox 14"/>
          <p:cNvSpPr txBox="1"/>
          <p:nvPr/>
        </p:nvSpPr>
        <p:spPr>
          <a:xfrm>
            <a:off x="6368796" y="419526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ESTO NO RESUELVE TODAVÍA</a:t>
            </a:r>
          </a:p>
        </p:txBody>
      </p:sp>
      <p:sp>
        <p:nvSpPr>
          <p:cNvPr id="16" name="TextBox 15"/>
          <p:cNvSpPr txBox="1"/>
          <p:nvPr/>
        </p:nvSpPr>
        <p:spPr>
          <a:xfrm>
            <a:off x="6368796" y="4469587"/>
            <a:ext cx="5253228" cy="12344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Quien controla el servidor puede recalcular la cadena entera y presentarla coherente.</a:t>
            </a:r>
          </a:p>
          <a:p>
            <a:pPr algn="l">
              <a:lnSpc>
                <a:spcPct val="128000"/>
              </a:lnSpc>
              <a:spcAft>
                <a:spcPts val="700"/>
              </a:spcAft>
            </a:pPr>
            <a:r>
              <a:rPr sz="1150" b="0">
                <a:solidFill>
                  <a:srgbClr val="000000"/>
                </a:solidFill>
                <a:latin typeface="Arial"/>
              </a:rPr>
              <a:t>Sigue faltando algo que ate la cadena a un momento en el tiempo y a un tercero que no sea la cooperativa.</a:t>
            </a:r>
          </a:p>
        </p:txBody>
      </p:sp>
      <p:sp>
        <p:nvSpPr>
          <p:cNvPr id="17" name="Rectangle 16"/>
          <p:cNvSpPr/>
          <p:nvPr/>
        </p:nvSpPr>
        <p:spPr>
          <a:xfrm>
            <a:off x="6085332" y="4195267"/>
            <a:ext cx="9144" cy="15087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23  ESTRUCTURA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EL ÁRBOL DE MERKLE: PROBAR UNO SIN REVISAR TODOS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cadena de registros protege el orden; el árbol de Merkle permite algo más: demostrar que una operación concreta está en el conjunto sin entregar el conjunto completo.</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UN RESUMEN DE RESÚMENES · R = SHA-256</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raíz = R(H12 ‖ H34)          ← un solo valor para todo el día</a:t>
            </a:r>
          </a:p>
          <a:p>
            <a:pPr algn="l">
              <a:lnSpc>
                <a:spcPct val="130000"/>
              </a:lnSpc>
              <a:spcAft>
                <a:spcPts val="0"/>
              </a:spcAft>
            </a:pPr>
            <a:r>
              <a:rPr sz="950" b="0">
                <a:solidFill>
                  <a:srgbClr val="000000"/>
                </a:solidFill>
                <a:latin typeface="Consolas"/>
              </a:rPr>
              <a:t>                   /                  \</a:t>
            </a:r>
          </a:p>
          <a:p>
            <a:pPr algn="l">
              <a:lnSpc>
                <a:spcPct val="130000"/>
              </a:lnSpc>
              <a:spcAft>
                <a:spcPts val="0"/>
              </a:spcAft>
            </a:pPr>
            <a:r>
              <a:rPr sz="950" b="0">
                <a:solidFill>
                  <a:srgbClr val="000000"/>
                </a:solidFill>
                <a:latin typeface="Consolas"/>
              </a:rPr>
              <a:t>          H12 = R(H1 ‖ H2)         H34 = R(H3 ‖ H4)</a:t>
            </a:r>
          </a:p>
          <a:p>
            <a:pPr algn="l">
              <a:lnSpc>
                <a:spcPct val="130000"/>
              </a:lnSpc>
              <a:spcAft>
                <a:spcPts val="0"/>
              </a:spcAft>
            </a:pPr>
            <a:r>
              <a:rPr sz="950" b="0">
                <a:solidFill>
                  <a:srgbClr val="000000"/>
                </a:solidFill>
                <a:latin typeface="Consolas"/>
              </a:rPr>
              <a:t>           /          \             /          \</a:t>
            </a:r>
          </a:p>
          <a:p>
            <a:pPr algn="l">
              <a:lnSpc>
                <a:spcPct val="130000"/>
              </a:lnSpc>
              <a:spcAft>
                <a:spcPts val="0"/>
              </a:spcAft>
            </a:pPr>
            <a:r>
              <a:rPr sz="950" b="0">
                <a:solidFill>
                  <a:srgbClr val="000000"/>
                </a:solidFill>
                <a:latin typeface="Consolas"/>
              </a:rPr>
              <a:t>     H1 = R(op1)  H2 = R(op2)   H3 = R(op3)  H4 = R(op4)    ← una hoja por operación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Para probar que op3 está incluida basta entregar H4 y H12: con eso se recalcula</a:t>
            </a:r>
          </a:p>
          <a:p>
            <a:pPr algn="l">
              <a:lnSpc>
                <a:spcPct val="130000"/>
              </a:lnSpc>
              <a:spcAft>
                <a:spcPts val="0"/>
              </a:spcAft>
            </a:pPr>
            <a:r>
              <a:rPr sz="950" b="0">
                <a:solidFill>
                  <a:srgbClr val="000000"/>
                </a:solidFill>
                <a:latin typeface="Consolas"/>
              </a:rPr>
              <a:t>la raíz. Con 142.000 operaciones, la prueba ocupa apenas 18 resúmenes.</a:t>
            </a:r>
          </a:p>
        </p:txBody>
      </p:sp>
      <p:sp>
        <p:nvSpPr>
          <p:cNvPr id="13" name="Rectangle 12"/>
          <p:cNvSpPr/>
          <p:nvPr/>
        </p:nvSpPr>
        <p:spPr>
          <a:xfrm>
            <a:off x="566928" y="4612233"/>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ESTO LE DA A COOPABURRÁ</a:t>
            </a:r>
          </a:p>
        </p:txBody>
      </p:sp>
      <p:sp>
        <p:nvSpPr>
          <p:cNvPr id="15" name="TextBox 14"/>
          <p:cNvSpPr txBox="1"/>
          <p:nvPr/>
        </p:nvSpPr>
        <p:spPr>
          <a:xfrm>
            <a:off x="804672" y="4868265"/>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 cada noche se sella la raíz del día con un sello de tiempo de un tercero, </a:t>
            </a:r>
            <a:r>
              <a:rPr sz="1150" b="1">
                <a:solidFill>
                  <a:srgbClr val="2A2A2A"/>
                </a:solidFill>
                <a:latin typeface="Arial"/>
              </a:rPr>
              <a:t>todas las operaciones de ese día quedan protegidas con un solo sello</a:t>
            </a:r>
            <a:r>
              <a:rPr sz="1150" b="0">
                <a:solidFill>
                  <a:srgbClr val="2A2A2A"/>
                </a:solidFill>
                <a:latin typeface="Arial"/>
              </a:rPr>
              <a:t>, y cualquiera se puede probar después ante un juez. Es el mismo mecanismo de los registros públicos de certificados de la sesión 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24  APLICACIÓN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LO QUE FALTA PARA QUE SIRVA ANTE UN JUEZ</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registro encadenado es necesario pero no suficiente. Para que sea oponible a un tercero hacen falta dos piezas más, y las dos aparecen en las sesiones siguientes.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PIEZA</a:t>
            </a:r>
          </a:p>
        </p:txBody>
      </p:sp>
      <p:sp>
        <p:nvSpPr>
          <p:cNvPr id="12" name="TextBox 11"/>
          <p:cNvSpPr txBox="1"/>
          <p:nvPr/>
        </p:nvSpPr>
        <p:spPr>
          <a:xfrm>
            <a:off x="4104558" y="2423159"/>
            <a:ext cx="580515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APORTA</a:t>
            </a:r>
          </a:p>
        </p:txBody>
      </p:sp>
      <p:sp>
        <p:nvSpPr>
          <p:cNvPr id="13" name="TextBox 12"/>
          <p:cNvSpPr txBox="1"/>
          <p:nvPr/>
        </p:nvSpPr>
        <p:spPr>
          <a:xfrm>
            <a:off x="10074310" y="2423159"/>
            <a:ext cx="138312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DÓNDE LA VEMOS</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373038" cy="49377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Firma digital de la cadena</a:t>
            </a:r>
          </a:p>
        </p:txBody>
      </p:sp>
      <p:sp>
        <p:nvSpPr>
          <p:cNvPr id="16" name="TextBox 15"/>
          <p:cNvSpPr txBox="1"/>
          <p:nvPr/>
        </p:nvSpPr>
        <p:spPr>
          <a:xfrm>
            <a:off x="4104558" y="2825495"/>
            <a:ext cx="5805159"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Ata la cadena a una llave privada que solo una parte posee, de modo que el servidor no pueda rehacerla a voluntad</a:t>
            </a:r>
          </a:p>
        </p:txBody>
      </p:sp>
      <p:sp>
        <p:nvSpPr>
          <p:cNvPr id="17" name="TextBox 16"/>
          <p:cNvSpPr txBox="1"/>
          <p:nvPr/>
        </p:nvSpPr>
        <p:spPr>
          <a:xfrm>
            <a:off x="10074310" y="2825495"/>
            <a:ext cx="1383121"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4</a:t>
            </a:r>
          </a:p>
        </p:txBody>
      </p:sp>
      <p:sp>
        <p:nvSpPr>
          <p:cNvPr id="18" name="Rectangle 17"/>
          <p:cNvSpPr/>
          <p:nvPr/>
        </p:nvSpPr>
        <p:spPr>
          <a:xfrm>
            <a:off x="566928" y="32826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74135"/>
            <a:ext cx="3373038" cy="49377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Sello de tiempo de un tercero</a:t>
            </a:r>
          </a:p>
        </p:txBody>
      </p:sp>
      <p:sp>
        <p:nvSpPr>
          <p:cNvPr id="20" name="TextBox 19"/>
          <p:cNvSpPr txBox="1"/>
          <p:nvPr/>
        </p:nvSpPr>
        <p:spPr>
          <a:xfrm>
            <a:off x="4104558" y="3374135"/>
            <a:ext cx="5805159"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tercero independiente certifica que ese resumen existía en ese momento. Impide rehacer el pasado</a:t>
            </a:r>
          </a:p>
        </p:txBody>
      </p:sp>
      <p:sp>
        <p:nvSpPr>
          <p:cNvPr id="21" name="TextBox 20"/>
          <p:cNvSpPr txBox="1"/>
          <p:nvPr/>
        </p:nvSpPr>
        <p:spPr>
          <a:xfrm>
            <a:off x="10074310" y="3374135"/>
            <a:ext cx="1383121"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6</a:t>
            </a:r>
          </a:p>
        </p:txBody>
      </p:sp>
      <p:sp>
        <p:nvSpPr>
          <p:cNvPr id="22" name="Rectangle 21"/>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22775"/>
            <a:ext cx="3373038" cy="49377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Custodia y segregación</a:t>
            </a:r>
          </a:p>
        </p:txBody>
      </p:sp>
      <p:sp>
        <p:nvSpPr>
          <p:cNvPr id="24" name="TextBox 23"/>
          <p:cNvSpPr txBox="1"/>
          <p:nvPr/>
        </p:nvSpPr>
        <p:spPr>
          <a:xfrm>
            <a:off x="4104558" y="3922775"/>
            <a:ext cx="5805159"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quien opera el sistema no sea quien custodia la llave con la que se firma</a:t>
            </a:r>
          </a:p>
        </p:txBody>
      </p:sp>
      <p:sp>
        <p:nvSpPr>
          <p:cNvPr id="25" name="TextBox 24"/>
          <p:cNvSpPr txBox="1"/>
          <p:nvPr/>
        </p:nvSpPr>
        <p:spPr>
          <a:xfrm>
            <a:off x="10074310" y="3922775"/>
            <a:ext cx="1383121"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Sesión 5 y 6</a:t>
            </a:r>
          </a:p>
        </p:txBody>
      </p:sp>
      <p:sp>
        <p:nvSpPr>
          <p:cNvPr id="26" name="Rectangle 25"/>
          <p:cNvSpPr/>
          <p:nvPr/>
        </p:nvSpPr>
        <p:spPr>
          <a:xfrm>
            <a:off x="566928" y="43799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43483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736591"/>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75487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GUARDEN ESTA DIAPOSITIVA PARA EL INFORME</a:t>
            </a:r>
          </a:p>
        </p:txBody>
      </p:sp>
      <p:sp>
        <p:nvSpPr>
          <p:cNvPr id="30" name="TextBox 29"/>
          <p:cNvSpPr txBox="1"/>
          <p:nvPr/>
        </p:nvSpPr>
        <p:spPr>
          <a:xfrm>
            <a:off x="804672" y="4992623"/>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Cuando en la sustentación les pregunten cómo se prueba que una operación la autorizó su titular, la respuesta completa son </a:t>
            </a:r>
            <a:r>
              <a:rPr sz="1150" b="1">
                <a:solidFill>
                  <a:srgbClr val="2A2A2A"/>
                </a:solidFill>
                <a:latin typeface="Arial"/>
              </a:rPr>
              <a:t>estas tres piezas más la firma individual por usuario</a:t>
            </a:r>
            <a:r>
              <a:rPr sz="1150" b="0">
                <a:solidFill>
                  <a:srgbClr val="2A2A2A"/>
                </a:solidFill>
                <a:latin typeface="Arial"/>
              </a:rPr>
              <a:t>. Ninguna sola basta.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1887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LA TESIS DE LA SESIÓN</a:t>
            </a:r>
          </a:p>
        </p:txBody>
      </p:sp>
      <p:sp>
        <p:nvSpPr>
          <p:cNvPr id="3" name="TextBox 2"/>
          <p:cNvSpPr txBox="1"/>
          <p:nvPr/>
        </p:nvSpPr>
        <p:spPr>
          <a:xfrm>
            <a:off x="566928" y="1554480"/>
            <a:ext cx="10607040" cy="2743200"/>
          </a:xfrm>
          <a:prstGeom prst="rect">
            <a:avLst/>
          </a:prstGeom>
          <a:noFill/>
        </p:spPr>
        <p:txBody>
          <a:bodyPr wrap="square" lIns="0" rIns="0" tIns="0" bIns="0">
            <a:spAutoFit/>
          </a:bodyPr>
          <a:lstStyle/>
          <a:p>
            <a:pPr algn="l">
              <a:lnSpc>
                <a:spcPct val="112000"/>
              </a:lnSpc>
              <a:spcAft>
                <a:spcPts val="0"/>
              </a:spcAft>
            </a:pPr>
            <a:r>
              <a:rPr sz="3000" b="0">
                <a:solidFill>
                  <a:srgbClr val="000000"/>
                </a:solidFill>
                <a:latin typeface="Arial Black"/>
              </a:rPr>
              <a:t>COOPABURRÁ ELIGIÓ UN</a:t>
            </a:r>
          </a:p>
          <a:p>
            <a:pPr algn="l">
              <a:lnSpc>
                <a:spcPct val="112000"/>
              </a:lnSpc>
              <a:spcAft>
                <a:spcPts val="0"/>
              </a:spcAft>
            </a:pPr>
            <a:r>
              <a:rPr sz="3000" b="0">
                <a:solidFill>
                  <a:srgbClr val="000000"/>
                </a:solidFill>
                <a:latin typeface="Arial Black"/>
              </a:rPr>
              <a:t>MECANISMO QUE NUNCA</a:t>
            </a:r>
          </a:p>
          <a:p>
            <a:pPr algn="l">
              <a:lnSpc>
                <a:spcPct val="112000"/>
              </a:lnSpc>
              <a:spcAft>
                <a:spcPts val="0"/>
              </a:spcAft>
            </a:pPr>
            <a:r>
              <a:rPr sz="3000" b="0">
                <a:solidFill>
                  <a:srgbClr val="000000"/>
                </a:solidFill>
                <a:latin typeface="Arial Black"/>
              </a:rPr>
              <a:t>PUDO DAR LO QUE EL</a:t>
            </a:r>
          </a:p>
          <a:p>
            <a:pPr algn="l">
              <a:lnSpc>
                <a:spcPct val="112000"/>
              </a:lnSpc>
              <a:spcAft>
                <a:spcPts val="0"/>
              </a:spcAft>
            </a:pPr>
            <a:r>
              <a:rPr sz="3000" b="0">
                <a:solidFill>
                  <a:srgbClr val="000000"/>
                </a:solidFill>
                <a:latin typeface="Arial Black"/>
              </a:rPr>
              <a:t>ABOGADO NECESITABA.</a:t>
            </a:r>
          </a:p>
        </p:txBody>
      </p:sp>
      <p:sp>
        <p:nvSpPr>
          <p:cNvPr id="4" name="Rectangle 3"/>
          <p:cNvSpPr/>
          <p:nvPr/>
        </p:nvSpPr>
        <p:spPr>
          <a:xfrm>
            <a:off x="566928" y="4617720"/>
            <a:ext cx="1554480" cy="457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864608"/>
            <a:ext cx="10607040" cy="1005840"/>
          </a:xfrm>
          <a:prstGeom prst="rect">
            <a:avLst/>
          </a:prstGeom>
          <a:noFill/>
        </p:spPr>
        <p:txBody>
          <a:bodyPr wrap="square" lIns="0" rIns="0" tIns="0" bIns="0">
            <a:spAutoFit/>
          </a:bodyPr>
          <a:lstStyle/>
          <a:p>
            <a:pPr algn="l">
              <a:lnSpc>
                <a:spcPct val="135000"/>
              </a:lnSpc>
              <a:spcAft>
                <a:spcPts val="0"/>
              </a:spcAft>
            </a:pPr>
            <a:r>
              <a:rPr sz="1200" b="0">
                <a:solidFill>
                  <a:srgbClr val="2A2A2A"/>
                </a:solidFill>
                <a:latin typeface="Arial"/>
              </a:rPr>
              <a:t>Aunque la llave hubiera estado perfectamente guardada, aunque fuera distinta para cada usuario y se rotara cada mes, HMAC seguiría sin dar no repudio, porque el servidor también la conoce y por tanto también pudo generar la operación. El problema no admite arreglo por configuración: exige cambiar de mecanismo. Eso es el jueves.</a:t>
            </a:r>
          </a:p>
        </p:txBody>
      </p:sp>
      <p:sp>
        <p:nvSpPr>
          <p:cNvPr id="6" name="Rectangle 5"/>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1.png"/>
          <p:cNvPicPr>
            <a:picLocks noChangeAspect="1"/>
          </p:cNvPicPr>
          <p:nvPr/>
        </p:nvPicPr>
        <p:blipFill>
          <a:blip r:embed="rId2"/>
          <a:stretch>
            <a:fillRect/>
          </a:stretch>
        </p:blipFill>
        <p:spPr>
          <a:xfrm>
            <a:off x="566928" y="6336792"/>
            <a:ext cx="566928" cy="246888"/>
          </a:xfrm>
          <a:prstGeom prst="rect">
            <a:avLst/>
          </a:prstGeom>
        </p:spPr>
      </p:pic>
      <p:sp>
        <p:nvSpPr>
          <p:cNvPr id="8" name="TextBox 7"/>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9" name="TextBox 8"/>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04</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CONTRASEÑAS</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Bloque 6 · Por qué nunca se cifran, nunca se resumen a secas, y qué hay que hacer</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25  PRINCIPIO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UNA CONTRASEÑA NUNCA SE CIFRA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Primera regla, y la más contraintuitiva: el sistema no necesita conocer la contraseña. Solo necesita poder comprobar si la que le acaban de dar es la correcta.</a:t>
            </a:r>
          </a:p>
        </p:txBody>
      </p:sp>
      <p:sp>
        <p:nvSpPr>
          <p:cNvPr id="10" name="Rectangle 9"/>
          <p:cNvSpPr/>
          <p:nvPr/>
        </p:nvSpPr>
        <p:spPr>
          <a:xfrm>
            <a:off x="566928" y="2304287"/>
            <a:ext cx="5353812" cy="178308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SI SE CIFRA</a:t>
            </a:r>
          </a:p>
        </p:txBody>
      </p:sp>
      <p:sp>
        <p:nvSpPr>
          <p:cNvPr id="12" name="TextBox 11"/>
          <p:cNvSpPr txBox="1"/>
          <p:nvPr/>
        </p:nvSpPr>
        <p:spPr>
          <a:xfrm>
            <a:off x="786384" y="2633471"/>
            <a:ext cx="4914900"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Existe una llave que permite recuperarla. Quien obtenga esa llave obtiene las 142.000 contraseñas en claro.</a:t>
            </a:r>
          </a:p>
          <a:p>
            <a:pPr algn="l">
              <a:lnSpc>
                <a:spcPct val="128000"/>
              </a:lnSpc>
              <a:spcAft>
                <a:spcPts val="700"/>
              </a:spcAft>
            </a:pPr>
            <a:r>
              <a:rPr sz="1150" b="0">
                <a:solidFill>
                  <a:srgbClr val="000000"/>
                </a:solidFill>
                <a:latin typeface="Arial"/>
              </a:rPr>
              <a:t>Y como la gente repite contraseñas, obtiene además el acceso al correo y al banco de mucha de esa gente.</a:t>
            </a:r>
          </a:p>
          <a:p>
            <a:pPr algn="l">
              <a:lnSpc>
                <a:spcPct val="128000"/>
              </a:lnSpc>
              <a:spcAft>
                <a:spcPts val="700"/>
              </a:spcAft>
            </a:pPr>
            <a:r>
              <a:rPr sz="1150" b="0">
                <a:solidFill>
                  <a:srgbClr val="000000"/>
                </a:solidFill>
                <a:latin typeface="Arial"/>
              </a:rPr>
              <a:t>Es exactamente lo que pasó en la filtración de 2013 que vimos el jueves.</a:t>
            </a:r>
          </a:p>
        </p:txBody>
      </p:sp>
      <p:sp>
        <p:nvSpPr>
          <p:cNvPr id="13" name="Rectangle 12"/>
          <p:cNvSpPr/>
          <p:nvPr/>
        </p:nvSpPr>
        <p:spPr>
          <a:xfrm>
            <a:off x="6268212" y="2304287"/>
            <a:ext cx="5353812" cy="178308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SI SE RESUME</a:t>
            </a:r>
          </a:p>
        </p:txBody>
      </p:sp>
      <p:sp>
        <p:nvSpPr>
          <p:cNvPr id="15" name="TextBox 14"/>
          <p:cNvSpPr txBox="1"/>
          <p:nvPr/>
        </p:nvSpPr>
        <p:spPr>
          <a:xfrm>
            <a:off x="6487668" y="2633471"/>
            <a:ext cx="4914900" cy="132588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No hay llave y no hay vuelta atrás. Ni siquiera la organización puede recuperar la contraseña.</a:t>
            </a:r>
          </a:p>
          <a:p>
            <a:pPr algn="l">
              <a:lnSpc>
                <a:spcPct val="128000"/>
              </a:lnSpc>
              <a:spcAft>
                <a:spcPts val="700"/>
              </a:spcAft>
            </a:pPr>
            <a:r>
              <a:rPr sz="1150" b="0">
                <a:solidFill>
                  <a:srgbClr val="000000"/>
                </a:solidFill>
                <a:latin typeface="Arial"/>
              </a:rPr>
              <a:t>Para verificar, se resume lo que el usuario acaba de escribir y se compara con lo almacenado.</a:t>
            </a:r>
          </a:p>
          <a:p>
            <a:pPr algn="l">
              <a:lnSpc>
                <a:spcPct val="128000"/>
              </a:lnSpc>
              <a:spcAft>
                <a:spcPts val="700"/>
              </a:spcAft>
            </a:pPr>
            <a:r>
              <a:rPr sz="1150" b="0">
                <a:solidFill>
                  <a:srgbClr val="000000"/>
                </a:solidFill>
                <a:latin typeface="Arial"/>
              </a:rPr>
              <a:t>Por eso los sistemas serios no pueden «recordarle» su contraseña: solo pueden dejarle poner otra.</a:t>
            </a:r>
          </a:p>
        </p:txBody>
      </p:sp>
      <p:sp>
        <p:nvSpPr>
          <p:cNvPr id="16" name="Rectangle 15"/>
          <p:cNvSpPr/>
          <p:nvPr/>
        </p:nvSpPr>
        <p:spPr>
          <a:xfrm>
            <a:off x="566928" y="4453127"/>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47141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UNA SEÑAL DE ALARMA GRATUITA</a:t>
            </a:r>
          </a:p>
        </p:txBody>
      </p:sp>
      <p:sp>
        <p:nvSpPr>
          <p:cNvPr id="18" name="TextBox 17"/>
          <p:cNvSpPr txBox="1"/>
          <p:nvPr/>
        </p:nvSpPr>
        <p:spPr>
          <a:xfrm>
            <a:off x="804672" y="4709159"/>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 un sistema es capaz de enviarle su contraseña actual por correo, está guardándola de forma recuperable. Es un hallazgo que se detecta sin ninguna herramienta.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26  PROBLEMA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RESUMIR TAMPOCO BASTA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32</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Resumir es necesario pero no suficiente, por dos razones que se combinan y que están las dos en el hallazgo H1 de Coopaburrá.</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345343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PROBLEMA</a:t>
            </a:r>
          </a:p>
        </p:txBody>
      </p:sp>
      <p:sp>
        <p:nvSpPr>
          <p:cNvPr id="12" name="TextBox 11"/>
          <p:cNvSpPr txBox="1"/>
          <p:nvPr/>
        </p:nvSpPr>
        <p:spPr>
          <a:xfrm>
            <a:off x="4184959" y="2185415"/>
            <a:ext cx="325243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a:t>
            </a:r>
          </a:p>
        </p:txBody>
      </p:sp>
      <p:sp>
        <p:nvSpPr>
          <p:cNvPr id="13" name="TextBox 12"/>
          <p:cNvSpPr txBox="1"/>
          <p:nvPr/>
        </p:nvSpPr>
        <p:spPr>
          <a:xfrm>
            <a:off x="7601989" y="2185415"/>
            <a:ext cx="38554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CONSECUENCIA</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345343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Las funciones resumen son rápidas a propósito</a:t>
            </a:r>
          </a:p>
        </p:txBody>
      </p:sp>
      <p:sp>
        <p:nvSpPr>
          <p:cNvPr id="16" name="TextBox 15"/>
          <p:cNvSpPr txBox="1"/>
          <p:nvPr/>
        </p:nvSpPr>
        <p:spPr>
          <a:xfrm>
            <a:off x="4184959" y="2587751"/>
            <a:ext cx="325243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SHA-256 está diseñado para procesar gigabytes por segundo</a:t>
            </a:r>
          </a:p>
        </p:txBody>
      </p:sp>
      <p:sp>
        <p:nvSpPr>
          <p:cNvPr id="17" name="TextBox 16"/>
          <p:cNvSpPr txBox="1"/>
          <p:nvPr/>
        </p:nvSpPr>
        <p:spPr>
          <a:xfrm>
            <a:off x="7601989" y="2587751"/>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tarjeta gráfica prueba miles de millones de contraseñas por segundo</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345343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Las personas eligen mal</a:t>
            </a:r>
          </a:p>
        </p:txBody>
      </p:sp>
      <p:sp>
        <p:nvSpPr>
          <p:cNvPr id="20" name="TextBox 19"/>
          <p:cNvSpPr txBox="1"/>
          <p:nvPr/>
        </p:nvSpPr>
        <p:spPr>
          <a:xfrm>
            <a:off x="4184959" y="3127613"/>
            <a:ext cx="325243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espacio real de contraseñas humanas es minúsculo comparado con el teórico</a:t>
            </a:r>
          </a:p>
        </p:txBody>
      </p:sp>
      <p:sp>
        <p:nvSpPr>
          <p:cNvPr id="21" name="TextBox 20"/>
          <p:cNvSpPr txBox="1"/>
          <p:nvPr/>
        </p:nvSpPr>
        <p:spPr>
          <a:xfrm>
            <a:off x="7601989" y="3127613"/>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diccionario de unos pocos millones cubre la mayoría de las contraseñas reales</a:t>
            </a:r>
          </a:p>
        </p:txBody>
      </p:sp>
      <p:sp>
        <p:nvSpPr>
          <p:cNvPr id="22" name="Rectangle 21"/>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7475"/>
            <a:ext cx="345343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Sin sal, el resumen es una huella pública</a:t>
            </a:r>
          </a:p>
        </p:txBody>
      </p:sp>
      <p:sp>
        <p:nvSpPr>
          <p:cNvPr id="24" name="TextBox 23"/>
          <p:cNvSpPr txBox="1"/>
          <p:nvPr/>
        </p:nvSpPr>
        <p:spPr>
          <a:xfrm>
            <a:off x="4184959" y="3667475"/>
            <a:ext cx="325243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resumen de «123456» es siempre el mismo en todo el mundo</a:t>
            </a:r>
          </a:p>
        </p:txBody>
      </p:sp>
      <p:sp>
        <p:nvSpPr>
          <p:cNvPr id="25" name="TextBox 24"/>
          <p:cNvSpPr txBox="1"/>
          <p:nvPr/>
        </p:nvSpPr>
        <p:spPr>
          <a:xfrm>
            <a:off x="7601989" y="3667475"/>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Existen tablas ya calculadas: no hay que probar nada, solo buscar</a:t>
            </a:r>
          </a:p>
        </p:txBody>
      </p:sp>
      <p:sp>
        <p:nvSpPr>
          <p:cNvPr id="26" name="Rectangle 25"/>
          <p:cNvSpPr/>
          <p:nvPr/>
        </p:nvSpPr>
        <p:spPr>
          <a:xfrm>
            <a:off x="566928" y="41158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17076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472513"/>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49080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PRIMER HALLAZGO VISIBLE DE LA EVIDENCIA B</a:t>
            </a:r>
          </a:p>
        </p:txBody>
      </p:sp>
      <p:sp>
        <p:nvSpPr>
          <p:cNvPr id="30" name="TextBox 29"/>
          <p:cNvSpPr txBox="1"/>
          <p:nvPr/>
        </p:nvSpPr>
        <p:spPr>
          <a:xfrm>
            <a:off x="804672" y="4728545"/>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Los resúmenes de la muestra tienen 40 caracteres hexadecimales. Eso son 160 bits, que es exactamente el tamaño de SHA-1. </a:t>
            </a:r>
            <a:r>
              <a:rPr sz="1150" b="1">
                <a:solidFill>
                  <a:srgbClr val="2A2A2A"/>
                </a:solidFill>
                <a:latin typeface="Arial"/>
              </a:rPr>
              <a:t>Se puede identificar el algoritmo sin acceso al código, solo contando caracteres.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27  MECANISMO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SAL: QUÉ RESUELVE Y QUÉ NO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sal es un valor aleatorio que se añade a la contraseña antes de resumirla, y se guarda junto al resultado. No es secreta. Su trabajo es que dos contraseñas iguales produzcan resúmenes distintos.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05143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ESQUEMA</a:t>
            </a:r>
          </a:p>
        </p:txBody>
      </p:sp>
      <p:sp>
        <p:nvSpPr>
          <p:cNvPr id="12" name="TextBox 11"/>
          <p:cNvSpPr txBox="1"/>
          <p:nvPr/>
        </p:nvSpPr>
        <p:spPr>
          <a:xfrm>
            <a:off x="3782955"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DOS USUARIOS CON LA MISMA CONTRASEÑA</a:t>
            </a:r>
          </a:p>
        </p:txBody>
      </p:sp>
      <p:sp>
        <p:nvSpPr>
          <p:cNvPr id="13" name="TextBox 12"/>
          <p:cNvSpPr txBox="1"/>
          <p:nvPr/>
        </p:nvSpPr>
        <p:spPr>
          <a:xfrm>
            <a:off x="7601989" y="2423159"/>
            <a:ext cx="38554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ATAQUE MASIVO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05143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Sin sal</a:t>
            </a:r>
          </a:p>
        </p:txBody>
      </p:sp>
      <p:sp>
        <p:nvSpPr>
          <p:cNvPr id="16" name="TextBox 15"/>
          <p:cNvSpPr txBox="1"/>
          <p:nvPr/>
        </p:nvSpPr>
        <p:spPr>
          <a:xfrm>
            <a:off x="3782955"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Mismo resumen. Se ve a simple vista en la tabla</a:t>
            </a:r>
          </a:p>
        </p:txBody>
      </p:sp>
      <p:sp>
        <p:nvSpPr>
          <p:cNvPr id="17" name="TextBox 16"/>
          <p:cNvSpPr txBox="1"/>
          <p:nvPr/>
        </p:nvSpPr>
        <p:spPr>
          <a:xfrm>
            <a:off x="7601989" y="2825495"/>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sola pasada del diccionario rompe toda la base a la vez</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05143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Sal única para toda la base</a:t>
            </a:r>
          </a:p>
        </p:txBody>
      </p:sp>
      <p:sp>
        <p:nvSpPr>
          <p:cNvPr id="20" name="TextBox 19"/>
          <p:cNvSpPr txBox="1"/>
          <p:nvPr/>
        </p:nvSpPr>
        <p:spPr>
          <a:xfrm>
            <a:off x="3782955" y="3365357"/>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Mismo resumen. No mejora nada en este punto</a:t>
            </a:r>
          </a:p>
        </p:txBody>
      </p:sp>
      <p:sp>
        <p:nvSpPr>
          <p:cNvPr id="21" name="TextBox 20"/>
          <p:cNvSpPr txBox="1"/>
          <p:nvPr/>
        </p:nvSpPr>
        <p:spPr>
          <a:xfrm>
            <a:off x="7601989" y="3365357"/>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sola pasada, solo que con la sal añadida. Igual de barato</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05143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Sal distinta por usuario</a:t>
            </a:r>
          </a:p>
        </p:txBody>
      </p:sp>
      <p:sp>
        <p:nvSpPr>
          <p:cNvPr id="24" name="TextBox 23"/>
          <p:cNvSpPr txBox="1"/>
          <p:nvPr/>
        </p:nvSpPr>
        <p:spPr>
          <a:xfrm>
            <a:off x="3782955" y="3905219"/>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Resúmenes distintos. No se puede saber quién repite contraseña</a:t>
            </a:r>
          </a:p>
        </p:txBody>
      </p:sp>
      <p:sp>
        <p:nvSpPr>
          <p:cNvPr id="25" name="TextBox 24"/>
          <p:cNvSpPr txBox="1"/>
          <p:nvPr/>
        </p:nvSpPr>
        <p:spPr>
          <a:xfrm>
            <a:off x="7601989" y="3905219"/>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Hay que atacar cada cuenta por separado: el costo se multiplica por 142.000</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40850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710257"/>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72854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LA SAL DE COOPABURRÁ NO SIRVE</a:t>
            </a:r>
          </a:p>
        </p:txBody>
      </p:sp>
      <p:sp>
        <p:nvSpPr>
          <p:cNvPr id="30" name="TextBox 29"/>
          <p:cNvSpPr txBox="1"/>
          <p:nvPr/>
        </p:nvSpPr>
        <p:spPr>
          <a:xfrm>
            <a:off x="804672" y="4966289"/>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sal constante para toda la base </a:t>
            </a:r>
            <a:r>
              <a:rPr sz="1150" b="1">
                <a:solidFill>
                  <a:srgbClr val="2A2A2A"/>
                </a:solidFill>
                <a:latin typeface="Arial"/>
              </a:rPr>
              <a:t>no es una sal</a:t>
            </a:r>
            <a:r>
              <a:rPr sz="1150" b="0">
                <a:solidFill>
                  <a:srgbClr val="2A2A2A"/>
                </a:solidFill>
                <a:latin typeface="Arial"/>
              </a:rPr>
              <a:t>: es un sufijo. Solo protege contra tablas precalculadas genéricas, y ni siquiera eso, porque basta calcular una tabla nueva con esa constante. No protege contra el ataque que de verdad importa: romper las 142.000 cuentas en una sola pasada.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28  EJEMPLO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LA SAL, CON NÚMEROS: LA MISMA CONTRASEÑA, DOS RESULTADOS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Dos asociados del caso, usuario_a y usuario_c, eligieron la misma contraseña. Lo que la base guarda de cada uno depende de si hay sal, y de qué clase.</a:t>
            </a:r>
          </a:p>
        </p:txBody>
      </p:sp>
      <p:sp>
        <p:nvSpPr>
          <p:cNvPr id="10" name="Rectangle 9"/>
          <p:cNvSpPr/>
          <p:nvPr/>
        </p:nvSpPr>
        <p:spPr>
          <a:xfrm>
            <a:off x="566928" y="2304287"/>
            <a:ext cx="11055096" cy="184343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EVIDENCIA B · DOS USUARIOS QUE COMPARTEN RESUMEN</a:t>
            </a:r>
          </a:p>
        </p:txBody>
      </p:sp>
      <p:sp>
        <p:nvSpPr>
          <p:cNvPr id="12" name="TextBox 11"/>
          <p:cNvSpPr txBox="1"/>
          <p:nvPr/>
        </p:nvSpPr>
        <p:spPr>
          <a:xfrm>
            <a:off x="768096" y="2633471"/>
            <a:ext cx="10652760" cy="142280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CON sal única por usuario — la misma contraseña, resúmenes distintos</a:t>
            </a:r>
          </a:p>
          <a:p>
            <a:pPr algn="l">
              <a:lnSpc>
                <a:spcPct val="130000"/>
              </a:lnSpc>
              <a:spcAft>
                <a:spcPts val="0"/>
              </a:spcAft>
            </a:pPr>
            <a:r>
              <a:rPr sz="950" b="0">
                <a:solidFill>
                  <a:srgbClr val="000000"/>
                </a:solidFill>
                <a:latin typeface="Consolas"/>
              </a:rPr>
              <a:t>usuario_a · "password" + sal 8f2a…c1  →  argon2id  →  e7b3a9d0…</a:t>
            </a:r>
          </a:p>
          <a:p>
            <a:pPr algn="l">
              <a:lnSpc>
                <a:spcPct val="130000"/>
              </a:lnSpc>
              <a:spcAft>
                <a:spcPts val="0"/>
              </a:spcAft>
            </a:pPr>
            <a:r>
              <a:rPr sz="950" b="0">
                <a:solidFill>
                  <a:srgbClr val="000000"/>
                </a:solidFill>
                <a:latin typeface="Consolas"/>
              </a:rPr>
              <a:t>usuario_c · "password" + sal a17d…04  →  argon2id  →  f4c09122…   ← distinto: no se nota que repiten</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SIN sal, como el portal hoy (evidencia B) — la misma contraseña, el MISMO resumen</a:t>
            </a:r>
          </a:p>
          <a:p>
            <a:pPr algn="l">
              <a:lnSpc>
                <a:spcPct val="130000"/>
              </a:lnSpc>
              <a:spcAft>
                <a:spcPts val="0"/>
              </a:spcAft>
            </a:pPr>
            <a:r>
              <a:rPr sz="950" b="0">
                <a:solidFill>
                  <a:srgbClr val="000000"/>
                </a:solidFill>
                <a:latin typeface="Consolas"/>
              </a:rPr>
              <a:t>usuario_a · "password"  →  sha1  →  5baa61e4c9b93f3f0682250b6cf8331b7ee68fd8</a:t>
            </a:r>
          </a:p>
          <a:p>
            <a:pPr algn="l">
              <a:lnSpc>
                <a:spcPct val="130000"/>
              </a:lnSpc>
              <a:spcAft>
                <a:spcPts val="0"/>
              </a:spcAft>
            </a:pPr>
            <a:r>
              <a:rPr sz="950" b="0">
                <a:solidFill>
                  <a:srgbClr val="000000"/>
                </a:solidFill>
                <a:latin typeface="Consolas"/>
              </a:rPr>
              <a:t>usuario_c · "password"  →  sha1  →  5baa61e4c9b93f3f0682250b6cf8331b7ee68fd8   ← idéntico</a:t>
            </a:r>
          </a:p>
        </p:txBody>
      </p:sp>
      <p:sp>
        <p:nvSpPr>
          <p:cNvPr id="13" name="Rectangle 12"/>
          <p:cNvSpPr/>
          <p:nvPr/>
        </p:nvSpPr>
        <p:spPr>
          <a:xfrm>
            <a:off x="566928" y="4403750"/>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42203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LA SAL SÍ HACE, Y LO QUE NO</a:t>
            </a:r>
          </a:p>
        </p:txBody>
      </p:sp>
      <p:sp>
        <p:nvSpPr>
          <p:cNvPr id="15" name="TextBox 14"/>
          <p:cNvSpPr txBox="1"/>
          <p:nvPr/>
        </p:nvSpPr>
        <p:spPr>
          <a:xfrm>
            <a:off x="804672" y="4659782"/>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sal no esconde la contraseña —de eso se encarga la función lenta—. La sal esconde </a:t>
            </a:r>
            <a:r>
              <a:rPr sz="1150" b="1">
                <a:solidFill>
                  <a:srgbClr val="2A2A2A"/>
                </a:solidFill>
                <a:latin typeface="Arial"/>
              </a:rPr>
              <a:t>que dos personas usan la misma</a:t>
            </a:r>
            <a:r>
              <a:rPr sz="1150" b="0">
                <a:solidFill>
                  <a:srgbClr val="2A2A2A"/>
                </a:solidFill>
                <a:latin typeface="Arial"/>
              </a:rPr>
              <a:t>, y obliga al atacante a trabajar cuenta por cuenta en vez de romper toda la base en una sola pasada. En Coopaburrá, como la sal ni siquiera se aplica, ese resumen es el valor público de «password».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29  USO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USA LA SAL, Y CÓMO SE USA MAL</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35</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sal es fácil de usar bien y fácil de arruinar. Solo el primer patrón funciona.</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455894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SE USA</a:t>
            </a:r>
          </a:p>
        </p:txBody>
      </p:sp>
      <p:sp>
        <p:nvSpPr>
          <p:cNvPr id="12" name="TextBox 11"/>
          <p:cNvSpPr txBox="1"/>
          <p:nvPr/>
        </p:nvSpPr>
        <p:spPr>
          <a:xfrm>
            <a:off x="5290469" y="2185415"/>
            <a:ext cx="114191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¿SIRVE?</a:t>
            </a:r>
          </a:p>
        </p:txBody>
      </p:sp>
      <p:sp>
        <p:nvSpPr>
          <p:cNvPr id="13" name="TextBox 12"/>
          <p:cNvSpPr txBox="1"/>
          <p:nvPr/>
        </p:nvSpPr>
        <p:spPr>
          <a:xfrm>
            <a:off x="6596980" y="2185415"/>
            <a:ext cx="486045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455894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Aleatoria y única por usuario, junto al resumen</a:t>
            </a:r>
          </a:p>
        </p:txBody>
      </p:sp>
      <p:sp>
        <p:nvSpPr>
          <p:cNvPr id="16" name="TextBox 15"/>
          <p:cNvSpPr txBox="1"/>
          <p:nvPr/>
        </p:nvSpPr>
        <p:spPr>
          <a:xfrm>
            <a:off x="5290469" y="2587751"/>
            <a:ext cx="114191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Sí</a:t>
            </a:r>
          </a:p>
        </p:txBody>
      </p:sp>
      <p:sp>
        <p:nvSpPr>
          <p:cNvPr id="17" name="TextBox 16"/>
          <p:cNvSpPr txBox="1"/>
          <p:nvPr/>
        </p:nvSpPr>
        <p:spPr>
          <a:xfrm>
            <a:off x="6596980" y="2587751"/>
            <a:ext cx="486045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correcto: cada cuenta se ataca por separado y el costo se multiplica por 142.000</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455894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Constante para toda la base</a:t>
            </a:r>
          </a:p>
        </p:txBody>
      </p:sp>
      <p:sp>
        <p:nvSpPr>
          <p:cNvPr id="20" name="TextBox 19"/>
          <p:cNvSpPr txBox="1"/>
          <p:nvPr/>
        </p:nvSpPr>
        <p:spPr>
          <a:xfrm>
            <a:off x="5290469" y="3127613"/>
            <a:ext cx="114191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21" name="TextBox 20"/>
          <p:cNvSpPr txBox="1"/>
          <p:nvPr/>
        </p:nvSpPr>
        <p:spPr>
          <a:xfrm>
            <a:off x="6596980" y="3127613"/>
            <a:ext cx="486045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sufijo, no una sal: una tabla con esa constante rompe todo. Es Coopaburrá</a:t>
            </a:r>
          </a:p>
        </p:txBody>
      </p:sp>
      <p:sp>
        <p:nvSpPr>
          <p:cNvPr id="22" name="Rectangle 21"/>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7475"/>
            <a:ext cx="455894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Derivada del usuario, como la cédula</a:t>
            </a:r>
          </a:p>
        </p:txBody>
      </p:sp>
      <p:sp>
        <p:nvSpPr>
          <p:cNvPr id="24" name="TextBox 23"/>
          <p:cNvSpPr txBox="1"/>
          <p:nvPr/>
        </p:nvSpPr>
        <p:spPr>
          <a:xfrm>
            <a:off x="5290469" y="3667475"/>
            <a:ext cx="1141919"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25" name="TextBox 24"/>
          <p:cNvSpPr txBox="1"/>
          <p:nvPr/>
        </p:nvSpPr>
        <p:spPr>
          <a:xfrm>
            <a:off x="6596980" y="3667475"/>
            <a:ext cx="486045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predecible: el atacante la conoce y precalcula igual que sin sal</a:t>
            </a:r>
          </a:p>
        </p:txBody>
      </p:sp>
      <p:sp>
        <p:nvSpPr>
          <p:cNvPr id="26" name="Rectangle 25"/>
          <p:cNvSpPr/>
          <p:nvPr/>
        </p:nvSpPr>
        <p:spPr>
          <a:xfrm>
            <a:off x="566928" y="39966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88099"/>
            <a:ext cx="455894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Demasiado corta, de pocos bits</a:t>
            </a:r>
          </a:p>
        </p:txBody>
      </p:sp>
      <p:sp>
        <p:nvSpPr>
          <p:cNvPr id="28" name="TextBox 27"/>
          <p:cNvSpPr txBox="1"/>
          <p:nvPr/>
        </p:nvSpPr>
        <p:spPr>
          <a:xfrm>
            <a:off x="5290469" y="4088099"/>
            <a:ext cx="1141919"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Débil</a:t>
            </a:r>
          </a:p>
        </p:txBody>
      </p:sp>
      <p:sp>
        <p:nvSpPr>
          <p:cNvPr id="29" name="TextBox 28"/>
          <p:cNvSpPr txBox="1"/>
          <p:nvPr/>
        </p:nvSpPr>
        <p:spPr>
          <a:xfrm>
            <a:off x="6596980" y="4088099"/>
            <a:ext cx="486045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precalculan tablas para todas las sales posibles. Usen 16 bytes</a:t>
            </a:r>
          </a:p>
        </p:txBody>
      </p:sp>
      <p:sp>
        <p:nvSpPr>
          <p:cNvPr id="30" name="Rectangle 29"/>
          <p:cNvSpPr/>
          <p:nvPr/>
        </p:nvSpPr>
        <p:spPr>
          <a:xfrm>
            <a:off x="566928" y="441728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508723"/>
            <a:ext cx="4558949"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Reutilizada entre usuarios</a:t>
            </a:r>
          </a:p>
        </p:txBody>
      </p:sp>
      <p:sp>
        <p:nvSpPr>
          <p:cNvPr id="32" name="TextBox 31"/>
          <p:cNvSpPr txBox="1"/>
          <p:nvPr/>
        </p:nvSpPr>
        <p:spPr>
          <a:xfrm>
            <a:off x="5290469" y="4508723"/>
            <a:ext cx="1141919" cy="36576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a:t>
            </a:r>
          </a:p>
        </p:txBody>
      </p:sp>
      <p:sp>
        <p:nvSpPr>
          <p:cNvPr id="33" name="TextBox 32"/>
          <p:cNvSpPr txBox="1"/>
          <p:nvPr/>
        </p:nvSpPr>
        <p:spPr>
          <a:xfrm>
            <a:off x="6596980" y="4508723"/>
            <a:ext cx="4860451"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Dos con la misma sal y contraseña vuelven a colisionar</a:t>
            </a:r>
          </a:p>
        </p:txBody>
      </p:sp>
      <p:sp>
        <p:nvSpPr>
          <p:cNvPr id="34" name="Rectangle 33"/>
          <p:cNvSpPr/>
          <p:nvPr/>
        </p:nvSpPr>
        <p:spPr>
          <a:xfrm>
            <a:off x="566928" y="483790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89277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194523"/>
            <a:ext cx="45720" cy="56692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21281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REGLA DE ORO</a:t>
            </a:r>
          </a:p>
        </p:txBody>
      </p:sp>
      <p:sp>
        <p:nvSpPr>
          <p:cNvPr id="38" name="TextBox 37"/>
          <p:cNvSpPr txBox="1"/>
          <p:nvPr/>
        </p:nvSpPr>
        <p:spPr>
          <a:xfrm>
            <a:off x="804672" y="5450555"/>
            <a:ext cx="10780776" cy="29260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sal por registro, aleatoria, de al menos 16 bytes y guardada junto al resumen. </a:t>
            </a:r>
            <a:r>
              <a:rPr sz="1150" b="1">
                <a:solidFill>
                  <a:srgbClr val="2A2A2A"/>
                </a:solidFill>
                <a:latin typeface="Arial"/>
              </a:rPr>
              <a:t>Si dos registros comparten sal, ya falló.</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30  ATAQUE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EL TALLER DEL ATACANTE: CUÁNTO CUESTA CADA INTENTO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Cifras aproximadas de pruebas públicas con una sola tarjeta gráfica de gama alta. No importa el número exacto: importa la diferencia de orden de magnitud entre las filas.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FUNCIÓN</a:t>
            </a:r>
          </a:p>
        </p:txBody>
      </p:sp>
      <p:sp>
        <p:nvSpPr>
          <p:cNvPr id="12" name="TextBox 11"/>
          <p:cNvSpPr txBox="1"/>
          <p:nvPr/>
        </p:nvSpPr>
        <p:spPr>
          <a:xfrm>
            <a:off x="4546762"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INTENTOS POR SEGUNDO</a:t>
            </a:r>
          </a:p>
        </p:txBody>
      </p:sp>
      <p:sp>
        <p:nvSpPr>
          <p:cNvPr id="13" name="TextBox 12"/>
          <p:cNvSpPr txBox="1"/>
          <p:nvPr/>
        </p:nvSpPr>
        <p:spPr>
          <a:xfrm>
            <a:off x="7863291"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TODAS LAS DE OCHO MINÚSCULAS · 2,1 × 10¹¹</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81524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MD5</a:t>
            </a:r>
          </a:p>
        </p:txBody>
      </p:sp>
      <p:sp>
        <p:nvSpPr>
          <p:cNvPr id="16" name="TextBox 15"/>
          <p:cNvSpPr txBox="1"/>
          <p:nvPr/>
        </p:nvSpPr>
        <p:spPr>
          <a:xfrm>
            <a:off x="4546762" y="2825495"/>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Unos 160.000 millones</a:t>
            </a:r>
          </a:p>
        </p:txBody>
      </p:sp>
      <p:sp>
        <p:nvSpPr>
          <p:cNvPr id="17" name="TextBox 16"/>
          <p:cNvSpPr txBox="1"/>
          <p:nvPr/>
        </p:nvSpPr>
        <p:spPr>
          <a:xfrm>
            <a:off x="7863291" y="2825495"/>
            <a:ext cx="3594140"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segundo</a:t>
            </a:r>
          </a:p>
        </p:txBody>
      </p:sp>
      <p:sp>
        <p:nvSpPr>
          <p:cNvPr id="18" name="Rectangle 17"/>
          <p:cNvSpPr/>
          <p:nvPr/>
        </p:nvSpPr>
        <p:spPr>
          <a:xfrm>
            <a:off x="566928" y="31181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09543"/>
            <a:ext cx="3815242" cy="32918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SHA-1 · la de Coopaburrá</a:t>
            </a:r>
          </a:p>
        </p:txBody>
      </p:sp>
      <p:sp>
        <p:nvSpPr>
          <p:cNvPr id="20" name="TextBox 19"/>
          <p:cNvSpPr txBox="1"/>
          <p:nvPr/>
        </p:nvSpPr>
        <p:spPr>
          <a:xfrm>
            <a:off x="4546762" y="3209543"/>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Unos 50.000 millones</a:t>
            </a:r>
          </a:p>
        </p:txBody>
      </p:sp>
      <p:sp>
        <p:nvSpPr>
          <p:cNvPr id="21" name="TextBox 20"/>
          <p:cNvSpPr txBox="1"/>
          <p:nvPr/>
        </p:nvSpPr>
        <p:spPr>
          <a:xfrm>
            <a:off x="7863291" y="3209543"/>
            <a:ext cx="3594140"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Cuatro segundos</a:t>
            </a:r>
          </a:p>
        </p:txBody>
      </p:sp>
      <p:sp>
        <p:nvSpPr>
          <p:cNvPr id="22" name="Rectangle 21"/>
          <p:cNvSpPr/>
          <p:nvPr/>
        </p:nvSpPr>
        <p:spPr>
          <a:xfrm>
            <a:off x="566928" y="35021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381524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SHA-256</a:t>
            </a:r>
          </a:p>
        </p:txBody>
      </p:sp>
      <p:sp>
        <p:nvSpPr>
          <p:cNvPr id="24" name="TextBox 23"/>
          <p:cNvSpPr txBox="1"/>
          <p:nvPr/>
        </p:nvSpPr>
        <p:spPr>
          <a:xfrm>
            <a:off x="4546762" y="3593591"/>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Unos 20.000 millones</a:t>
            </a:r>
          </a:p>
        </p:txBody>
      </p:sp>
      <p:sp>
        <p:nvSpPr>
          <p:cNvPr id="25" name="TextBox 24"/>
          <p:cNvSpPr txBox="1"/>
          <p:nvPr/>
        </p:nvSpPr>
        <p:spPr>
          <a:xfrm>
            <a:off x="7863291" y="3593591"/>
            <a:ext cx="3594140"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Diez segundos</a:t>
            </a:r>
          </a:p>
        </p:txBody>
      </p:sp>
      <p:sp>
        <p:nvSpPr>
          <p:cNvPr id="26" name="Rectangle 25"/>
          <p:cNvSpPr/>
          <p:nvPr/>
        </p:nvSpPr>
        <p:spPr>
          <a:xfrm>
            <a:off x="566928" y="388619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977639"/>
            <a:ext cx="381524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bcrypt, costo 10</a:t>
            </a:r>
          </a:p>
        </p:txBody>
      </p:sp>
      <p:sp>
        <p:nvSpPr>
          <p:cNvPr id="28" name="TextBox 27"/>
          <p:cNvSpPr txBox="1"/>
          <p:nvPr/>
        </p:nvSpPr>
        <p:spPr>
          <a:xfrm>
            <a:off x="4546762" y="3977639"/>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Unos 5.000</a:t>
            </a:r>
          </a:p>
        </p:txBody>
      </p:sp>
      <p:sp>
        <p:nvSpPr>
          <p:cNvPr id="29" name="TextBox 28"/>
          <p:cNvSpPr txBox="1"/>
          <p:nvPr/>
        </p:nvSpPr>
        <p:spPr>
          <a:xfrm>
            <a:off x="7863291" y="3977639"/>
            <a:ext cx="3594140"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Más de un año</a:t>
            </a:r>
          </a:p>
        </p:txBody>
      </p:sp>
      <p:sp>
        <p:nvSpPr>
          <p:cNvPr id="30" name="Rectangle 29"/>
          <p:cNvSpPr/>
          <p:nvPr/>
        </p:nvSpPr>
        <p:spPr>
          <a:xfrm>
            <a:off x="566928" y="42702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61687"/>
            <a:ext cx="381524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bcrypt, costo 12</a:t>
            </a:r>
          </a:p>
        </p:txBody>
      </p:sp>
      <p:sp>
        <p:nvSpPr>
          <p:cNvPr id="32" name="TextBox 31"/>
          <p:cNvSpPr txBox="1"/>
          <p:nvPr/>
        </p:nvSpPr>
        <p:spPr>
          <a:xfrm>
            <a:off x="4546762" y="4361687"/>
            <a:ext cx="315193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Unos 1.400</a:t>
            </a:r>
          </a:p>
        </p:txBody>
      </p:sp>
      <p:sp>
        <p:nvSpPr>
          <p:cNvPr id="33" name="TextBox 32"/>
          <p:cNvSpPr txBox="1"/>
          <p:nvPr/>
        </p:nvSpPr>
        <p:spPr>
          <a:xfrm>
            <a:off x="7863291" y="4361687"/>
            <a:ext cx="3594140"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Más de cuatro años</a:t>
            </a:r>
          </a:p>
        </p:txBody>
      </p:sp>
      <p:sp>
        <p:nvSpPr>
          <p:cNvPr id="34" name="Rectangle 33"/>
          <p:cNvSpPr/>
          <p:nvPr/>
        </p:nvSpPr>
        <p:spPr>
          <a:xfrm>
            <a:off x="566928" y="46542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70915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010911"/>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02919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CAMBIA DE VERDAD</a:t>
            </a:r>
          </a:p>
        </p:txBody>
      </p:sp>
      <p:sp>
        <p:nvSpPr>
          <p:cNvPr id="38" name="TextBox 37"/>
          <p:cNvSpPr txBox="1"/>
          <p:nvPr/>
        </p:nvSpPr>
        <p:spPr>
          <a:xfrm>
            <a:off x="804672" y="5266943"/>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Pasar de SHA-1 a una función con factor de trabajo multiplica el costo de cada intento por unos diez millones. </a:t>
            </a:r>
            <a:r>
              <a:rPr sz="1150" b="1">
                <a:solidFill>
                  <a:srgbClr val="2A2A2A"/>
                </a:solidFill>
                <a:latin typeface="Arial"/>
              </a:rPr>
              <a:t>Ningún cambio de política de contraseñas consigue ni una fracción de eso.</a:t>
            </a:r>
            <a:r>
              <a:rPr sz="1150" b="0">
                <a:solidFill>
                  <a:srgbClr val="2A2A2A"/>
                </a:solidFill>
                <a:latin typeface="Arial"/>
              </a:rPr>
              <a:t> Por eso es la primera recomendación de H1, antes que cualquier regla nueva. Las funciones que exigen memoria son todavía peores para el atacante.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31  SOLUCIÓN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FUNCIONES DE DERIVACIÓN DE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solución real no es resumir mejor: es resumir </a:t>
            </a:r>
            <a:r>
              <a:rPr sz="1250" b="1">
                <a:solidFill>
                  <a:srgbClr val="2A2A2A"/>
                </a:solidFill>
                <a:latin typeface="Arial"/>
              </a:rPr>
              <a:t>lento a propósito</a:t>
            </a:r>
            <a:r>
              <a:rPr sz="1250" b="0">
                <a:solidFill>
                  <a:srgbClr val="2A2A2A"/>
                </a:solidFill>
                <a:latin typeface="Arial"/>
              </a:rPr>
              <a:t>. Una función de derivación repite la operación miles de veces y consume memoria deliberadamente, para que cada intento le cueste al atacante.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64442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FUNCIÓN</a:t>
            </a:r>
          </a:p>
        </p:txBody>
      </p:sp>
      <p:sp>
        <p:nvSpPr>
          <p:cNvPr id="12" name="TextBox 11"/>
          <p:cNvSpPr txBox="1"/>
          <p:nvPr/>
        </p:nvSpPr>
        <p:spPr>
          <a:xfrm>
            <a:off x="2375943" y="2423159"/>
            <a:ext cx="84041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AÑO</a:t>
            </a:r>
          </a:p>
        </p:txBody>
      </p:sp>
      <p:sp>
        <p:nvSpPr>
          <p:cNvPr id="13" name="TextBox 12"/>
          <p:cNvSpPr txBox="1"/>
          <p:nvPr/>
        </p:nvSpPr>
        <p:spPr>
          <a:xfrm>
            <a:off x="3380952" y="2423159"/>
            <a:ext cx="40564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HACE COSTOSO</a:t>
            </a:r>
          </a:p>
        </p:txBody>
      </p:sp>
      <p:sp>
        <p:nvSpPr>
          <p:cNvPr id="14" name="TextBox 13"/>
          <p:cNvSpPr txBox="1"/>
          <p:nvPr/>
        </p:nvSpPr>
        <p:spPr>
          <a:xfrm>
            <a:off x="7601989" y="2423159"/>
            <a:ext cx="38554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RECOMENDACIÓN</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644423"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PBKDF2</a:t>
            </a:r>
          </a:p>
        </p:txBody>
      </p:sp>
      <p:sp>
        <p:nvSpPr>
          <p:cNvPr id="17" name="TextBox 16"/>
          <p:cNvSpPr txBox="1"/>
          <p:nvPr/>
        </p:nvSpPr>
        <p:spPr>
          <a:xfrm>
            <a:off x="2375943" y="2825495"/>
            <a:ext cx="84041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2000</a:t>
            </a:r>
          </a:p>
        </p:txBody>
      </p:sp>
      <p:sp>
        <p:nvSpPr>
          <p:cNvPr id="18" name="TextBox 17"/>
          <p:cNvSpPr txBox="1"/>
          <p:nvPr/>
        </p:nvSpPr>
        <p:spPr>
          <a:xfrm>
            <a:off x="3380952" y="2825495"/>
            <a:ext cx="405644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Repite la operación muchas veces. Solo consume tiempo</a:t>
            </a:r>
          </a:p>
        </p:txBody>
      </p:sp>
      <p:sp>
        <p:nvSpPr>
          <p:cNvPr id="19" name="TextBox 18"/>
          <p:cNvSpPr txBox="1"/>
          <p:nvPr/>
        </p:nvSpPr>
        <p:spPr>
          <a:xfrm>
            <a:off x="7601989" y="2825495"/>
            <a:ext cx="385544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Aceptable si es lo único disponible por normativa</a:t>
            </a:r>
          </a:p>
        </p:txBody>
      </p:sp>
      <p:sp>
        <p:nvSpPr>
          <p:cNvPr id="20" name="Rectangle 19"/>
          <p:cNvSpPr/>
          <p:nvPr/>
        </p:nvSpPr>
        <p:spPr>
          <a:xfrm>
            <a:off x="566928" y="31912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282695"/>
            <a:ext cx="1644423"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bcrypt</a:t>
            </a:r>
          </a:p>
        </p:txBody>
      </p:sp>
      <p:sp>
        <p:nvSpPr>
          <p:cNvPr id="22" name="TextBox 21"/>
          <p:cNvSpPr txBox="1"/>
          <p:nvPr/>
        </p:nvSpPr>
        <p:spPr>
          <a:xfrm>
            <a:off x="2375943" y="3282695"/>
            <a:ext cx="84041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1999</a:t>
            </a:r>
          </a:p>
        </p:txBody>
      </p:sp>
      <p:sp>
        <p:nvSpPr>
          <p:cNvPr id="23" name="TextBox 22"/>
          <p:cNvSpPr txBox="1"/>
          <p:nvPr/>
        </p:nvSpPr>
        <p:spPr>
          <a:xfrm>
            <a:off x="3380952" y="3282695"/>
            <a:ext cx="405644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Tiempo y algo de memoria. Límite de longitud de entrada</a:t>
            </a:r>
          </a:p>
        </p:txBody>
      </p:sp>
      <p:sp>
        <p:nvSpPr>
          <p:cNvPr id="24" name="TextBox 23"/>
          <p:cNvSpPr txBox="1"/>
          <p:nvPr/>
        </p:nvSpPr>
        <p:spPr>
          <a:xfrm>
            <a:off x="7601989" y="3282695"/>
            <a:ext cx="385544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Aceptable, ampliamente probado</a:t>
            </a:r>
          </a:p>
        </p:txBody>
      </p:sp>
      <p:sp>
        <p:nvSpPr>
          <p:cNvPr id="25" name="Rectangle 24"/>
          <p:cNvSpPr/>
          <p:nvPr/>
        </p:nvSpPr>
        <p:spPr>
          <a:xfrm>
            <a:off x="566928" y="36484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739895"/>
            <a:ext cx="1644423"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scrypt</a:t>
            </a:r>
          </a:p>
        </p:txBody>
      </p:sp>
      <p:sp>
        <p:nvSpPr>
          <p:cNvPr id="27" name="TextBox 26"/>
          <p:cNvSpPr txBox="1"/>
          <p:nvPr/>
        </p:nvSpPr>
        <p:spPr>
          <a:xfrm>
            <a:off x="2375943" y="3739895"/>
            <a:ext cx="84041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2009</a:t>
            </a:r>
          </a:p>
        </p:txBody>
      </p:sp>
      <p:sp>
        <p:nvSpPr>
          <p:cNvPr id="28" name="TextBox 27"/>
          <p:cNvSpPr txBox="1"/>
          <p:nvPr/>
        </p:nvSpPr>
        <p:spPr>
          <a:xfrm>
            <a:off x="3380952" y="3739895"/>
            <a:ext cx="405644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Tiempo y bastante memoria</a:t>
            </a:r>
          </a:p>
        </p:txBody>
      </p:sp>
      <p:sp>
        <p:nvSpPr>
          <p:cNvPr id="29" name="TextBox 28"/>
          <p:cNvSpPr txBox="1"/>
          <p:nvPr/>
        </p:nvSpPr>
        <p:spPr>
          <a:xfrm>
            <a:off x="7601989" y="3739895"/>
            <a:ext cx="385544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Buena opción</a:t>
            </a:r>
          </a:p>
        </p:txBody>
      </p:sp>
      <p:sp>
        <p:nvSpPr>
          <p:cNvPr id="30" name="Rectangle 29"/>
          <p:cNvSpPr/>
          <p:nvPr/>
        </p:nvSpPr>
        <p:spPr>
          <a:xfrm>
            <a:off x="566928" y="41056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197095"/>
            <a:ext cx="1644423" cy="40233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Argon2id</a:t>
            </a:r>
          </a:p>
        </p:txBody>
      </p:sp>
      <p:sp>
        <p:nvSpPr>
          <p:cNvPr id="32" name="TextBox 31"/>
          <p:cNvSpPr txBox="1"/>
          <p:nvPr/>
        </p:nvSpPr>
        <p:spPr>
          <a:xfrm>
            <a:off x="2375943" y="4197095"/>
            <a:ext cx="840416"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2015</a:t>
            </a:r>
          </a:p>
        </p:txBody>
      </p:sp>
      <p:sp>
        <p:nvSpPr>
          <p:cNvPr id="33" name="TextBox 32"/>
          <p:cNvSpPr txBox="1"/>
          <p:nvPr/>
        </p:nvSpPr>
        <p:spPr>
          <a:xfrm>
            <a:off x="3380952" y="4197095"/>
            <a:ext cx="4056444"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Tiempo, memoria y paralelismo, los tres calibrables</a:t>
            </a:r>
          </a:p>
        </p:txBody>
      </p:sp>
      <p:sp>
        <p:nvSpPr>
          <p:cNvPr id="34" name="TextBox 33"/>
          <p:cNvSpPr txBox="1"/>
          <p:nvPr/>
        </p:nvSpPr>
        <p:spPr>
          <a:xfrm>
            <a:off x="7601989" y="4197095"/>
            <a:ext cx="385544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recomendación actual para sistemas nuevos</a:t>
            </a:r>
          </a:p>
        </p:txBody>
      </p:sp>
      <p:sp>
        <p:nvSpPr>
          <p:cNvPr id="35" name="Rectangle 34"/>
          <p:cNvSpPr/>
          <p:nvPr/>
        </p:nvSpPr>
        <p:spPr>
          <a:xfrm>
            <a:off x="566928" y="45628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61771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4919471"/>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493775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IMPORTA LA MEMORIA Y NO SOLO EL TIEMPO</a:t>
            </a:r>
          </a:p>
        </p:txBody>
      </p:sp>
      <p:sp>
        <p:nvSpPr>
          <p:cNvPr id="39" name="TextBox 38"/>
          <p:cNvSpPr txBox="1"/>
          <p:nvPr/>
        </p:nvSpPr>
        <p:spPr>
          <a:xfrm>
            <a:off x="804672" y="5175503"/>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tarjeta gráfica tiene miles de núcleos pero poca memoria por núcleo. Una función que exige mucha memoria por intento anula esa ventaja y deja al atacante sin su mejor herramienta. Por eso las funciones modernas piden memoria, no solo repeticiones.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32  PARÁMETROS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ARGON2ID: LOS PARÁMETROS Y CÓMO SE GUARDAN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recomendación actual para sistemas nuevos, con los valores de referencia de las dos fuentes que se citan en cualquier auditoría: el RFC que la estandariza y la guía de OWASP.</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PARÁMETRO</a:t>
            </a:r>
          </a:p>
        </p:txBody>
      </p:sp>
      <p:sp>
        <p:nvSpPr>
          <p:cNvPr id="12" name="TextBox 11"/>
          <p:cNvSpPr txBox="1"/>
          <p:nvPr/>
        </p:nvSpPr>
        <p:spPr>
          <a:xfrm>
            <a:off x="2999049" y="2423159"/>
            <a:ext cx="458909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CONTROLA</a:t>
            </a:r>
          </a:p>
        </p:txBody>
      </p:sp>
      <p:sp>
        <p:nvSpPr>
          <p:cNvPr id="13" name="TextBox 12"/>
          <p:cNvSpPr txBox="1"/>
          <p:nvPr/>
        </p:nvSpPr>
        <p:spPr>
          <a:xfrm>
            <a:off x="7752740" y="2423159"/>
            <a:ext cx="37046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VALOR DE REFERENCIA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Memoria · m</a:t>
            </a:r>
          </a:p>
        </p:txBody>
      </p:sp>
      <p:sp>
        <p:nvSpPr>
          <p:cNvPr id="16" name="TextBox 15"/>
          <p:cNvSpPr txBox="1"/>
          <p:nvPr/>
        </p:nvSpPr>
        <p:spPr>
          <a:xfrm>
            <a:off x="2999049" y="2825495"/>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Cuánta RAM exige cada intento: lo que anula la ventaja de la tarjeta gráfica</a:t>
            </a:r>
          </a:p>
        </p:txBody>
      </p:sp>
      <p:sp>
        <p:nvSpPr>
          <p:cNvPr id="17" name="TextBox 16"/>
          <p:cNvSpPr txBox="1"/>
          <p:nvPr/>
        </p:nvSpPr>
        <p:spPr>
          <a:xfrm>
            <a:off x="7752740" y="2825495"/>
            <a:ext cx="370469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19 MiB como mínimo según OWASP; 64 MiB en la segunda opción del RFC 9106</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267529"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Iteraciones · t</a:t>
            </a:r>
          </a:p>
        </p:txBody>
      </p:sp>
      <p:sp>
        <p:nvSpPr>
          <p:cNvPr id="20" name="TextBox 19"/>
          <p:cNvSpPr txBox="1"/>
          <p:nvPr/>
        </p:nvSpPr>
        <p:spPr>
          <a:xfrm>
            <a:off x="2999049" y="3365357"/>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Cuántas pasadas se hacen sobre esa memoria</a:t>
            </a:r>
          </a:p>
        </p:txBody>
      </p:sp>
      <p:sp>
        <p:nvSpPr>
          <p:cNvPr id="21" name="TextBox 20"/>
          <p:cNvSpPr txBox="1"/>
          <p:nvPr/>
        </p:nvSpPr>
        <p:spPr>
          <a:xfrm>
            <a:off x="7752740" y="3365357"/>
            <a:ext cx="370469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 con 19 MiB; 3 con 64 MiB</a:t>
            </a:r>
          </a:p>
        </p:txBody>
      </p:sp>
      <p:sp>
        <p:nvSpPr>
          <p:cNvPr id="22" name="Rectangle 21"/>
          <p:cNvSpPr/>
          <p:nvPr/>
        </p:nvSpPr>
        <p:spPr>
          <a:xfrm>
            <a:off x="566928" y="36579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49405"/>
            <a:ext cx="2267529"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Paralelismo · p</a:t>
            </a:r>
          </a:p>
        </p:txBody>
      </p:sp>
      <p:sp>
        <p:nvSpPr>
          <p:cNvPr id="24" name="TextBox 23"/>
          <p:cNvSpPr txBox="1"/>
          <p:nvPr/>
        </p:nvSpPr>
        <p:spPr>
          <a:xfrm>
            <a:off x="2999049" y="3749405"/>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Cuántos hilos usa el servidor legítimo</a:t>
            </a:r>
          </a:p>
        </p:txBody>
      </p:sp>
      <p:sp>
        <p:nvSpPr>
          <p:cNvPr id="25" name="TextBox 24"/>
          <p:cNvSpPr txBox="1"/>
          <p:nvPr/>
        </p:nvSpPr>
        <p:spPr>
          <a:xfrm>
            <a:off x="7752740" y="3749405"/>
            <a:ext cx="370469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 según OWASP; 4 según el RFC</a:t>
            </a:r>
          </a:p>
        </p:txBody>
      </p:sp>
      <p:sp>
        <p:nvSpPr>
          <p:cNvPr id="26" name="Rectangle 25"/>
          <p:cNvSpPr/>
          <p:nvPr/>
        </p:nvSpPr>
        <p:spPr>
          <a:xfrm>
            <a:off x="566928" y="404201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133453"/>
            <a:ext cx="2267529"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Sal</a:t>
            </a:r>
          </a:p>
        </p:txBody>
      </p:sp>
      <p:sp>
        <p:nvSpPr>
          <p:cNvPr id="28" name="TextBox 27"/>
          <p:cNvSpPr txBox="1"/>
          <p:nvPr/>
        </p:nvSpPr>
        <p:spPr>
          <a:xfrm>
            <a:off x="2999049" y="4133453"/>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Única por usuario, de un generador criptográfico</a:t>
            </a:r>
          </a:p>
        </p:txBody>
      </p:sp>
      <p:sp>
        <p:nvSpPr>
          <p:cNvPr id="29" name="TextBox 28"/>
          <p:cNvSpPr txBox="1"/>
          <p:nvPr/>
        </p:nvSpPr>
        <p:spPr>
          <a:xfrm>
            <a:off x="7752740" y="4133453"/>
            <a:ext cx="370469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16 bytes</a:t>
            </a:r>
          </a:p>
        </p:txBody>
      </p:sp>
      <p:sp>
        <p:nvSpPr>
          <p:cNvPr id="30" name="Rectangle 29"/>
          <p:cNvSpPr/>
          <p:nvPr/>
        </p:nvSpPr>
        <p:spPr>
          <a:xfrm>
            <a:off x="566928" y="442606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517501"/>
            <a:ext cx="2267529"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Salida</a:t>
            </a:r>
          </a:p>
        </p:txBody>
      </p:sp>
      <p:sp>
        <p:nvSpPr>
          <p:cNvPr id="32" name="TextBox 31"/>
          <p:cNvSpPr txBox="1"/>
          <p:nvPr/>
        </p:nvSpPr>
        <p:spPr>
          <a:xfrm>
            <a:off x="2999049" y="4517501"/>
            <a:ext cx="4589099"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Tamaño del resultado almacenado</a:t>
            </a:r>
          </a:p>
        </p:txBody>
      </p:sp>
      <p:sp>
        <p:nvSpPr>
          <p:cNvPr id="33" name="TextBox 32"/>
          <p:cNvSpPr txBox="1"/>
          <p:nvPr/>
        </p:nvSpPr>
        <p:spPr>
          <a:xfrm>
            <a:off x="7752740" y="4517501"/>
            <a:ext cx="370469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32 bytes</a:t>
            </a:r>
          </a:p>
        </p:txBody>
      </p:sp>
      <p:sp>
        <p:nvSpPr>
          <p:cNvPr id="34" name="Rectangle 33"/>
          <p:cNvSpPr/>
          <p:nvPr/>
        </p:nvSpPr>
        <p:spPr>
          <a:xfrm>
            <a:off x="566928" y="4810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86497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166725"/>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18501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LOS PARÁMETROS SE GUARDAN CON EL RESULTADO</a:t>
            </a:r>
          </a:p>
        </p:txBody>
      </p:sp>
      <p:sp>
        <p:nvSpPr>
          <p:cNvPr id="38" name="TextBox 37"/>
          <p:cNvSpPr txBox="1"/>
          <p:nvPr/>
        </p:nvSpPr>
        <p:spPr>
          <a:xfrm>
            <a:off x="804672" y="5422757"/>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Cada registro se guarda como «$argon2id$v=19$m=19456,t=2,p=1$sal$resultado». </a:t>
            </a:r>
            <a:r>
              <a:rPr sz="1150" b="1">
                <a:solidFill>
                  <a:srgbClr val="2A2A2A"/>
                </a:solidFill>
                <a:latin typeface="Arial"/>
              </a:rPr>
              <a:t>Así se pueden subir los parámetros el año próximo sin romper los registros viejos</a:t>
            </a:r>
            <a:r>
              <a:rPr sz="1150" b="0">
                <a:solidFill>
                  <a:srgbClr val="2A2A2A"/>
                </a:solidFill>
                <a:latin typeface="Arial"/>
              </a:rPr>
              <a:t>: cada uno se verifica con los suyos y se actualiza en el siguiente ingreso del usuario.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33  CALIBRACIÓN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ELIGE EL FACTOR DE TRABAJO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hay un número universal: depende del servidor y de cuánta espera tolera el usuario. La regla de calibración es sencilla y se puede defender ante un comité.</a:t>
            </a:r>
          </a:p>
        </p:txBody>
      </p:sp>
      <p:sp>
        <p:nvSpPr>
          <p:cNvPr id="10" name="TextBox 9"/>
          <p:cNvSpPr txBox="1"/>
          <p:nvPr/>
        </p:nvSpPr>
        <p:spPr>
          <a:xfrm>
            <a:off x="566928" y="230428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2257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Fije el tiempo objetivo por verificación</a:t>
            </a:r>
          </a:p>
        </p:txBody>
      </p:sp>
      <p:sp>
        <p:nvSpPr>
          <p:cNvPr id="12" name="TextBox 11"/>
          <p:cNvSpPr txBox="1"/>
          <p:nvPr/>
        </p:nvSpPr>
        <p:spPr>
          <a:xfrm>
            <a:off x="1280160" y="256032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Entre 0,25 y 1 segundo en el servidor de producción es el rango habitual para un portal.</a:t>
            </a:r>
          </a:p>
        </p:txBody>
      </p:sp>
      <p:sp>
        <p:nvSpPr>
          <p:cNvPr id="13" name="TextBox 12"/>
          <p:cNvSpPr txBox="1"/>
          <p:nvPr/>
        </p:nvSpPr>
        <p:spPr>
          <a:xfrm>
            <a:off x="566928" y="301752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3580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Mida con el hardware real, no con su portátil</a:t>
            </a:r>
          </a:p>
        </p:txBody>
      </p:sp>
      <p:sp>
        <p:nvSpPr>
          <p:cNvPr id="15" name="TextBox 14"/>
          <p:cNvSpPr txBox="1"/>
          <p:nvPr/>
        </p:nvSpPr>
        <p:spPr>
          <a:xfrm>
            <a:off x="1280160" y="327355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factor correcto en el servidor de Itagüí no es el mismo que en la máquina de desarrollo.</a:t>
            </a:r>
          </a:p>
        </p:txBody>
      </p:sp>
      <p:sp>
        <p:nvSpPr>
          <p:cNvPr id="16" name="TextBox 15"/>
          <p:cNvSpPr txBox="1"/>
          <p:nvPr/>
        </p:nvSpPr>
        <p:spPr>
          <a:xfrm>
            <a:off x="566928" y="373075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4903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Calcule el impacto en el pico de carga</a:t>
            </a:r>
          </a:p>
        </p:txBody>
      </p:sp>
      <p:sp>
        <p:nvSpPr>
          <p:cNvPr id="18" name="TextBox 17"/>
          <p:cNvSpPr txBox="1"/>
          <p:nvPr/>
        </p:nvSpPr>
        <p:spPr>
          <a:xfrm>
            <a:off x="1280160" y="398678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portal tiene 9.000 sesiones diarias. Hay que verificar que el costo sea sostenible en la hora pico.</a:t>
            </a:r>
          </a:p>
        </p:txBody>
      </p:sp>
      <p:sp>
        <p:nvSpPr>
          <p:cNvPr id="19" name="TextBox 18"/>
          <p:cNvSpPr txBox="1"/>
          <p:nvPr/>
        </p:nvSpPr>
        <p:spPr>
          <a:xfrm>
            <a:off x="566928" y="444398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46227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Documente el parámetro y revíselo cada año</a:t>
            </a:r>
          </a:p>
        </p:txBody>
      </p:sp>
      <p:sp>
        <p:nvSpPr>
          <p:cNvPr id="21" name="TextBox 20"/>
          <p:cNvSpPr txBox="1"/>
          <p:nvPr/>
        </p:nvSpPr>
        <p:spPr>
          <a:xfrm>
            <a:off x="1280160" y="470001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hardware del atacante mejora. Un factor calibrado en 2026 será insuficiente en 2030.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34  CAPA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LA PIMIENTA: UN SECRETO QUE NO VIVE EN LA BASE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sal no es secreta y viaja con el resumen. La pimienta es lo contrario: un secreto de la aplicación, común a todos los registros, que nunca se guarda en la base de datos.</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FUNCIONA</a:t>
            </a:r>
          </a:p>
        </p:txBody>
      </p:sp>
      <p:sp>
        <p:nvSpPr>
          <p:cNvPr id="11" name="TextBox 10"/>
          <p:cNvSpPr txBox="1"/>
          <p:nvPr/>
        </p:nvSpPr>
        <p:spPr>
          <a:xfrm>
            <a:off x="566928"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resultado de Argon2id se pasa por un HMAC con la pimienta antes de guardarlo.</a:t>
            </a:r>
          </a:p>
          <a:p>
            <a:pPr algn="l">
              <a:lnSpc>
                <a:spcPct val="128000"/>
              </a:lnSpc>
              <a:spcAft>
                <a:spcPts val="700"/>
              </a:spcAft>
            </a:pPr>
            <a:r>
              <a:rPr sz="1150" b="0">
                <a:solidFill>
                  <a:srgbClr val="000000"/>
                </a:solidFill>
                <a:latin typeface="Arial"/>
              </a:rPr>
              <a:t>La pimienta vive en un servicio de gestión de llaves o en un módulo de hardware, nunca en el código ni en la base.</a:t>
            </a:r>
          </a:p>
          <a:p>
            <a:pPr algn="l">
              <a:lnSpc>
                <a:spcPct val="128000"/>
              </a:lnSpc>
              <a:spcAft>
                <a:spcPts val="700"/>
              </a:spcAft>
            </a:pPr>
            <a:r>
              <a:rPr sz="1150" b="0">
                <a:solidFill>
                  <a:srgbClr val="000000"/>
                </a:solidFill>
                <a:latin typeface="Arial"/>
              </a:rPr>
              <a:t>Un robo de la base sola, por inyección de SQL o por un respaldo extraviado, entrega resúmenes que no se pueden atacar sin ella.</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EXIGE</a:t>
            </a:r>
          </a:p>
        </p:txBody>
      </p:sp>
      <p:sp>
        <p:nvSpPr>
          <p:cNvPr id="13" name="TextBox 12"/>
          <p:cNvSpPr txBox="1"/>
          <p:nvPr/>
        </p:nvSpPr>
        <p:spPr>
          <a:xfrm>
            <a:off x="6368796" y="2578607"/>
            <a:ext cx="5253228" cy="182879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Vivir separada de la base: si están juntas, no aporta nada.</a:t>
            </a:r>
          </a:p>
          <a:p>
            <a:pPr algn="l">
              <a:lnSpc>
                <a:spcPct val="128000"/>
              </a:lnSpc>
              <a:spcAft>
                <a:spcPts val="700"/>
              </a:spcAft>
            </a:pPr>
            <a:r>
              <a:rPr sz="1150" b="0">
                <a:solidFill>
                  <a:srgbClr val="000000"/>
                </a:solidFill>
                <a:latin typeface="Arial"/>
              </a:rPr>
              <a:t>Un plan de rotación: cambiarla obliga a conservar la anterior mientras los registros se actualizan.</a:t>
            </a:r>
          </a:p>
          <a:p>
            <a:pPr algn="l">
              <a:lnSpc>
                <a:spcPct val="128000"/>
              </a:lnSpc>
              <a:spcAft>
                <a:spcPts val="700"/>
              </a:spcAft>
            </a:pPr>
            <a:r>
              <a:rPr sz="1150" b="0">
                <a:solidFill>
                  <a:srgbClr val="000000"/>
                </a:solidFill>
                <a:latin typeface="Arial"/>
              </a:rPr>
              <a:t>Y no reemplaza nada: es una capa sobre la sal por usuario y la función lenta, nunca un sustituto.</a:t>
            </a:r>
          </a:p>
        </p:txBody>
      </p:sp>
      <p:sp>
        <p:nvSpPr>
          <p:cNvPr id="14" name="Rectangle 13"/>
          <p:cNvSpPr/>
          <p:nvPr/>
        </p:nvSpPr>
        <p:spPr>
          <a:xfrm>
            <a:off x="6085332" y="2304287"/>
            <a:ext cx="9144" cy="21031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663440"/>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6817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IRONÍA DEL CASO</a:t>
            </a:r>
          </a:p>
        </p:txBody>
      </p:sp>
      <p:sp>
        <p:nvSpPr>
          <p:cNvPr id="17" name="TextBox 16"/>
          <p:cNvSpPr txBox="1"/>
          <p:nvPr/>
        </p:nvSpPr>
        <p:spPr>
          <a:xfrm>
            <a:off x="804672" y="4919472"/>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Coopaburrá tiene algo parecido a una pimienta: la constante «c00pab2019», común a todos los registros. </a:t>
            </a:r>
            <a:r>
              <a:rPr sz="1150" b="1">
                <a:solidFill>
                  <a:srgbClr val="2A2A2A"/>
                </a:solidFill>
                <a:latin typeface="Arial"/>
              </a:rPr>
              <a:t>El problema es que vive en el código fuente, a la vista de once personas</a:t>
            </a:r>
            <a:r>
              <a:rPr sz="1150" b="0">
                <a:solidFill>
                  <a:srgbClr val="2A2A2A"/>
                </a:solidFill>
                <a:latin typeface="Arial"/>
              </a:rPr>
              <a:t>, que es exactamente donde una pimienta no puede estar.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35  POLÍTICA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LO QUE CAMBIÓ EN LAS POLÍTICAS DE CONTRASEÑA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Las reglas que casi todas las organizaciones siguen fueron desaconsejadas por la propia entidad que las había recomendado. Coopaburrá exige seis caracteres y no obliga a cambiarlas: está mal en un extremo, pero la corrección no es irse al otro.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05143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PRÁCTICA TRADICIONAL</a:t>
            </a:r>
          </a:p>
        </p:txBody>
      </p:sp>
      <p:sp>
        <p:nvSpPr>
          <p:cNvPr id="12" name="TextBox 11"/>
          <p:cNvSpPr txBox="1"/>
          <p:nvPr/>
        </p:nvSpPr>
        <p:spPr>
          <a:xfrm>
            <a:off x="3782955" y="2423159"/>
            <a:ext cx="325243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RECOMENDACIÓN ACTUAL</a:t>
            </a:r>
          </a:p>
        </p:txBody>
      </p:sp>
      <p:sp>
        <p:nvSpPr>
          <p:cNvPr id="13" name="TextBox 12"/>
          <p:cNvSpPr txBox="1"/>
          <p:nvPr/>
        </p:nvSpPr>
        <p:spPr>
          <a:xfrm>
            <a:off x="7199985" y="2423159"/>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CAMBIÓ</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05143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Exigir mayúscula, número y símbolo</a:t>
            </a:r>
          </a:p>
        </p:txBody>
      </p:sp>
      <p:sp>
        <p:nvSpPr>
          <p:cNvPr id="16" name="TextBox 15"/>
          <p:cNvSpPr txBox="1"/>
          <p:nvPr/>
        </p:nvSpPr>
        <p:spPr>
          <a:xfrm>
            <a:off x="3782955" y="2825495"/>
            <a:ext cx="325243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imponer reglas de composición</a:t>
            </a:r>
          </a:p>
        </p:txBody>
      </p:sp>
      <p:sp>
        <p:nvSpPr>
          <p:cNvPr id="17" name="TextBox 16"/>
          <p:cNvSpPr txBox="1"/>
          <p:nvPr/>
        </p:nvSpPr>
        <p:spPr>
          <a:xfrm>
            <a:off x="7199985" y="2825495"/>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Producen contraseñas predecibles: la gente escribe la misma palabra con un 1 y un signo al final</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051435"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Obligar a cambiarla cada 90 días</a:t>
            </a:r>
          </a:p>
        </p:txBody>
      </p:sp>
      <p:sp>
        <p:nvSpPr>
          <p:cNvPr id="20" name="TextBox 19"/>
          <p:cNvSpPr txBox="1"/>
          <p:nvPr/>
        </p:nvSpPr>
        <p:spPr>
          <a:xfrm>
            <a:off x="3782955" y="3365357"/>
            <a:ext cx="325243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Cambiar solo ante indicio de compromiso</a:t>
            </a:r>
          </a:p>
        </p:txBody>
      </p:sp>
      <p:sp>
        <p:nvSpPr>
          <p:cNvPr id="21" name="TextBox 20"/>
          <p:cNvSpPr txBox="1"/>
          <p:nvPr/>
        </p:nvSpPr>
        <p:spPr>
          <a:xfrm>
            <a:off x="7199985" y="3365357"/>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cambio forzado empeora las contraseñas: se vuelven variaciones numeradas de la anterior</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051435"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Mínimo de 8 caracteres</a:t>
            </a:r>
          </a:p>
        </p:txBody>
      </p:sp>
      <p:sp>
        <p:nvSpPr>
          <p:cNvPr id="24" name="TextBox 23"/>
          <p:cNvSpPr txBox="1"/>
          <p:nvPr/>
        </p:nvSpPr>
        <p:spPr>
          <a:xfrm>
            <a:off x="3782955" y="3905219"/>
            <a:ext cx="3252437"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Permitir frases largas y no limitar el máximo</a:t>
            </a:r>
          </a:p>
        </p:txBody>
      </p:sp>
      <p:sp>
        <p:nvSpPr>
          <p:cNvPr id="25" name="TextBox 24"/>
          <p:cNvSpPr txBox="1"/>
          <p:nvPr/>
        </p:nvSpPr>
        <p:spPr>
          <a:xfrm>
            <a:off x="7199985" y="3905219"/>
            <a:ext cx="4257446"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longitud aporta mucha más entropía que la complejidad</a:t>
            </a:r>
          </a:p>
        </p:txBody>
      </p:sp>
      <p:sp>
        <p:nvSpPr>
          <p:cNvPr id="26" name="Rectangle 25"/>
          <p:cNvSpPr/>
          <p:nvPr/>
        </p:nvSpPr>
        <p:spPr>
          <a:xfrm>
            <a:off x="566928" y="43258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17283"/>
            <a:ext cx="3051435"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Sin verificación externa</a:t>
            </a:r>
          </a:p>
        </p:txBody>
      </p:sp>
      <p:sp>
        <p:nvSpPr>
          <p:cNvPr id="28" name="TextBox 27"/>
          <p:cNvSpPr txBox="1"/>
          <p:nvPr/>
        </p:nvSpPr>
        <p:spPr>
          <a:xfrm>
            <a:off x="3782955" y="4417283"/>
            <a:ext cx="325243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Contrastar contra listas de contraseñas ya filtradas</a:t>
            </a:r>
          </a:p>
        </p:txBody>
      </p:sp>
      <p:sp>
        <p:nvSpPr>
          <p:cNvPr id="29" name="TextBox 28"/>
          <p:cNvSpPr txBox="1"/>
          <p:nvPr/>
        </p:nvSpPr>
        <p:spPr>
          <a:xfrm>
            <a:off x="7199985" y="4417283"/>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la medida con mejor relación entre costo y efecto, y Coopaburrá no la tiene</a:t>
            </a:r>
          </a:p>
        </p:txBody>
      </p:sp>
      <p:sp>
        <p:nvSpPr>
          <p:cNvPr id="30" name="Rectangle 29"/>
          <p:cNvSpPr/>
          <p:nvPr/>
        </p:nvSpPr>
        <p:spPr>
          <a:xfrm>
            <a:off x="566928" y="486570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2056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36  TÉCNICA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CONSULTAR CONTRASEÑAS FILTRADAS SIN REVELARLAS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medida más rentable de la tabla anterior tiene un problema aparente: para saber si una contraseña está filtrada habría que enviarla a un tercero. Una idea elegante con funciones resumen lo resuelve.</a:t>
            </a:r>
          </a:p>
        </p:txBody>
      </p:sp>
      <p:sp>
        <p:nvSpPr>
          <p:cNvPr id="10" name="Rectangle 9"/>
          <p:cNvSpPr/>
          <p:nvPr/>
        </p:nvSpPr>
        <p:spPr>
          <a:xfrm>
            <a:off x="566928" y="2304287"/>
            <a:ext cx="11055096" cy="184343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CONSULTA POR RANGO · K-ANONIMATO</a:t>
            </a:r>
          </a:p>
        </p:txBody>
      </p:sp>
      <p:sp>
        <p:nvSpPr>
          <p:cNvPr id="12" name="TextBox 11"/>
          <p:cNvSpPr txBox="1"/>
          <p:nvPr/>
        </p:nvSpPr>
        <p:spPr>
          <a:xfrm>
            <a:off x="768096" y="2633471"/>
            <a:ext cx="10652760" cy="142280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1. Se calcula el SHA-1 de la contraseña que el asociado quiere usar:</a:t>
            </a:r>
          </a:p>
          <a:p>
            <a:pPr algn="l">
              <a:lnSpc>
                <a:spcPct val="130000"/>
              </a:lnSpc>
              <a:spcAft>
                <a:spcPts val="0"/>
              </a:spcAft>
            </a:pPr>
            <a:r>
              <a:rPr sz="950" b="0">
                <a:solidFill>
                  <a:srgbClr val="000000"/>
                </a:solidFill>
                <a:latin typeface="Consolas"/>
              </a:rPr>
              <a:t>        5BAA61E4C9B93F3F0682250B6CF8331B7EE68FD8</a:t>
            </a:r>
          </a:p>
          <a:p>
            <a:pPr algn="l">
              <a:lnSpc>
                <a:spcPct val="130000"/>
              </a:lnSpc>
              <a:spcAft>
                <a:spcPts val="0"/>
              </a:spcAft>
            </a:pPr>
            <a:r>
              <a:rPr sz="950" b="0">
                <a:solidFill>
                  <a:srgbClr val="000000"/>
                </a:solidFill>
                <a:latin typeface="Consolas"/>
              </a:rPr>
              <a:t>2. Se envían al servicio SOLO los primeros cinco caracteres:      5BAA6</a:t>
            </a:r>
          </a:p>
          <a:p>
            <a:pPr algn="l">
              <a:lnSpc>
                <a:spcPct val="130000"/>
              </a:lnSpc>
              <a:spcAft>
                <a:spcPts val="0"/>
              </a:spcAft>
            </a:pPr>
            <a:r>
              <a:rPr sz="950" b="0">
                <a:solidFill>
                  <a:srgbClr val="000000"/>
                </a:solidFill>
                <a:latin typeface="Consolas"/>
              </a:rPr>
              <a:t>3. El servicio devuelve todos los resúmenes filtrados que empiezan así:</a:t>
            </a:r>
          </a:p>
          <a:p>
            <a:pPr algn="l">
              <a:lnSpc>
                <a:spcPct val="130000"/>
              </a:lnSpc>
              <a:spcAft>
                <a:spcPts val="0"/>
              </a:spcAft>
            </a:pPr>
            <a:r>
              <a:rPr sz="950" b="0">
                <a:solidFill>
                  <a:srgbClr val="000000"/>
                </a:solidFill>
                <a:latin typeface="Consolas"/>
              </a:rPr>
              <a:t>        unos pocos cientos de sufijos, con cuántas veces apareció cada uno</a:t>
            </a:r>
          </a:p>
          <a:p>
            <a:pPr algn="l">
              <a:lnSpc>
                <a:spcPct val="130000"/>
              </a:lnSpc>
              <a:spcAft>
                <a:spcPts val="0"/>
              </a:spcAft>
            </a:pPr>
            <a:r>
              <a:rPr sz="950" b="0">
                <a:solidFill>
                  <a:srgbClr val="000000"/>
                </a:solidFill>
                <a:latin typeface="Consolas"/>
              </a:rPr>
              <a:t>4. La comparación final se hace en el servidor propio: el tercero nunca</a:t>
            </a:r>
          </a:p>
          <a:p>
            <a:pPr algn="l">
              <a:lnSpc>
                <a:spcPct val="130000"/>
              </a:lnSpc>
              <a:spcAft>
                <a:spcPts val="0"/>
              </a:spcAft>
            </a:pPr>
            <a:r>
              <a:rPr sz="950" b="0">
                <a:solidFill>
                  <a:srgbClr val="000000"/>
                </a:solidFill>
                <a:latin typeface="Consolas"/>
              </a:rPr>
              <a:t>   sabe cuál de esos cientos era, ni si alguno lo era.</a:t>
            </a:r>
          </a:p>
        </p:txBody>
      </p:sp>
      <p:sp>
        <p:nvSpPr>
          <p:cNvPr id="13" name="Rectangle 12"/>
          <p:cNvSpPr/>
          <p:nvPr/>
        </p:nvSpPr>
        <p:spPr>
          <a:xfrm>
            <a:off x="566928" y="4403750"/>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42203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DETALLE QUE CONVIENE NOTAR</a:t>
            </a:r>
          </a:p>
        </p:txBody>
      </p:sp>
      <p:sp>
        <p:nvSpPr>
          <p:cNvPr id="15" name="TextBox 14"/>
          <p:cNvSpPr txBox="1"/>
          <p:nvPr/>
        </p:nvSpPr>
        <p:spPr>
          <a:xfrm>
            <a:off x="804672" y="4659782"/>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Aquí SHA-1 es aceptable: no protege nada, solo sirve de índice. </a:t>
            </a:r>
            <a:r>
              <a:rPr sz="1150" b="1">
                <a:solidFill>
                  <a:srgbClr val="2A2A2A"/>
                </a:solidFill>
                <a:latin typeface="Arial"/>
              </a:rPr>
              <a:t>La misma función que es un error para guardar contraseñas es correcta para buscarlas</a:t>
            </a:r>
            <a:r>
              <a:rPr sz="1150" b="0">
                <a:solidFill>
                  <a:srgbClr val="2A2A2A"/>
                </a:solidFill>
                <a:latin typeface="Arial"/>
              </a:rPr>
              <a:t>, y distinguir los dos usos es el criterio que se evalúa.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37  DIAGNÓSTICO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000" b="0">
                <a:solidFill>
                  <a:srgbClr val="000000"/>
                </a:solidFill>
                <a:latin typeface="Arial Black"/>
              </a:rPr>
              <a:t>SEIS COSAS QUE UN SISTEMA DE CONTRASEÑAS NUNCA DEBE HACER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43</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Errores que se detectan desde afuera, sin acceso al código, y que casi siempre anuncian problemas más graves adentro.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PRÁCTICA</a:t>
            </a:r>
          </a:p>
        </p:txBody>
      </p:sp>
      <p:sp>
        <p:nvSpPr>
          <p:cNvPr id="12" name="TextBox 11"/>
          <p:cNvSpPr txBox="1"/>
          <p:nvPr/>
        </p:nvSpPr>
        <p:spPr>
          <a:xfrm>
            <a:off x="5431170" y="2185415"/>
            <a:ext cx="602626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REVELA O QUÉ PROVOCA</a:t>
            </a:r>
          </a:p>
        </p:txBody>
      </p:sp>
      <p:sp>
        <p:nvSpPr>
          <p:cNvPr id="13" name="Rectangle 12"/>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87751"/>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Escribir la contraseña en los registros de la aplicación</a:t>
            </a:r>
          </a:p>
        </p:txBody>
      </p:sp>
      <p:sp>
        <p:nvSpPr>
          <p:cNvPr id="15" name="TextBox 14"/>
          <p:cNvSpPr txBox="1"/>
          <p:nvPr/>
        </p:nvSpPr>
        <p:spPr>
          <a:xfrm>
            <a:off x="5431170" y="2587751"/>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Pasa más de lo que parece: queda en claro en los archivos de depuración, fuera de todo control</a:t>
            </a:r>
          </a:p>
        </p:txBody>
      </p:sp>
      <p:sp>
        <p:nvSpPr>
          <p:cNvPr id="16" name="Rectangle 15"/>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27613"/>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Limitar la longitud máxima a pocos caracteres</a:t>
            </a:r>
          </a:p>
        </p:txBody>
      </p:sp>
      <p:sp>
        <p:nvSpPr>
          <p:cNvPr id="18" name="TextBox 17"/>
          <p:cNvSpPr txBox="1"/>
          <p:nvPr/>
        </p:nvSpPr>
        <p:spPr>
          <a:xfrm>
            <a:off x="5431170" y="3127613"/>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Suele delatar que se guarda en un campo fijo, a veces en claro. E impide las frases largas</a:t>
            </a:r>
          </a:p>
        </p:txBody>
      </p:sp>
      <p:sp>
        <p:nvSpPr>
          <p:cNvPr id="19" name="Rectangle 18"/>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67475"/>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Usar preguntas de seguridad para recuperar</a:t>
            </a:r>
          </a:p>
        </p:txBody>
      </p:sp>
      <p:sp>
        <p:nvSpPr>
          <p:cNvPr id="21" name="TextBox 20"/>
          <p:cNvSpPr txBox="1"/>
          <p:nvPr/>
        </p:nvSpPr>
        <p:spPr>
          <a:xfrm>
            <a:off x="5431170" y="3667475"/>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segundo secreto más débil que el primero: el nombre de la madre está en las redes sociales</a:t>
            </a:r>
          </a:p>
        </p:txBody>
      </p:sp>
      <p:sp>
        <p:nvSpPr>
          <p:cNvPr id="22" name="Rectangle 21"/>
          <p:cNvSpPr/>
          <p:nvPr/>
        </p:nvSpPr>
        <p:spPr>
          <a:xfrm>
            <a:off x="566928" y="41158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07337"/>
            <a:ext cx="4699650"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Responder distinto a usuario inexistente y a contraseña incorrecta</a:t>
            </a:r>
          </a:p>
        </p:txBody>
      </p:sp>
      <p:sp>
        <p:nvSpPr>
          <p:cNvPr id="24" name="TextBox 23"/>
          <p:cNvSpPr txBox="1"/>
          <p:nvPr/>
        </p:nvSpPr>
        <p:spPr>
          <a:xfrm>
            <a:off x="5431170" y="4207337"/>
            <a:ext cx="602626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Permite averiguar qué usuarios existen antes de atacarlos</a:t>
            </a:r>
          </a:p>
        </p:txBody>
      </p:sp>
      <p:sp>
        <p:nvSpPr>
          <p:cNvPr id="25" name="Rectangle 24"/>
          <p:cNvSpPr/>
          <p:nvPr/>
        </p:nvSpPr>
        <p:spPr>
          <a:xfrm>
            <a:off x="566928" y="451823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09673"/>
            <a:ext cx="4699650"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 limitar ni frenar los intentos fallidos</a:t>
            </a:r>
          </a:p>
        </p:txBody>
      </p:sp>
      <p:sp>
        <p:nvSpPr>
          <p:cNvPr id="27" name="TextBox 26"/>
          <p:cNvSpPr txBox="1"/>
          <p:nvPr/>
        </p:nvSpPr>
        <p:spPr>
          <a:xfrm>
            <a:off x="5431170" y="4609673"/>
            <a:ext cx="602626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Hace gratis el ataque en línea, que con seis minúsculas es suficiente</a:t>
            </a:r>
          </a:p>
        </p:txBody>
      </p:sp>
      <p:sp>
        <p:nvSpPr>
          <p:cNvPr id="28" name="Rectangle 27"/>
          <p:cNvSpPr/>
          <p:nvPr/>
        </p:nvSpPr>
        <p:spPr>
          <a:xfrm>
            <a:off x="566928" y="492056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012009"/>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Recortar la contraseña sin avisar</a:t>
            </a:r>
          </a:p>
        </p:txBody>
      </p:sp>
      <p:sp>
        <p:nvSpPr>
          <p:cNvPr id="30" name="TextBox 29"/>
          <p:cNvSpPr txBox="1"/>
          <p:nvPr/>
        </p:nvSpPr>
        <p:spPr>
          <a:xfrm>
            <a:off x="5431170" y="5012009"/>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cuentan los primeros caracteres. bcrypt, por ejemplo, ignora lo que pase de 72 bytes</a:t>
            </a:r>
          </a:p>
        </p:txBody>
      </p:sp>
      <p:sp>
        <p:nvSpPr>
          <p:cNvPr id="31" name="Rectangle 30"/>
          <p:cNvSpPr/>
          <p:nvPr/>
        </p:nvSpPr>
        <p:spPr>
          <a:xfrm>
            <a:off x="566928" y="54604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51529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38  DISEÑO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SE GUARDA POR CADA USUARIO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44</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rediseño del hallazgo H1 se concreta en esta tabla. Es lo que debería tener la base de Coopaburrá y lo que hoy no tiene.</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44843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CAMPO</a:t>
            </a:r>
          </a:p>
        </p:txBody>
      </p:sp>
      <p:sp>
        <p:nvSpPr>
          <p:cNvPr id="12" name="TextBox 11"/>
          <p:cNvSpPr txBox="1"/>
          <p:nvPr/>
        </p:nvSpPr>
        <p:spPr>
          <a:xfrm>
            <a:off x="3179950" y="2185415"/>
            <a:ext cx="38554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ES</a:t>
            </a:r>
          </a:p>
        </p:txBody>
      </p:sp>
      <p:sp>
        <p:nvSpPr>
          <p:cNvPr id="13" name="TextBox 12"/>
          <p:cNvSpPr txBox="1"/>
          <p:nvPr/>
        </p:nvSpPr>
        <p:spPr>
          <a:xfrm>
            <a:off x="7199985" y="2185415"/>
            <a:ext cx="134292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¿SECRETO?</a:t>
            </a:r>
          </a:p>
        </p:txBody>
      </p:sp>
      <p:sp>
        <p:nvSpPr>
          <p:cNvPr id="14" name="TextBox 13"/>
          <p:cNvSpPr txBox="1"/>
          <p:nvPr/>
        </p:nvSpPr>
        <p:spPr>
          <a:xfrm>
            <a:off x="8707498" y="2185415"/>
            <a:ext cx="274993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EN COOPABURRÁ HOY</a:t>
            </a:r>
          </a:p>
        </p:txBody>
      </p:sp>
      <p:sp>
        <p:nvSpPr>
          <p:cNvPr id="15" name="Rectangle 14"/>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87751"/>
            <a:ext cx="2448430"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Identificador</a:t>
            </a:r>
          </a:p>
        </p:txBody>
      </p:sp>
      <p:sp>
        <p:nvSpPr>
          <p:cNvPr id="17" name="TextBox 16"/>
          <p:cNvSpPr txBox="1"/>
          <p:nvPr/>
        </p:nvSpPr>
        <p:spPr>
          <a:xfrm>
            <a:off x="3179950" y="2587751"/>
            <a:ext cx="385544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usuario o el documento</a:t>
            </a:r>
          </a:p>
        </p:txBody>
      </p:sp>
      <p:sp>
        <p:nvSpPr>
          <p:cNvPr id="18" name="TextBox 17"/>
          <p:cNvSpPr txBox="1"/>
          <p:nvPr/>
        </p:nvSpPr>
        <p:spPr>
          <a:xfrm>
            <a:off x="7199985" y="2587751"/>
            <a:ext cx="1342921"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a:t>
            </a:r>
          </a:p>
        </p:txBody>
      </p:sp>
      <p:sp>
        <p:nvSpPr>
          <p:cNvPr id="19" name="TextBox 18"/>
          <p:cNvSpPr txBox="1"/>
          <p:nvPr/>
        </p:nvSpPr>
        <p:spPr>
          <a:xfrm>
            <a:off x="8707498" y="2587751"/>
            <a:ext cx="2749933"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Existe</a:t>
            </a:r>
          </a:p>
        </p:txBody>
      </p:sp>
      <p:sp>
        <p:nvSpPr>
          <p:cNvPr id="20" name="Rectangle 19"/>
          <p:cNvSpPr/>
          <p:nvPr/>
        </p:nvSpPr>
        <p:spPr>
          <a:xfrm>
            <a:off x="566928" y="295351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044951"/>
            <a:ext cx="244843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Sal</a:t>
            </a:r>
          </a:p>
        </p:txBody>
      </p:sp>
      <p:sp>
        <p:nvSpPr>
          <p:cNvPr id="22" name="TextBox 21"/>
          <p:cNvSpPr txBox="1"/>
          <p:nvPr/>
        </p:nvSpPr>
        <p:spPr>
          <a:xfrm>
            <a:off x="3179950" y="3044951"/>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Valor aleatorio distinto para cada usuario, generado al crear la cuenta</a:t>
            </a:r>
          </a:p>
        </p:txBody>
      </p:sp>
      <p:sp>
        <p:nvSpPr>
          <p:cNvPr id="23" name="TextBox 22"/>
          <p:cNvSpPr txBox="1"/>
          <p:nvPr/>
        </p:nvSpPr>
        <p:spPr>
          <a:xfrm>
            <a:off x="7199985" y="3044951"/>
            <a:ext cx="134292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pero única</a:t>
            </a:r>
          </a:p>
        </p:txBody>
      </p:sp>
      <p:sp>
        <p:nvSpPr>
          <p:cNvPr id="24" name="TextBox 23"/>
          <p:cNvSpPr txBox="1"/>
          <p:nvPr/>
        </p:nvSpPr>
        <p:spPr>
          <a:xfrm>
            <a:off x="8707498" y="3044951"/>
            <a:ext cx="2749933" cy="484997"/>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Constante para todos</a:t>
            </a:r>
          </a:p>
        </p:txBody>
      </p:sp>
      <p:sp>
        <p:nvSpPr>
          <p:cNvPr id="25" name="Rectangle 24"/>
          <p:cNvSpPr/>
          <p:nvPr/>
        </p:nvSpPr>
        <p:spPr>
          <a:xfrm>
            <a:off x="566928" y="34933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84813"/>
            <a:ext cx="244843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Algoritmo y parámetros</a:t>
            </a:r>
          </a:p>
        </p:txBody>
      </p:sp>
      <p:sp>
        <p:nvSpPr>
          <p:cNvPr id="27" name="TextBox 26"/>
          <p:cNvSpPr txBox="1"/>
          <p:nvPr/>
        </p:nvSpPr>
        <p:spPr>
          <a:xfrm>
            <a:off x="3179950" y="3584813"/>
            <a:ext cx="38554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función de derivación y con qué factor de trabajo se calculó</a:t>
            </a:r>
          </a:p>
        </p:txBody>
      </p:sp>
      <p:sp>
        <p:nvSpPr>
          <p:cNvPr id="28" name="TextBox 27"/>
          <p:cNvSpPr txBox="1"/>
          <p:nvPr/>
        </p:nvSpPr>
        <p:spPr>
          <a:xfrm>
            <a:off x="7199985" y="3584813"/>
            <a:ext cx="134292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a:t>
            </a:r>
          </a:p>
        </p:txBody>
      </p:sp>
      <p:sp>
        <p:nvSpPr>
          <p:cNvPr id="29" name="TextBox 28"/>
          <p:cNvSpPr txBox="1"/>
          <p:nvPr/>
        </p:nvSpPr>
        <p:spPr>
          <a:xfrm>
            <a:off x="8707498" y="3584813"/>
            <a:ext cx="2749933" cy="484997"/>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No se almacena</a:t>
            </a:r>
          </a:p>
        </p:txBody>
      </p:sp>
      <p:sp>
        <p:nvSpPr>
          <p:cNvPr id="30" name="Rectangle 29"/>
          <p:cNvSpPr/>
          <p:nvPr/>
        </p:nvSpPr>
        <p:spPr>
          <a:xfrm>
            <a:off x="566928" y="40332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124675"/>
            <a:ext cx="2448430"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Resultado de la derivación</a:t>
            </a:r>
          </a:p>
        </p:txBody>
      </p:sp>
      <p:sp>
        <p:nvSpPr>
          <p:cNvPr id="32" name="TextBox 31"/>
          <p:cNvSpPr txBox="1"/>
          <p:nvPr/>
        </p:nvSpPr>
        <p:spPr>
          <a:xfrm>
            <a:off x="3179950" y="4124675"/>
            <a:ext cx="385544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salida de la función aplicada a contraseña y sal</a:t>
            </a:r>
          </a:p>
        </p:txBody>
      </p:sp>
      <p:sp>
        <p:nvSpPr>
          <p:cNvPr id="33" name="TextBox 32"/>
          <p:cNvSpPr txBox="1"/>
          <p:nvPr/>
        </p:nvSpPr>
        <p:spPr>
          <a:xfrm>
            <a:off x="7199985" y="4124675"/>
            <a:ext cx="1342921"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Sí</a:t>
            </a:r>
          </a:p>
        </p:txBody>
      </p:sp>
      <p:sp>
        <p:nvSpPr>
          <p:cNvPr id="34" name="TextBox 33"/>
          <p:cNvSpPr txBox="1"/>
          <p:nvPr/>
        </p:nvSpPr>
        <p:spPr>
          <a:xfrm>
            <a:off x="8707498" y="4124675"/>
            <a:ext cx="2749933" cy="402336"/>
          </a:xfrm>
          <a:prstGeom prst="rect">
            <a:avLst/>
          </a:prstGeom>
          <a:noFill/>
        </p:spPr>
        <p:txBody>
          <a:bodyPr wrap="square" lIns="0" rIns="0" tIns="0" bIns="0">
            <a:spAutoFit/>
          </a:bodyPr>
          <a:lstStyle/>
          <a:p>
            <a:pPr algn="l">
              <a:lnSpc>
                <a:spcPct val="120000"/>
              </a:lnSpc>
              <a:spcAft>
                <a:spcPts val="0"/>
              </a:spcAft>
            </a:pPr>
            <a:r>
              <a:rPr sz="1100" b="0">
                <a:solidFill>
                  <a:srgbClr val="F36406"/>
                </a:solidFill>
                <a:latin typeface="Arial"/>
              </a:rPr>
              <a:t>Resumen SHA-1 simple</a:t>
            </a:r>
          </a:p>
        </p:txBody>
      </p:sp>
      <p:sp>
        <p:nvSpPr>
          <p:cNvPr id="35" name="Rectangle 34"/>
          <p:cNvSpPr/>
          <p:nvPr/>
        </p:nvSpPr>
        <p:spPr>
          <a:xfrm>
            <a:off x="566928" y="44904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581875"/>
            <a:ext cx="2448430"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Fecha del último cambio</a:t>
            </a:r>
          </a:p>
        </p:txBody>
      </p:sp>
      <p:sp>
        <p:nvSpPr>
          <p:cNvPr id="37" name="TextBox 36"/>
          <p:cNvSpPr txBox="1"/>
          <p:nvPr/>
        </p:nvSpPr>
        <p:spPr>
          <a:xfrm>
            <a:off x="3179950" y="4581875"/>
            <a:ext cx="385544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Para detectar cuentas antiguas al migrar</a:t>
            </a:r>
          </a:p>
        </p:txBody>
      </p:sp>
      <p:sp>
        <p:nvSpPr>
          <p:cNvPr id="38" name="TextBox 37"/>
          <p:cNvSpPr txBox="1"/>
          <p:nvPr/>
        </p:nvSpPr>
        <p:spPr>
          <a:xfrm>
            <a:off x="7199985" y="4581875"/>
            <a:ext cx="1342921"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a:t>
            </a:r>
          </a:p>
        </p:txBody>
      </p:sp>
      <p:sp>
        <p:nvSpPr>
          <p:cNvPr id="39" name="TextBox 38"/>
          <p:cNvSpPr txBox="1"/>
          <p:nvPr/>
        </p:nvSpPr>
        <p:spPr>
          <a:xfrm>
            <a:off x="8707498" y="4581875"/>
            <a:ext cx="2749933"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verificar</a:t>
            </a:r>
          </a:p>
        </p:txBody>
      </p:sp>
      <p:sp>
        <p:nvSpPr>
          <p:cNvPr id="40" name="Rectangle 39"/>
          <p:cNvSpPr/>
          <p:nvPr/>
        </p:nvSpPr>
        <p:spPr>
          <a:xfrm>
            <a:off x="566928" y="49476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500249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5304251"/>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 y="532253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SE GUARDAN LOS PARÁMETROS JUNTO AL RESULTADO</a:t>
            </a:r>
          </a:p>
        </p:txBody>
      </p:sp>
      <p:sp>
        <p:nvSpPr>
          <p:cNvPr id="44" name="TextBox 43"/>
          <p:cNvSpPr txBox="1"/>
          <p:nvPr/>
        </p:nvSpPr>
        <p:spPr>
          <a:xfrm>
            <a:off x="804672" y="5560283"/>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Porque el factor de trabajo va a cambiar con los años. Si está almacenado con cada registro, se pueden convivir varios factores durante la migración y subirlos poco a poco. Si no está, cambiar el parámetro invalida toda la base de un golpe.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39  PROBLEMA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EL PROBLEMA DE MIGRAR 142.000 CONTRASEÑAS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Este es el punto donde casi todos los proyectos se atascan, y es parte de la entrega 3. No lo voy a resolver aquí: lo van a resolver ustedes.</a:t>
            </a:r>
          </a:p>
        </p:txBody>
      </p:sp>
      <p:sp>
        <p:nvSpPr>
          <p:cNvPr id="10" name="Rectangle 9"/>
          <p:cNvSpPr/>
          <p:nvPr/>
        </p:nvSpPr>
        <p:spPr>
          <a:xfrm>
            <a:off x="566928" y="2304287"/>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CALLEJÓN</a:t>
            </a:r>
          </a:p>
        </p:txBody>
      </p:sp>
      <p:sp>
        <p:nvSpPr>
          <p:cNvPr id="12" name="TextBox 11"/>
          <p:cNvSpPr txBox="1"/>
          <p:nvPr/>
        </p:nvSpPr>
        <p:spPr>
          <a:xfrm>
            <a:off x="786384" y="2633471"/>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Para guardar las contraseñas con la función nueva hay que conocerlas.</a:t>
            </a:r>
          </a:p>
          <a:p>
            <a:pPr algn="l">
              <a:lnSpc>
                <a:spcPct val="128000"/>
              </a:lnSpc>
              <a:spcAft>
                <a:spcPts val="700"/>
              </a:spcAft>
            </a:pPr>
            <a:r>
              <a:rPr sz="1150" b="0">
                <a:solidFill>
                  <a:srgbClr val="000000"/>
                </a:solidFill>
                <a:latin typeface="Arial"/>
              </a:rPr>
              <a:t>Pero no se conocen: solo hay resúmenes SHA-1, y de un resumen no se vuelve atrás.</a:t>
            </a:r>
          </a:p>
          <a:p>
            <a:pPr algn="l">
              <a:lnSpc>
                <a:spcPct val="128000"/>
              </a:lnSpc>
              <a:spcAft>
                <a:spcPts val="700"/>
              </a:spcAft>
            </a:pPr>
            <a:r>
              <a:rPr sz="1150" b="0">
                <a:solidFill>
                  <a:srgbClr val="000000"/>
                </a:solidFill>
                <a:latin typeface="Arial"/>
              </a:rPr>
              <a:t>Y pedirle a 142.000 asociados que cambien su contraseña el mismo día no es viable ni comercial ni operativamente.</a:t>
            </a:r>
          </a:p>
        </p:txBody>
      </p:sp>
      <p:sp>
        <p:nvSpPr>
          <p:cNvPr id="13" name="Rectangle 12"/>
          <p:cNvSpPr/>
          <p:nvPr/>
        </p:nvSpPr>
        <p:spPr>
          <a:xfrm>
            <a:off x="6268212" y="2304287"/>
            <a:ext cx="5353812" cy="182880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LAS PISTAS</a:t>
            </a:r>
          </a:p>
        </p:txBody>
      </p:sp>
      <p:sp>
        <p:nvSpPr>
          <p:cNvPr id="15" name="TextBox 14"/>
          <p:cNvSpPr txBox="1"/>
          <p:nvPr/>
        </p:nvSpPr>
        <p:spPr>
          <a:xfrm>
            <a:off x="6487668" y="2633471"/>
            <a:ext cx="4914900" cy="137160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¿Es obligatorio partir de la contraseña en claro, o se puede partir de lo que ya está almacenado?</a:t>
            </a:r>
          </a:p>
          <a:p>
            <a:pPr algn="l">
              <a:lnSpc>
                <a:spcPct val="128000"/>
              </a:lnSpc>
              <a:spcAft>
                <a:spcPts val="700"/>
              </a:spcAft>
            </a:pPr>
            <a:r>
              <a:rPr sz="1150" b="0">
                <a:solidFill>
                  <a:srgbClr val="000000"/>
                </a:solidFill>
                <a:latin typeface="Arial"/>
              </a:rPr>
              <a:t>¿Puede convivir la base con dos esquemas al tiempo durante un periodo?</a:t>
            </a:r>
          </a:p>
          <a:p>
            <a:pPr algn="l">
              <a:lnSpc>
                <a:spcPct val="128000"/>
              </a:lnSpc>
              <a:spcAft>
                <a:spcPts val="700"/>
              </a:spcAft>
            </a:pPr>
            <a:r>
              <a:rPr sz="1150" b="0">
                <a:solidFill>
                  <a:srgbClr val="000000"/>
                </a:solidFill>
                <a:latin typeface="Arial"/>
              </a:rPr>
              <a:t>¿Qué momento es el único en que el sistema sí ve la contraseña en claro, aunque sea por un instante?</a:t>
            </a:r>
          </a:p>
        </p:txBody>
      </p:sp>
      <p:sp>
        <p:nvSpPr>
          <p:cNvPr id="16" name="Rectangle 15"/>
          <p:cNvSpPr/>
          <p:nvPr/>
        </p:nvSpPr>
        <p:spPr>
          <a:xfrm>
            <a:off x="566928" y="4498847"/>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51713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SE EVALÚA DE ESTA PARTE</a:t>
            </a:r>
          </a:p>
        </p:txBody>
      </p:sp>
      <p:sp>
        <p:nvSpPr>
          <p:cNvPr id="18" name="TextBox 17"/>
          <p:cNvSpPr txBox="1"/>
          <p:nvPr/>
        </p:nvSpPr>
        <p:spPr>
          <a:xfrm>
            <a:off x="804672" y="4754879"/>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Que la solución no exija conocer las contraseñas actuales, que no obligue a un cambio masivo el mismo día, y que diga qué pasa con las cuentas que no vuelven a entrar nunca. Esa última es la que casi nadie contempla.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40  COMPLEMENTO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SEGUNDO FACTOR CAMBIA LA ECUACIÓN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Todo lo anterior mejora la resistencia de la contraseña. Un segundo factor cambia el problema de sitio, y para una entidad vigilada no es opcional.</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25243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FACTOR</a:t>
            </a:r>
          </a:p>
        </p:txBody>
      </p:sp>
      <p:sp>
        <p:nvSpPr>
          <p:cNvPr id="12" name="TextBox 11"/>
          <p:cNvSpPr txBox="1"/>
          <p:nvPr/>
        </p:nvSpPr>
        <p:spPr>
          <a:xfrm>
            <a:off x="3983957"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APORTA</a:t>
            </a:r>
          </a:p>
        </p:txBody>
      </p:sp>
      <p:sp>
        <p:nvSpPr>
          <p:cNvPr id="13" name="TextBox 12"/>
          <p:cNvSpPr txBox="1"/>
          <p:nvPr/>
        </p:nvSpPr>
        <p:spPr>
          <a:xfrm>
            <a:off x="7802990" y="2423159"/>
            <a:ext cx="365444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LÍMITE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Código por mensaje de texto</a:t>
            </a:r>
          </a:p>
        </p:txBody>
      </p:sp>
      <p:sp>
        <p:nvSpPr>
          <p:cNvPr id="16" name="TextBox 15"/>
          <p:cNvSpPr txBox="1"/>
          <p:nvPr/>
        </p:nvSpPr>
        <p:spPr>
          <a:xfrm>
            <a:off x="3983957"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Mejor que nada y muy adoptado</a:t>
            </a:r>
          </a:p>
        </p:txBody>
      </p:sp>
      <p:sp>
        <p:nvSpPr>
          <p:cNvPr id="17" name="TextBox 16"/>
          <p:cNvSpPr txBox="1"/>
          <p:nvPr/>
        </p:nvSpPr>
        <p:spPr>
          <a:xfrm>
            <a:off x="7802990" y="28254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Vulnerable al secuestro de línea telefónica, que en Colombia ocurre</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252437"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Aplicación generadora de códigos</a:t>
            </a:r>
          </a:p>
        </p:txBody>
      </p:sp>
      <p:sp>
        <p:nvSpPr>
          <p:cNvPr id="20" name="TextBox 19"/>
          <p:cNvSpPr txBox="1"/>
          <p:nvPr/>
        </p:nvSpPr>
        <p:spPr>
          <a:xfrm>
            <a:off x="3983957" y="3365357"/>
            <a:ext cx="3654441"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depende de la red telefónica</a:t>
            </a:r>
          </a:p>
        </p:txBody>
      </p:sp>
      <p:sp>
        <p:nvSpPr>
          <p:cNvPr id="21" name="TextBox 20"/>
          <p:cNvSpPr txBox="1"/>
          <p:nvPr/>
        </p:nvSpPr>
        <p:spPr>
          <a:xfrm>
            <a:off x="7802990" y="3365357"/>
            <a:ext cx="3654441"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código se puede pedir por engaño en tiempo real</a:t>
            </a:r>
          </a:p>
        </p:txBody>
      </p:sp>
      <p:sp>
        <p:nvSpPr>
          <p:cNvPr id="22" name="Rectangle 21"/>
          <p:cNvSpPr/>
          <p:nvPr/>
        </p:nvSpPr>
        <p:spPr>
          <a:xfrm>
            <a:off x="566928" y="376769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59133"/>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física o credencial del dispositivo</a:t>
            </a:r>
          </a:p>
        </p:txBody>
      </p:sp>
      <p:sp>
        <p:nvSpPr>
          <p:cNvPr id="24" name="TextBox 23"/>
          <p:cNvSpPr txBox="1"/>
          <p:nvPr/>
        </p:nvSpPr>
        <p:spPr>
          <a:xfrm>
            <a:off x="3983957" y="3859133"/>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Vinculada al sitio: no se puede entregar por engaño a un sitio falso</a:t>
            </a:r>
          </a:p>
        </p:txBody>
      </p:sp>
      <p:sp>
        <p:nvSpPr>
          <p:cNvPr id="25" name="TextBox 24"/>
          <p:cNvSpPr txBox="1"/>
          <p:nvPr/>
        </p:nvSpPr>
        <p:spPr>
          <a:xfrm>
            <a:off x="7802990" y="3859133"/>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Costo y logística de distribución</a:t>
            </a:r>
          </a:p>
        </p:txBody>
      </p:sp>
      <p:sp>
        <p:nvSpPr>
          <p:cNvPr id="26" name="Rectangle 25"/>
          <p:cNvSpPr/>
          <p:nvPr/>
        </p:nvSpPr>
        <p:spPr>
          <a:xfrm>
            <a:off x="566928" y="43075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398995"/>
            <a:ext cx="3252437"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Vinculación con el dispositivo</a:t>
            </a:r>
          </a:p>
        </p:txBody>
      </p:sp>
      <p:sp>
        <p:nvSpPr>
          <p:cNvPr id="28" name="TextBox 27"/>
          <p:cNvSpPr txBox="1"/>
          <p:nvPr/>
        </p:nvSpPr>
        <p:spPr>
          <a:xfrm>
            <a:off x="3983957" y="43989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llave distinta por teléfono, generada en el propio dispositivo</a:t>
            </a:r>
          </a:p>
        </p:txBody>
      </p:sp>
      <p:sp>
        <p:nvSpPr>
          <p:cNvPr id="29" name="TextBox 28"/>
          <p:cNvSpPr txBox="1"/>
          <p:nvPr/>
        </p:nvSpPr>
        <p:spPr>
          <a:xfrm>
            <a:off x="7802990" y="4398995"/>
            <a:ext cx="365444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justamente lo que le habría faltado a la aplicación de Coopaburrá</a:t>
            </a:r>
          </a:p>
        </p:txBody>
      </p:sp>
      <p:sp>
        <p:nvSpPr>
          <p:cNvPr id="30" name="Rectangle 29"/>
          <p:cNvSpPr/>
          <p:nvPr/>
        </p:nvSpPr>
        <p:spPr>
          <a:xfrm>
            <a:off x="566928" y="48474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0228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04033"/>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223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CONEXIÓN CON EL HALLAZGO H2</a:t>
            </a:r>
          </a:p>
        </p:txBody>
      </p:sp>
      <p:sp>
        <p:nvSpPr>
          <p:cNvPr id="34" name="TextBox 33"/>
          <p:cNvSpPr txBox="1"/>
          <p:nvPr/>
        </p:nvSpPr>
        <p:spPr>
          <a:xfrm>
            <a:off x="804672" y="5460065"/>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última fila no es un complemento: es parte de la solución del hallazgo. Una llave por dispositivo, generada en el dispositivo y de la que el servidor solo conoce la parte pública, es el camino hacia la firma individual. Eso es exactamente la sesión del jueves.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41  FUTURO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LLAVES DE ACCESO: EL RELEVO DE LA CONTRASEÑA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sector se está moviendo a un esquema en el que no hay contraseña que guardar ni que robar. Conviene entenderlo, porque es exactamente el patrón que resuelve el hallazgo H2.</a:t>
            </a:r>
          </a:p>
        </p:txBody>
      </p:sp>
      <p:sp>
        <p:nvSpPr>
          <p:cNvPr id="10" name="Rectangle 9"/>
          <p:cNvSpPr/>
          <p:nvPr/>
        </p:nvSpPr>
        <p:spPr>
          <a:xfrm>
            <a:off x="566928" y="2304287"/>
            <a:ext cx="11055096" cy="205191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FIDO2 Y WEBAUTHN · CÓMO FUNCIONA</a:t>
            </a:r>
          </a:p>
        </p:txBody>
      </p:sp>
      <p:sp>
        <p:nvSpPr>
          <p:cNvPr id="12" name="TextBox 11"/>
          <p:cNvSpPr txBox="1"/>
          <p:nvPr/>
        </p:nvSpPr>
        <p:spPr>
          <a:xfrm>
            <a:off x="768096" y="2633471"/>
            <a:ext cx="10652760" cy="163128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Registro:  el teléfono genera una pareja de llaves para ESE sitio.</a:t>
            </a:r>
          </a:p>
          <a:p>
            <a:pPr algn="l">
              <a:lnSpc>
                <a:spcPct val="130000"/>
              </a:lnSpc>
              <a:spcAft>
                <a:spcPts val="0"/>
              </a:spcAft>
            </a:pPr>
            <a:r>
              <a:rPr sz="950" b="0">
                <a:solidFill>
                  <a:srgbClr val="000000"/>
                </a:solidFill>
                <a:latin typeface="Consolas"/>
              </a:rPr>
              <a:t>           La privada queda en el enclave del dispositivo; el sitio guarda la pública.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Ingreso:   el sitio envía un desafío aleatorio.</a:t>
            </a:r>
          </a:p>
          <a:p>
            <a:pPr algn="l">
              <a:lnSpc>
                <a:spcPct val="130000"/>
              </a:lnSpc>
              <a:spcAft>
                <a:spcPts val="0"/>
              </a:spcAft>
            </a:pPr>
            <a:r>
              <a:rPr sz="950" b="0">
                <a:solidFill>
                  <a:srgbClr val="000000"/>
                </a:solidFill>
                <a:latin typeface="Consolas"/>
              </a:rPr>
              <a:t>           El dispositivo lo firma, previa huella o rostro del usuario.</a:t>
            </a:r>
          </a:p>
          <a:p>
            <a:pPr algn="l">
              <a:lnSpc>
                <a:spcPct val="130000"/>
              </a:lnSpc>
              <a:spcAft>
                <a:spcPts val="0"/>
              </a:spcAft>
            </a:pPr>
            <a:r>
              <a:rPr sz="950" b="0">
                <a:solidFill>
                  <a:srgbClr val="000000"/>
                </a:solidFill>
                <a:latin typeface="Consolas"/>
              </a:rPr>
              <a:t>           El sitio verifica la firma con la llave pública que tiene guardada.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No hay secreto compartido: robar la base del sitio no sirve para entrar.</a:t>
            </a:r>
          </a:p>
        </p:txBody>
      </p:sp>
      <p:sp>
        <p:nvSpPr>
          <p:cNvPr id="13" name="Rectangle 12"/>
          <p:cNvSpPr/>
          <p:nvPr/>
        </p:nvSpPr>
        <p:spPr>
          <a:xfrm>
            <a:off x="566928" y="4612233"/>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6305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RESISTE EL ENGAÑO</a:t>
            </a:r>
          </a:p>
        </p:txBody>
      </p:sp>
      <p:sp>
        <p:nvSpPr>
          <p:cNvPr id="15" name="TextBox 14"/>
          <p:cNvSpPr txBox="1"/>
          <p:nvPr/>
        </p:nvSpPr>
        <p:spPr>
          <a:xfrm>
            <a:off x="804672" y="4868265"/>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llave queda atada al dominio del sitio: </a:t>
            </a:r>
            <a:r>
              <a:rPr sz="1150" b="1">
                <a:solidFill>
                  <a:srgbClr val="2A2A2A"/>
                </a:solidFill>
                <a:latin typeface="Arial"/>
              </a:rPr>
              <a:t>en un sitio falso, el dispositivo simplemente no tiene llave que usar</a:t>
            </a:r>
            <a:r>
              <a:rPr sz="1150" b="0">
                <a:solidFill>
                  <a:srgbClr val="2A2A2A"/>
                </a:solidFill>
                <a:latin typeface="Arial"/>
              </a:rPr>
              <a:t>, y el usuario no puede entregarla aunque quiera. Es la defensa técnica más sólida contra la suplantación, y la firma que la sostiene es el tema del jueves.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42  RECUPERACIÓN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RECUPERACIÓN DE CUENTA: LA PUERTA QUE SE OLVIDA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sistema de autenticación es tan fuerte como su procedimiento de recuperación. Es la puerta por la que entran los atacantes cuando la principal está bien cerrada.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VÍA DE RECUPERACIÓN</a:t>
            </a:r>
          </a:p>
        </p:txBody>
      </p:sp>
      <p:sp>
        <p:nvSpPr>
          <p:cNvPr id="12" name="TextBox 11"/>
          <p:cNvSpPr txBox="1"/>
          <p:nvPr/>
        </p:nvSpPr>
        <p:spPr>
          <a:xfrm>
            <a:off x="3662354"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SE ATACA</a:t>
            </a:r>
          </a:p>
        </p:txBody>
      </p:sp>
      <p:sp>
        <p:nvSpPr>
          <p:cNvPr id="13" name="TextBox 12"/>
          <p:cNvSpPr txBox="1"/>
          <p:nvPr/>
        </p:nvSpPr>
        <p:spPr>
          <a:xfrm>
            <a:off x="7863291"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LA HACE DEFENDIBLE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Código por mensaje de texto</a:t>
            </a:r>
          </a:p>
        </p:txBody>
      </p:sp>
      <p:sp>
        <p:nvSpPr>
          <p:cNvPr id="16" name="TextBox 15"/>
          <p:cNvSpPr txBox="1"/>
          <p:nvPr/>
        </p:nvSpPr>
        <p:spPr>
          <a:xfrm>
            <a:off x="3662354" y="282549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Duplicado fraudulento de la tarjeta SIM en un punto de venta del operador</a:t>
            </a:r>
          </a:p>
        </p:txBody>
      </p:sp>
      <p:sp>
        <p:nvSpPr>
          <p:cNvPr id="17" name="TextBox 16"/>
          <p:cNvSpPr txBox="1"/>
          <p:nvPr/>
        </p:nvSpPr>
        <p:spPr>
          <a:xfrm>
            <a:off x="7863291" y="2825495"/>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Combinarla con otro factor y avisar por un canal distinto</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Llamada al centro de contacto</a:t>
            </a:r>
          </a:p>
        </p:txBody>
      </p:sp>
      <p:sp>
        <p:nvSpPr>
          <p:cNvPr id="20" name="TextBox 19"/>
          <p:cNvSpPr txBox="1"/>
          <p:nvPr/>
        </p:nvSpPr>
        <p:spPr>
          <a:xfrm>
            <a:off x="3662354" y="3365357"/>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Ingeniería social con datos filtrados: cédula, fecha de nacimiento, dirección</a:t>
            </a:r>
          </a:p>
        </p:txBody>
      </p:sp>
      <p:sp>
        <p:nvSpPr>
          <p:cNvPr id="21" name="TextBox 20"/>
          <p:cNvSpPr txBox="1"/>
          <p:nvPr/>
        </p:nvSpPr>
        <p:spPr>
          <a:xfrm>
            <a:off x="7863291" y="3365357"/>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Preguntas que no estén en ninguna filtración y una espera antes de aplicar el cambio</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930834"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Correo electrónico</a:t>
            </a:r>
          </a:p>
        </p:txBody>
      </p:sp>
      <p:sp>
        <p:nvSpPr>
          <p:cNvPr id="24" name="TextBox 23"/>
          <p:cNvSpPr txBox="1"/>
          <p:nvPr/>
        </p:nvSpPr>
        <p:spPr>
          <a:xfrm>
            <a:off x="3662354" y="3905219"/>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Tomar primero el correo, que suele estar peor protegido</a:t>
            </a:r>
          </a:p>
        </p:txBody>
      </p:sp>
      <p:sp>
        <p:nvSpPr>
          <p:cNvPr id="25" name="TextBox 24"/>
          <p:cNvSpPr txBox="1"/>
          <p:nvPr/>
        </p:nvSpPr>
        <p:spPr>
          <a:xfrm>
            <a:off x="7863291" y="3905219"/>
            <a:ext cx="3594140"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cambiar el correo exija el factor fuerte</a:t>
            </a:r>
          </a:p>
        </p:txBody>
      </p:sp>
      <p:sp>
        <p:nvSpPr>
          <p:cNvPr id="26" name="Rectangle 25"/>
          <p:cNvSpPr/>
          <p:nvPr/>
        </p:nvSpPr>
        <p:spPr>
          <a:xfrm>
            <a:off x="566928" y="42344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325843"/>
            <a:ext cx="2930834" cy="36576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Presencial en la oficina</a:t>
            </a:r>
          </a:p>
        </p:txBody>
      </p:sp>
      <p:sp>
        <p:nvSpPr>
          <p:cNvPr id="28" name="TextBox 27"/>
          <p:cNvSpPr txBox="1"/>
          <p:nvPr/>
        </p:nvSpPr>
        <p:spPr>
          <a:xfrm>
            <a:off x="3662354" y="4325843"/>
            <a:ext cx="4036344"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Documentos falsificados</a:t>
            </a:r>
          </a:p>
        </p:txBody>
      </p:sp>
      <p:sp>
        <p:nvSpPr>
          <p:cNvPr id="29" name="TextBox 28"/>
          <p:cNvSpPr txBox="1"/>
          <p:nvPr/>
        </p:nvSpPr>
        <p:spPr>
          <a:xfrm>
            <a:off x="7863291" y="4325843"/>
            <a:ext cx="3594140" cy="36576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Validación biométrica de la identidad</a:t>
            </a:r>
          </a:p>
        </p:txBody>
      </p:sp>
      <p:sp>
        <p:nvSpPr>
          <p:cNvPr id="30" name="Rectangle 29"/>
          <p:cNvSpPr/>
          <p:nvPr/>
        </p:nvSpPr>
        <p:spPr>
          <a:xfrm>
            <a:off x="566928" y="46550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70989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011643"/>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02993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REGLA</a:t>
            </a:r>
          </a:p>
        </p:txBody>
      </p:sp>
      <p:sp>
        <p:nvSpPr>
          <p:cNvPr id="34" name="TextBox 33"/>
          <p:cNvSpPr txBox="1"/>
          <p:nvPr/>
        </p:nvSpPr>
        <p:spPr>
          <a:xfrm>
            <a:off x="804672" y="5267675"/>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recuperación nunca debe ser más fácil que el ingreso normal. </a:t>
            </a:r>
            <a:r>
              <a:rPr sz="1150" b="1">
                <a:solidFill>
                  <a:srgbClr val="2A2A2A"/>
                </a:solidFill>
                <a:latin typeface="Arial"/>
              </a:rPr>
              <a:t>Y todo cambio de credenciales se notifica por un canal distinto al que se usó para hacerlo</a:t>
            </a:r>
            <a:r>
              <a:rPr sz="1150" b="0">
                <a:solidFill>
                  <a:srgbClr val="2A2A2A"/>
                </a:solidFill>
                <a:latin typeface="Arial"/>
              </a:rPr>
              <a:t>, con un plazo durante el cual el titular puede detenerlo.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05</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LABORATORIO 3</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Cincuenta minutos · Atacar la evidencia B, con el ejercicio en Python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43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TRES EJERCICIOS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Trabajan sobre la muestra real de la tabla de usuarios del caso, evidencia B del expediente. Está anonimizada: los usuarios no existen, pero los resúmenes son auténticos.</a:t>
            </a:r>
          </a:p>
        </p:txBody>
      </p:sp>
      <p:sp>
        <p:nvSpPr>
          <p:cNvPr id="10" name="TextBox 9"/>
          <p:cNvSpPr txBox="1"/>
          <p:nvPr/>
        </p:nvSpPr>
        <p:spPr>
          <a:xfrm>
            <a:off x="566928" y="230428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2257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1 · Identificar el algoritmo sin ver el código</a:t>
            </a:r>
          </a:p>
        </p:txBody>
      </p:sp>
      <p:sp>
        <p:nvSpPr>
          <p:cNvPr id="12" name="TextBox 11"/>
          <p:cNvSpPr txBox="1"/>
          <p:nvPr/>
        </p:nvSpPr>
        <p:spPr>
          <a:xfrm>
            <a:off x="1280160" y="256032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A partir de la longitud del resumen, determinen qué función lo produjo. Justifiquen con el número de bits.</a:t>
            </a:r>
          </a:p>
        </p:txBody>
      </p:sp>
      <p:sp>
        <p:nvSpPr>
          <p:cNvPr id="13" name="TextBox 12"/>
          <p:cNvSpPr txBox="1"/>
          <p:nvPr/>
        </p:nvSpPr>
        <p:spPr>
          <a:xfrm>
            <a:off x="566928" y="3145535"/>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16382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2 · Romper la muestra</a:t>
            </a:r>
          </a:p>
        </p:txBody>
      </p:sp>
      <p:sp>
        <p:nvSpPr>
          <p:cNvPr id="15" name="TextBox 14"/>
          <p:cNvSpPr txBox="1"/>
          <p:nvPr/>
        </p:nvSpPr>
        <p:spPr>
          <a:xfrm>
            <a:off x="1280160" y="340156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Dos de los tres usuarios tienen el mismo resumen. Averigüen qué contraseñas son y expliquen cómo llegaron: qué les dijo la repetición y qué papel jugó la sal declarada.</a:t>
            </a:r>
          </a:p>
        </p:txBody>
      </p:sp>
      <p:sp>
        <p:nvSpPr>
          <p:cNvPr id="16" name="TextBox 15"/>
          <p:cNvSpPr txBox="1"/>
          <p:nvPr/>
        </p:nvSpPr>
        <p:spPr>
          <a:xfrm>
            <a:off x="566928" y="398678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400507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3 · Medir la diferencia</a:t>
            </a:r>
          </a:p>
        </p:txBody>
      </p:sp>
      <p:sp>
        <p:nvSpPr>
          <p:cNvPr id="18" name="TextBox 17"/>
          <p:cNvSpPr txBox="1"/>
          <p:nvPr/>
        </p:nvSpPr>
        <p:spPr>
          <a:xfrm>
            <a:off x="1280160" y="424281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Calculen cuánto tarda una función de derivación moderna frente a un resumen simple para el mismo intento, y extrapolen: ¿cuánto costaría atacar 142.000 cuentas en cada esquema?</a:t>
            </a:r>
          </a:p>
        </p:txBody>
      </p:sp>
      <p:sp>
        <p:nvSpPr>
          <p:cNvPr id="19" name="Rectangle 18"/>
          <p:cNvSpPr/>
          <p:nvPr/>
        </p:nvSpPr>
        <p:spPr>
          <a:xfrm>
            <a:off x="566928" y="5010912"/>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02919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UNA ADVERTENCIA SOBRE EL EJERCICIO 2</a:t>
            </a:r>
          </a:p>
        </p:txBody>
      </p:sp>
      <p:sp>
        <p:nvSpPr>
          <p:cNvPr id="21" name="TextBox 20"/>
          <p:cNvSpPr txBox="1"/>
          <p:nvPr/>
        </p:nvSpPr>
        <p:spPr>
          <a:xfrm>
            <a:off x="804672" y="5266944"/>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Van a descubrir algo que el expediente no dice del todo bien, y encontrarlo es parte del ejercicio. </a:t>
            </a:r>
            <a:r>
              <a:rPr sz="1150" b="1">
                <a:solidFill>
                  <a:srgbClr val="2A2A2A"/>
                </a:solidFill>
                <a:latin typeface="Arial"/>
              </a:rPr>
              <a:t>Documenten la discrepancia entre lo que la documentación afirma y lo que los datos demuestran.</a:t>
            </a:r>
            <a:r>
              <a:rPr sz="1150" b="0">
                <a:solidFill>
                  <a:srgbClr val="2A2A2A"/>
                </a:solidFill>
                <a:latin typeface="Arial"/>
              </a:rPr>
              <a:t> Eso es exactamente el trabajo de un auditor.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44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PUNTO DE PARTIDA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51</a:t>
            </a:r>
          </a:p>
        </p:txBody>
      </p:sp>
      <p:sp>
        <p:nvSpPr>
          <p:cNvPr id="9" name="Rectangle 8"/>
          <p:cNvSpPr/>
          <p:nvPr/>
        </p:nvSpPr>
        <p:spPr>
          <a:xfrm>
            <a:off x="566928" y="1554480"/>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645920"/>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3 · DATOS Y COMANDOS</a:t>
            </a:r>
          </a:p>
        </p:txBody>
      </p:sp>
      <p:sp>
        <p:nvSpPr>
          <p:cNvPr id="11" name="TextBox 10"/>
          <p:cNvSpPr txBox="1"/>
          <p:nvPr/>
        </p:nvSpPr>
        <p:spPr>
          <a:xfrm>
            <a:off x="768096" y="1883664"/>
            <a:ext cx="10652760" cy="2048255"/>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Evidencia B · muestra de la tabla de usuarios del portal</a:t>
            </a:r>
          </a:p>
          <a:p>
            <a:pPr algn="l">
              <a:lnSpc>
                <a:spcPct val="130000"/>
              </a:lnSpc>
              <a:spcAft>
                <a:spcPts val="0"/>
              </a:spcAft>
            </a:pPr>
            <a:r>
              <a:rPr sz="950" b="0">
                <a:solidFill>
                  <a:srgbClr val="000000"/>
                </a:solidFill>
                <a:latin typeface="Consolas"/>
              </a:rPr>
              <a:t>1  usuario_a  5baa61e4c9b93f3f0682250b6cf8331b7ee68fd8</a:t>
            </a:r>
          </a:p>
          <a:p>
            <a:pPr algn="l">
              <a:lnSpc>
                <a:spcPct val="130000"/>
              </a:lnSpc>
              <a:spcAft>
                <a:spcPts val="0"/>
              </a:spcAft>
            </a:pPr>
            <a:r>
              <a:rPr sz="950" b="0">
                <a:solidFill>
                  <a:srgbClr val="000000"/>
                </a:solidFill>
                <a:latin typeface="Consolas"/>
              </a:rPr>
              <a:t>2  usuario_b  7c4a8d09ca3762af61e59520943dc26494f8941b</a:t>
            </a:r>
          </a:p>
          <a:p>
            <a:pPr algn="l">
              <a:lnSpc>
                <a:spcPct val="130000"/>
              </a:lnSpc>
              <a:spcAft>
                <a:spcPts val="0"/>
              </a:spcAft>
            </a:pPr>
            <a:r>
              <a:rPr sz="950" b="0">
                <a:solidFill>
                  <a:srgbClr val="000000"/>
                </a:solidFill>
                <a:latin typeface="Consolas"/>
              </a:rPr>
              <a:t>3  usuario_c  5baa61e4c9b93f3f0682250b6cf8331b7ee68fd8</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sal declarada en la documentación: constante «c00pab2019»</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calcular un resumen y comparar</a:t>
            </a:r>
          </a:p>
          <a:p>
            <a:pPr algn="l">
              <a:lnSpc>
                <a:spcPct val="130000"/>
              </a:lnSpc>
              <a:spcAft>
                <a:spcPts val="0"/>
              </a:spcAft>
            </a:pPr>
            <a:r>
              <a:rPr sz="950" b="0">
                <a:solidFill>
                  <a:srgbClr val="000000"/>
                </a:solidFill>
                <a:latin typeface="Consolas"/>
              </a:rPr>
              <a:t>echo -n "candidata"            | openssl dgst -sha1</a:t>
            </a:r>
          </a:p>
          <a:p>
            <a:pPr algn="l">
              <a:lnSpc>
                <a:spcPct val="130000"/>
              </a:lnSpc>
              <a:spcAft>
                <a:spcPts val="0"/>
              </a:spcAft>
            </a:pPr>
            <a:r>
              <a:rPr sz="950" b="0">
                <a:solidFill>
                  <a:srgbClr val="000000"/>
                </a:solidFill>
                <a:latin typeface="Consolas"/>
              </a:rPr>
              <a:t>echo -n "candidatac00pab2019"  | openssl dgst -sha1</a:t>
            </a:r>
          </a:p>
        </p:txBody>
      </p:sp>
      <p:sp>
        <p:nvSpPr>
          <p:cNvPr id="12" name="Rectangle 11"/>
          <p:cNvSpPr/>
          <p:nvPr/>
        </p:nvSpPr>
        <p:spPr>
          <a:xfrm>
            <a:off x="566928" y="4279392"/>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4297680"/>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PREGUNTA QUE ORDENA TODO EL EJERCICIO</a:t>
            </a:r>
          </a:p>
        </p:txBody>
      </p:sp>
      <p:sp>
        <p:nvSpPr>
          <p:cNvPr id="14" name="TextBox 13"/>
          <p:cNvSpPr txBox="1"/>
          <p:nvPr/>
        </p:nvSpPr>
        <p:spPr>
          <a:xfrm>
            <a:off x="804672" y="4535424"/>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¿Cuál de las dos órdenes de arriba reproduce los resúmenes de la tabla? La respuesta decide si la sal se está aplicando o solo está documentada, y esa diferencia es un hallazgo con nombre propio.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45  PYTHON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LABORATORIO 3 · EL EJERCICIO EN PYTHON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ejercicios 2 y 3 hechos con la biblioteca estándar: confirmar si la sal declarada se aplicó, y medir cuánto cuesta un intento con factor de trabajo.</a:t>
            </a:r>
          </a:p>
        </p:txBody>
      </p:sp>
      <p:sp>
        <p:nvSpPr>
          <p:cNvPr id="10" name="Rectangle 9"/>
          <p:cNvSpPr/>
          <p:nvPr/>
        </p:nvSpPr>
        <p:spPr>
          <a:xfrm>
            <a:off x="566928" y="2304287"/>
            <a:ext cx="11055096" cy="267736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3 · PYTHON 3, SOLO BIBLIOTECA ESTÁNDAR</a:t>
            </a:r>
          </a:p>
        </p:txBody>
      </p:sp>
      <p:sp>
        <p:nvSpPr>
          <p:cNvPr id="12" name="TextBox 11"/>
          <p:cNvSpPr txBox="1"/>
          <p:nvPr/>
        </p:nvSpPr>
        <p:spPr>
          <a:xfrm>
            <a:off x="768096" y="2633471"/>
            <a:ext cx="10652760" cy="225673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import hashlib, time</a:t>
            </a:r>
          </a:p>
          <a:p>
            <a:pPr algn="l">
              <a:lnSpc>
                <a:spcPct val="130000"/>
              </a:lnSpc>
              <a:spcAft>
                <a:spcPts val="0"/>
              </a:spcAft>
            </a:pPr>
            <a:r>
              <a:rPr sz="950" b="0">
                <a:solidFill>
                  <a:srgbClr val="000000"/>
                </a:solidFill>
                <a:latin typeface="Consolas"/>
              </a:rPr>
              <a:t>objetivo = "5baa61e4c9b93f3f0682250b6cf8331b7ee68fd8"          # usuario_a y usuario_c</a:t>
            </a:r>
          </a:p>
          <a:p>
            <a:pPr algn="l">
              <a:lnSpc>
                <a:spcPct val="130000"/>
              </a:lnSpc>
              <a:spcAft>
                <a:spcPts val="0"/>
              </a:spcAft>
            </a:pPr>
            <a:r>
              <a:rPr sz="950" b="0">
                <a:solidFill>
                  <a:srgbClr val="000000"/>
                </a:solidFill>
                <a:latin typeface="Consolas"/>
              </a:rPr>
              <a:t>for clave in open("comunes.txt", encoding="utf-8").read().split():</a:t>
            </a:r>
          </a:p>
          <a:p>
            <a:pPr algn="l">
              <a:lnSpc>
                <a:spcPct val="130000"/>
              </a:lnSpc>
              <a:spcAft>
                <a:spcPts val="0"/>
              </a:spcAft>
            </a:pPr>
            <a:r>
              <a:rPr sz="950" b="0">
                <a:solidFill>
                  <a:srgbClr val="000000"/>
                </a:solidFill>
                <a:latin typeface="Consolas"/>
              </a:rPr>
              <a:t>    if hashlib.sha1(clave.encode()).hexdigest() == objetivo:</a:t>
            </a:r>
          </a:p>
          <a:p>
            <a:pPr algn="l">
              <a:lnSpc>
                <a:spcPct val="130000"/>
              </a:lnSpc>
              <a:spcAft>
                <a:spcPts val="0"/>
              </a:spcAft>
            </a:pPr>
            <a:r>
              <a:rPr sz="950" b="0">
                <a:solidFill>
                  <a:srgbClr val="000000"/>
                </a:solidFill>
                <a:latin typeface="Consolas"/>
              </a:rPr>
              <a:t>        print("coincide SIN sal:", clave)</a:t>
            </a:r>
          </a:p>
          <a:p>
            <a:pPr algn="l">
              <a:lnSpc>
                <a:spcPct val="130000"/>
              </a:lnSpc>
              <a:spcAft>
                <a:spcPts val="0"/>
              </a:spcAft>
            </a:pPr>
            <a:r>
              <a:rPr sz="950" b="0">
                <a:solidFill>
                  <a:srgbClr val="000000"/>
                </a:solidFill>
                <a:latin typeface="Consolas"/>
              </a:rPr>
              <a:t>    if hashlib.sha1((clave + "c00pab2019").encode()).hexdigest() == objetivo:</a:t>
            </a:r>
          </a:p>
          <a:p>
            <a:pPr algn="l">
              <a:lnSpc>
                <a:spcPct val="130000"/>
              </a:lnSpc>
              <a:spcAft>
                <a:spcPts val="0"/>
              </a:spcAft>
            </a:pPr>
            <a:r>
              <a:rPr sz="950" b="0">
                <a:solidFill>
                  <a:srgbClr val="000000"/>
                </a:solidFill>
                <a:latin typeface="Consolas"/>
              </a:rPr>
              <a:t>        print("coincide CON la sal declarada:", clave)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t = time.perf_counter()</a:t>
            </a:r>
          </a:p>
          <a:p>
            <a:pPr algn="l">
              <a:lnSpc>
                <a:spcPct val="130000"/>
              </a:lnSpc>
              <a:spcAft>
                <a:spcPts val="0"/>
              </a:spcAft>
            </a:pPr>
            <a:r>
              <a:rPr sz="950" b="0">
                <a:solidFill>
                  <a:srgbClr val="000000"/>
                </a:solidFill>
                <a:latin typeface="Consolas"/>
              </a:rPr>
              <a:t>hashlib.scrypt(b"candidata", salt=b"sal-unica-16-bytes", n=2**14, r=8, p=1)</a:t>
            </a:r>
          </a:p>
          <a:p>
            <a:pPr algn="l">
              <a:lnSpc>
                <a:spcPct val="130000"/>
              </a:lnSpc>
              <a:spcAft>
                <a:spcPts val="0"/>
              </a:spcAft>
            </a:pPr>
            <a:r>
              <a:rPr sz="950" b="0">
                <a:solidFill>
                  <a:srgbClr val="000000"/>
                </a:solidFill>
                <a:latin typeface="Consolas"/>
              </a:rPr>
              <a:t>print(round(time.perf_counter() - t, 3), "segundos por intento")</a:t>
            </a:r>
          </a:p>
        </p:txBody>
      </p:sp>
      <p:sp>
        <p:nvSpPr>
          <p:cNvPr id="13" name="Rectangle 12"/>
          <p:cNvSpPr/>
          <p:nvPr/>
        </p:nvSpPr>
        <p:spPr>
          <a:xfrm>
            <a:off x="566928" y="5237683"/>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25597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VA EN EL INFORME</a:t>
            </a:r>
          </a:p>
        </p:txBody>
      </p:sp>
      <p:sp>
        <p:nvSpPr>
          <p:cNvPr id="15" name="TextBox 14"/>
          <p:cNvSpPr txBox="1"/>
          <p:nvPr/>
        </p:nvSpPr>
        <p:spPr>
          <a:xfrm>
            <a:off x="804672" y="5493715"/>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¿Con cuál de las dos condiciones coincidió? Esa sola línea confirma o desmiente la documentación de la fábrica de software. </a:t>
            </a:r>
            <a:r>
              <a:rPr sz="1150" b="1">
                <a:solidFill>
                  <a:srgbClr val="2A2A2A"/>
                </a:solidFill>
                <a:latin typeface="Arial"/>
              </a:rPr>
              <a:t>Y extrapolen: ¿cuántos años tomaría recorrer la misma lista si cada intento costara lo que costó scrypt?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46  EVALUACIÓN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PRIMERA EVALUACIÓN DE CONOCIMIENTO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Veinte minutos, individual, sin material. Cubre las sesiones 1 a 3 y vale el 15 % de la nota del módulo. Estos son los temas, para que nadie estudie de más ni de menos.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TEMA</a:t>
            </a:r>
          </a:p>
        </p:txBody>
      </p:sp>
      <p:sp>
        <p:nvSpPr>
          <p:cNvPr id="12" name="TextBox 11"/>
          <p:cNvSpPr txBox="1"/>
          <p:nvPr/>
        </p:nvSpPr>
        <p:spPr>
          <a:xfrm>
            <a:off x="4104558" y="2423159"/>
            <a:ext cx="735287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HAY QUE SABER HACER</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337303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Los cuatro servicios</a:t>
            </a:r>
          </a:p>
        </p:txBody>
      </p:sp>
      <p:sp>
        <p:nvSpPr>
          <p:cNvPr id="15" name="TextBox 14"/>
          <p:cNvSpPr txBox="1"/>
          <p:nvPr/>
        </p:nvSpPr>
        <p:spPr>
          <a:xfrm>
            <a:off x="4104558" y="2825495"/>
            <a:ext cx="7352873"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Dada una situación, decir cuál falló y con qué mecanismo se habría evitado</a:t>
            </a:r>
          </a:p>
        </p:txBody>
      </p:sp>
      <p:sp>
        <p:nvSpPr>
          <p:cNvPr id="16" name="Rectangle 15"/>
          <p:cNvSpPr/>
          <p:nvPr/>
        </p:nvSpPr>
        <p:spPr>
          <a:xfrm>
            <a:off x="566928" y="317296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64407"/>
            <a:ext cx="337303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Entropía y generación de llaves</a:t>
            </a:r>
          </a:p>
        </p:txBody>
      </p:sp>
      <p:sp>
        <p:nvSpPr>
          <p:cNvPr id="18" name="TextBox 17"/>
          <p:cNvSpPr txBox="1"/>
          <p:nvPr/>
        </p:nvSpPr>
        <p:spPr>
          <a:xfrm>
            <a:off x="4104558" y="3264407"/>
            <a:ext cx="7352873"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Distinguir un generador adecuado de uno que no lo es, y estimar entropía real</a:t>
            </a:r>
          </a:p>
        </p:txBody>
      </p:sp>
      <p:sp>
        <p:nvSpPr>
          <p:cNvPr id="19" name="Rectangle 18"/>
          <p:cNvSpPr/>
          <p:nvPr/>
        </p:nvSpPr>
        <p:spPr>
          <a:xfrm>
            <a:off x="566928" y="36118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03319"/>
            <a:ext cx="337303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Modos de operación</a:t>
            </a:r>
          </a:p>
        </p:txBody>
      </p:sp>
      <p:sp>
        <p:nvSpPr>
          <p:cNvPr id="21" name="TextBox 20"/>
          <p:cNvSpPr txBox="1"/>
          <p:nvPr/>
        </p:nvSpPr>
        <p:spPr>
          <a:xfrm>
            <a:off x="4104558" y="3703319"/>
            <a:ext cx="7352873"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Elegir el modo correcto y justificarlo. Reconocer el problema de ECB y el de repetir el vector</a:t>
            </a:r>
          </a:p>
        </p:txBody>
      </p:sp>
      <p:sp>
        <p:nvSpPr>
          <p:cNvPr id="22" name="Rectangle 21"/>
          <p:cNvSpPr/>
          <p:nvPr/>
        </p:nvSpPr>
        <p:spPr>
          <a:xfrm>
            <a:off x="566928" y="40507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42231"/>
            <a:ext cx="337303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Los tres estados del dato</a:t>
            </a:r>
          </a:p>
        </p:txBody>
      </p:sp>
      <p:sp>
        <p:nvSpPr>
          <p:cNvPr id="24" name="TextBox 23"/>
          <p:cNvSpPr txBox="1"/>
          <p:nvPr/>
        </p:nvSpPr>
        <p:spPr>
          <a:xfrm>
            <a:off x="4104558" y="4142231"/>
            <a:ext cx="7352873"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Decir qué protege cada mecanismo y contra qué amenaza concreta</a:t>
            </a:r>
          </a:p>
        </p:txBody>
      </p:sp>
      <p:sp>
        <p:nvSpPr>
          <p:cNvPr id="25" name="Rectangle 24"/>
          <p:cNvSpPr/>
          <p:nvPr/>
        </p:nvSpPr>
        <p:spPr>
          <a:xfrm>
            <a:off x="566928" y="44897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581143"/>
            <a:ext cx="337303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Resúmenes y HMAC</a:t>
            </a:r>
          </a:p>
        </p:txBody>
      </p:sp>
      <p:sp>
        <p:nvSpPr>
          <p:cNvPr id="27" name="TextBox 26"/>
          <p:cNvSpPr txBox="1"/>
          <p:nvPr/>
        </p:nvSpPr>
        <p:spPr>
          <a:xfrm>
            <a:off x="4104558" y="4581143"/>
            <a:ext cx="7352873"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Diferenciar integridad, autenticidad y no repudio, y saber cuál da cada mecanismo</a:t>
            </a:r>
          </a:p>
        </p:txBody>
      </p:sp>
      <p:sp>
        <p:nvSpPr>
          <p:cNvPr id="28" name="Rectangle 27"/>
          <p:cNvSpPr/>
          <p:nvPr/>
        </p:nvSpPr>
        <p:spPr>
          <a:xfrm>
            <a:off x="566928" y="492861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020055"/>
            <a:ext cx="3373038"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Contraseñas</a:t>
            </a:r>
          </a:p>
        </p:txBody>
      </p:sp>
      <p:sp>
        <p:nvSpPr>
          <p:cNvPr id="30" name="TextBox 29"/>
          <p:cNvSpPr txBox="1"/>
          <p:nvPr/>
        </p:nvSpPr>
        <p:spPr>
          <a:xfrm>
            <a:off x="4104558" y="5020055"/>
            <a:ext cx="7352873"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Explicar por qué no se cifran, qué hace la sal y para qué sirve el factor de trabajo</a:t>
            </a:r>
          </a:p>
        </p:txBody>
      </p:sp>
      <p:sp>
        <p:nvSpPr>
          <p:cNvPr id="31" name="Rectangle 30"/>
          <p:cNvSpPr/>
          <p:nvPr/>
        </p:nvSpPr>
        <p:spPr>
          <a:xfrm>
            <a:off x="566928" y="536752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422392"/>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47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LLEVAMOS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54</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 resumen no autentica a nadie</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Detecta accidentes, no adversarios. Cualquiera puede recalcularlo.</a:t>
            </a:r>
          </a:p>
        </p:txBody>
      </p:sp>
      <p:sp>
        <p:nvSpPr>
          <p:cNvPr id="12" name="TextBox 11"/>
          <p:cNvSpPr txBox="1"/>
          <p:nvPr/>
        </p:nvSpPr>
        <p:spPr>
          <a:xfrm>
            <a:off x="566928" y="231343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3172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MD5 y SHA-1 están rotos y siguen en producción</a:t>
            </a:r>
          </a:p>
        </p:txBody>
      </p:sp>
      <p:sp>
        <p:nvSpPr>
          <p:cNvPr id="14" name="TextBox 13"/>
          <p:cNvSpPr txBox="1"/>
          <p:nvPr/>
        </p:nvSpPr>
        <p:spPr>
          <a:xfrm>
            <a:off x="1280160" y="256946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Coopaburrá guarda 142.000 contraseñas con SHA-1.</a:t>
            </a:r>
          </a:p>
        </p:txBody>
      </p:sp>
      <p:sp>
        <p:nvSpPr>
          <p:cNvPr id="15" name="TextBox 14"/>
          <p:cNvSpPr txBox="1"/>
          <p:nvPr/>
        </p:nvSpPr>
        <p:spPr>
          <a:xfrm>
            <a:off x="566928" y="3026664"/>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044952"/>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HMAC da autenticidad pero nunca no repudio</a:t>
            </a:r>
          </a:p>
        </p:txBody>
      </p:sp>
      <p:sp>
        <p:nvSpPr>
          <p:cNvPr id="17" name="TextBox 16"/>
          <p:cNvSpPr txBox="1"/>
          <p:nvPr/>
        </p:nvSpPr>
        <p:spPr>
          <a:xfrm>
            <a:off x="1280160" y="32826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Porque las dos partes conocen la llave. Ningún ajuste lo cambia.</a:t>
            </a:r>
          </a:p>
        </p:txBody>
      </p:sp>
      <p:sp>
        <p:nvSpPr>
          <p:cNvPr id="18" name="TextBox 17"/>
          <p:cNvSpPr txBox="1"/>
          <p:nvPr/>
        </p:nvSpPr>
        <p:spPr>
          <a:xfrm>
            <a:off x="566928" y="37398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7581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Una contraseña no se cifra ni se resume a secas</a:t>
            </a:r>
          </a:p>
        </p:txBody>
      </p:sp>
      <p:sp>
        <p:nvSpPr>
          <p:cNvPr id="20" name="TextBox 19"/>
          <p:cNvSpPr txBox="1"/>
          <p:nvPr/>
        </p:nvSpPr>
        <p:spPr>
          <a:xfrm>
            <a:off x="1280160" y="39959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Se deriva con una función lenta a propósito, con sal única por usuario.</a:t>
            </a:r>
          </a:p>
        </p:txBody>
      </p:sp>
      <p:sp>
        <p:nvSpPr>
          <p:cNvPr id="21" name="TextBox 20"/>
          <p:cNvSpPr txBox="1"/>
          <p:nvPr/>
        </p:nvSpPr>
        <p:spPr>
          <a:xfrm>
            <a:off x="566928" y="445312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05</a:t>
            </a:r>
          </a:p>
        </p:txBody>
      </p:sp>
      <p:sp>
        <p:nvSpPr>
          <p:cNvPr id="22" name="TextBox 21"/>
          <p:cNvSpPr txBox="1"/>
          <p:nvPr/>
        </p:nvSpPr>
        <p:spPr>
          <a:xfrm>
            <a:off x="1280160" y="447141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La sal constante de Coopaburrá no es una sal</a:t>
            </a:r>
          </a:p>
        </p:txBody>
      </p:sp>
      <p:sp>
        <p:nvSpPr>
          <p:cNvPr id="23" name="TextBox 22"/>
          <p:cNvSpPr txBox="1"/>
          <p:nvPr/>
        </p:nvSpPr>
        <p:spPr>
          <a:xfrm>
            <a:off x="1280160" y="470916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 un sufijo, y no impide el ataque que de verdad importa.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48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TERCERA PARTE DEL PRODUCTO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55</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 entrega al inicio de la sesión 4: rediseño del almacenamiento de contraseñas y de la firma de operaciones. Hallazgos H1 y H2.</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SECCIÓN</a:t>
            </a:r>
          </a:p>
        </p:txBody>
      </p:sp>
      <p:sp>
        <p:nvSpPr>
          <p:cNvPr id="12" name="TextBox 11"/>
          <p:cNvSpPr txBox="1"/>
          <p:nvPr/>
        </p:nvSpPr>
        <p:spPr>
          <a:xfrm>
            <a:off x="3662354" y="2185415"/>
            <a:ext cx="779507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DEBE CONTENER</a:t>
            </a:r>
          </a:p>
        </p:txBody>
      </p:sp>
      <p:sp>
        <p:nvSpPr>
          <p:cNvPr id="13" name="Rectangle 12"/>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87751"/>
            <a:ext cx="2930834"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Diagnóstico de H1</a:t>
            </a:r>
          </a:p>
        </p:txBody>
      </p:sp>
      <p:sp>
        <p:nvSpPr>
          <p:cNvPr id="15" name="TextBox 14"/>
          <p:cNvSpPr txBox="1"/>
          <p:nvPr/>
        </p:nvSpPr>
        <p:spPr>
          <a:xfrm>
            <a:off x="3662354" y="2587751"/>
            <a:ext cx="7795077"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algoritmo se usa, qué permite exactamente y qué demostró el laboratorio sobre la sal declarada</a:t>
            </a:r>
          </a:p>
        </p:txBody>
      </p:sp>
      <p:sp>
        <p:nvSpPr>
          <p:cNvPr id="16" name="Rectangle 15"/>
          <p:cNvSpPr/>
          <p:nvPr/>
        </p:nvSpPr>
        <p:spPr>
          <a:xfrm>
            <a:off x="566928" y="30083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099815"/>
            <a:ext cx="2930834"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Rediseño del almacenamiento</a:t>
            </a:r>
          </a:p>
        </p:txBody>
      </p:sp>
      <p:sp>
        <p:nvSpPr>
          <p:cNvPr id="18" name="TextBox 17"/>
          <p:cNvSpPr txBox="1"/>
          <p:nvPr/>
        </p:nvSpPr>
        <p:spPr>
          <a:xfrm>
            <a:off x="3662354" y="3099815"/>
            <a:ext cx="7795077"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Función elegida, parámetros propuestos y cómo se calibraron. Con nombre de responsable</a:t>
            </a:r>
          </a:p>
        </p:txBody>
      </p:sp>
      <p:sp>
        <p:nvSpPr>
          <p:cNvPr id="19" name="Rectangle 18"/>
          <p:cNvSpPr/>
          <p:nvPr/>
        </p:nvSpPr>
        <p:spPr>
          <a:xfrm>
            <a:off x="566928" y="352043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11879"/>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Plan de transición</a:t>
            </a:r>
          </a:p>
        </p:txBody>
      </p:sp>
      <p:sp>
        <p:nvSpPr>
          <p:cNvPr id="21" name="TextBox 20"/>
          <p:cNvSpPr txBox="1"/>
          <p:nvPr/>
        </p:nvSpPr>
        <p:spPr>
          <a:xfrm>
            <a:off x="3662354" y="3611879"/>
            <a:ext cx="779507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pueden reconvertir 142.000 contraseñas sin conocerlas. ¿Cómo se migra sin pedirle a todo el mundo que cambie la suya el mismo día?</a:t>
            </a:r>
          </a:p>
        </p:txBody>
      </p:sp>
      <p:sp>
        <p:nvSpPr>
          <p:cNvPr id="22" name="Rectangle 21"/>
          <p:cNvSpPr/>
          <p:nvPr/>
        </p:nvSpPr>
        <p:spPr>
          <a:xfrm>
            <a:off x="566928" y="406030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51741"/>
            <a:ext cx="2930834" cy="45720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Diagnóstico de H2</a:t>
            </a:r>
          </a:p>
        </p:txBody>
      </p:sp>
      <p:sp>
        <p:nvSpPr>
          <p:cNvPr id="24" name="TextBox 23"/>
          <p:cNvSpPr txBox="1"/>
          <p:nvPr/>
        </p:nvSpPr>
        <p:spPr>
          <a:xfrm>
            <a:off x="3662354" y="4151741"/>
            <a:ext cx="7795077" cy="45720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qué el mecanismo actual no puede dar no repudio, con el argumento técnico, no solo la conclusión</a:t>
            </a:r>
          </a:p>
        </p:txBody>
      </p:sp>
      <p:sp>
        <p:nvSpPr>
          <p:cNvPr id="25" name="Rectangle 24"/>
          <p:cNvSpPr/>
          <p:nvPr/>
        </p:nvSpPr>
        <p:spPr>
          <a:xfrm>
            <a:off x="566928" y="45723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2722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928981"/>
            <a:ext cx="45720" cy="68580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94726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PARTE DIFÍCIL ES LA TERCERA FILA</a:t>
            </a:r>
          </a:p>
        </p:txBody>
      </p:sp>
      <p:sp>
        <p:nvSpPr>
          <p:cNvPr id="29" name="TextBox 28"/>
          <p:cNvSpPr txBox="1"/>
          <p:nvPr/>
        </p:nvSpPr>
        <p:spPr>
          <a:xfrm>
            <a:off x="804672" y="5185013"/>
            <a:ext cx="10780776" cy="41148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Migrar contraseñas es el problema clásico: no se conocen las actuales, así que no se pueden volver a derivar. Hay una solución estándar y elegante, y encontrarla es parte del ejercicio.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49  CIERRE</a:t>
            </a:r>
          </a:p>
        </p:txBody>
      </p:sp>
      <p:sp>
        <p:nvSpPr>
          <p:cNvPr id="4" name="TextBox 3"/>
          <p:cNvSpPr txBox="1"/>
          <p:nvPr/>
        </p:nvSpPr>
        <p:spPr>
          <a:xfrm>
            <a:off x="566928" y="731520"/>
            <a:ext cx="11055096" cy="868680"/>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TRABAJO INDEPENDIENTE</a:t>
            </a:r>
          </a:p>
          <a:p>
            <a:pPr algn="l">
              <a:lnSpc>
                <a:spcPct val="108000"/>
              </a:lnSpc>
              <a:spcAft>
                <a:spcPts val="0"/>
              </a:spcAft>
            </a:pPr>
            <a:r>
              <a:rPr sz="2300" b="0">
                <a:solidFill>
                  <a:srgbClr val="000000"/>
                </a:solidFill>
                <a:latin typeface="Arial Black"/>
              </a:rPr>
              <a:t>HASTA LA SESIÓN 4</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56</a:t>
            </a:r>
          </a:p>
        </p:txBody>
      </p:sp>
      <p:sp>
        <p:nvSpPr>
          <p:cNvPr id="9" name="Rectangle 8"/>
          <p:cNvSpPr/>
          <p:nvPr/>
        </p:nvSpPr>
        <p:spPr>
          <a:xfrm>
            <a:off x="566928" y="179222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9 h</a:t>
            </a:r>
          </a:p>
        </p:txBody>
      </p:sp>
      <p:sp>
        <p:nvSpPr>
          <p:cNvPr id="11" name="TextBox 10"/>
          <p:cNvSpPr txBox="1"/>
          <p:nvPr/>
        </p:nvSpPr>
        <p:spPr>
          <a:xfrm>
            <a:off x="566928"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TOTAL ENTRE</a:t>
            </a:r>
          </a:p>
          <a:p>
            <a:pPr algn="l">
              <a:lnSpc>
                <a:spcPct val="125000"/>
              </a:lnSpc>
              <a:spcAft>
                <a:spcPts val="0"/>
              </a:spcAft>
            </a:pPr>
            <a:r>
              <a:rPr sz="730" b="1" spc="130">
                <a:solidFill>
                  <a:srgbClr val="3A3A3A"/>
                </a:solidFill>
                <a:latin typeface="Consolas"/>
              </a:rPr>
              <a:t>MARTES Y JUEVES</a:t>
            </a:r>
          </a:p>
        </p:txBody>
      </p:sp>
      <p:sp>
        <p:nvSpPr>
          <p:cNvPr id="12" name="Rectangle 11"/>
          <p:cNvSpPr/>
          <p:nvPr/>
        </p:nvSpPr>
        <p:spPr>
          <a:xfrm>
            <a:off x="4142232"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3 h</a:t>
            </a:r>
          </a:p>
        </p:txBody>
      </p:sp>
      <p:sp>
        <p:nvSpPr>
          <p:cNvPr id="14" name="TextBox 13"/>
          <p:cNvSpPr txBox="1"/>
          <p:nvPr/>
        </p:nvSpPr>
        <p:spPr>
          <a:xfrm>
            <a:off x="4251960"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LECTURA</a:t>
            </a:r>
          </a:p>
          <a:p>
            <a:pPr algn="l">
              <a:lnSpc>
                <a:spcPct val="125000"/>
              </a:lnSpc>
              <a:spcAft>
                <a:spcPts val="0"/>
              </a:spcAft>
            </a:pPr>
            <a:r>
              <a:rPr sz="730" b="1" spc="130">
                <a:solidFill>
                  <a:srgbClr val="3A3A3A"/>
                </a:solidFill>
                <a:latin typeface="Consolas"/>
              </a:rPr>
              <a:t>PREVIA</a:t>
            </a:r>
          </a:p>
        </p:txBody>
      </p:sp>
      <p:sp>
        <p:nvSpPr>
          <p:cNvPr id="15" name="Rectangle 14"/>
          <p:cNvSpPr/>
          <p:nvPr/>
        </p:nvSpPr>
        <p:spPr>
          <a:xfrm>
            <a:off x="7827264"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1920240"/>
            <a:ext cx="3502152"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6 h</a:t>
            </a:r>
          </a:p>
        </p:txBody>
      </p:sp>
      <p:sp>
        <p:nvSpPr>
          <p:cNvPr id="17" name="TextBox 16"/>
          <p:cNvSpPr txBox="1"/>
          <p:nvPr/>
        </p:nvSpPr>
        <p:spPr>
          <a:xfrm>
            <a:off x="7936992"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ENTREGA 3 E INFORME</a:t>
            </a:r>
          </a:p>
          <a:p>
            <a:pPr algn="l">
              <a:lnSpc>
                <a:spcPct val="125000"/>
              </a:lnSpc>
              <a:spcAft>
                <a:spcPts val="0"/>
              </a:spcAft>
            </a:pPr>
            <a:r>
              <a:rPr sz="730" b="1" spc="130">
                <a:solidFill>
                  <a:srgbClr val="3A3A3A"/>
                </a:solidFill>
                <a:latin typeface="Consolas"/>
              </a:rPr>
              <a:t>DEL LABORATORIO 3</a:t>
            </a:r>
          </a:p>
        </p:txBody>
      </p:sp>
      <p:sp>
        <p:nvSpPr>
          <p:cNvPr id="18" name="Rectangle 17"/>
          <p:cNvSpPr/>
          <p:nvPr/>
        </p:nvSpPr>
        <p:spPr>
          <a:xfrm>
            <a:off x="566928" y="296265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6"/>
            <a:ext cx="11055096" cy="274320"/>
          </a:xfrm>
          <a:prstGeom prst="rect">
            <a:avLst/>
          </a:prstGeom>
          <a:noFill/>
        </p:spPr>
        <p:txBody>
          <a:bodyPr wrap="square" lIns="0" rIns="0" tIns="0" bIns="0">
            <a:spAutoFit/>
          </a:bodyPr>
          <a:lstStyle/>
          <a:p>
            <a:pPr algn="l">
              <a:spcAft>
                <a:spcPts val="0"/>
              </a:spcAft>
            </a:pPr>
            <a:r>
              <a:rPr sz="1350" b="1">
                <a:solidFill>
                  <a:srgbClr val="000000"/>
                </a:solidFill>
                <a:latin typeface="Arial"/>
              </a:rPr>
              <a:t>Lectura previa · 3 horas</a:t>
            </a:r>
          </a:p>
        </p:txBody>
      </p:sp>
      <p:sp>
        <p:nvSpPr>
          <p:cNvPr id="20" name="TextBox 19"/>
          <p:cNvSpPr txBox="1"/>
          <p:nvPr/>
        </p:nvSpPr>
        <p:spPr>
          <a:xfrm>
            <a:off x="566928" y="3520439"/>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RFC 2104 y RFC 5869</a:t>
            </a:r>
          </a:p>
        </p:txBody>
      </p:sp>
      <p:sp>
        <p:nvSpPr>
          <p:cNvPr id="21" name="TextBox 20"/>
          <p:cNvSpPr txBox="1"/>
          <p:nvPr/>
        </p:nvSpPr>
        <p:spPr>
          <a:xfrm>
            <a:off x="3401568" y="3520439"/>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HMAC y HKDF: los dos documentos cortos que definen cómo se autentica un mensaje y cómo se derivan llaves. Una hora.</a:t>
            </a:r>
          </a:p>
        </p:txBody>
      </p:sp>
      <p:sp>
        <p:nvSpPr>
          <p:cNvPr id="22" name="Rectangle 21"/>
          <p:cNvSpPr/>
          <p:nvPr/>
        </p:nvSpPr>
        <p:spPr>
          <a:xfrm>
            <a:off x="566928" y="401421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05655"/>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Katz y Lindell (2020)</a:t>
            </a:r>
          </a:p>
        </p:txBody>
      </p:sp>
      <p:sp>
        <p:nvSpPr>
          <p:cNvPr id="24" name="TextBox 23"/>
          <p:cNvSpPr txBox="1"/>
          <p:nvPr/>
        </p:nvSpPr>
        <p:spPr>
          <a:xfrm>
            <a:off x="3401568" y="4105655"/>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El capítulo de gestión de llaves y la revolución de la llave pública: Diffie-Hellman y el problema que resuelve. 1,5 horas.</a:t>
            </a:r>
          </a:p>
        </p:txBody>
      </p:sp>
      <p:sp>
        <p:nvSpPr>
          <p:cNvPr id="25" name="Rectangle 24"/>
          <p:cNvSpPr/>
          <p:nvPr/>
        </p:nvSpPr>
        <p:spPr>
          <a:xfrm>
            <a:off x="566928" y="45994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90871"/>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Ley 527 de 1999</a:t>
            </a:r>
          </a:p>
        </p:txBody>
      </p:sp>
      <p:sp>
        <p:nvSpPr>
          <p:cNvPr id="27" name="TextBox 26"/>
          <p:cNvSpPr txBox="1"/>
          <p:nvPr/>
        </p:nvSpPr>
        <p:spPr>
          <a:xfrm>
            <a:off x="3401568" y="4690871"/>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Artículos 2, 5 a 13 y 28: mensaje de datos, firma y firma digital. Media hora. Se discute el jueves en el bloque 8.</a:t>
            </a:r>
          </a:p>
        </p:txBody>
      </p:sp>
      <p:sp>
        <p:nvSpPr>
          <p:cNvPr id="28" name="Rectangle 27"/>
          <p:cNvSpPr/>
          <p:nvPr/>
        </p:nvSpPr>
        <p:spPr>
          <a:xfrm>
            <a:off x="566928" y="5184647"/>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CONDICIÓN DE ENTRADA A LA SESIÓN 4</a:t>
            </a:r>
          </a:p>
        </p:txBody>
      </p:sp>
      <p:sp>
        <p:nvSpPr>
          <p:cNvPr id="31" name="TextBox 30"/>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jueves se asume leído el artículo 28 de la Ley 527: la discusión del bloque 8 parte de sus cinco atributos. Las 6 horas de elaboración son la entrega 3 (5 h, en equipo) y el informe del laboratorio (1 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50  ADELANTO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VIENE EL JUEVES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57</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Sesión 4: criptografía de llave pública y firma digital. Es la sesión que resuelve el problema que hoy solo diagnosticamos.</a:t>
            </a:r>
          </a:p>
        </p:txBody>
      </p:sp>
      <p:sp>
        <p:nvSpPr>
          <p:cNvPr id="10" name="Rectangle 9"/>
          <p:cNvSpPr/>
          <p:nvPr/>
        </p:nvSpPr>
        <p:spPr>
          <a:xfrm>
            <a:off x="566928" y="2066543"/>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1 · DOS LLAVES EN LUGAR DE UNA</a:t>
            </a:r>
          </a:p>
        </p:txBody>
      </p:sp>
      <p:sp>
        <p:nvSpPr>
          <p:cNvPr id="12" name="TextBox 11"/>
          <p:cNvSpPr txBox="1"/>
          <p:nvPr/>
        </p:nvSpPr>
        <p:spPr>
          <a:xfrm>
            <a:off x="786384" y="2395727"/>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El problema del intercambio de llaves y cómo lo resuelve la llave pública.</a:t>
            </a:r>
          </a:p>
          <a:p>
            <a:pPr algn="l">
              <a:lnSpc>
                <a:spcPct val="128000"/>
              </a:lnSpc>
              <a:spcAft>
                <a:spcPts val="700"/>
              </a:spcAft>
            </a:pPr>
            <a:r>
              <a:rPr sz="1150" b="0">
                <a:solidFill>
                  <a:srgbClr val="000000"/>
                </a:solidFill>
                <a:latin typeface="Arial"/>
              </a:rPr>
              <a:t>RSA y curvas elípticas: por qué las segundas desplazaron a la primera.</a:t>
            </a:r>
          </a:p>
          <a:p>
            <a:pPr algn="l">
              <a:lnSpc>
                <a:spcPct val="128000"/>
              </a:lnSpc>
              <a:spcAft>
                <a:spcPts val="700"/>
              </a:spcAft>
            </a:pPr>
            <a:r>
              <a:rPr sz="1150" b="0">
                <a:solidFill>
                  <a:srgbClr val="000000"/>
                </a:solidFill>
                <a:latin typeface="Arial"/>
              </a:rPr>
              <a:t>Firma digital: el único mecanismo que da no repudio, y por qué.</a:t>
            </a:r>
          </a:p>
        </p:txBody>
      </p:sp>
      <p:sp>
        <p:nvSpPr>
          <p:cNvPr id="13" name="Rectangle 12"/>
          <p:cNvSpPr/>
          <p:nvPr/>
        </p:nvSpPr>
        <p:spPr>
          <a:xfrm>
            <a:off x="6268212" y="2066543"/>
            <a:ext cx="5353812" cy="1874519"/>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76272"/>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BLOQUE 2 · EL VALOR PROBATORIO</a:t>
            </a:r>
          </a:p>
        </p:txBody>
      </p:sp>
      <p:sp>
        <p:nvSpPr>
          <p:cNvPr id="15" name="TextBox 14"/>
          <p:cNvSpPr txBox="1"/>
          <p:nvPr/>
        </p:nvSpPr>
        <p:spPr>
          <a:xfrm>
            <a:off x="6487668" y="2395727"/>
            <a:ext cx="4914900" cy="141731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 Ley 527 y qué hace que una firma electrónica sea confiable ante un juez.</a:t>
            </a:r>
          </a:p>
          <a:p>
            <a:pPr algn="l">
              <a:lnSpc>
                <a:spcPct val="128000"/>
              </a:lnSpc>
              <a:spcAft>
                <a:spcPts val="700"/>
              </a:spcAft>
            </a:pPr>
            <a:r>
              <a:rPr sz="1150" b="0">
                <a:solidFill>
                  <a:srgbClr val="000000"/>
                </a:solidFill>
                <a:latin typeface="Arial"/>
              </a:rPr>
              <a:t>El hallazgo H7: veinte años de hipotecas firmadas con una imagen escaneada.</a:t>
            </a:r>
          </a:p>
          <a:p>
            <a:pPr algn="l">
              <a:lnSpc>
                <a:spcPct val="128000"/>
              </a:lnSpc>
              <a:spcAft>
                <a:spcPts val="700"/>
              </a:spcAft>
            </a:pPr>
            <a:r>
              <a:rPr sz="1150" b="0">
                <a:solidFill>
                  <a:srgbClr val="000000"/>
                </a:solidFill>
                <a:latin typeface="Arial"/>
              </a:rPr>
              <a:t>Laboratorio: firmar, verificar y comparar el costo de RSA frente a curvas elípticas.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51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1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58</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AES / ECB / CBC / GCM</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Advanced Encryption Standard y sus modos: Electronic Codebook, Cipher Block Chaining, Galois/Counter Mode. Sesión 2.</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FIDO2 / WebAuthn</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Fast IDentity Online 2 / Web Authentication — Estándares de las llaves de acceso: una pareja de llaves por sitio.</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FIPS</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Federal Information Processing Standards — Normas federales de procesamiento de información de Estados Unidos, del NIST.</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HKDF</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HMAC-based Key Derivation Function — Deriva varias llaves de un secreto de alta entropía. RFC 5869.</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HMAC</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Hash-based Message Authentication Code — Código de autenticación de mensajes basado en una función resumen. RFC 2104.</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IETF / RFC</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Internet Engineering Task Force / Request for Comments — El organismo de estándares de internet y su serie de documentos.</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MD5</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Message Digest 5 — Función resumen de 128 bits de 1992, rota por colisiones desde 2004.</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MiB / RAM / TB</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Mebibyte, 2²⁰ bytes / Random Access Memory, memoria de trabajo / Terabyte. Argon2id se calibra en MiB de RAM.</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NIST / SP</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National Institute of Standards and Technology / Special Publication — El instituto de normas de Estados Unidos y su serie técnica.</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OWASP</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Open Worldwide Application Security Project — Fundación que publica guías abiertas de seguridad de aplicaciones.</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52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2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59</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PDF</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Portable Document Format — Formato de documento. La colisión de SHA-1 de 2017 se demostró con dos PDF distintos.</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RSA</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Rivest, Shamir y Adleman — Algoritmo de llave pública de 1977. Sesión 4.</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SHA-1 / SHA-2 / SHA-256</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Secure Hash Algorithm — Funciones resumen del NIST. SHA-256 es la variante de 256 bits de la familia SHA-2.</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SHA-3 / SHAKE128 / SHAKE256</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La familia de 2015 basada en la construcción de esponja. SHAKE entrega salidas de la longitud que se pida.</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SIM</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Subscriber Identity Module — La tarjeta que identifica una línea móvil. Su duplicado fraudulento permite recibir los códigos de otro.</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SQL</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Structured Query Language — Lenguaje de bases de datos. Una inyección de SQL puede extraer la base completa.</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CRYPTO / LNCS</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Conferencia internacional anual de criptografía / Lecture Notes in Computer Science, la serie donde se publican sus actas.</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JWT / HS256</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JSON Web Token / HMAC con SHA-256 — Formato de token de sesión y su variante autenticada con llave compartida.</a:t>
            </a:r>
          </a:p>
        </p:txBody>
      </p:sp>
      <p:sp>
        <p:nvSpPr>
          <p:cNvPr id="33" name="TextBox 32"/>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53  FUENTES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REFERENCIAS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3</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60</a:t>
            </a:r>
          </a:p>
        </p:txBody>
      </p:sp>
      <p:sp>
        <p:nvSpPr>
          <p:cNvPr id="9" name="TextBox 8"/>
          <p:cNvSpPr txBox="1"/>
          <p:nvPr/>
        </p:nvSpPr>
        <p:spPr>
          <a:xfrm>
            <a:off x="566928" y="1572768"/>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(2015).</a:t>
            </a:r>
          </a:p>
        </p:txBody>
      </p:sp>
      <p:sp>
        <p:nvSpPr>
          <p:cNvPr id="10" name="TextBox 9"/>
          <p:cNvSpPr txBox="1"/>
          <p:nvPr/>
        </p:nvSpPr>
        <p:spPr>
          <a:xfrm>
            <a:off x="3081528" y="1572768"/>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FIPS 180-4: Secure Hash Standard y FIPS 202: SHA-3 Standard.</a:t>
            </a:r>
          </a:p>
        </p:txBody>
      </p:sp>
      <p:sp>
        <p:nvSpPr>
          <p:cNvPr id="11" name="TextBox 10"/>
          <p:cNvSpPr txBox="1"/>
          <p:nvPr/>
        </p:nvSpPr>
        <p:spPr>
          <a:xfrm>
            <a:off x="8385048" y="1572768"/>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Las familias SHA-2 y SHA-3</a:t>
            </a:r>
          </a:p>
        </p:txBody>
      </p:sp>
      <p:sp>
        <p:nvSpPr>
          <p:cNvPr id="12" name="Rectangle 11"/>
          <p:cNvSpPr/>
          <p:nvPr/>
        </p:nvSpPr>
        <p:spPr>
          <a:xfrm>
            <a:off x="566928" y="1990779"/>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82219"/>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Krawczyk, H., Bellare, M. y Canetti, R. (1997).</a:t>
            </a:r>
          </a:p>
        </p:txBody>
      </p:sp>
      <p:sp>
        <p:nvSpPr>
          <p:cNvPr id="14" name="TextBox 13"/>
          <p:cNvSpPr txBox="1"/>
          <p:nvPr/>
        </p:nvSpPr>
        <p:spPr>
          <a:xfrm>
            <a:off x="3081528" y="2082219"/>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2104: HMAC: Keyed-hashing for message authentication. IETF.</a:t>
            </a:r>
          </a:p>
        </p:txBody>
      </p:sp>
      <p:sp>
        <p:nvSpPr>
          <p:cNvPr id="15" name="TextBox 14"/>
          <p:cNvSpPr txBox="1"/>
          <p:nvPr/>
        </p:nvSpPr>
        <p:spPr>
          <a:xfrm>
            <a:off x="8385048" y="2082219"/>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La construcción anidada · lectura previa de la sesión 4</a:t>
            </a:r>
          </a:p>
        </p:txBody>
      </p:sp>
      <p:sp>
        <p:nvSpPr>
          <p:cNvPr id="16" name="Rectangle 15"/>
          <p:cNvSpPr/>
          <p:nvPr/>
        </p:nvSpPr>
        <p:spPr>
          <a:xfrm>
            <a:off x="566928" y="250023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591670"/>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Krawczyk, H. y Eronen, P. (2010).</a:t>
            </a:r>
          </a:p>
        </p:txBody>
      </p:sp>
      <p:sp>
        <p:nvSpPr>
          <p:cNvPr id="18" name="TextBox 17"/>
          <p:cNvSpPr txBox="1"/>
          <p:nvPr/>
        </p:nvSpPr>
        <p:spPr>
          <a:xfrm>
            <a:off x="3081528" y="2591670"/>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5869: HMAC-based extract-and-expand key derivation function (HKDF). IETF.</a:t>
            </a:r>
          </a:p>
        </p:txBody>
      </p:sp>
      <p:sp>
        <p:nvSpPr>
          <p:cNvPr id="19" name="TextBox 18"/>
          <p:cNvSpPr txBox="1"/>
          <p:nvPr/>
        </p:nvSpPr>
        <p:spPr>
          <a:xfrm>
            <a:off x="8385048" y="2591670"/>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Derivar varias llaves de un secreto</a:t>
            </a:r>
          </a:p>
        </p:txBody>
      </p:sp>
      <p:sp>
        <p:nvSpPr>
          <p:cNvPr id="20" name="Rectangle 19"/>
          <p:cNvSpPr/>
          <p:nvPr/>
        </p:nvSpPr>
        <p:spPr>
          <a:xfrm>
            <a:off x="566928" y="3009682"/>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01122"/>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Biryukov, A. et al. (2021).</a:t>
            </a:r>
          </a:p>
        </p:txBody>
      </p:sp>
      <p:sp>
        <p:nvSpPr>
          <p:cNvPr id="22" name="TextBox 21"/>
          <p:cNvSpPr txBox="1"/>
          <p:nvPr/>
        </p:nvSpPr>
        <p:spPr>
          <a:xfrm>
            <a:off x="3081528" y="3101122"/>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9106: Argon2 memory-hard function for password hashing and proof-of-work applications. IETF.</a:t>
            </a:r>
          </a:p>
        </p:txBody>
      </p:sp>
      <p:sp>
        <p:nvSpPr>
          <p:cNvPr id="23" name="TextBox 22"/>
          <p:cNvSpPr txBox="1"/>
          <p:nvPr/>
        </p:nvSpPr>
        <p:spPr>
          <a:xfrm>
            <a:off x="8385048" y="3101122"/>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Parámetros recomendados</a:t>
            </a:r>
          </a:p>
        </p:txBody>
      </p:sp>
      <p:sp>
        <p:nvSpPr>
          <p:cNvPr id="24" name="Rectangle 23"/>
          <p:cNvSpPr/>
          <p:nvPr/>
        </p:nvSpPr>
        <p:spPr>
          <a:xfrm>
            <a:off x="566928" y="3519133"/>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610573"/>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Stevens, M. et al. (2017).</a:t>
            </a:r>
          </a:p>
        </p:txBody>
      </p:sp>
      <p:sp>
        <p:nvSpPr>
          <p:cNvPr id="26" name="TextBox 25"/>
          <p:cNvSpPr txBox="1"/>
          <p:nvPr/>
        </p:nvSpPr>
        <p:spPr>
          <a:xfrm>
            <a:off x="3081528" y="3610573"/>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The first collision for full SHA-1. CRYPTO 2017, LNCS 10401, 570–596.</a:t>
            </a:r>
          </a:p>
        </p:txBody>
      </p:sp>
      <p:sp>
        <p:nvSpPr>
          <p:cNvPr id="27" name="TextBox 26"/>
          <p:cNvSpPr txBox="1"/>
          <p:nvPr/>
        </p:nvSpPr>
        <p:spPr>
          <a:xfrm>
            <a:off x="8385048" y="3610573"/>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La colisión práctica de SHA-1</a:t>
            </a:r>
          </a:p>
        </p:txBody>
      </p:sp>
      <p:sp>
        <p:nvSpPr>
          <p:cNvPr id="28" name="Rectangle 27"/>
          <p:cNvSpPr/>
          <p:nvPr/>
        </p:nvSpPr>
        <p:spPr>
          <a:xfrm>
            <a:off x="566928" y="402858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120025"/>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OWASP. (s. f.).</a:t>
            </a:r>
          </a:p>
        </p:txBody>
      </p:sp>
      <p:sp>
        <p:nvSpPr>
          <p:cNvPr id="30" name="TextBox 29"/>
          <p:cNvSpPr txBox="1"/>
          <p:nvPr/>
        </p:nvSpPr>
        <p:spPr>
          <a:xfrm>
            <a:off x="3081528" y="4120025"/>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Password Storage Cheat Sheet. OWASP Cheat Sheet Series.</a:t>
            </a:r>
          </a:p>
        </p:txBody>
      </p:sp>
      <p:sp>
        <p:nvSpPr>
          <p:cNvPr id="31" name="TextBox 30"/>
          <p:cNvSpPr txBox="1"/>
          <p:nvPr/>
        </p:nvSpPr>
        <p:spPr>
          <a:xfrm>
            <a:off x="8385048" y="4120025"/>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Argon2id, pimienta y migración de resúmenes heredados</a:t>
            </a:r>
          </a:p>
        </p:txBody>
      </p:sp>
      <p:sp>
        <p:nvSpPr>
          <p:cNvPr id="32" name="Rectangle 31"/>
          <p:cNvSpPr/>
          <p:nvPr/>
        </p:nvSpPr>
        <p:spPr>
          <a:xfrm>
            <a:off x="566928" y="4538036"/>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629476"/>
            <a:ext cx="2331720" cy="418011"/>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(revisión vigente).</a:t>
            </a:r>
          </a:p>
        </p:txBody>
      </p:sp>
      <p:sp>
        <p:nvSpPr>
          <p:cNvPr id="34" name="TextBox 33"/>
          <p:cNvSpPr txBox="1"/>
          <p:nvPr/>
        </p:nvSpPr>
        <p:spPr>
          <a:xfrm>
            <a:off x="3081528" y="4629476"/>
            <a:ext cx="5074920" cy="418011"/>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800-63B: Digital identity guidelines — Authentication.</a:t>
            </a:r>
          </a:p>
        </p:txBody>
      </p:sp>
      <p:sp>
        <p:nvSpPr>
          <p:cNvPr id="35" name="TextBox 34"/>
          <p:cNvSpPr txBox="1"/>
          <p:nvPr/>
        </p:nvSpPr>
        <p:spPr>
          <a:xfrm>
            <a:off x="8385048" y="4629476"/>
            <a:ext cx="3200400" cy="418011"/>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Verificadores memorizados: longitud, listas de bloqueo y rotación</a:t>
            </a:r>
          </a:p>
        </p:txBody>
      </p:sp>
      <p:sp>
        <p:nvSpPr>
          <p:cNvPr id="36" name="Rectangle 35"/>
          <p:cNvSpPr/>
          <p:nvPr/>
        </p:nvSpPr>
        <p:spPr>
          <a:xfrm>
            <a:off x="566928" y="5047488"/>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ACCESO A LAS FUENTES</a:t>
            </a:r>
          </a:p>
        </p:txBody>
      </p:sp>
      <p:sp>
        <p:nvSpPr>
          <p:cNvPr id="39" name="TextBox 38"/>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publicaciones del NIST, los RFC y la guía de OWASP son de acceso libre. El artículo de CRYPTO se consulta en las bases de datos de la Institución.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