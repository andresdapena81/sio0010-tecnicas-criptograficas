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02920"/>
            <a:ext cx="1417320" cy="6126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1783080"/>
            <a:ext cx="11055096" cy="548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975104"/>
            <a:ext cx="110550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20">
                <a:solidFill>
                  <a:srgbClr val="5C5C5C"/>
                </a:solidFill>
                <a:latin typeface="Consolas"/>
              </a:rPr>
              <a:t>SESIÓN 3 DE 6 · 5 HORAS · BLOQUE 5: 2H15 · DESCANSO 30 MIN · BLOQUE 6: 2H15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286000"/>
            <a:ext cx="9601200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0">
                <a:solidFill>
                  <a:srgbClr val="000000"/>
                </a:solidFill>
                <a:latin typeface="Arial Black"/>
              </a:rPr>
              <a:t>RESÚMENES,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0">
                <a:solidFill>
                  <a:srgbClr val="000000"/>
                </a:solidFill>
                <a:latin typeface="Arial Black"/>
              </a:rPr>
              <a:t>AUTENTICACIÓN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0">
                <a:solidFill>
                  <a:srgbClr val="000000"/>
                </a:solidFill>
                <a:latin typeface="Arial Black"/>
              </a:rPr>
              <a:t>Y CONTRASEÑAS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1554480" cy="54864"/>
          </a:xfrm>
          <a:prstGeom prst="rect">
            <a:avLst/>
          </a:prstGeom>
          <a:solidFill>
            <a:srgbClr val="F36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4846320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"/>
              </a:rPr>
              <a:t>HMAC-SHA256 NO ESTÁ ROTO. ENTONCES, ¿POR QUÉ NO LE SIRVIÓ A COOPABURRÁ?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285232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5C5C5C"/>
                </a:solidFill>
                <a:latin typeface="Arial"/>
              </a:rPr>
              <a:t>SIO0010 · Técnicas Criptográficas · Especialización en Seguridad de la Información de las Organizaciones · Facultad de Ingeniería · Institución Universitaria de Envigado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03120"/>
            <a:ext cx="110550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SECCIÓN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37744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0">
                <a:solidFill>
                  <a:srgbClr val="F36406"/>
                </a:solidFill>
                <a:latin typeface="Arial Black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20440"/>
            <a:ext cx="1105509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000000"/>
                </a:solidFill>
                <a:latin typeface="Arial Black"/>
              </a:rPr>
              <a:t>DONDE QUEDAMOS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4315968"/>
            <a:ext cx="1554480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4526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Arial"/>
              </a:rPr>
              <a:t>Realimentación de la entrega 2 y lo que hoy resolvemos del caso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01 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0">
                <a:solidFill>
                  <a:srgbClr val="000000"/>
                </a:solidFill>
                <a:latin typeface="Arial Black"/>
              </a:rPr>
              <a:t>AGENDA DE LA SESIÓN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Hoy resolvemos los dos hallazgos que hicieron posible el fraude: H1, las contraseñas, y H2, la firma de operaciones. Son los dos que explican por qué alguien pudo transferir dinero ajeno.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04287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423159"/>
            <a:ext cx="137472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BLOQUE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6245" y="2423159"/>
            <a:ext cx="123478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MINUTOS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5624" y="2423159"/>
            <a:ext cx="599267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CONTENIDO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2893" y="2423159"/>
            <a:ext cx="179453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MODALIDAD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715767"/>
            <a:ext cx="11055096" cy="91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825495"/>
            <a:ext cx="137472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Bloque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6245" y="2825495"/>
            <a:ext cx="123478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0 – 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5624" y="2825495"/>
            <a:ext cx="599267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Realimentación de la entrega 2 y hallazgos comunes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62893" y="2825495"/>
            <a:ext cx="17945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Taller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099815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3191255"/>
            <a:ext cx="137472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6245" y="3191255"/>
            <a:ext cx="123478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20 – 80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05624" y="3191255"/>
            <a:ext cx="599267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Funciones resumen: qué prometen, cuáles ya no sirven y para qué sirven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62893" y="3191255"/>
            <a:ext cx="17945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Magistral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3465575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3557015"/>
            <a:ext cx="137472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6245" y="3557015"/>
            <a:ext cx="123478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80 – 135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5624" y="3557015"/>
            <a:ext cx="599267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Integridad no es autenticidad: HMAC, HKDF y la pregunta del abogado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62893" y="3557015"/>
            <a:ext cx="17945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Magistral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831335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922775"/>
            <a:ext cx="137472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F36406"/>
                </a:solidFill>
                <a:latin typeface="Arial"/>
              </a:rPr>
              <a:t>Descanso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6245" y="3922775"/>
            <a:ext cx="123478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05624" y="3922775"/>
            <a:ext cx="599267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62893" y="3922775"/>
            <a:ext cx="17945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197096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4288536"/>
            <a:ext cx="137472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Bloque 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06245" y="4288536"/>
            <a:ext cx="123478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0 – 60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05624" y="4288536"/>
            <a:ext cx="599267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Contraseñas: derivación, Argon2id, pimienta, llaves de acceso y recuperación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62893" y="4288536"/>
            <a:ext cx="17945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Magistral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4562856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" y="4654296"/>
            <a:ext cx="137472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/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06245" y="4654296"/>
            <a:ext cx="123478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60 – 110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05624" y="4654296"/>
            <a:ext cx="599267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Laboratorio 3: atacar la evidencia B, con el ejercicio en Python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62893" y="4654296"/>
            <a:ext cx="17945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Laboratorio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" y="4928616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5020056"/>
            <a:ext cx="137472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06245" y="5020056"/>
            <a:ext cx="123478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110 – 130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05624" y="5020056"/>
            <a:ext cx="599267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Primera evaluación de conocimiento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62893" y="5020056"/>
            <a:ext cx="17945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Evaluación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28" y="5294376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928" y="5385816"/>
            <a:ext cx="137472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/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06245" y="5385816"/>
            <a:ext cx="123478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130 – 135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05624" y="5385816"/>
            <a:ext cx="599267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Cierre y trabajo independiente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62893" y="5385816"/>
            <a:ext cx="17945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Magistral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6928" y="5660136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66928" y="5715000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02  REPASO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0">
                <a:solidFill>
                  <a:srgbClr val="000000"/>
                </a:solidFill>
                <a:latin typeface="Arial Black"/>
              </a:rPr>
              <a:t>LO QUE QUEDÓ DEL JUEVES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00200"/>
            <a:ext cx="5669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F36406"/>
                </a:solidFill>
                <a:latin typeface="Arial Black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618488"/>
            <a:ext cx="1034186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El modo de operación importa más que el algoritmo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856232"/>
            <a:ext cx="1034186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2A2A2A"/>
                </a:solidFill>
                <a:latin typeface="Arial"/>
              </a:rPr>
              <a:t>AES-256 en ECB deja ver el escudo; el mismo AES-256 en CBC no deja ver nada.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313432"/>
            <a:ext cx="5669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F36406"/>
                </a:solidFill>
                <a:latin typeface="Arial Black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331720"/>
            <a:ext cx="1034186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Cifrar no es proteger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569464"/>
            <a:ext cx="1034186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2A2A2A"/>
                </a:solidFill>
                <a:latin typeface="Arial"/>
              </a:rPr>
              <a:t>Confidencialidad sin integridad permite manipulación controlada. Por eso GCM es la respuesta por defecto.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026664"/>
            <a:ext cx="5669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F36406"/>
                </a:solidFill>
                <a:latin typeface="Arial Black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044952"/>
            <a:ext cx="1034186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El cifrado de disco protege un solo escenario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282696"/>
            <a:ext cx="1034186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2A2A2A"/>
                </a:solidFill>
                <a:latin typeface="Arial"/>
              </a:rPr>
              <a:t>El servidor apagado. Encendido, los once que consultan la base lo ven todo en claro.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739896"/>
            <a:ext cx="5669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F36406"/>
                </a:solidFill>
                <a:latin typeface="Arial Black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758183"/>
            <a:ext cx="1034186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Tres preguntas bastan para auditar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995928"/>
            <a:ext cx="1034186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2A2A2A"/>
                </a:solidFill>
                <a:latin typeface="Arial"/>
              </a:rPr>
              <a:t>Qué algoritmo, qué modo, de dónde sale el vector.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5074920"/>
            <a:ext cx="45720" cy="868680"/>
          </a:xfrm>
          <a:prstGeom prst="rect">
            <a:avLst/>
          </a:prstGeom>
          <a:solidFill>
            <a:srgbClr val="F36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5093207"/>
            <a:ext cx="107807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F36406"/>
                </a:solidFill>
                <a:latin typeface="Consolas"/>
              </a:rPr>
              <a:t>// HOY CAMBIAMOS DE FAMILIA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5330952"/>
            <a:ext cx="10780776" cy="5943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>
                <a:solidFill>
                  <a:srgbClr val="2A2A2A"/>
                </a:solidFill>
                <a:latin typeface="Arial"/>
              </a:rPr>
              <a:t>Todo lo del jueves era sobre </a:t>
            </a:r>
            <a:r>
              <a:rPr sz="1150" b="1">
                <a:solidFill>
                  <a:srgbClr val="2A2A2A"/>
                </a:solidFill>
                <a:latin typeface="Arial"/>
              </a:rPr>
              <a:t>ocultar</a:t>
            </a:r>
            <a:r>
              <a:rPr sz="1150" b="0">
                <a:solidFill>
                  <a:srgbClr val="2A2A2A"/>
                </a:solidFill>
                <a:latin typeface="Arial"/>
              </a:rPr>
              <a:t>. Hoy pasamos a lo contrario: mecanismos que no ocultan nada y cuyo único trabajo es </a:t>
            </a:r>
            <a:r>
              <a:rPr sz="1150" b="1">
                <a:solidFill>
                  <a:srgbClr val="2A2A2A"/>
                </a:solidFill>
                <a:latin typeface="Arial"/>
              </a:rPr>
              <a:t>demostrar</a:t>
            </a:r>
            <a:r>
              <a:rPr sz="1150" b="0">
                <a:solidFill>
                  <a:srgbClr val="2A2A2A"/>
                </a:solidFill>
                <a:latin typeface="Arial"/>
              </a:rPr>
              <a:t> que algo no fue alterado y que viene de quien dice venir.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03 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0">
                <a:solidFill>
                  <a:srgbClr val="000000"/>
                </a:solidFill>
                <a:latin typeface="Arial Black"/>
              </a:rPr>
              <a:t>LO QUE MOSTRÓ LA ENTREGA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Veinte minutos de realimentación colectiva sobre el análisis de datos en reposo y respaldos. Estos son los cuatro puntos donde más equipos tropezaron.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04287"/>
            <a:ext cx="5353812" cy="1700784"/>
          </a:xfrm>
          <a:prstGeom prst="rect">
            <a:avLst/>
          </a:prstGeom>
          <a:solidFill>
            <a:srgbClr val="FFFFFF"/>
          </a:solidFill>
          <a:ln w="177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414015"/>
            <a:ext cx="49149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000000"/>
                </a:solidFill>
                <a:latin typeface="Consolas"/>
              </a:rPr>
              <a:t>// SE CONFUNDIÓ AMENAZA CON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633471"/>
            <a:ext cx="49149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Varios informes listan controles sin decir contra qué amenaza sirven.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La tabla del jueves existe justamente para eso: una fila por amenaza, y en cada una si el control la detiene o no.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8212" y="2304287"/>
            <a:ext cx="5353812" cy="1700784"/>
          </a:xfrm>
          <a:prstGeom prst="rect">
            <a:avLst/>
          </a:prstGeom>
          <a:solidFill>
            <a:srgbClr val="FFFFFF"/>
          </a:solidFill>
          <a:ln w="177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414015"/>
            <a:ext cx="49149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000000"/>
                </a:solidFill>
                <a:latin typeface="Consolas"/>
              </a:rPr>
              <a:t>// SE RECOMENDÓ SIN COSTO NI PLAZO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7668" y="2633471"/>
            <a:ext cx="49149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«Implementar cifrado a nivel de campo» no es una recomendación: es un deseo.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Falta quién lo ejecuta, cuánto tarda y qué dice el contrato del core, que exige cotización para tocar el esquema.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279392"/>
            <a:ext cx="5353812" cy="1700784"/>
          </a:xfrm>
          <a:prstGeom prst="rect">
            <a:avLst/>
          </a:prstGeom>
          <a:solidFill>
            <a:srgbClr val="FFFFFF"/>
          </a:solidFill>
          <a:ln w="177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4389120"/>
            <a:ext cx="49149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000000"/>
                </a:solidFill>
                <a:latin typeface="Consolas"/>
              </a:rPr>
              <a:t>// NO SE MENCIONÓ EL MENSAJERO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4608576"/>
            <a:ext cx="49149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El disco de respaldo viaja los viernes a Sabaneta con la llave dentro.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Es el escenario más fácil de explicar ante un comité y el que menos apareció.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8212" y="4279392"/>
            <a:ext cx="5353812" cy="1700784"/>
          </a:xfrm>
          <a:prstGeom prst="rect">
            <a:avLst/>
          </a:prstGeom>
          <a:solidFill>
            <a:srgbClr val="FFFFFF"/>
          </a:solidFill>
          <a:ln w="177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7668" y="4389120"/>
            <a:ext cx="49149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000000"/>
                </a:solidFill>
                <a:latin typeface="Consolas"/>
              </a:rPr>
              <a:t>// SE OLVIDÓ LA DISPONIBILIDAD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7668" y="4608576"/>
            <a:ext cx="49149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Casi nadie evaluó qué pasa si la llave de respaldos se pierde.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Cifrar mal expone el dato; cifrar sin custodia lo destruye. Las dos cosas son hallazgos.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03120"/>
            <a:ext cx="110550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SECCIÓN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37744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0">
                <a:solidFill>
                  <a:srgbClr val="F36406"/>
                </a:solidFill>
                <a:latin typeface="Arial Black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20440"/>
            <a:ext cx="1105509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000000"/>
                </a:solidFill>
                <a:latin typeface="Arial Black"/>
              </a:rPr>
              <a:t>FUNCIONES RESUMEN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4315968"/>
            <a:ext cx="1554480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4526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Arial"/>
              </a:rPr>
              <a:t>La huella digital de un dato: qué promete y cuáles ya no cumplen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04  CONCEPTO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0">
                <a:solidFill>
                  <a:srgbClr val="000000"/>
                </a:solidFill>
                <a:latin typeface="Arial Black"/>
              </a:rPr>
              <a:t>QUÉ ES UNA FUNCIÓN RESUMEN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Toma una entrada de cualquier tamaño y produce una salida de tamaño fijo. No es cifrado: no hay llave y no hay vuelta atrás. Su trabajo no es ocultar, es identificar.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04287"/>
            <a:ext cx="11055096" cy="1426464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395727"/>
            <a:ext cx="106527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50">
                <a:solidFill>
                  <a:srgbClr val="3A3A3A"/>
                </a:solidFill>
                <a:latin typeface="Consolas"/>
              </a:rPr>
              <a:t>TAMAÑO FIJO, SEA CUAL SEA LA ENTRADA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633471"/>
            <a:ext cx="10652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«Coopaburrá»                      →  SHA-256  →  8f4a...  (32 bytes)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El documento completo de 14 páginas →  SHA-256  →  3c91...  (32 bytes)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2,3 TB de base de datos            →  SHA-256  →  b70e...  (32 bytes)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Siempre 32 bytes. Siempre el mismo resultado para la misma entrada.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986784"/>
            <a:ext cx="52532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000000"/>
                </a:solidFill>
                <a:latin typeface="Consolas"/>
              </a:rPr>
              <a:t>// PARA QUÉ SIRVE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261104"/>
            <a:ext cx="5253228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Verificar que un archivo no cambió.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Identificar contenido sin revelarlo.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Construir estructuras de integridad encadenadas, como los registros que Coopaburrá no tiene.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8796" y="3986784"/>
            <a:ext cx="52532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000000"/>
                </a:solidFill>
                <a:latin typeface="Consolas"/>
              </a:rPr>
              <a:t>// PARA QUÉ NO SIRVE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8796" y="4261104"/>
            <a:ext cx="5253228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No es cifrado: no se puede recuperar la entrada a partir del resumen.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No autentica: cualquiera puede recalcularlo, así que no prueba quién lo produjo.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Y por sí sola no protege contraseñas, como vamos a ver en el segundo bloque.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5332" y="3986784"/>
            <a:ext cx="9144" cy="1600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05  PROPIEDADES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0">
                <a:solidFill>
                  <a:srgbClr val="000000"/>
                </a:solidFill>
                <a:latin typeface="Arial Black"/>
              </a:rPr>
              <a:t>LAS TRES PROMESAS QUE DEBE CUMPLIR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08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554480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673352"/>
            <a:ext cx="278343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PROPIEDAD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14953" y="1673352"/>
            <a:ext cx="40731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QUÉ SIGNIFICA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52740" y="1673352"/>
            <a:ext cx="37046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SI SE ROMPE…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965960"/>
            <a:ext cx="11055096" cy="91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075688"/>
            <a:ext cx="2783433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Resistencia a preimagen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14953" y="2075688"/>
            <a:ext cx="4073194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Dado un resumen, no se puede encontrar una entrada que lo produzca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52740" y="2075688"/>
            <a:ext cx="3704691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Se podría deducir el contenido a partir de la huella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551176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2642616"/>
            <a:ext cx="2783433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Resistencia a segunda preimagen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14953" y="2642616"/>
            <a:ext cx="4073194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Dado un documento, no se puede fabricar otro con el mismo resumen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52740" y="2642616"/>
            <a:ext cx="3704691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Se podría sustituir un contrato por otro sin que la verificación lo note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118104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3209544"/>
            <a:ext cx="2783433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F36406"/>
                </a:solidFill>
                <a:latin typeface="Arial"/>
              </a:rPr>
              <a:t>Resistencia a colisión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14953" y="3209544"/>
            <a:ext cx="4073194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No se pueden encontrar dos entradas cualesquiera con el mismo resumen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52740" y="3209544"/>
            <a:ext cx="3704691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Se pueden preparar dos documentos con la misma huella y firmar uno para usar el otro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3685032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739896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4041648"/>
            <a:ext cx="45720" cy="822960"/>
          </a:xfrm>
          <a:prstGeom prst="rect">
            <a:avLst/>
          </a:prstGeom>
          <a:solidFill>
            <a:srgbClr val="F36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4059935"/>
            <a:ext cx="107807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F36406"/>
                </a:solidFill>
                <a:latin typeface="Consolas"/>
              </a:rPr>
              <a:t>// LA QUE CAE PRIMERO Y LA QUE MÁS DUELE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" y="4297680"/>
            <a:ext cx="1078077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>
                <a:solidFill>
                  <a:srgbClr val="2A2A2A"/>
                </a:solidFill>
                <a:latin typeface="Arial"/>
              </a:rPr>
              <a:t>La resistencia a colisión es la más frágil de las tres porque el atacante elige </a:t>
            </a:r>
            <a:r>
              <a:rPr sz="1150" b="1">
                <a:solidFill>
                  <a:srgbClr val="2A2A2A"/>
                </a:solidFill>
                <a:latin typeface="Arial"/>
              </a:rPr>
              <a:t>las dos</a:t>
            </a:r>
            <a:r>
              <a:rPr sz="1150" b="0">
                <a:solidFill>
                  <a:srgbClr val="2A2A2A"/>
                </a:solidFill>
                <a:latin typeface="Arial"/>
              </a:rPr>
              <a:t> entradas. Es la que se rompió en MD5 y en SHA-1, y es la que importa para firma digital: si puedo fabricar dos contratos con la misma huella, la firma sobre uno vale para el otro.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06  MATEMÁTICA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0">
                <a:solidFill>
                  <a:srgbClr val="000000"/>
                </a:solidFill>
                <a:latin typeface="Arial Black"/>
              </a:rPr>
              <a:t>POR QUÉ 256 BITS Y NO 128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Encontrar una colisión no exige probar todas las salidas posibles: basta con la raíz cuadrada de ese número. Es la llamada paradoja del cumpleaños, y reduce a la mitad los bits de seguridad.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04287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423159"/>
            <a:ext cx="16779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FUNCIÓN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09444" y="2423159"/>
            <a:ext cx="204642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TAMAÑO DEL RESUMEN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0463" y="2423159"/>
            <a:ext cx="31519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ESFUERZO PARA UNA COLISIÓN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992" y="2423159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ESTADO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715767"/>
            <a:ext cx="11055096" cy="91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825495"/>
            <a:ext cx="1677924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F36406"/>
                </a:solidFill>
                <a:latin typeface="Arial"/>
              </a:rPr>
              <a:t>MD5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09444" y="2825495"/>
            <a:ext cx="2046427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128 bits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0463" y="2825495"/>
            <a:ext cx="3151936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En teoría 2⁶⁴; en la práctica, segundos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6992" y="2825495"/>
            <a:ext cx="352044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Roto. No usar bajo ninguna circunstancia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209543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3300983"/>
            <a:ext cx="1677924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F36406"/>
                </a:solidFill>
                <a:latin typeface="Arial"/>
              </a:rPr>
              <a:t>SHA-1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09444" y="3300983"/>
            <a:ext cx="2046427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160 bits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20463" y="3300983"/>
            <a:ext cx="3151936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En teoría 2⁸⁰; demostrado en la práctica en 2017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36992" y="3300983"/>
            <a:ext cx="3520440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Roto. Retirado de todos los usos de seguridad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3749405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3840845"/>
            <a:ext cx="1677924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SHA-256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09444" y="3840845"/>
            <a:ext cx="2046427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256 bits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20463" y="3840845"/>
            <a:ext cx="3151936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2¹²⁸, fuera de alcance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36992" y="3840845"/>
            <a:ext cx="352044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Vigente. Es la opción por defecto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224893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316333"/>
            <a:ext cx="1677924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SHA-3 / SHA-512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09444" y="4316333"/>
            <a:ext cx="2046427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256 a 512 bits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20463" y="4316333"/>
            <a:ext cx="3151936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2¹²⁸ o más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36992" y="4316333"/>
            <a:ext cx="352044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Vigentes. Diseño interno distinto al de SHA-2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700381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4755245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" y="5056997"/>
            <a:ext cx="45720" cy="658368"/>
          </a:xfrm>
          <a:prstGeom prst="rect">
            <a:avLst/>
          </a:prstGeom>
          <a:solidFill>
            <a:srgbClr val="F36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4672" y="5075285"/>
            <a:ext cx="107807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F36406"/>
                </a:solidFill>
                <a:latin typeface="Consolas"/>
              </a:rPr>
              <a:t>// LA REGLA PRÁCTICA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2" y="5313029"/>
            <a:ext cx="1078077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>
                <a:solidFill>
                  <a:srgbClr val="2A2A2A"/>
                </a:solidFill>
                <a:latin typeface="Arial"/>
              </a:rPr>
              <a:t>Un resumen de </a:t>
            </a:r>
            <a:r>
              <a:rPr sz="1150" b="1">
                <a:solidFill>
                  <a:srgbClr val="2A2A2A"/>
                </a:solidFill>
                <a:latin typeface="Arial"/>
              </a:rPr>
              <a:t>n</a:t>
            </a:r>
            <a:r>
              <a:rPr sz="1150" b="0">
                <a:solidFill>
                  <a:srgbClr val="2A2A2A"/>
                </a:solidFill>
                <a:latin typeface="Arial"/>
              </a:rPr>
              <a:t> bits ofrece </a:t>
            </a:r>
            <a:r>
              <a:rPr sz="1150" b="1">
                <a:solidFill>
                  <a:srgbClr val="2A2A2A"/>
                </a:solidFill>
                <a:latin typeface="Arial"/>
              </a:rPr>
              <a:t>n/2</a:t>
            </a:r>
            <a:r>
              <a:rPr sz="1150" b="0">
                <a:solidFill>
                  <a:srgbClr val="2A2A2A"/>
                </a:solidFill>
                <a:latin typeface="Arial"/>
              </a:rPr>
              <a:t> bits de seguridad frente a colisiones. Por eso 128 bits de resumen ya no bastan y 256 es el mínimo razonable hoy.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07  HISTORIA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0">
                <a:solidFill>
                  <a:srgbClr val="000000"/>
                </a:solidFill>
                <a:latin typeface="Arial Black"/>
              </a:rPr>
              <a:t>CÓMO MURIERON MD5 Y SHA-1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554480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673352"/>
            <a:ext cx="11620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AÑO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93539" y="1673352"/>
            <a:ext cx="95638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QUÉ PASÓ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965960"/>
            <a:ext cx="11055096" cy="91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075688"/>
            <a:ext cx="116201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2004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3539" y="2075688"/>
            <a:ext cx="956389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Se publica el primer método práctico para producir colisiones en MD5. La comunidad recomienda abandonarlo.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423160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514600"/>
            <a:ext cx="1162019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2008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93539" y="2514600"/>
            <a:ext cx="9563892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Un equipo demuestra que con colisiones de MD5 se puede fabricar un certificado de autoridad certificadora falso, aceptado por los navegadores.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963021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054461"/>
            <a:ext cx="1162019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F36406"/>
                </a:solidFill>
                <a:latin typeface="Arial"/>
              </a:rPr>
              <a:t>2012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93539" y="3054461"/>
            <a:ext cx="9563892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Un programa malicioso de alto perfil usa una colisión de MD5 para hacerse pasar por software firmado por un fabricante legítimo. Deja de ser un ejercicio académico.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502883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3594323"/>
            <a:ext cx="116201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2017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93539" y="3594323"/>
            <a:ext cx="956389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Se publica la primera colisión práctica de SHA-1: dos documentos PDF distintos con el mismo resumen. El cálculo fue costoso pero real.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941795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4033235"/>
            <a:ext cx="116201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2020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93539" y="4033235"/>
            <a:ext cx="956389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Se logra una colisión con prefijo elegido en SHA-1, mucho más peligrosa, y a un costo al alcance de un atacante con recursos moderados.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4380707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4472147"/>
            <a:ext cx="116201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Hoy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93539" y="4472147"/>
            <a:ext cx="956389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Ambas siguen apareciendo en sistemas heredados. Coopaburrá guarda las contraseñas de sus 142.000 asociados con SHA-1.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819619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4874483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08  DEMOSTRACIÓN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0">
                <a:solidFill>
                  <a:srgbClr val="000000"/>
                </a:solidFill>
                <a:latin typeface="Arial Black"/>
              </a:rPr>
              <a:t>EL EFECTO AVALANCHA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Cambiar un solo carácter de la entrada cambia aproximadamente la mitad de los bits de salida. No hay parecido parcial: dos entradas casi iguales producen resúmenes sin ninguna relación visible.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04287"/>
            <a:ext cx="11055096" cy="12179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395727"/>
            <a:ext cx="106527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50">
                <a:solidFill>
                  <a:srgbClr val="3A3A3A"/>
                </a:solidFill>
                <a:latin typeface="Consolas"/>
              </a:rPr>
              <a:t>DEMOSTRACIÓN EN VIVO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633471"/>
            <a:ext cx="10652760" cy="7973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echo -n "Coopaburra"  | openssl dgst -sha256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echo -n "Coopaburrá"  | openssl dgst -sha256      # una sola tilde de diferencia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Las dos salidas no se parecen en nada. No existe «casi igual» en un resumen.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778300"/>
            <a:ext cx="45720" cy="731520"/>
          </a:xfrm>
          <a:prstGeom prst="rect">
            <a:avLst/>
          </a:prstGeom>
          <a:solidFill>
            <a:srgbClr val="F36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796588"/>
            <a:ext cx="107807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F36406"/>
                </a:solidFill>
                <a:latin typeface="Consolas"/>
              </a:rPr>
              <a:t>// POR QUÉ IMPORTA ESTA PROPIEDAD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4034332"/>
            <a:ext cx="1078077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>
                <a:solidFill>
                  <a:srgbClr val="2A2A2A"/>
                </a:solidFill>
                <a:latin typeface="Arial"/>
              </a:rPr>
              <a:t>Es lo que permite usar un resumen para detectar alteraciones: no hace falta comparar el documento entero, basta comparar 32 bytes. Y si alguien cambió una coma, se nota igual que si hubiera cambiado el archivo completo.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09  USO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>
                <a:solidFill>
                  <a:srgbClr val="000000"/>
                </a:solidFill>
                <a:latin typeface="Arial Black"/>
              </a:rPr>
              <a:t>PARA QUÉ SIRVE Y PARA QUÉ NO SIRVE UN RESUMEN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Una función resumen es una herramienta de propósito general, y por eso se usa mal con frecuencia. Conviene tener la lista a mano al revisar cualquier diseño.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04287"/>
            <a:ext cx="52532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000000"/>
                </a:solidFill>
                <a:latin typeface="Consolas"/>
              </a:rPr>
              <a:t>// USOS LEGÍTIMOS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578607"/>
            <a:ext cx="5253228" cy="18287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Verificar que un archivo descargado es exactamente el publicado.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Detectar cambios en un expediente o en un registro.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Identificar un contenido sin compararlo completo: deduplicación, control de versiones.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Construir cadenas y árboles que protegen la integridad de conjuntos enteros de datos.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8796" y="2304287"/>
            <a:ext cx="52532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000000"/>
                </a:solidFill>
                <a:latin typeface="Consolas"/>
              </a:rPr>
              <a:t>// USOS INDEBIDOS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8796" y="2578607"/>
            <a:ext cx="5253228" cy="18287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Guardar contraseñas sin función de derivación: el hallazgo H1.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Autenticar sin llave: cualquiera puede recalcular el resumen.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«Anonimizar» cédulas resumiéndolas.</a:t>
            </a:r>
            <a:r>
              <a:rPr sz="1150" b="0">
                <a:solidFill>
                  <a:srgbClr val="000000"/>
                </a:solidFill>
                <a:latin typeface="Arial"/>
              </a:rPr>
              <a:t> Hay menos de diez mil millones de cédulas posibles: se calculan todas en segundos y el resumen se revierte por simple búsqueda.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5332" y="2304287"/>
            <a:ext cx="9144" cy="2103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663440"/>
            <a:ext cx="45720" cy="777240"/>
          </a:xfrm>
          <a:prstGeom prst="rect">
            <a:avLst/>
          </a:prstGeom>
          <a:solidFill>
            <a:srgbClr val="F36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681727"/>
            <a:ext cx="107807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F36406"/>
                </a:solidFill>
                <a:latin typeface="Consolas"/>
              </a:rPr>
              <a:t>// EL ÚLTIMO ES UN HALLAZGO FRECUENTE EN COLOMBIA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919472"/>
            <a:ext cx="10780776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>
                <a:solidFill>
                  <a:srgbClr val="2A2A2A"/>
                </a:solidFill>
                <a:latin typeface="Arial"/>
              </a:rPr>
              <a:t>Bases «anonimizadas» para analítica o para terceros con la cédula resumida. Frente a la Ley 1581 ese dato sigue siendo personal, porque se puede volver a identificar. </a:t>
            </a:r>
            <a:r>
              <a:rPr sz="1150" b="1">
                <a:solidFill>
                  <a:srgbClr val="2A2A2A"/>
                </a:solidFill>
                <a:latin typeface="Arial"/>
              </a:rPr>
              <a:t>Resumir un dato de espacio pequeño no lo anonimiza: lo disfraza.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10  DETALLE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>
                <a:solidFill>
                  <a:srgbClr val="000000"/>
                </a:solidFill>
                <a:latin typeface="Arial Black"/>
              </a:rPr>
              <a:t>CÓMO SE CONSTRUYE UNA FUNCIÓN RESUMEN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No hace falta implementarla, pero sí conocer la forma, porque explica un ataque que casi nadie conoce y que justifica por qué el HMAC existe.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04287"/>
            <a:ext cx="11055096" cy="1426464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395727"/>
            <a:ext cx="106527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50">
                <a:solidFill>
                  <a:srgbClr val="3A3A3A"/>
                </a:solidFill>
                <a:latin typeface="Consolas"/>
              </a:rPr>
              <a:t>CONSTRUCCIÓN ENCADENADA · MD5, SHA-1 Y SHA-2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633471"/>
            <a:ext cx="10652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El mensaje se parte en bloques y se procesa uno tras otro: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  estado inicial → [bloque 1] → estado → [bloque 2] → estado → … → resumen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El resumen final NO es otra cosa que el estado interno al terminar.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986784"/>
            <a:ext cx="52532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000000"/>
                </a:solidFill>
                <a:latin typeface="Consolas"/>
              </a:rPr>
              <a:t>// LA CONSECUENCIA INCÓMODA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261104"/>
            <a:ext cx="5253228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Si el resumen es el estado interno, quien lo conoce puede continuar el cálculo desde ahí.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Puede añadir contenido al final del mensaje y producir el resumen correcto del mensaje ampliado, sin conocer el principio.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8796" y="3986784"/>
            <a:ext cx="52532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000000"/>
                </a:solidFill>
                <a:latin typeface="Consolas"/>
              </a:rPr>
              <a:t>// CÓMO SE LLAMA Y A QUIÉN AFECTA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8796" y="4261104"/>
            <a:ext cx="5253228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Se llama ataque de extensión de longitud.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Afecta a MD5, SHA-1 y SHA-2 por su construcción encadenada.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SHA-3 usa un diseño distinto, de esponja, y es inmune por construcción.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5332" y="3986784"/>
            <a:ext cx="9144" cy="1691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11  FAMILIAS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>
                <a:solidFill>
                  <a:srgbClr val="000000"/>
                </a:solidFill>
                <a:latin typeface="Arial Black"/>
              </a:rPr>
              <a:t>SHA-2 Y SHA-3: DOS DISEÑOS PARA LA MISMA PROMESA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SHA-3 no reemplaza a SHA-2: es una alternativa con un diseño interno completamente distinto, escogida en un concurso público en 2012 precisamente para no depender de una sola construcción.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04287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423159"/>
            <a:ext cx="293083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CRITERIO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2354" y="2423159"/>
            <a:ext cx="381524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SHA-2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42189" y="2423159"/>
            <a:ext cx="381524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SHA-3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715767"/>
            <a:ext cx="11055096" cy="91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825495"/>
            <a:ext cx="293083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Construcción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2354" y="2825495"/>
            <a:ext cx="381524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Encadenada: bloque tras bloque, como MD5 y SHA-1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42189" y="2825495"/>
            <a:ext cx="381524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Esponja: absorbe el mensaje y luego exprime la salida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154679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246119"/>
            <a:ext cx="293083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F36406"/>
                </a:solidFill>
                <a:latin typeface="Arial"/>
              </a:rPr>
              <a:t>Extensión de longitud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62354" y="3246119"/>
            <a:ext cx="381524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Vulnerable, por construcción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42189" y="3246119"/>
            <a:ext cx="381524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Inmune, por construcción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575303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666743"/>
            <a:ext cx="293083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Rendimiento en software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62354" y="3666743"/>
            <a:ext cx="381524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Muy alto, con aceleración en los procesadores modernos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42189" y="3666743"/>
            <a:ext cx="381524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Algo menor en software; muy eficiente en hardware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995927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087367"/>
            <a:ext cx="2930834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Salida de longitud variable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62354" y="4087367"/>
            <a:ext cx="3815242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42189" y="4087367"/>
            <a:ext cx="3815242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Sí: SHAKE128 y SHAKE256 entregan tantos bits como se pidan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535789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627229"/>
            <a:ext cx="2930834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Uso recomendado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62354" y="4627229"/>
            <a:ext cx="3815242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La opción por defecto hoy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42189" y="4627229"/>
            <a:ext cx="3815242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Diversificación, y pieza interna de los estándares post-cuánticos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5075651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5130515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5432267"/>
            <a:ext cx="45720" cy="713232"/>
          </a:xfrm>
          <a:prstGeom prst="rect">
            <a:avLst/>
          </a:prstGeom>
          <a:solidFill>
            <a:srgbClr val="F36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4672" y="5450555"/>
            <a:ext cx="107807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F36406"/>
                </a:solidFill>
                <a:latin typeface="Consolas"/>
              </a:rPr>
              <a:t>// PARA EL INVENTARIO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" y="5688299"/>
            <a:ext cx="10780776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>
                <a:solidFill>
                  <a:srgbClr val="2A2A2A"/>
                </a:solidFill>
                <a:latin typeface="Arial"/>
              </a:rPr>
              <a:t>SHA-256 es la respuesta correcta en la gran mayoría de los casos. </a:t>
            </a:r>
            <a:r>
              <a:rPr sz="1150" b="1">
                <a:solidFill>
                  <a:srgbClr val="2A2A2A"/>
                </a:solidFill>
                <a:latin typeface="Arial"/>
              </a:rPr>
              <a:t>El hallazgo no es usar SHA-2 en lugar de SHA-3: es usar SHA-2 pegando una llave al mensaje</a:t>
            </a:r>
            <a:r>
              <a:rPr sz="1150" b="0">
                <a:solidFill>
                  <a:srgbClr val="2A2A2A"/>
                </a:solidFill>
                <a:latin typeface="Arial"/>
              </a:rPr>
              <a:t>, que es el error de la diapositiva siguiente.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12  CONSECUENCIA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Arial Black"/>
              </a:rPr>
              <a:t>POR QUÉ HMAC NO ES SIMPLEMENTE RESUMEN DE LLAVE Y MENSAJE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La forma intuitiva de meter un secreto en un resumen es pegarlo delante del mensaje. Es intuitiva y es insegura, precisamente por el ataque de extensión de longitud.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04287"/>
            <a:ext cx="11055096" cy="1634947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395727"/>
            <a:ext cx="106527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50">
                <a:solidFill>
                  <a:srgbClr val="3A3A3A"/>
                </a:solidFill>
                <a:latin typeface="Consolas"/>
              </a:rPr>
              <a:t>LA RAZÓN DE LA CONSTRUCCIÓN ANIDADA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633471"/>
            <a:ext cx="10652760" cy="12143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Ingenuo :  resumen( llave ‖ mensaje 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           un atacante que vea ese valor puede añadir texto al mensaje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           y calcular el resumen correcto del resultado, sin saber la llave.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HMAC    :  resumen( llave⊕relleno_externo ‖ resumen( llave⊕relleno_interno ‖ mensaje ) 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           dos pasadas anidadas: el estado interno nunca queda expuesto.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195267"/>
            <a:ext cx="45720" cy="804672"/>
          </a:xfrm>
          <a:prstGeom prst="rect">
            <a:avLst/>
          </a:prstGeom>
          <a:solidFill>
            <a:srgbClr val="F36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4213555"/>
            <a:ext cx="107807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F36406"/>
                </a:solidFill>
                <a:latin typeface="Consolas"/>
              </a:rPr>
              <a:t>// LA LECCIÓN GENERAL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4451299"/>
            <a:ext cx="1078077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>
                <a:solidFill>
                  <a:srgbClr val="2A2A2A"/>
                </a:solidFill>
                <a:latin typeface="Arial"/>
              </a:rPr>
              <a:t>HMAC no es una ocurrencia: es una construcción diseñada y demostrada para resistir un ataque concreto. </a:t>
            </a:r>
            <a:r>
              <a:rPr sz="1150" b="1">
                <a:solidFill>
                  <a:srgbClr val="2A2A2A"/>
                </a:solidFill>
                <a:latin typeface="Arial"/>
              </a:rPr>
              <a:t>Cuando alguien arma su propio esquema de autenticación pegando la llave al mensaje, casi siempre está reinventando la versión insegura.</a:t>
            </a:r>
            <a:r>
              <a:rPr sz="1150" b="0">
                <a:solidFill>
                  <a:srgbClr val="2A2A2A"/>
                </a:solidFill>
                <a:latin typeface="Arial"/>
              </a:rPr>
              <a:t> Es la regla del martes de la sesión 1 aplicada aquí.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13  DETALLE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0">
                <a:solidFill>
                  <a:srgbClr val="000000"/>
                </a:solidFill>
                <a:latin typeface="Arial Black"/>
              </a:rPr>
              <a:t>COMPARAR TAMBIÉN TIENE QUE HACERSE BIEN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Un detalle de implementación que arruina un HMAC correcto: cómo se comparan los dos valores al verificar.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66543"/>
            <a:ext cx="52532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000000"/>
                </a:solidFill>
                <a:latin typeface="Consolas"/>
              </a:rPr>
              <a:t>// COMPARACIÓN INGENUA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340863"/>
            <a:ext cx="5253228" cy="16001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La comparación normal de cadenas se detiene en el primer byte que no coincide.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Eso significa que tarda un poquito más cuando los primeros bytes son correctos.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Un atacante que mida esos tiempos puede ir descubriendo el valor byte por byte.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8796" y="2066543"/>
            <a:ext cx="52532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000000"/>
                </a:solidFill>
                <a:latin typeface="Consolas"/>
              </a:rPr>
              <a:t>// COMPARACIÓN EN TIEMPO CONSTANTE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8796" y="2340863"/>
            <a:ext cx="5253228" cy="16001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Recorre siempre los dos valores completos y acumula las diferencias.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Tarda lo mismo coincida o no, así que no filtra información.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Todas las bibliotecas serias traen una función para esto. Usarla es gratis; no usarla es un hallazgo.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5332" y="2066543"/>
            <a:ext cx="9144" cy="1874519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03120"/>
            <a:ext cx="110550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SECCIÓN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37744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0">
                <a:solidFill>
                  <a:srgbClr val="F36406"/>
                </a:solidFill>
                <a:latin typeface="Arial Black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20440"/>
            <a:ext cx="1105509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000000"/>
                </a:solidFill>
                <a:latin typeface="Arial Black"/>
              </a:rPr>
              <a:t>INTEGRIDAD NO ES AUTENTICIDAD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4315968"/>
            <a:ext cx="1554480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4526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Arial"/>
              </a:rPr>
              <a:t>Por qué un resumen no prueba nada por sí solo, y hasta dónde llega el HMAC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14  LÍMITE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0">
                <a:solidFill>
                  <a:srgbClr val="000000"/>
                </a:solidFill>
                <a:latin typeface="Arial Black"/>
              </a:rPr>
              <a:t>UN RESUMEN NO AUTENTICA NADA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Es el malentendido más común del tema. Publicar el resumen de un archivo junto al archivo no prueba que el archivo sea legítimo: solo prueba que coincide consigo mismo.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04287"/>
            <a:ext cx="52532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000000"/>
                </a:solidFill>
                <a:latin typeface="Consolas"/>
              </a:rPr>
              <a:t>// EL RAZONAMIENTO EQUIVOCADO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578607"/>
            <a:ext cx="5253228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«Publico el archivo y su resumen. Si alguien lo altera, el resumen no coincide y nos damos cuenta.»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Suena razonable y es falso.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8796" y="2304287"/>
            <a:ext cx="52532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000000"/>
                </a:solidFill>
                <a:latin typeface="Consolas"/>
              </a:rPr>
              <a:t>// LO QUE REALMENTE PASA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8796" y="2578607"/>
            <a:ext cx="5253228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Quien altera el archivo también recalcula el resumen y publica el nuevo.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La función resumen es pública: cualquiera puede calcularla.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Sin un secreto de por medio, el resumen detecta accidentes —un archivo corrupto, un error de transmisión— pero no detecta a un adversario.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5332" y="2304287"/>
            <a:ext cx="9144" cy="17830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43400"/>
            <a:ext cx="45720" cy="777240"/>
          </a:xfrm>
          <a:prstGeom prst="rect">
            <a:avLst/>
          </a:prstGeom>
          <a:solidFill>
            <a:srgbClr val="F36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361688"/>
            <a:ext cx="107807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F36406"/>
                </a:solidFill>
                <a:latin typeface="Consolas"/>
              </a:rPr>
              <a:t>// LA DISTINCIÓN QUE HAY QUE FIJAR HOY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599432"/>
            <a:ext cx="10780776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>
                <a:solidFill>
                  <a:srgbClr val="2A2A2A"/>
                </a:solidFill>
                <a:latin typeface="Arial"/>
              </a:rPr>
              <a:t>Un resumen da </a:t>
            </a:r>
            <a:r>
              <a:rPr sz="1150" b="1">
                <a:solidFill>
                  <a:srgbClr val="2A2A2A"/>
                </a:solidFill>
                <a:latin typeface="Arial"/>
              </a:rPr>
              <a:t>integridad frente a accidentes</a:t>
            </a:r>
            <a:r>
              <a:rPr sz="1150" b="0">
                <a:solidFill>
                  <a:srgbClr val="2A2A2A"/>
                </a:solidFill>
                <a:latin typeface="Arial"/>
              </a:rPr>
              <a:t>. Para tener integridad frente a un adversario hace falta meter un secreto en la operación, y ahí aparecen dos caminos distintos: el código de autenticación de mensajes y la firma digital.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15  MECANISMO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0">
                <a:solidFill>
                  <a:srgbClr val="000000"/>
                </a:solidFill>
                <a:latin typeface="Arial Black"/>
              </a:rPr>
              <a:t>HMAC: UN RESUMEN CON LLAVE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Combina el mensaje con una llave secreta antes y después de resumirlo. El resultado solo lo puede calcular —y verificar— quien tenga la llave.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04287"/>
            <a:ext cx="11055096" cy="1634947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395727"/>
            <a:ext cx="106527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50">
                <a:solidFill>
                  <a:srgbClr val="3A3A3A"/>
                </a:solidFill>
                <a:latin typeface="Consolas"/>
              </a:rPr>
              <a:t>LA DIFERENCIA ESTÁ EN EL SECRETO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633471"/>
            <a:ext cx="10652760" cy="12143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resumen simple :  SHA-256(mensaje)                  → cualquiera lo calcula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HMAC           :  HMAC-SHA256(llave, mensaje)       → solo quien tiene la llave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Quien recibe el mensaje recalcula el HMAC con su copia de la llave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y compara. Si coincide: el mensaje no fue alterado y viene de alguien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que tiene la llave.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195267"/>
            <a:ext cx="45720" cy="658368"/>
          </a:xfrm>
          <a:prstGeom prst="rect">
            <a:avLst/>
          </a:prstGeom>
          <a:solidFill>
            <a:srgbClr val="F36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4213555"/>
            <a:ext cx="107807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F36406"/>
                </a:solidFill>
                <a:latin typeface="Consolas"/>
              </a:rPr>
              <a:t>// FÍJENSE EN LA ÚLTIMA FRASE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4451299"/>
            <a:ext cx="1078077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>
                <a:solidFill>
                  <a:srgbClr val="2A2A2A"/>
                </a:solidFill>
                <a:latin typeface="Arial"/>
              </a:rPr>
              <a:t>«Alguien que tiene la llave». No dice quién. Esa imprecisión, que parece un detalle de redacción, es exactamente el problema de Coopaburrá.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16  CASO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0">
                <a:solidFill>
                  <a:srgbClr val="000000"/>
                </a:solidFill>
                <a:latin typeface="Arial Black"/>
              </a:rPr>
              <a:t>HMAC PASO A PASO SOBRE UNA TRANSFERENCIA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Así funciona exactamente el mecanismo del hallazgo H2. Vale la pena seguirlo con una operación concreta, porque el defecto no está en ningún paso: está en quién tiene la llave.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04287"/>
            <a:ext cx="11055096" cy="2051913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395727"/>
            <a:ext cx="106527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50">
                <a:solidFill>
                  <a:srgbClr val="3A3A3A"/>
                </a:solidFill>
                <a:latin typeface="Consolas"/>
              </a:rPr>
              <a:t>EL MECANISMO DE H2, OPERACIÓN POR OPERACIÓN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633471"/>
            <a:ext cx="10652760" cy="16312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Mensaje:   origen=4471|destino=9920|monto=2500000|hora=2026-01-14T09:12:05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Llave:     la de la aplicación, igual en todos los teléfonos (evidencia D)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Etiqueta:  HMAC-SHA256(llave, mensaje)  →  64 caracteres hexadecimales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El servidor recibe mensaje y etiqueta, recalcula con la misma llave y compara.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Si coinciden:  el mensaje no cambió  Y  lo produjo alguien que tiene la llave.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«Alguien que tiene la llave» = cualquiera que haya descargado la aplicación.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612233"/>
            <a:ext cx="45720" cy="804672"/>
          </a:xfrm>
          <a:prstGeom prst="rect">
            <a:avLst/>
          </a:prstGeom>
          <a:solidFill>
            <a:srgbClr val="F36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4630521"/>
            <a:ext cx="107807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F36406"/>
                </a:solidFill>
                <a:latin typeface="Consolas"/>
              </a:rPr>
              <a:t>// DÓNDE ESTÁ EL DEFECTO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4868265"/>
            <a:ext cx="1078077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>
                <a:solidFill>
                  <a:srgbClr val="2A2A2A"/>
                </a:solidFill>
                <a:latin typeface="Arial"/>
              </a:rPr>
              <a:t>Cada paso es correcto: HMAC-SHA256 es un buen mecanismo y la comparación puede hacerse bien. </a:t>
            </a:r>
            <a:r>
              <a:rPr sz="1150" b="1">
                <a:solidFill>
                  <a:srgbClr val="2A2A2A"/>
                </a:solidFill>
                <a:latin typeface="Arial"/>
              </a:rPr>
              <a:t>El defecto es que la llave no identifica a nadie</a:t>
            </a:r>
            <a:r>
              <a:rPr sz="1150" b="0">
                <a:solidFill>
                  <a:srgbClr val="2A2A2A"/>
                </a:solidFill>
                <a:latin typeface="Arial"/>
              </a:rPr>
              <a:t>, porque la tienen 142.000 teléfonos y cualquiera que descompile el paquete. Una etiqueta válida prueba integridad, no autoría.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17  LLAVE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300" b="0">
                <a:solidFill>
                  <a:srgbClr val="000000"/>
                </a:solidFill>
                <a:latin typeface="Arial Black"/>
              </a:rPr>
              <a:t>LA LLAVE DE UN HMAC: TAMAÑO, ORIGEN Y PROPÓSITO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Un HMAC es tan fuerte como su llave. Estas son las cinco preguntas que hay que hacerle a cualquier llave de autenticación, con las respuestas del caso al lado.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04287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423159"/>
            <a:ext cx="2488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PREGUNTA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20151" y="2423159"/>
            <a:ext cx="425744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LO CORRECTO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42189" y="2423159"/>
            <a:ext cx="381524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EN COOPABURRÁ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715767"/>
            <a:ext cx="11055096" cy="91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825495"/>
            <a:ext cx="248863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Cuánto debe medir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20151" y="2825495"/>
            <a:ext cx="425744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Al menos lo que mide la salida: 32 bytes para HMAC-SHA256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42189" y="2825495"/>
            <a:ext cx="381524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Veinte caracteres de texto escritos a mano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136391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227831"/>
            <a:ext cx="2488631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De dónde sale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20151" y="3227831"/>
            <a:ext cx="4257446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De un generador criptográfico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42189" y="3227831"/>
            <a:ext cx="3815242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De la imaginación de un programador: «Cb4rr4-2023-HMAC-k3y»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676253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767693"/>
            <a:ext cx="248863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F36406"/>
                </a:solidFill>
                <a:latin typeface="Arial"/>
              </a:rPr>
              <a:t>Quién la tiene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20151" y="3767693"/>
            <a:ext cx="425744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Las dos partes que se autentican, y nadie más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42189" y="3767693"/>
            <a:ext cx="381524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Cada teléfono con la aplicación instalada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078589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170029"/>
            <a:ext cx="248863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Para qué se usa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20151" y="4170029"/>
            <a:ext cx="425744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Un solo propósito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42189" y="4170029"/>
            <a:ext cx="381524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Todas las operaciones de todos los usuarios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480925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572365"/>
            <a:ext cx="248863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Cada cuánto cambia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20151" y="4572365"/>
            <a:ext cx="425744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Según su periodo criptográfico, que fija la política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42189" y="4572365"/>
            <a:ext cx="381524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Nunca, desde marzo de 2023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883261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938125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5239877"/>
            <a:ext cx="45720" cy="713232"/>
          </a:xfrm>
          <a:prstGeom prst="rect">
            <a:avLst/>
          </a:prstGeom>
          <a:solidFill>
            <a:srgbClr val="F36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4672" y="5258165"/>
            <a:ext cx="107807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F36406"/>
                </a:solidFill>
                <a:latin typeface="Consolas"/>
              </a:rPr>
              <a:t>// EL VEREDICTO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" y="5495909"/>
            <a:ext cx="10780776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>
                <a:solidFill>
                  <a:srgbClr val="2A2A2A"/>
                </a:solidFill>
                <a:latin typeface="Arial"/>
              </a:rPr>
              <a:t>Cinco de cinco respuestas incorrectas. </a:t>
            </a:r>
            <a:r>
              <a:rPr sz="1150" b="1">
                <a:solidFill>
                  <a:srgbClr val="2A2A2A"/>
                </a:solidFill>
                <a:latin typeface="Arial"/>
              </a:rPr>
              <a:t>Ni una llave perfecta arreglaría H2</a:t>
            </a:r>
            <a:r>
              <a:rPr sz="1150" b="0">
                <a:solidFill>
                  <a:srgbClr val="2A2A2A"/>
                </a:solidFill>
                <a:latin typeface="Arial"/>
              </a:rPr>
              <a:t>, porque el problema de fondo es que es compartida; pero con estas respuestas, además, la llave es mala en sí misma.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18  DERIVACIÓN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300" b="0">
                <a:solidFill>
                  <a:srgbClr val="000000"/>
                </a:solidFill>
                <a:latin typeface="Arial Black"/>
              </a:rPr>
              <a:t>DERIVAR MUCHAS LLAVES DE UN SOLO SECRETO: HKDF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El error 4 de la sesión 2 decía: una llave, un propósito. La objeción inmediata es que eso multiplica las llaves que hay que custodiar. HKDF resuelve la objeción.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04287"/>
            <a:ext cx="11055096" cy="184343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395727"/>
            <a:ext cx="106527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50">
                <a:solidFill>
                  <a:srgbClr val="3A3A3A"/>
                </a:solidFill>
                <a:latin typeface="Consolas"/>
              </a:rPr>
              <a:t>EXTRAER Y EXPANDIR · RFC 5869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633471"/>
            <a:ext cx="10652760" cy="14228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secreto_maestro = 32 bytes de un generador criptográfico     ← el único que se custodia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llave_cifrado   = HKDF(secreto_maestro, info="respaldo/cifrado/2026")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llave_autentic  = HKDF(secreto_maestro, info="respaldo/autenticacion/2026")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llave_indice    = HKDF(secreto_maestro, info="indice-ciego/cedula")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Tres llaves independientes: conocer una no revela las otras ni el secreto maestro.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403750"/>
            <a:ext cx="45720" cy="804672"/>
          </a:xfrm>
          <a:prstGeom prst="rect">
            <a:avLst/>
          </a:prstGeom>
          <a:solidFill>
            <a:srgbClr val="F36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4422038"/>
            <a:ext cx="107807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F36406"/>
                </a:solidFill>
                <a:latin typeface="Consolas"/>
              </a:rPr>
              <a:t>// LA DIFERENCIA CON LAS FUNCIONES DE CONTRASEÑA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4659782"/>
            <a:ext cx="1078077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>
                <a:solidFill>
                  <a:srgbClr val="2A2A2A"/>
                </a:solidFill>
                <a:latin typeface="Arial"/>
              </a:rPr>
              <a:t>HKDF supone que la entrada ya tiene entropía alta, y por eso es rápida. </a:t>
            </a:r>
            <a:r>
              <a:rPr sz="1150" b="1">
                <a:solidFill>
                  <a:srgbClr val="2A2A2A"/>
                </a:solidFill>
                <a:latin typeface="Arial"/>
              </a:rPr>
              <a:t>Para contraseñas no sirve</a:t>
            </a:r>
            <a:r>
              <a:rPr sz="1150" b="0">
                <a:solidFill>
                  <a:srgbClr val="2A2A2A"/>
                </a:solidFill>
                <a:latin typeface="Arial"/>
              </a:rPr>
              <a:t>: ahí hace falta una función lenta a propósito, que es el bloque 6. Y es HKDF lo que usa el canal seguro para derivar sus llaves de sesión, en la sesión 5.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19  COMPARACIÓN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0">
                <a:solidFill>
                  <a:srgbClr val="000000"/>
                </a:solidFill>
                <a:latin typeface="Arial Black"/>
              </a:rPr>
              <a:t>HMAC FRENTE A FIRMA DIGITAL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Los dos dan integridad y autenticidad. Solo uno da no repudio, y la diferencia está en cuántas partes conocen el secreto.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066543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185415"/>
            <a:ext cx="22675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ASPECTO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9049" y="2185415"/>
            <a:ext cx="46996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CÓDIGO DE AUTENTICACIÓN (HMAC)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291" y="2185415"/>
            <a:ext cx="35941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FIRMA DIGITAL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478023"/>
            <a:ext cx="11055096" cy="91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587751"/>
            <a:ext cx="2267529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Tipo de llave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9049" y="2587751"/>
            <a:ext cx="4699650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Una sola llave, compartida entre emisor y receptor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291" y="2587751"/>
            <a:ext cx="3594140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Dos llaves: privada para firmar, pública para verificar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036173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127613"/>
            <a:ext cx="226752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Quién puede generar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9049" y="3127613"/>
            <a:ext cx="469965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Cualquiera de las dos partes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291" y="3127613"/>
            <a:ext cx="35941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Solo quien tiene la llave privada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475085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566525"/>
            <a:ext cx="226752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Quién puede verificar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9049" y="3566525"/>
            <a:ext cx="469965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Solo quien tiene la misma llave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291" y="3566525"/>
            <a:ext cx="35941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Cualquiera, con la llave pública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913997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005437"/>
            <a:ext cx="226752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F36406"/>
                </a:solidFill>
                <a:latin typeface="Arial"/>
              </a:rPr>
              <a:t>¿Da no repudio?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99049" y="4005437"/>
            <a:ext cx="469965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F36406"/>
                </a:solidFill>
                <a:latin typeface="Arial"/>
              </a:rPr>
              <a:t>No. Ambas partes pudieron generarlo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291" y="4005437"/>
            <a:ext cx="35941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Sí. Solo el titular de la privada pudo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352909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444349"/>
            <a:ext cx="226752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Velocidad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99049" y="4444349"/>
            <a:ext cx="469965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Muy rápido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291" y="4444349"/>
            <a:ext cx="35941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Entre cientos y miles de veces más lento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791821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883261"/>
            <a:ext cx="226752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Cuándo se usa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99049" y="4883261"/>
            <a:ext cx="469965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Integridad entre dos sistemas que ya confían entre sí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291" y="4883261"/>
            <a:ext cx="35941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Cuando hace falta probar autoría ante un tercero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5230733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6928" y="5285597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20  PRÁCTICA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>
                <a:solidFill>
                  <a:srgbClr val="000000"/>
                </a:solidFill>
                <a:latin typeface="Arial Black"/>
              </a:rPr>
              <a:t>DÓNDE APARECE HMAC SIN QUE NADIE LO NOMBRE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HMAC está en muchos más lugares de los que parece. Reconocerlo permite hacerle a cada uno las mismas cinco preguntas sobre su llave que le hicimos a Coopaburrá.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04287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423159"/>
            <a:ext cx="40363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DÓNDE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7864" y="2423159"/>
            <a:ext cx="348358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QUÉ AUTENTICA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6046" y="2423159"/>
            <a:ext cx="304138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LA PREGUNTA DE AUDITORÍA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715767"/>
            <a:ext cx="11055096" cy="91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825495"/>
            <a:ext cx="4036344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F36406"/>
                </a:solidFill>
                <a:latin typeface="Arial"/>
              </a:rPr>
              <a:t>Los códigos de seis dígitos de una aplicación autenticadora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7864" y="2825495"/>
            <a:ext cx="3483589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Que quien ingresa tiene la semilla compartida: el código es un HMAC de la hora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6046" y="2825495"/>
            <a:ext cx="3041385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¿Dónde guarda el servidor las semillas, y cifradas con qué?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273917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365357"/>
            <a:ext cx="4036344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Los tokens de sesión JWT con algoritmo HS256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7864" y="3365357"/>
            <a:ext cx="3483589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Que el token lo emitió el servidor y nadie lo alteró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6046" y="3365357"/>
            <a:ext cx="3041385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¿La llave es larga y aleatoria, o una palabra en la configuración?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813779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905219"/>
            <a:ext cx="4036344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Las notificaciones entre sistemas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7864" y="3905219"/>
            <a:ext cx="3483589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Que la notificación viene realmente del proveedor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6046" y="3905219"/>
            <a:ext cx="3041385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¿Se verifica la etiqueta, y en tiempo constante?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353641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445081"/>
            <a:ext cx="4036344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Las cookies de sesión firmadas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67864" y="4445081"/>
            <a:ext cx="3483589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Que el navegador no modificó el contenido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6046" y="4445081"/>
            <a:ext cx="3041385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¿Qué pasa si la llave del servidor se filtra?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893503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4948367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5250119"/>
            <a:ext cx="45720" cy="731520"/>
          </a:xfrm>
          <a:prstGeom prst="rect">
            <a:avLst/>
          </a:prstGeom>
          <a:solidFill>
            <a:srgbClr val="F36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" y="5268407"/>
            <a:ext cx="107807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F36406"/>
                </a:solidFill>
                <a:latin typeface="Consolas"/>
              </a:rPr>
              <a:t>// EL PUENTE CON LA SESIÓN 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" y="5506151"/>
            <a:ext cx="1078077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>
                <a:solidFill>
                  <a:srgbClr val="2A2A2A"/>
                </a:solidFill>
                <a:latin typeface="Arial"/>
              </a:rPr>
              <a:t>En los tokens JWT la librería lee del propio token qué algoritmo usar. Si acepta «ninguno», cualquiera fabrica tokens válidos. </a:t>
            </a:r>
            <a:r>
              <a:rPr sz="1150" b="1">
                <a:solidFill>
                  <a:srgbClr val="2A2A2A"/>
                </a:solidFill>
                <a:latin typeface="Arial"/>
              </a:rPr>
              <a:t>Es el primero de los cinco errores de firma del jueves</a:t>
            </a:r>
            <a:r>
              <a:rPr sz="1150" b="0">
                <a:solidFill>
                  <a:srgbClr val="2A2A2A"/>
                </a:solidFill>
                <a:latin typeface="Arial"/>
              </a:rPr>
              <a:t>, y aparece en auditorías reales.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21  CASO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0">
                <a:solidFill>
                  <a:srgbClr val="000000"/>
                </a:solidFill>
                <a:latin typeface="Arial Black"/>
              </a:rPr>
              <a:t>EL CORREO DE BITLAB, OTRA VEZ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Volvamos al documento 2 del expediente con lo que ya sabemos. La frase clave cabe en una línea.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066543"/>
            <a:ext cx="11055096" cy="801014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157984"/>
            <a:ext cx="106527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50">
                <a:solidFill>
                  <a:srgbClr val="3A3A3A"/>
                </a:solidFill>
                <a:latin typeface="Consolas"/>
              </a:rPr>
              <a:t>DOCUMENTO 2 · CORREO DE BITLAB S.A.S. · 27 DE ENERO DE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395727"/>
            <a:ext cx="10652760" cy="3803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«…el esquema de firma de operaciones utiliza HMAC-SHA256 con una clave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 compartida provisionada en tiempo de compilación…»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123590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242462"/>
            <a:ext cx="425744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LO QUE DICE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8966" y="3242462"/>
            <a:ext cx="646846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LO QUE SIGNIFICA TÉCNICAMENTE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535070"/>
            <a:ext cx="11055096" cy="91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644798"/>
            <a:ext cx="4257446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«HMAC-SHA256»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8966" y="3644798"/>
            <a:ext cx="6468465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Mecanismo correcto y vigente. No está roto. Da integridad y autenticidad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028846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120286"/>
            <a:ext cx="4257446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F36406"/>
                </a:solidFill>
                <a:latin typeface="Arial"/>
              </a:rPr>
              <a:t>«clave compartida»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8966" y="4120286"/>
            <a:ext cx="6468465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Por definición, HMAC no puede dar no repudio: las dos partes pueden generar el mismo código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504334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4595774"/>
            <a:ext cx="4257446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F36406"/>
                </a:solidFill>
                <a:latin typeface="Arial"/>
              </a:rPr>
              <a:t>«provisionada en tiempo de compilación»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88966" y="4595774"/>
            <a:ext cx="6468465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La misma llave para los 142.000 asociados, dentro del paquete que cualquiera descarga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979822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5071262"/>
            <a:ext cx="4257446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«el alcance no incluía gestión de llaves»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88966" y="5071262"/>
            <a:ext cx="6468465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Nadie era responsable de la pieza de la que dependía todo el esquema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5455310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5510174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22  APLICACIÓN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>
                <a:solidFill>
                  <a:srgbClr val="000000"/>
                </a:solidFill>
                <a:latin typeface="Arial Black"/>
              </a:rPr>
              <a:t>LA PREGUNTA DEL ABOGADO TIENE RESPUESTA TÉCNICA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El 5 de febrero el apoderado preguntó si existe forma técnica de demostrar que los registros no fueron alterados. Nadie respondió. La respuesta existe y se construye con lo que acabamos de ver.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04287"/>
            <a:ext cx="11055096" cy="1634947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395727"/>
            <a:ext cx="106527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50">
                <a:solidFill>
                  <a:srgbClr val="3A3A3A"/>
                </a:solidFill>
                <a:latin typeface="Consolas"/>
              </a:rPr>
              <a:t>REGISTROS ENCADENADOS POR RESUMEN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633471"/>
            <a:ext cx="10652760" cy="12143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Registro 1:  datos_1 + resumen( datos_1 )                        → H1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Registro 2:  datos_2 + resumen( datos_2 ‖ H1 )                   → H2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Registro 3:  datos_3 + resumen( datos_3 ‖ H2 )                   → H3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Cada registro incorpora el resumen del anterior. Alterar el registro 2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invalida H2, y con él H3 y todos los que siguen.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195267"/>
            <a:ext cx="52532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000000"/>
                </a:solidFill>
                <a:latin typeface="Consolas"/>
              </a:rPr>
              <a:t>// LO QUE ESTO SÍ RESUELVE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469587"/>
            <a:ext cx="5253228" cy="12344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Nadie puede modificar un registro del pasado sin recalcular toda la cadena posterior.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Una alteración deja de ser invisible: se detecta comparando la cadena.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8796" y="4195267"/>
            <a:ext cx="52532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000000"/>
                </a:solidFill>
                <a:latin typeface="Consolas"/>
              </a:rPr>
              <a:t>// LO QUE ESTO NO RESUELVE TODAVÍA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8796" y="4469587"/>
            <a:ext cx="5253228" cy="12344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Quien controla el servidor puede recalcular la cadena entera y presentarla coherente.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Sigue faltando algo que ate la cadena a un momento en el tiempo y a un tercero que no sea la cooperativa.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5332" y="4195267"/>
            <a:ext cx="9144" cy="15087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23  ESTRUCTURA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>
                <a:solidFill>
                  <a:srgbClr val="000000"/>
                </a:solidFill>
                <a:latin typeface="Arial Black"/>
              </a:rPr>
              <a:t>EL ÁRBOL DE MERKLE: PROBAR UNO SIN REVISAR TODOS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La cadena de registros protege el orden; el árbol de Merkle permite algo más: demostrar que una operación concreta está en el conjunto sin entregar el conjunto completo.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04287"/>
            <a:ext cx="11055096" cy="2051913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395727"/>
            <a:ext cx="106527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50">
                <a:solidFill>
                  <a:srgbClr val="3A3A3A"/>
                </a:solidFill>
                <a:latin typeface="Consolas"/>
              </a:rPr>
              <a:t>UN RESUMEN DE RESÚMENES · R = SHA-256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633471"/>
            <a:ext cx="10652760" cy="16312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                    raíz = R(H12 ‖ H34)          ← un solo valor para todo el día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                   /                  \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          H12 = R(H1 ‖ H2)         H34 = R(H3 ‖ H4)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           /          \             /          \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     H1 = R(op1)  H2 = R(op2)   H3 = R(op3)  H4 = R(op4)    ← una hoja por operación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Para probar que op3 está incluida basta entregar H4 y H12: con eso se recalcula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la raíz. Con 142.000 operaciones, la prueba ocupa apenas 18 resúmenes.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612233"/>
            <a:ext cx="45720" cy="804672"/>
          </a:xfrm>
          <a:prstGeom prst="rect">
            <a:avLst/>
          </a:prstGeom>
          <a:solidFill>
            <a:srgbClr val="F36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4630521"/>
            <a:ext cx="107807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F36406"/>
                </a:solidFill>
                <a:latin typeface="Consolas"/>
              </a:rPr>
              <a:t>// LO QUE ESTO LE DA A COOPABURRÁ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4868265"/>
            <a:ext cx="1078077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>
                <a:solidFill>
                  <a:srgbClr val="2A2A2A"/>
                </a:solidFill>
                <a:latin typeface="Arial"/>
              </a:rPr>
              <a:t>Si cada noche se sella la raíz del día con un sello de tiempo de un tercero, </a:t>
            </a:r>
            <a:r>
              <a:rPr sz="1150" b="1">
                <a:solidFill>
                  <a:srgbClr val="2A2A2A"/>
                </a:solidFill>
                <a:latin typeface="Arial"/>
              </a:rPr>
              <a:t>todas las operaciones de ese día quedan protegidas con un solo sello</a:t>
            </a:r>
            <a:r>
              <a:rPr sz="1150" b="0">
                <a:solidFill>
                  <a:srgbClr val="2A2A2A"/>
                </a:solidFill>
                <a:latin typeface="Arial"/>
              </a:rPr>
              <a:t>, y cualquiera se puede probar después ante un juez. Es el mismo mecanismo de los registros públicos de certificados de la sesión 5.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24  APLICACIÓN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300" b="0">
                <a:solidFill>
                  <a:srgbClr val="000000"/>
                </a:solidFill>
                <a:latin typeface="Arial Black"/>
              </a:rPr>
              <a:t>LO QUE FALTA PARA QUE SIRVA ANTE UN JUEZ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Un registro encadenado es necesario pero no suficiente. Para que sea oponible a un tercero hacen falta dos piezas más, y las dos aparecen en las sesiones siguientes.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04287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423159"/>
            <a:ext cx="337303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PIEZA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4558" y="2423159"/>
            <a:ext cx="58051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QUÉ APORTA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74310" y="2423159"/>
            <a:ext cx="138312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DÓNDE LA VEMOS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715767"/>
            <a:ext cx="11055096" cy="91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825495"/>
            <a:ext cx="337303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Firma digital de la cadena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4558" y="2825495"/>
            <a:ext cx="580515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Ata la cadena a una llave privada que solo una parte posee, de modo que el servidor no pueda rehacerla a voluntad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4310" y="2825495"/>
            <a:ext cx="1383121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Sesión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282695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374135"/>
            <a:ext cx="337303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Sello de tiempo de un tercero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04558" y="3374135"/>
            <a:ext cx="580515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Un tercero independiente certifica que ese resumen existía en ese momento. Impide rehacer el pasado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74310" y="3374135"/>
            <a:ext cx="1383121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Sesión 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831335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922775"/>
            <a:ext cx="337303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Custodia y segregación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04558" y="3922775"/>
            <a:ext cx="580515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Que quien opera el sistema no sea quien custodia la llave con la que se firma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74310" y="3922775"/>
            <a:ext cx="1383121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Sesión 5 y 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379975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4434839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4736591"/>
            <a:ext cx="45720" cy="731520"/>
          </a:xfrm>
          <a:prstGeom prst="rect">
            <a:avLst/>
          </a:prstGeom>
          <a:solidFill>
            <a:srgbClr val="F36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4754879"/>
            <a:ext cx="107807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F36406"/>
                </a:solidFill>
                <a:latin typeface="Consolas"/>
              </a:rPr>
              <a:t>// GUARDEN ESTA DIAPOSITIVA PARA EL INFORME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" y="4992623"/>
            <a:ext cx="1078077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>
                <a:solidFill>
                  <a:srgbClr val="2A2A2A"/>
                </a:solidFill>
                <a:latin typeface="Arial"/>
              </a:rPr>
              <a:t>Cuando en la sustentación les pregunten cómo se prueba que una operación la autorizó su titular, la respuesta completa son </a:t>
            </a:r>
            <a:r>
              <a:rPr sz="1150" b="1">
                <a:solidFill>
                  <a:srgbClr val="2A2A2A"/>
                </a:solidFill>
                <a:latin typeface="Arial"/>
              </a:rPr>
              <a:t>estas tres piezas más la firma individual por usuario</a:t>
            </a:r>
            <a:r>
              <a:rPr sz="1150" b="0">
                <a:solidFill>
                  <a:srgbClr val="2A2A2A"/>
                </a:solidFill>
                <a:latin typeface="Arial"/>
              </a:rPr>
              <a:t>. Ninguna sola basta.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188720"/>
            <a:ext cx="110550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LA TESIS DE LA SESIÓN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554480"/>
            <a:ext cx="106070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000" b="0">
                <a:solidFill>
                  <a:srgbClr val="000000"/>
                </a:solidFill>
                <a:latin typeface="Arial Black"/>
              </a:rPr>
              <a:t>COOPABURRÁ ELIGIÓ UN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000" b="0">
                <a:solidFill>
                  <a:srgbClr val="000000"/>
                </a:solidFill>
                <a:latin typeface="Arial Black"/>
              </a:rPr>
              <a:t>MECANISMO QUE NUNCA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000" b="0">
                <a:solidFill>
                  <a:srgbClr val="000000"/>
                </a:solidFill>
                <a:latin typeface="Arial Black"/>
              </a:rPr>
              <a:t>PUDO DAR LO QUE EL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000" b="0">
                <a:solidFill>
                  <a:srgbClr val="000000"/>
                </a:solidFill>
                <a:latin typeface="Arial Black"/>
              </a:rPr>
              <a:t>ABOGADO NECESITABA.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4617720"/>
            <a:ext cx="1554480" cy="45720"/>
          </a:xfrm>
          <a:prstGeom prst="rect">
            <a:avLst/>
          </a:prstGeom>
          <a:solidFill>
            <a:srgbClr val="F36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864608"/>
            <a:ext cx="106070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2A2A2A"/>
                </a:solidFill>
                <a:latin typeface="Arial"/>
              </a:rPr>
              <a:t>Aunque la llave hubiera estado perfectamente guardada, aunque fuera distinta para cada usuario y se rotara cada mes, HMAC seguiría sin dar no repudio, porque el servidor también la conoce y por tanto también pudo generar la operación. El problema no admite arreglo por configuración: exige cambiar de mecanismo. Eso es el jueves.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03120"/>
            <a:ext cx="110550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SECCIÓN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37744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0">
                <a:solidFill>
                  <a:srgbClr val="F36406"/>
                </a:solidFill>
                <a:latin typeface="Arial Black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20440"/>
            <a:ext cx="1105509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000000"/>
                </a:solidFill>
                <a:latin typeface="Arial Black"/>
              </a:rPr>
              <a:t>CONTRASEÑAS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4315968"/>
            <a:ext cx="1554480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4526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Arial"/>
              </a:rPr>
              <a:t>Bloque 6 · Por qué nunca se cifran, nunca se resumen a secas, y qué hay que hacer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25  PRINCIPIO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0">
                <a:solidFill>
                  <a:srgbClr val="000000"/>
                </a:solidFill>
                <a:latin typeface="Arial Black"/>
              </a:rPr>
              <a:t>UNA CONTRASEÑA NUNCA SE CIFRA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Primera regla, y la más contraintuitiva: el sistema no necesita conocer la contraseña. Solo necesita poder comprobar si la que le acaban de dar es la correcta.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04287"/>
            <a:ext cx="5353812" cy="1783080"/>
          </a:xfrm>
          <a:prstGeom prst="rect">
            <a:avLst/>
          </a:prstGeom>
          <a:solidFill>
            <a:srgbClr val="FFFFFF"/>
          </a:solidFill>
          <a:ln w="177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414015"/>
            <a:ext cx="49149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000000"/>
                </a:solidFill>
                <a:latin typeface="Consolas"/>
              </a:rPr>
              <a:t>// SI SE CIFRA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633471"/>
            <a:ext cx="49149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Existe una llave que permite recuperarla. Quien obtenga esa llave obtiene las 142.000 contraseñas en claro.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Y como la gente repite contraseñas, obtiene además el acceso al correo y al banco de mucha de esa gente.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Es exactamente lo que pasó en la filtración de 2013 que vimos el jueves.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8212" y="2304287"/>
            <a:ext cx="5353812" cy="1783080"/>
          </a:xfrm>
          <a:prstGeom prst="rect">
            <a:avLst/>
          </a:prstGeom>
          <a:solidFill>
            <a:srgbClr val="FFFFFF"/>
          </a:solidFill>
          <a:ln w="177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414015"/>
            <a:ext cx="49149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000000"/>
                </a:solidFill>
                <a:latin typeface="Consolas"/>
              </a:rPr>
              <a:t>// SI SE RESUME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7668" y="2633471"/>
            <a:ext cx="49149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No hay llave y no hay vuelta atrás. Ni siquiera la organización puede recuperar la contraseña.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Para verificar, se resume lo que el usuario acaba de escribir y se compara con lo almacenado.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Por eso los sistemas serios no pueden «recordarle» su contraseña: solo pueden dejarle poner otra.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453127"/>
            <a:ext cx="45720" cy="658368"/>
          </a:xfrm>
          <a:prstGeom prst="rect">
            <a:avLst/>
          </a:prstGeom>
          <a:solidFill>
            <a:srgbClr val="F36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471415"/>
            <a:ext cx="107807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F36406"/>
                </a:solidFill>
                <a:latin typeface="Consolas"/>
              </a:rPr>
              <a:t>// UNA SEÑAL DE ALARMA GRATUITA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709159"/>
            <a:ext cx="1078077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>
                <a:solidFill>
                  <a:srgbClr val="2A2A2A"/>
                </a:solidFill>
                <a:latin typeface="Arial"/>
              </a:rPr>
              <a:t>Si un sistema es capaz de enviarle su contraseña actual por correo, está guardándola de forma recuperable. Es un hallazgo que se detecta sin ninguna herramienta.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26 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0">
                <a:solidFill>
                  <a:srgbClr val="000000"/>
                </a:solidFill>
                <a:latin typeface="Arial Black"/>
              </a:rPr>
              <a:t>RESUMIR TAMPOCO BASTA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Resumir es necesario pero no suficiente, por dos razones que se combinan y que están las dos en el hallazgo H1 de Coopaburrá.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066543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185415"/>
            <a:ext cx="34534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PROBLEMA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84959" y="2185415"/>
            <a:ext cx="325243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POR QUÉ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01989" y="2185415"/>
            <a:ext cx="385544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CONSECUENCIA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478023"/>
            <a:ext cx="11055096" cy="91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587751"/>
            <a:ext cx="3453439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Las funciones resumen son rápidas a propósito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84959" y="2587751"/>
            <a:ext cx="3252437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SHA-256 está diseñado para procesar gigabytes por segundo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01989" y="2587751"/>
            <a:ext cx="3855442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Una tarjeta gráfica prueba miles de millones de contraseñas por segundo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036173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127613"/>
            <a:ext cx="3453439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Las personas eligen mal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84959" y="3127613"/>
            <a:ext cx="3252437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El espacio real de contraseñas humanas es minúsculo comparado con el teórico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01989" y="3127613"/>
            <a:ext cx="3855442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Un diccionario de unos pocos millones cubre la mayoría de las contraseñas reales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576035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667475"/>
            <a:ext cx="3453439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F36406"/>
                </a:solidFill>
                <a:latin typeface="Arial"/>
              </a:rPr>
              <a:t>Sin sal, el resumen es una huella pública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84959" y="3667475"/>
            <a:ext cx="3252437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El resumen de «123456» es siempre el mismo en todo el mundo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01989" y="3667475"/>
            <a:ext cx="3855442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Existen tablas ya calculadas: no hay que probar nada, solo buscar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115897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4170761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4472513"/>
            <a:ext cx="45720" cy="713232"/>
          </a:xfrm>
          <a:prstGeom prst="rect">
            <a:avLst/>
          </a:prstGeom>
          <a:solidFill>
            <a:srgbClr val="F36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4490801"/>
            <a:ext cx="107807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F36406"/>
                </a:solidFill>
                <a:latin typeface="Consolas"/>
              </a:rPr>
              <a:t>// EL PRIMER HALLAZGO VISIBLE DE LA EVIDENCIA 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" y="4728545"/>
            <a:ext cx="10780776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>
                <a:solidFill>
                  <a:srgbClr val="2A2A2A"/>
                </a:solidFill>
                <a:latin typeface="Arial"/>
              </a:rPr>
              <a:t>Los resúmenes de la muestra tienen 40 caracteres hexadecimales. Eso son 160 bits, que es exactamente el tamaño de SHA-1. </a:t>
            </a:r>
            <a:r>
              <a:rPr sz="1150" b="1">
                <a:solidFill>
                  <a:srgbClr val="2A2A2A"/>
                </a:solidFill>
                <a:latin typeface="Arial"/>
              </a:rPr>
              <a:t>Se puede identificar el algoritmo sin acceso al código, solo contando caracteres.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27  MECANISMO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0">
                <a:solidFill>
                  <a:srgbClr val="000000"/>
                </a:solidFill>
                <a:latin typeface="Arial Black"/>
              </a:rPr>
              <a:t>LA SAL: QUÉ RESUELVE Y QUÉ NO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La sal es un valor aleatorio que se añade a la contraseña antes de resumirla, y se guarda junto al resultado. No es secreta. Su trabajo es que dos contraseñas iguales produzcan resúmenes distintos.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04287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423159"/>
            <a:ext cx="305143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ESQUEMA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2955" y="2423159"/>
            <a:ext cx="365444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DOS USUARIOS CON LA MISMA CONTRASEÑA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01989" y="2423159"/>
            <a:ext cx="385544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ATAQUE MASIVO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715767"/>
            <a:ext cx="11055096" cy="91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825495"/>
            <a:ext cx="3051435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F36406"/>
                </a:solidFill>
                <a:latin typeface="Arial"/>
              </a:rPr>
              <a:t>Sin sal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2955" y="2825495"/>
            <a:ext cx="3654441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Mismo resumen. Se ve a simple vista en la tabla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01989" y="2825495"/>
            <a:ext cx="3855442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Una sola pasada del diccionario rompe toda la base a la vez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273917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365357"/>
            <a:ext cx="3051435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F36406"/>
                </a:solidFill>
                <a:latin typeface="Arial"/>
              </a:rPr>
              <a:t>Sal única para toda la base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82955" y="3365357"/>
            <a:ext cx="3654441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Mismo resumen. No mejora nada en este punto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01989" y="3365357"/>
            <a:ext cx="3855442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Una sola pasada, solo que con la sal añadida. Igual de barato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813779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905219"/>
            <a:ext cx="3051435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Sal distinta por usuario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82955" y="3905219"/>
            <a:ext cx="3654441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Resúmenes distintos. No se puede saber quién repite contraseña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01989" y="3905219"/>
            <a:ext cx="3855442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Hay que atacar cada cuenta por separado: el costo se multiplica por 142.000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353641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4408505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4710257"/>
            <a:ext cx="45720" cy="841248"/>
          </a:xfrm>
          <a:prstGeom prst="rect">
            <a:avLst/>
          </a:prstGeom>
          <a:solidFill>
            <a:srgbClr val="F36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4728545"/>
            <a:ext cx="107807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F36406"/>
                </a:solidFill>
                <a:latin typeface="Consolas"/>
              </a:rPr>
              <a:t>// POR QUÉ LA SAL DE COOPABURRÁ NO SIRVE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" y="4966289"/>
            <a:ext cx="1078077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>
                <a:solidFill>
                  <a:srgbClr val="2A2A2A"/>
                </a:solidFill>
                <a:latin typeface="Arial"/>
              </a:rPr>
              <a:t>Una sal constante para toda la base </a:t>
            </a:r>
            <a:r>
              <a:rPr sz="1150" b="1">
                <a:solidFill>
                  <a:srgbClr val="2A2A2A"/>
                </a:solidFill>
                <a:latin typeface="Arial"/>
              </a:rPr>
              <a:t>no es una sal</a:t>
            </a:r>
            <a:r>
              <a:rPr sz="1150" b="0">
                <a:solidFill>
                  <a:srgbClr val="2A2A2A"/>
                </a:solidFill>
                <a:latin typeface="Arial"/>
              </a:rPr>
              <a:t>: es un sufijo. Solo protege contra tablas precalculadas genéricas, y ni siquiera eso, porque basta calcular una tabla nueva con esa constante. No protege contra el ataque que de verdad importa: romper las 142.000 cuentas en una sola pasada.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28  ATAQUE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>
                <a:solidFill>
                  <a:srgbClr val="000000"/>
                </a:solidFill>
                <a:latin typeface="Arial Black"/>
              </a:rPr>
              <a:t>EL TALLER DEL ATACANTE: CUÁNTO CUESTA CADA INTENTO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Cifras aproximadas de pruebas públicas con una sola tarjeta gráfica de gama alta. No importa el número exacto: importa la diferencia de orden de magnitud entre las filas.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04287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423159"/>
            <a:ext cx="381524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FUNCIÓN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6762" y="2423159"/>
            <a:ext cx="31519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INTENTOS POR SEGUNDO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291" y="2423159"/>
            <a:ext cx="35941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TODAS LAS DE OCHO MINÚSCULAS · 2,1 × 10¹¹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715767"/>
            <a:ext cx="11055096" cy="91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825495"/>
            <a:ext cx="381524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MD5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6762" y="2825495"/>
            <a:ext cx="3151936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Unos 160.000 millones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291" y="2825495"/>
            <a:ext cx="35941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Un segundo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118103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209543"/>
            <a:ext cx="381524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F36406"/>
                </a:solidFill>
                <a:latin typeface="Arial"/>
              </a:rPr>
              <a:t>SHA-1 · la de Coopaburrá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6762" y="3209543"/>
            <a:ext cx="3151936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Unos 50.000 millones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291" y="3209543"/>
            <a:ext cx="35941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Cuatro segundos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502151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593591"/>
            <a:ext cx="381524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SHA-256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6762" y="3593591"/>
            <a:ext cx="3151936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Unos 20.000 millones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291" y="3593591"/>
            <a:ext cx="35941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Diez segundos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886199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3977639"/>
            <a:ext cx="381524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bcrypt, costo 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46762" y="3977639"/>
            <a:ext cx="3151936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Unos 5.000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291" y="3977639"/>
            <a:ext cx="35941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Más de un año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270247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361687"/>
            <a:ext cx="381524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bcrypt, costo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46762" y="4361687"/>
            <a:ext cx="3151936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Unos 1.400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291" y="4361687"/>
            <a:ext cx="35941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Más de cuatro años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654295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709159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5010911"/>
            <a:ext cx="45720" cy="841248"/>
          </a:xfrm>
          <a:prstGeom prst="rect">
            <a:avLst/>
          </a:prstGeom>
          <a:solidFill>
            <a:srgbClr val="F36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4672" y="5029199"/>
            <a:ext cx="107807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F36406"/>
                </a:solidFill>
                <a:latin typeface="Consolas"/>
              </a:rPr>
              <a:t>// LO QUE CAMBIA DE VERDAD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" y="5266943"/>
            <a:ext cx="1078077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>
                <a:solidFill>
                  <a:srgbClr val="2A2A2A"/>
                </a:solidFill>
                <a:latin typeface="Arial"/>
              </a:rPr>
              <a:t>Pasar de SHA-1 a una función con factor de trabajo multiplica el costo de cada intento por unos diez millones. </a:t>
            </a:r>
            <a:r>
              <a:rPr sz="1150" b="1">
                <a:solidFill>
                  <a:srgbClr val="2A2A2A"/>
                </a:solidFill>
                <a:latin typeface="Arial"/>
              </a:rPr>
              <a:t>Ningún cambio de política de contraseñas consigue ni una fracción de eso.</a:t>
            </a:r>
            <a:r>
              <a:rPr sz="1150" b="0">
                <a:solidFill>
                  <a:srgbClr val="2A2A2A"/>
                </a:solidFill>
                <a:latin typeface="Arial"/>
              </a:rPr>
              <a:t> Por eso es la primera recomendación de H1, antes que cualquier regla nueva. Las funciones que exigen memoria son todavía peores para el atacante.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29  SOLUCIÓN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0">
                <a:solidFill>
                  <a:srgbClr val="000000"/>
                </a:solidFill>
                <a:latin typeface="Arial Black"/>
              </a:rPr>
              <a:t>FUNCIONES DE DERIVACIÓN DE LLAVE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La solución real no es resumir mejor: es resumir </a:t>
            </a:r>
            <a:r>
              <a:rPr sz="1250" b="1">
                <a:solidFill>
                  <a:srgbClr val="2A2A2A"/>
                </a:solidFill>
                <a:latin typeface="Arial"/>
              </a:rPr>
              <a:t>lento a propósito</a:t>
            </a:r>
            <a:r>
              <a:rPr sz="1250" b="0">
                <a:solidFill>
                  <a:srgbClr val="2A2A2A"/>
                </a:solidFill>
                <a:latin typeface="Arial"/>
              </a:rPr>
              <a:t>. Una función de derivación repite la operación miles de veces y consume memoria deliberadamente, para que cada intento le cueste al atacante.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04287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423159"/>
            <a:ext cx="16444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FUNCIÓN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5943" y="2423159"/>
            <a:ext cx="84041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AÑO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0952" y="2423159"/>
            <a:ext cx="40564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QUÉ HACE COSTOSO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01989" y="2423159"/>
            <a:ext cx="385544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RECOMENDACIÓN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715767"/>
            <a:ext cx="11055096" cy="91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825495"/>
            <a:ext cx="1644423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PBKDF2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5943" y="2825495"/>
            <a:ext cx="84041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2000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0952" y="2825495"/>
            <a:ext cx="405644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Repite la operación muchas veces. Solo consume tiempo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01989" y="2825495"/>
            <a:ext cx="3855442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Aceptable si es lo único disponible por normativa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191255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3282695"/>
            <a:ext cx="1644423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bcrypt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5943" y="3282695"/>
            <a:ext cx="84041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1999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0952" y="3282695"/>
            <a:ext cx="405644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Tiempo y algo de memoria. Límite de longitud de entrada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1989" y="3282695"/>
            <a:ext cx="3855442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Aceptable, ampliamente probado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3648455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3739895"/>
            <a:ext cx="1644423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scrypt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5943" y="3739895"/>
            <a:ext cx="84041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2009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0952" y="3739895"/>
            <a:ext cx="405644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Tiempo y bastante memoria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01989" y="3739895"/>
            <a:ext cx="3855442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Buena opción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105655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197095"/>
            <a:ext cx="1644423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F36406"/>
                </a:solidFill>
                <a:latin typeface="Arial"/>
              </a:rPr>
              <a:t>Argon2id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75943" y="4197095"/>
            <a:ext cx="84041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2015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0952" y="4197095"/>
            <a:ext cx="405644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Tiempo, memoria y paralelismo, los tres calibrables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01989" y="4197095"/>
            <a:ext cx="3855442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La recomendación actual para sistemas nuevos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562855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4617719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" y="4919471"/>
            <a:ext cx="45720" cy="804672"/>
          </a:xfrm>
          <a:prstGeom prst="rect">
            <a:avLst/>
          </a:prstGeom>
          <a:solidFill>
            <a:srgbClr val="F36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4672" y="4937759"/>
            <a:ext cx="107807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F36406"/>
                </a:solidFill>
                <a:latin typeface="Consolas"/>
              </a:rPr>
              <a:t>// POR QUÉ IMPORTA LA MEMORIA Y NO SOLO EL TIEMPO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2" y="5175503"/>
            <a:ext cx="1078077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>
                <a:solidFill>
                  <a:srgbClr val="2A2A2A"/>
                </a:solidFill>
                <a:latin typeface="Arial"/>
              </a:rPr>
              <a:t>Una tarjeta gráfica tiene miles de núcleos pero poca memoria por núcleo. Una función que exige mucha memoria por intento anula esa ventaja y deja al atacante sin su mejor herramienta. Por eso las funciones modernas piden memoria, no solo repeticiones.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30  PARÁMETROS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>
                <a:solidFill>
                  <a:srgbClr val="000000"/>
                </a:solidFill>
                <a:latin typeface="Arial Black"/>
              </a:rPr>
              <a:t>ARGON2ID: LOS PARÁMETROS Y CÓMO SE GUARDAN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La recomendación actual para sistemas nuevos, con los valores de referencia de las dos fuentes que se citan en cualquier auditoría: el RFC que la estandariza y la guía de OWASP.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04287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423159"/>
            <a:ext cx="22675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PARÁMETRO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9049" y="2423159"/>
            <a:ext cx="45890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QUÉ CONTROLA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52740" y="2423159"/>
            <a:ext cx="37046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VALOR DE REFERENCIA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715767"/>
            <a:ext cx="11055096" cy="91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825495"/>
            <a:ext cx="2267529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F36406"/>
                </a:solidFill>
                <a:latin typeface="Arial"/>
              </a:rPr>
              <a:t>Memoria ·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9049" y="2825495"/>
            <a:ext cx="4589099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Cuánta RAM exige cada intento: lo que anula la ventaja de la tarjeta gráfica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2740" y="2825495"/>
            <a:ext cx="3704691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19 MiB como mínimo según OWASP; 64 MiB en la segunda opción del RFC 9106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273917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365357"/>
            <a:ext cx="226752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Iteraciones · 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9049" y="3365357"/>
            <a:ext cx="458909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Cuántas pasadas se hacen sobre esa memoria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52740" y="3365357"/>
            <a:ext cx="370469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2 con 19 MiB; 3 con 64 MiB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657965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749405"/>
            <a:ext cx="226752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Paralelismo · 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9049" y="3749405"/>
            <a:ext cx="458909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Cuántos hilos usa el servidor legítimo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52740" y="3749405"/>
            <a:ext cx="370469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1 según OWASP; 4 según el RFC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042013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133453"/>
            <a:ext cx="226752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Sal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99049" y="4133453"/>
            <a:ext cx="458909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Única por usuario, de un generador criptográfico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52740" y="4133453"/>
            <a:ext cx="370469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16 bytes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426061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517501"/>
            <a:ext cx="226752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Salida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99049" y="4517501"/>
            <a:ext cx="458909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Tamaño del resultado almacenado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2740" y="4517501"/>
            <a:ext cx="370469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32 bytes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810109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864973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5166725"/>
            <a:ext cx="45720" cy="804672"/>
          </a:xfrm>
          <a:prstGeom prst="rect">
            <a:avLst/>
          </a:prstGeom>
          <a:solidFill>
            <a:srgbClr val="F36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4672" y="5185013"/>
            <a:ext cx="107807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F36406"/>
                </a:solidFill>
                <a:latin typeface="Consolas"/>
              </a:rPr>
              <a:t>// POR QUÉ LOS PARÁMETROS SE GUARDAN CON EL RESULTADO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" y="5422757"/>
            <a:ext cx="1078077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>
                <a:solidFill>
                  <a:srgbClr val="2A2A2A"/>
                </a:solidFill>
                <a:latin typeface="Arial"/>
              </a:rPr>
              <a:t>Cada registro se guarda como «$argon2id$v=19$m=19456,t=2,p=1$sal$resultado». </a:t>
            </a:r>
            <a:r>
              <a:rPr sz="1150" b="1">
                <a:solidFill>
                  <a:srgbClr val="2A2A2A"/>
                </a:solidFill>
                <a:latin typeface="Arial"/>
              </a:rPr>
              <a:t>Así se pueden subir los parámetros el año próximo sin romper los registros viejos</a:t>
            </a:r>
            <a:r>
              <a:rPr sz="1150" b="0">
                <a:solidFill>
                  <a:srgbClr val="2A2A2A"/>
                </a:solidFill>
                <a:latin typeface="Arial"/>
              </a:rPr>
              <a:t>: cada uno se verifica con los suyos y se actualiza en el siguiente ingreso del usuario.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31  CALIBRACIÓN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0">
                <a:solidFill>
                  <a:srgbClr val="000000"/>
                </a:solidFill>
                <a:latin typeface="Arial Black"/>
              </a:rPr>
              <a:t>CÓMO SE ELIGE EL FACTOR DE TRABAJO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No hay un número universal: depende del servidor y de cuánta espera tolera el usuario. La regla de calibración es sencilla y se puede defender ante un comité.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04287"/>
            <a:ext cx="5669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F36406"/>
                </a:solidFill>
                <a:latin typeface="Arial Black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322575"/>
            <a:ext cx="1034186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Fije el tiempo objetivo por verificación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560320"/>
            <a:ext cx="1034186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2A2A2A"/>
                </a:solidFill>
                <a:latin typeface="Arial"/>
              </a:rPr>
              <a:t>Entre 0,25 y 1 segundo en el servidor de producción es el rango habitual para un portal.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017520"/>
            <a:ext cx="5669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F36406"/>
                </a:solidFill>
                <a:latin typeface="Arial Black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035808"/>
            <a:ext cx="1034186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Mida con el hardware real, no con su portátil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273552"/>
            <a:ext cx="1034186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2A2A2A"/>
                </a:solidFill>
                <a:latin typeface="Arial"/>
              </a:rPr>
              <a:t>El factor correcto en el servidor de Itagüí no es el mismo que en la máquina de desarrollo.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730752"/>
            <a:ext cx="5669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F36406"/>
                </a:solidFill>
                <a:latin typeface="Arial Black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749039"/>
            <a:ext cx="1034186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Calcule el impacto en el pico de carga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986784"/>
            <a:ext cx="1034186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2A2A2A"/>
                </a:solidFill>
                <a:latin typeface="Arial"/>
              </a:rPr>
              <a:t>El portal tiene 9.000 sesiones diarias. Hay que verificar que el costo sea sostenible en la hora pico.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443983"/>
            <a:ext cx="5669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F36406"/>
                </a:solidFill>
                <a:latin typeface="Arial Black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462271"/>
            <a:ext cx="1034186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Documente el parámetro y revíselo cada año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700016"/>
            <a:ext cx="1034186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2A2A2A"/>
                </a:solidFill>
                <a:latin typeface="Arial"/>
              </a:rPr>
              <a:t>El hardware del atacante mejora. Un factor calibrado en 2026 será insuficiente en 2030.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32  CAPA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300" b="0">
                <a:solidFill>
                  <a:srgbClr val="000000"/>
                </a:solidFill>
                <a:latin typeface="Arial Black"/>
              </a:rPr>
              <a:t>LA PIMIENTA: UN SECRETO QUE NO VIVE EN LA 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La sal no es secreta y viaja con el resumen. La pimienta es lo contrario: un secreto de la aplicación, común a todos los registros, que nunca se guarda en la base de datos.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04287"/>
            <a:ext cx="52532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000000"/>
                </a:solidFill>
                <a:latin typeface="Consolas"/>
              </a:rPr>
              <a:t>// CÓMO FUNCIONA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578607"/>
            <a:ext cx="5253228" cy="18287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El resultado de Argon2id se pasa por un HMAC con la pimienta antes de guardarlo.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La pimienta vive en un servicio de gestión de llaves o en un módulo de hardware, nunca en el código ni en la base.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Un robo de la base sola, por inyección de SQL o por un respaldo extraviado, entrega resúmenes que no se pueden atacar sin ella.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8796" y="2304287"/>
            <a:ext cx="52532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000000"/>
                </a:solidFill>
                <a:latin typeface="Consolas"/>
              </a:rPr>
              <a:t>// LO QUE EXIGE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8796" y="2578607"/>
            <a:ext cx="5253228" cy="18287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Vivir separada de la base: si están juntas, no aporta nada.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Un plan de rotación: cambiarla obliga a conservar la anterior mientras los registros se actualizan.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Y no reemplaza nada: es una capa sobre la sal por usuario y la función lenta, nunca un sustituto.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5332" y="2304287"/>
            <a:ext cx="9144" cy="2103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663440"/>
            <a:ext cx="45720" cy="777240"/>
          </a:xfrm>
          <a:prstGeom prst="rect">
            <a:avLst/>
          </a:prstGeom>
          <a:solidFill>
            <a:srgbClr val="F36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681727"/>
            <a:ext cx="107807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F36406"/>
                </a:solidFill>
                <a:latin typeface="Consolas"/>
              </a:rPr>
              <a:t>// LA IRONÍA DEL CASO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919472"/>
            <a:ext cx="10780776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>
                <a:solidFill>
                  <a:srgbClr val="2A2A2A"/>
                </a:solidFill>
                <a:latin typeface="Arial"/>
              </a:rPr>
              <a:t>Coopaburrá tiene algo parecido a una pimienta: la constante «c00pab2019», común a todos los registros. </a:t>
            </a:r>
            <a:r>
              <a:rPr sz="1150" b="1">
                <a:solidFill>
                  <a:srgbClr val="2A2A2A"/>
                </a:solidFill>
                <a:latin typeface="Arial"/>
              </a:rPr>
              <a:t>El problema es que vive en el código fuente, a la vista de once personas</a:t>
            </a:r>
            <a:r>
              <a:rPr sz="1150" b="0">
                <a:solidFill>
                  <a:srgbClr val="2A2A2A"/>
                </a:solidFill>
                <a:latin typeface="Arial"/>
              </a:rPr>
              <a:t>, que es exactamente donde una pimienta no puede estar.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33  POLÍTICA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300" b="0">
                <a:solidFill>
                  <a:srgbClr val="000000"/>
                </a:solidFill>
                <a:latin typeface="Arial Black"/>
              </a:rPr>
              <a:t>LO QUE CAMBIÓ EN LAS POLÍTICAS DE CONTRASEÑA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Las reglas que casi todas las organizaciones siguen fueron desaconsejadas por la propia entidad que las había recomendado. Coopaburrá exige seis caracteres y no obliga a cambiarlas: está mal en un extremo, pero la corrección no es irse al otro.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04287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423159"/>
            <a:ext cx="305143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PRÁCTICA TRADICIONAL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2955" y="2423159"/>
            <a:ext cx="325243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RECOMENDACIÓN ACTUAL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99985" y="2423159"/>
            <a:ext cx="425744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POR QUÉ CAMBIÓ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715767"/>
            <a:ext cx="11055096" cy="91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825495"/>
            <a:ext cx="3051435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Exigir mayúscula, número y símbolo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2955" y="2825495"/>
            <a:ext cx="3252437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No imponer reglas de composición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99985" y="2825495"/>
            <a:ext cx="4257446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Producen contraseñas predecibles: la gente escribe la misma palabra con un 1 y un signo al final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273917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365357"/>
            <a:ext cx="3051435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Obligar a cambiarla cada 90 días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82955" y="3365357"/>
            <a:ext cx="3252437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Cambiar solo ante indicio de compromiso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99985" y="3365357"/>
            <a:ext cx="4257446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El cambio forzado empeora las contraseñas: se vuelven variaciones numeradas de la anterior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813779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905219"/>
            <a:ext cx="30514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Mínimo de 8 caracteres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82955" y="3905219"/>
            <a:ext cx="325243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Permitir frases largas y no limitar el máximo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99985" y="3905219"/>
            <a:ext cx="425744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La longitud aporta mucha más entropía que la complejidad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325843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417283"/>
            <a:ext cx="3051435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F36406"/>
                </a:solidFill>
                <a:latin typeface="Arial"/>
              </a:rPr>
              <a:t>Sin verificación externa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82955" y="4417283"/>
            <a:ext cx="3252437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Contrastar contra listas de contraseñas ya filtradas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9985" y="4417283"/>
            <a:ext cx="4257446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Es la medida con mejor relación entre costo y efecto, y Coopaburrá no la tiene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865705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4920569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34  TÉCNICA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>
                <a:solidFill>
                  <a:srgbClr val="000000"/>
                </a:solidFill>
                <a:latin typeface="Arial Black"/>
              </a:rPr>
              <a:t>CONSULTAR CONTRASEÑAS FILTRADAS SIN REVELARLAS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La medida más rentable de la tabla anterior tiene un problema aparente: para saber si una contraseña está filtrada habría que enviarla a un tercero. Una idea elegante con funciones resumen lo resuelve.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04287"/>
            <a:ext cx="11055096" cy="184343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395727"/>
            <a:ext cx="106527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50">
                <a:solidFill>
                  <a:srgbClr val="3A3A3A"/>
                </a:solidFill>
                <a:latin typeface="Consolas"/>
              </a:rPr>
              <a:t>CONSULTA POR RANGO · K-ANONIMATO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633471"/>
            <a:ext cx="10652760" cy="14228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1. Se calcula el SHA-1 de la contraseña que el asociado quiere usar: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        5BAA61E4C9B93F3F0682250B6CF8331B7EE68FD8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2. Se envían al servicio SOLO los primeros cinco caracteres:      5BAA6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3. El servicio devuelve todos los resúmenes filtrados que empiezan así: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        unos pocos cientos de sufijos, con cuántas veces apareció cada uno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4. La comparación final se hace en el servidor propio: el tercero nunca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   sabe cuál de esos cientos era, ni si alguno lo era.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403750"/>
            <a:ext cx="45720" cy="731520"/>
          </a:xfrm>
          <a:prstGeom prst="rect">
            <a:avLst/>
          </a:prstGeom>
          <a:solidFill>
            <a:srgbClr val="F36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4422038"/>
            <a:ext cx="107807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F36406"/>
                </a:solidFill>
                <a:latin typeface="Consolas"/>
              </a:rPr>
              <a:t>// EL DETALLE QUE CONVIENE NOTAR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4659782"/>
            <a:ext cx="1078077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>
                <a:solidFill>
                  <a:srgbClr val="2A2A2A"/>
                </a:solidFill>
                <a:latin typeface="Arial"/>
              </a:rPr>
              <a:t>Aquí SHA-1 es aceptable: no protege nada, solo sirve de índice. </a:t>
            </a:r>
            <a:r>
              <a:rPr sz="1150" b="1">
                <a:solidFill>
                  <a:srgbClr val="2A2A2A"/>
                </a:solidFill>
                <a:latin typeface="Arial"/>
              </a:rPr>
              <a:t>La misma función que es un error para guardar contraseñas es correcta para buscarlas</a:t>
            </a:r>
            <a:r>
              <a:rPr sz="1150" b="0">
                <a:solidFill>
                  <a:srgbClr val="2A2A2A"/>
                </a:solidFill>
                <a:latin typeface="Arial"/>
              </a:rPr>
              <a:t>, y distinguir los dos usos es el criterio que se evalúa.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35  DIAGNÓSTICO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Arial Black"/>
              </a:rPr>
              <a:t>SEIS COSAS QUE UN SISTEMA DE CONTRASEÑAS NUNCA DEBE HACER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Errores que se detectan desde afuera, sin acceso al código, y que casi siempre anuncian problemas más graves adentro.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066543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185415"/>
            <a:ext cx="46996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PRÁCTICA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31170" y="2185415"/>
            <a:ext cx="602626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QUÉ REVELA O QUÉ PROVOCA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478023"/>
            <a:ext cx="11055096" cy="91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587751"/>
            <a:ext cx="4699650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Escribir la contraseña en los registros de la aplicación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31170" y="2587751"/>
            <a:ext cx="6026261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Pasa más de lo que parece: queda en claro en los archivos de depuración, fuera de todo control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036173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127613"/>
            <a:ext cx="4699650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Limitar la longitud máxima a pocos caracteres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31170" y="3127613"/>
            <a:ext cx="6026261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Suele delatar que se guarda en un campo fijo, a veces en claro. E impide las frases largas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576035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667475"/>
            <a:ext cx="4699650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Usar preguntas de seguridad para recuperar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31170" y="3667475"/>
            <a:ext cx="6026261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Un segundo secreto más débil que el primero: el nombre de la madre está en las redes sociales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115897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4207337"/>
            <a:ext cx="469965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Responder distinto a usuario inexistente y a contraseña incorrecta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31170" y="4207337"/>
            <a:ext cx="602626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Permite averiguar qué usuarios existen antes de atacarlos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518233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4609673"/>
            <a:ext cx="469965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F36406"/>
                </a:solidFill>
                <a:latin typeface="Arial"/>
              </a:rPr>
              <a:t>No limitar ni frenar los intentos fallidos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31170" y="4609673"/>
            <a:ext cx="602626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Hace gratis el ataque en línea, que con seis minúsculas es suficiente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4920569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5012009"/>
            <a:ext cx="4699650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Recortar la contraseña sin avisar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31170" y="5012009"/>
            <a:ext cx="6026261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Solo cuentan los primeros caracteres. bcrypt, por ejemplo, ignora lo que pase de 72 bytes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5460431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5515295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36  DISEÑO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0">
                <a:solidFill>
                  <a:srgbClr val="000000"/>
                </a:solidFill>
                <a:latin typeface="Arial Black"/>
              </a:rPr>
              <a:t>QUÉ SE GUARDA POR CADA USUARIO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El rediseño del hallazgo H1 se concreta en esta tabla. Es lo que debería tener la base de Coopaburrá y lo que hoy no tiene.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066543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185415"/>
            <a:ext cx="244843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CAMPO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9950" y="2185415"/>
            <a:ext cx="385544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QUÉ 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99985" y="2185415"/>
            <a:ext cx="134292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¿SECRETO?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07498" y="2185415"/>
            <a:ext cx="274993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EN COOPABURRÁ HOY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478023"/>
            <a:ext cx="11055096" cy="91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587751"/>
            <a:ext cx="244843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Identificador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79950" y="2587751"/>
            <a:ext cx="3855442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El usuario o el documento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99985" y="2587751"/>
            <a:ext cx="1342921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7498" y="2587751"/>
            <a:ext cx="2749933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Existe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953511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3044951"/>
            <a:ext cx="2448430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Sal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79950" y="3044951"/>
            <a:ext cx="3855442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Valor aleatorio distinto para cada usuario, generado al crear la cuenta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99985" y="3044951"/>
            <a:ext cx="1342921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No, pero única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07498" y="3044951"/>
            <a:ext cx="2749933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F36406"/>
                </a:solidFill>
                <a:latin typeface="Arial"/>
              </a:rPr>
              <a:t>Constante para todos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3493373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3584813"/>
            <a:ext cx="2448430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Algoritmo y parámetros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79950" y="3584813"/>
            <a:ext cx="3855442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Qué función de derivación y con qué factor de trabajo se calculó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99985" y="3584813"/>
            <a:ext cx="1342921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07498" y="3584813"/>
            <a:ext cx="2749933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F36406"/>
                </a:solidFill>
                <a:latin typeface="Arial"/>
              </a:rPr>
              <a:t>No se almacena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033235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124675"/>
            <a:ext cx="244843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Resultado de la derivación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79950" y="4124675"/>
            <a:ext cx="3855442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La salida de la función aplicada a contraseña y sal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99985" y="4124675"/>
            <a:ext cx="1342921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Sí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07498" y="4124675"/>
            <a:ext cx="2749933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F36406"/>
                </a:solidFill>
                <a:latin typeface="Arial"/>
              </a:rPr>
              <a:t>Resumen SHA-1 simple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490435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4581875"/>
            <a:ext cx="244843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Fecha del último cambio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79950" y="4581875"/>
            <a:ext cx="3855442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Para detectar cuentas antiguas al migrar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99985" y="4581875"/>
            <a:ext cx="1342921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No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07498" y="4581875"/>
            <a:ext cx="2749933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Por verificar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4947635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66928" y="5002499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66928" y="5304251"/>
            <a:ext cx="45720" cy="749808"/>
          </a:xfrm>
          <a:prstGeom prst="rect">
            <a:avLst/>
          </a:prstGeom>
          <a:solidFill>
            <a:srgbClr val="F36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2" y="5322539"/>
            <a:ext cx="107807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F36406"/>
                </a:solidFill>
                <a:latin typeface="Consolas"/>
              </a:rPr>
              <a:t>// POR QUÉ SE GUARDAN LOS PARÁMETROS JUNTO AL RESULTADO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" y="5560283"/>
            <a:ext cx="1078077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>
                <a:solidFill>
                  <a:srgbClr val="2A2A2A"/>
                </a:solidFill>
                <a:latin typeface="Arial"/>
              </a:rPr>
              <a:t>Porque el factor de trabajo va a cambiar con los años. Si está almacenado con cada registro, se pueden convivir varios factores durante la migración y subirlos poco a poco. Si no está, cambiar el parámetro invalida toda la base de un golpe.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37 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300" b="0">
                <a:solidFill>
                  <a:srgbClr val="000000"/>
                </a:solidFill>
                <a:latin typeface="Arial Black"/>
              </a:rPr>
              <a:t>EL PROBLEMA DE MIGRAR 142.000 CONTRASEÑAS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Este es el punto donde casi todos los proyectos se atascan, y es parte de la entrega 3. No lo voy a resolver aquí: lo van a resolver ustedes.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04287"/>
            <a:ext cx="5353812" cy="1828800"/>
          </a:xfrm>
          <a:prstGeom prst="rect">
            <a:avLst/>
          </a:prstGeom>
          <a:solidFill>
            <a:srgbClr val="FFFFFF"/>
          </a:solidFill>
          <a:ln w="177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414015"/>
            <a:ext cx="49149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000000"/>
                </a:solidFill>
                <a:latin typeface="Consolas"/>
              </a:rPr>
              <a:t>// EL CALLEJÓN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633471"/>
            <a:ext cx="49149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Para guardar las contraseñas con la función nueva hay que conocerlas.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Pero no se conocen: solo hay resúmenes SHA-1, y de un resumen no se vuelve atrás.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Y pedirle a 142.000 asociados que cambien su contraseña el mismo día no es viable ni comercial ni operativamente.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8212" y="2304287"/>
            <a:ext cx="5353812" cy="1828800"/>
          </a:xfrm>
          <a:prstGeom prst="rect">
            <a:avLst/>
          </a:prstGeom>
          <a:solidFill>
            <a:srgbClr val="FFFFFF"/>
          </a:solidFill>
          <a:ln w="177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414015"/>
            <a:ext cx="49149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000000"/>
                </a:solidFill>
                <a:latin typeface="Consolas"/>
              </a:rPr>
              <a:t>// LAS PISTAS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7668" y="2633471"/>
            <a:ext cx="49149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¿Es obligatorio partir de la contraseña en claro, o se puede partir de lo que ya está almacenado?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¿Puede convivir la base con dos esquemas al tiempo durante un periodo?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¿Qué momento es el único en que el sistema sí ve la contraseña en claro, aunque sea por un instante?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498847"/>
            <a:ext cx="45720" cy="731520"/>
          </a:xfrm>
          <a:prstGeom prst="rect">
            <a:avLst/>
          </a:prstGeom>
          <a:solidFill>
            <a:srgbClr val="F36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517135"/>
            <a:ext cx="107807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F36406"/>
                </a:solidFill>
                <a:latin typeface="Consolas"/>
              </a:rPr>
              <a:t>// LO QUE SE EVALÚA DE ESTA PARTE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754879"/>
            <a:ext cx="1078077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>
                <a:solidFill>
                  <a:srgbClr val="2A2A2A"/>
                </a:solidFill>
                <a:latin typeface="Arial"/>
              </a:rPr>
              <a:t>Que la solución no exija conocer las contraseñas actuales, que no obligue a un cambio masivo el mismo día, y que diga qué pasa con las cuentas que no vuelven a entrar nunca. Esa última es la que casi nadie contempla.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38  COMPLEMENTO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0">
                <a:solidFill>
                  <a:srgbClr val="000000"/>
                </a:solidFill>
                <a:latin typeface="Arial Black"/>
              </a:rPr>
              <a:t>EL SEGUNDO FACTOR CAMBIA LA ECUACIÓN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Todo lo anterior mejora la resistencia de la contraseña. Un segundo factor cambia el problema de sitio, y para una entidad vigilada no es opcional.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04287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423159"/>
            <a:ext cx="325243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FACTOR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83957" y="2423159"/>
            <a:ext cx="365444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QUÉ APORTA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02990" y="2423159"/>
            <a:ext cx="365444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LÍMITE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715767"/>
            <a:ext cx="11055096" cy="91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825495"/>
            <a:ext cx="3252437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Código por mensaje de texto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83957" y="2825495"/>
            <a:ext cx="3654441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Mejor que nada y muy adoptado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02990" y="2825495"/>
            <a:ext cx="3654441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Vulnerable al secuestro de línea telefónica, que en Colombia ocurre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273917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365357"/>
            <a:ext cx="325243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Aplicación generadora de códigos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83957" y="3365357"/>
            <a:ext cx="3654441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No depende de la red telefónica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02990" y="3365357"/>
            <a:ext cx="3654441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El código se puede pedir por engaño en tiempo real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767693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859133"/>
            <a:ext cx="3252437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Llave física o credencial del dispositivo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83957" y="3859133"/>
            <a:ext cx="3654441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Vinculada al sitio: no se puede entregar por engaño a un sitio falso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02990" y="3859133"/>
            <a:ext cx="3654441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Costo y logística de distribución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307555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398995"/>
            <a:ext cx="3252437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F36406"/>
                </a:solidFill>
                <a:latin typeface="Arial"/>
              </a:rPr>
              <a:t>Vinculación con el dispositivo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83957" y="4398995"/>
            <a:ext cx="3654441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Una llave distinta por teléfono, generada en el propio dispositivo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02990" y="4398995"/>
            <a:ext cx="3654441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Es justamente lo que le habría faltado a la aplicación de Coopaburrá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847417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4902281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5204033"/>
            <a:ext cx="45720" cy="777240"/>
          </a:xfrm>
          <a:prstGeom prst="rect">
            <a:avLst/>
          </a:prstGeom>
          <a:solidFill>
            <a:srgbClr val="F36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" y="5222321"/>
            <a:ext cx="107807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F36406"/>
                </a:solidFill>
                <a:latin typeface="Consolas"/>
              </a:rPr>
              <a:t>// LA CONEXIÓN CON EL HALLAZGO H2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" y="5460065"/>
            <a:ext cx="10780776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>
                <a:solidFill>
                  <a:srgbClr val="2A2A2A"/>
                </a:solidFill>
                <a:latin typeface="Arial"/>
              </a:rPr>
              <a:t>La última fila no es un complemento: es parte de la solución del hallazgo. Una llave por dispositivo, generada en el dispositivo y de la que el servidor solo conoce la parte pública, es el camino hacia la firma individual. Eso es exactamente la sesión del jueves.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39  FUTURO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>
                <a:solidFill>
                  <a:srgbClr val="000000"/>
                </a:solidFill>
                <a:latin typeface="Arial Black"/>
              </a:rPr>
              <a:t>LLAVES DE ACCESO: EL RELEVO DE LA CONTRASEÑA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El sector se está moviendo a un esquema en el que no hay contraseña que guardar ni que robar. Conviene entenderlo, porque es exactamente el patrón que resuelve el hallazgo H2.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04287"/>
            <a:ext cx="11055096" cy="2051913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395727"/>
            <a:ext cx="106527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50">
                <a:solidFill>
                  <a:srgbClr val="3A3A3A"/>
                </a:solidFill>
                <a:latin typeface="Consolas"/>
              </a:rPr>
              <a:t>FIDO2 Y WEBAUTHN · CÓMO FUNCIONA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633471"/>
            <a:ext cx="10652760" cy="16312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Registro:  el teléfono genera una pareja de llaves para ESE sitio.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           La privada queda en el enclave del dispositivo; el sitio guarda la pública.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Ingreso:   el sitio envía un desafío aleatorio.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           El dispositivo lo firma, previa huella o rostro del usuario.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           El sitio verifica la firma con la llave pública que tiene guardada.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No hay secreto compartido: robar la base del sitio no sirve para entrar.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612233"/>
            <a:ext cx="45720" cy="804672"/>
          </a:xfrm>
          <a:prstGeom prst="rect">
            <a:avLst/>
          </a:prstGeom>
          <a:solidFill>
            <a:srgbClr val="F36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4630521"/>
            <a:ext cx="107807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F36406"/>
                </a:solidFill>
                <a:latin typeface="Consolas"/>
              </a:rPr>
              <a:t>// POR QUÉ RESISTE EL ENGAÑO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4868265"/>
            <a:ext cx="1078077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>
                <a:solidFill>
                  <a:srgbClr val="2A2A2A"/>
                </a:solidFill>
                <a:latin typeface="Arial"/>
              </a:rPr>
              <a:t>La llave queda atada al dominio del sitio: </a:t>
            </a:r>
            <a:r>
              <a:rPr sz="1150" b="1">
                <a:solidFill>
                  <a:srgbClr val="2A2A2A"/>
                </a:solidFill>
                <a:latin typeface="Arial"/>
              </a:rPr>
              <a:t>en un sitio falso, el dispositivo simplemente no tiene llave que usar</a:t>
            </a:r>
            <a:r>
              <a:rPr sz="1150" b="0">
                <a:solidFill>
                  <a:srgbClr val="2A2A2A"/>
                </a:solidFill>
                <a:latin typeface="Arial"/>
              </a:rPr>
              <a:t>, y el usuario no puede entregarla aunque quiera. Es la defensa técnica más sólida contra la suplantación, y la firma que la sostiene es el tema del jueves.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40  RECUPERACIÓN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300" b="0">
                <a:solidFill>
                  <a:srgbClr val="000000"/>
                </a:solidFill>
                <a:latin typeface="Arial Black"/>
              </a:rPr>
              <a:t>RECUPERACIÓN DE CUENTA: LA PUERTA QUE SE OLVIDA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Un sistema de autenticación es tan fuerte como su procedimiento de recuperación. Es la puerta por la que entran los atacantes cuando la principal está bien cerrada.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04287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423159"/>
            <a:ext cx="293083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VÍA DE RECUPERACIÓN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2354" y="2423159"/>
            <a:ext cx="40363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CÓMO SE ATACA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291" y="2423159"/>
            <a:ext cx="35941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QUÉ LA HACE DEFENDIBLE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715767"/>
            <a:ext cx="11055096" cy="91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825495"/>
            <a:ext cx="2930834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F36406"/>
                </a:solidFill>
                <a:latin typeface="Arial"/>
              </a:rPr>
              <a:t>Código por mensaje de texto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2354" y="2825495"/>
            <a:ext cx="4036344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Duplicado fraudulento de la tarjeta SIM en un punto de venta del operador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291" y="2825495"/>
            <a:ext cx="3594140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Combinarla con otro factor y avisar por un canal distinto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273917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365357"/>
            <a:ext cx="2930834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Llamada al centro de contacto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62354" y="3365357"/>
            <a:ext cx="4036344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Ingeniería social con datos filtrados: cédula, fecha de nacimiento, dirección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291" y="3365357"/>
            <a:ext cx="3594140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Preguntas que no estén en ninguna filtración y una espera antes de aplicar el cambio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813779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905219"/>
            <a:ext cx="293083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Correo electrónico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62354" y="3905219"/>
            <a:ext cx="403634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Tomar primero el correo, que suele estar peor protegido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291" y="3905219"/>
            <a:ext cx="35941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Que cambiar el correo exija el factor fuerte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234403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325843"/>
            <a:ext cx="293083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Presencial en la oficina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62354" y="4325843"/>
            <a:ext cx="403634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Documentos falsificados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291" y="4325843"/>
            <a:ext cx="35941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Validación biométrica de la identidad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655027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4709891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5011643"/>
            <a:ext cx="45720" cy="731520"/>
          </a:xfrm>
          <a:prstGeom prst="rect">
            <a:avLst/>
          </a:prstGeom>
          <a:solidFill>
            <a:srgbClr val="F36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" y="5029931"/>
            <a:ext cx="107807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F36406"/>
                </a:solidFill>
                <a:latin typeface="Consolas"/>
              </a:rPr>
              <a:t>// LA REGLA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" y="5267675"/>
            <a:ext cx="1078077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>
                <a:solidFill>
                  <a:srgbClr val="2A2A2A"/>
                </a:solidFill>
                <a:latin typeface="Arial"/>
              </a:rPr>
              <a:t>La recuperación nunca debe ser más fácil que el ingreso normal. </a:t>
            </a:r>
            <a:r>
              <a:rPr sz="1150" b="1">
                <a:solidFill>
                  <a:srgbClr val="2A2A2A"/>
                </a:solidFill>
                <a:latin typeface="Arial"/>
              </a:rPr>
              <a:t>Y todo cambio de credenciales se notifica por un canal distinto al que se usó para hacerlo</a:t>
            </a:r>
            <a:r>
              <a:rPr sz="1150" b="0">
                <a:solidFill>
                  <a:srgbClr val="2A2A2A"/>
                </a:solidFill>
                <a:latin typeface="Arial"/>
              </a:rPr>
              <a:t>, con un plazo durante el cual el titular puede detenerlo.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03120"/>
            <a:ext cx="110550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SECCIÓN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37744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0">
                <a:solidFill>
                  <a:srgbClr val="F36406"/>
                </a:solidFill>
                <a:latin typeface="Arial Black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20440"/>
            <a:ext cx="1105509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000000"/>
                </a:solidFill>
                <a:latin typeface="Arial Black"/>
              </a:rPr>
              <a:t>LABORATORIO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4315968"/>
            <a:ext cx="1554480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4526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Arial"/>
              </a:rPr>
              <a:t>Cincuenta minutos · Atacar la evidencia B, con el ejercicio en Python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41  LABORATORIO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0">
                <a:solidFill>
                  <a:srgbClr val="000000"/>
                </a:solidFill>
                <a:latin typeface="Arial Black"/>
              </a:rPr>
              <a:t>LOS TRES EJERCICIOS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Trabajan sobre la muestra real de la tabla de usuarios del caso, evidencia B del expediente. Está anonimizada: los usuarios no existen, pero los resúmenes son auténticos.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04287"/>
            <a:ext cx="5669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F36406"/>
                </a:solidFill>
                <a:latin typeface="Arial Black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322575"/>
            <a:ext cx="1034186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Ejercicio 1 · Identificar el algoritmo sin ver el código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560320"/>
            <a:ext cx="1034186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2A2A2A"/>
                </a:solidFill>
                <a:latin typeface="Arial"/>
              </a:rPr>
              <a:t>A partir de la longitud del resumen, determinen qué función lo produjo. Justifiquen con el número de bits.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145535"/>
            <a:ext cx="5669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F36406"/>
                </a:solidFill>
                <a:latin typeface="Arial Black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163823"/>
            <a:ext cx="1034186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Ejercicio 2 · Romper la muestra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401568"/>
            <a:ext cx="1034186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2A2A2A"/>
                </a:solidFill>
                <a:latin typeface="Arial"/>
              </a:rPr>
              <a:t>Dos de los tres usuarios tienen el mismo resumen. Averigüen qué contraseñas son y expliquen cómo llegaron: qué les dijo la repetición y qué papel jugó la sal declarada.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986783"/>
            <a:ext cx="5669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F36406"/>
                </a:solidFill>
                <a:latin typeface="Arial Black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005071"/>
            <a:ext cx="1034186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Ejercicio 3 · Medir la diferencia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242816"/>
            <a:ext cx="1034186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2A2A2A"/>
                </a:solidFill>
                <a:latin typeface="Arial"/>
              </a:rPr>
              <a:t>Calculen cuánto tarda una función de derivación moderna frente a un resumen simple para el mismo intento, y extrapolen: ¿cuánto costaría atacar 142.000 cuentas en cada esquema?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010912"/>
            <a:ext cx="45720" cy="749808"/>
          </a:xfrm>
          <a:prstGeom prst="rect">
            <a:avLst/>
          </a:prstGeom>
          <a:solidFill>
            <a:srgbClr val="F36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5029199"/>
            <a:ext cx="107807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F36406"/>
                </a:solidFill>
                <a:latin typeface="Consolas"/>
              </a:rPr>
              <a:t>// UNA ADVERTENCIA SOBRE EL EJERCICIO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5266944"/>
            <a:ext cx="1078077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>
                <a:solidFill>
                  <a:srgbClr val="2A2A2A"/>
                </a:solidFill>
                <a:latin typeface="Arial"/>
              </a:rPr>
              <a:t>Van a descubrir algo que el expediente no dice del todo bien, y encontrarlo es parte del ejercicio. </a:t>
            </a:r>
            <a:r>
              <a:rPr sz="1150" b="1">
                <a:solidFill>
                  <a:srgbClr val="2A2A2A"/>
                </a:solidFill>
                <a:latin typeface="Arial"/>
              </a:rPr>
              <a:t>Documenten la discrepancia entre lo que la documentación afirma y lo que los datos demuestran.</a:t>
            </a:r>
            <a:r>
              <a:rPr sz="1150" b="0">
                <a:solidFill>
                  <a:srgbClr val="2A2A2A"/>
                </a:solidFill>
                <a:latin typeface="Arial"/>
              </a:rPr>
              <a:t> Eso es exactamente el trabajo de un auditor.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42  LABORATORIO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0">
                <a:solidFill>
                  <a:srgbClr val="000000"/>
                </a:solidFill>
                <a:latin typeface="Arial Black"/>
              </a:rPr>
              <a:t>PUNTO DE PARTIDA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49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554480"/>
            <a:ext cx="11055096" cy="24688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645920"/>
            <a:ext cx="106527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50">
                <a:solidFill>
                  <a:srgbClr val="3A3A3A"/>
                </a:solidFill>
                <a:latin typeface="Consolas"/>
              </a:rPr>
              <a:t>LABORATORIO 3 · DATOS Y COMANDOS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1883664"/>
            <a:ext cx="10652760" cy="20482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# Evidencia B · muestra de la tabla de usuarios del portal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1  usuario_a  5baa61e4c9b93f3f0682250b6cf8331b7ee68fd8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2  usuario_b  7c4a8d09ca3762af61e59520943dc26494f8941b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3  usuario_c  5baa61e4c9b93f3f0682250b6cf8331b7ee68fd8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# sal declarada en la documentación: constante «c00pab2019»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# calcular un resumen y comparar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echo -n "candidata"            | openssl dgst -sha1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echo -n "candidatac00pab2019"  | openssl dgst -sha1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4279392"/>
            <a:ext cx="45720" cy="713232"/>
          </a:xfrm>
          <a:prstGeom prst="rect">
            <a:avLst/>
          </a:prstGeom>
          <a:solidFill>
            <a:srgbClr val="F36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297680"/>
            <a:ext cx="107807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F36406"/>
                </a:solidFill>
                <a:latin typeface="Consolas"/>
              </a:rPr>
              <a:t>// LA PREGUNTA QUE ORDENA TODO EL EJERCICIO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535424"/>
            <a:ext cx="10780776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>
                <a:solidFill>
                  <a:srgbClr val="2A2A2A"/>
                </a:solidFill>
                <a:latin typeface="Arial"/>
              </a:rPr>
              <a:t>¿Cuál de las dos órdenes de arriba reproduce los resúmenes de la tabla? La respuesta decide si la sal se está aplicando o solo está documentada, y esa diferencia es un hallazgo con nombre propio.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43 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0">
                <a:solidFill>
                  <a:srgbClr val="000000"/>
                </a:solidFill>
                <a:latin typeface="Arial Black"/>
              </a:rPr>
              <a:t>LABORATORIO 3 · EL EJERCICIO EN PYTHON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Los ejercicios 2 y 3 hechos con la biblioteca estándar: confirmar si la sal declarada se aplicó, y medir cuánto cuesta un intento con factor de trabajo.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04287"/>
            <a:ext cx="11055096" cy="2677363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395727"/>
            <a:ext cx="106527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50">
                <a:solidFill>
                  <a:srgbClr val="3A3A3A"/>
                </a:solidFill>
                <a:latin typeface="Consolas"/>
              </a:rPr>
              <a:t>LABORATORIO 3 · PYTHON 3, SOLO BIBLIOTECA ESTÁNDAR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633471"/>
            <a:ext cx="10652760" cy="2256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import hashlib, time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objetivo = "5baa61e4c9b93f3f0682250b6cf8331b7ee68fd8"          # usuario_a y usuario_c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for clave in open("comunes.txt", encoding="utf-8").read().split():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    if hashlib.sha1(clave.encode()).hexdigest() == objetivo: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        print("coincide SIN sal:", clave)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    if hashlib.sha1((clave + "c00pab2019").encode()).hexdigest() == objetivo: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        print("coincide CON la sal declarada:", clave)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t = time.perf_counter()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hashlib.scrypt(b"candidata", salt=b"sal-unica-16-bytes", n=2**14, r=8, p=1)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Consolas"/>
              </a:rPr>
              <a:t>print(round(time.perf_counter() - t, 3), "segundos por intento")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5237683"/>
            <a:ext cx="45720" cy="777240"/>
          </a:xfrm>
          <a:prstGeom prst="rect">
            <a:avLst/>
          </a:prstGeom>
          <a:solidFill>
            <a:srgbClr val="F36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5255971"/>
            <a:ext cx="107807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F36406"/>
                </a:solidFill>
                <a:latin typeface="Consolas"/>
              </a:rPr>
              <a:t>// LO QUE VA EN EL INFORME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5493715"/>
            <a:ext cx="10780776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>
                <a:solidFill>
                  <a:srgbClr val="2A2A2A"/>
                </a:solidFill>
                <a:latin typeface="Arial"/>
              </a:rPr>
              <a:t>¿Con cuál de las dos condiciones coincidió? Esa sola línea confirma o desmiente la documentación de la fábrica de software. </a:t>
            </a:r>
            <a:r>
              <a:rPr sz="1150" b="1">
                <a:solidFill>
                  <a:srgbClr val="2A2A2A"/>
                </a:solidFill>
                <a:latin typeface="Arial"/>
              </a:rPr>
              <a:t>Y extrapolen: ¿cuántos años tomaría recorrer la misma lista si cada intento costara lo que costó scrypt?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44  EVALUACIÓN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0">
                <a:solidFill>
                  <a:srgbClr val="000000"/>
                </a:solidFill>
                <a:latin typeface="Arial Black"/>
              </a:rPr>
              <a:t>PRIMERA EVALUACIÓN DE CONOCIMIENTO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Veinte minutos, individual, sin material. Cubre las sesiones 1 a 3 y vale el 15 % de la nota del módulo. Estos son los temas, para que nadie estudie de más ni de menos.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04287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423159"/>
            <a:ext cx="337303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TEMA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4558" y="2423159"/>
            <a:ext cx="735287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QUÉ HAY QUE SABER HACER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715767"/>
            <a:ext cx="11055096" cy="91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825495"/>
            <a:ext cx="337303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Los cuatro servicios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04558" y="2825495"/>
            <a:ext cx="735287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Dada una situación, decir cuál falló y con qué mecanismo se habría evitado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172967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264407"/>
            <a:ext cx="337303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Entropía y generación de llaves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04558" y="3264407"/>
            <a:ext cx="735287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Distinguir un generador adecuado de uno que no lo es, y estimar entropía real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611879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03319"/>
            <a:ext cx="337303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Modos de operación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4558" y="3703319"/>
            <a:ext cx="735287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Elegir el modo correcto y justificarlo. Reconocer el problema de ECB y el de repetir el vector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050791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4142231"/>
            <a:ext cx="337303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Los tres estados del dato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04558" y="4142231"/>
            <a:ext cx="735287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Decir qué protege cada mecanismo y contra qué amenaza concreta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489703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4581143"/>
            <a:ext cx="337303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Resúmenes y HMAC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04558" y="4581143"/>
            <a:ext cx="735287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Diferenciar integridad, autenticidad y no repudio, y saber cuál da cada mecanismo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4928616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5020055"/>
            <a:ext cx="337303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Contraseñas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04558" y="5020055"/>
            <a:ext cx="735287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Explicar por qué no se cifran, qué hace la sal y para qué sirve el factor de trabajo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5367528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5422392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45  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0">
                <a:solidFill>
                  <a:srgbClr val="000000"/>
                </a:solidFill>
                <a:latin typeface="Arial Black"/>
              </a:rPr>
              <a:t>LO QUE LLEVAMOS DE LA SESIÓN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00200"/>
            <a:ext cx="5669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F36406"/>
                </a:solidFill>
                <a:latin typeface="Arial Black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618488"/>
            <a:ext cx="1034186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Un resumen no autentica a nadie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856232"/>
            <a:ext cx="1034186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2A2A2A"/>
                </a:solidFill>
                <a:latin typeface="Arial"/>
              </a:rPr>
              <a:t>Detecta accidentes, no adversarios. Cualquiera puede recalcularlo.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313432"/>
            <a:ext cx="5669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F36406"/>
                </a:solidFill>
                <a:latin typeface="Arial Black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331720"/>
            <a:ext cx="1034186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MD5 y SHA-1 están rotos y siguen en producción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569464"/>
            <a:ext cx="1034186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2A2A2A"/>
                </a:solidFill>
                <a:latin typeface="Arial"/>
              </a:rPr>
              <a:t>Coopaburrá guarda 142.000 contraseñas con SHA-1.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026664"/>
            <a:ext cx="5669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F36406"/>
                </a:solidFill>
                <a:latin typeface="Arial Black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044952"/>
            <a:ext cx="1034186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HMAC da autenticidad pero nunca no repudio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282696"/>
            <a:ext cx="1034186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2A2A2A"/>
                </a:solidFill>
                <a:latin typeface="Arial"/>
              </a:rPr>
              <a:t>Porque las dos partes conocen la llave. Ningún ajuste lo cambia.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739896"/>
            <a:ext cx="5669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F36406"/>
                </a:solidFill>
                <a:latin typeface="Arial Black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758183"/>
            <a:ext cx="1034186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Una contraseña no se cifra ni se resume a secas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995928"/>
            <a:ext cx="1034186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2A2A2A"/>
                </a:solidFill>
                <a:latin typeface="Arial"/>
              </a:rPr>
              <a:t>Se deriva con una función lenta a propósito, con sal única por usuario.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453128"/>
            <a:ext cx="5669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F36406"/>
                </a:solidFill>
                <a:latin typeface="Arial Black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471416"/>
            <a:ext cx="1034186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La sal constante de Coopaburrá no es una sal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709160"/>
            <a:ext cx="1034186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2A2A2A"/>
                </a:solidFill>
                <a:latin typeface="Arial"/>
              </a:rPr>
              <a:t>Es un sufijo, y no impide el ataque que de verdad importa.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46 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0">
                <a:solidFill>
                  <a:srgbClr val="000000"/>
                </a:solidFill>
                <a:latin typeface="Arial Black"/>
              </a:rPr>
              <a:t>TERCERA PARTE DEL PRODUCTO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Se entrega al inicio de la sesión 4: rediseño del almacenamiento de contraseñas y de la firma de operaciones. Hallazgos H1 y H2.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066543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185415"/>
            <a:ext cx="293083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SECCIÓN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2354" y="2185415"/>
            <a:ext cx="779507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QUÉ DEBE CONTENER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478023"/>
            <a:ext cx="11055096" cy="91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587751"/>
            <a:ext cx="293083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Diagnóstico de H1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2354" y="2587751"/>
            <a:ext cx="779507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Qué algoritmo se usa, qué permite exactamente y qué demostró el laboratorio sobre la sal declarada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008375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5"/>
            <a:ext cx="293083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Rediseño del almacenamiento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62354" y="3099815"/>
            <a:ext cx="779507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Función elegida, parámetros propuestos y cómo se calibraron. Con nombre de responsable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520439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611879"/>
            <a:ext cx="2930834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Plan de transición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62354" y="3611879"/>
            <a:ext cx="7795077" cy="4849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No se pueden reconvertir 142.000 contraseñas sin conocerlas. ¿Cómo se migra sin pedirle a todo el mundo que cambie la suya el mismo día?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060301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4151741"/>
            <a:ext cx="293083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Diagnóstico de H2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62354" y="4151741"/>
            <a:ext cx="779507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Por qué el mecanismo actual no puede dar no repudio, con el argumento técnico, no solo la conclusión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572365"/>
            <a:ext cx="11055096" cy="731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4627229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4928981"/>
            <a:ext cx="45720" cy="685800"/>
          </a:xfrm>
          <a:prstGeom prst="rect">
            <a:avLst/>
          </a:prstGeom>
          <a:solidFill>
            <a:srgbClr val="F36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4947269"/>
            <a:ext cx="107807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F36406"/>
                </a:solidFill>
                <a:latin typeface="Consolas"/>
              </a:rPr>
              <a:t>// LA PARTE DIFÍCIL ES LA TERCERA FILA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" y="5185013"/>
            <a:ext cx="1078077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>
                <a:solidFill>
                  <a:srgbClr val="2A2A2A"/>
                </a:solidFill>
                <a:latin typeface="Arial"/>
              </a:rPr>
              <a:t>Migrar contraseñas es el problema clásico: no se conocen las actuales, así que no se pueden volver a derivar. Hay una solución estándar y elegante, y encontrarla es parte del ejercicio.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47  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300" b="0">
                <a:solidFill>
                  <a:srgbClr val="000000"/>
                </a:solidFill>
                <a:latin typeface="Arial Black"/>
              </a:rPr>
              <a:t>TRABAJO INDEPENDIENTE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300" b="0">
                <a:solidFill>
                  <a:srgbClr val="000000"/>
                </a:solidFill>
                <a:latin typeface="Arial Black"/>
              </a:rPr>
              <a:t>HASTA LA SESIÓN 4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54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792224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920240"/>
            <a:ext cx="350215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0">
                <a:solidFill>
                  <a:srgbClr val="000000"/>
                </a:solidFill>
                <a:latin typeface="Arial Black"/>
              </a:rPr>
              <a:t>9 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523744"/>
            <a:ext cx="350215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TOTAL ENTRE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MARTES Y JUEVES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42232" y="1901952"/>
            <a:ext cx="9144" cy="9875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920240"/>
            <a:ext cx="350215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0">
                <a:solidFill>
                  <a:srgbClr val="000000"/>
                </a:solidFill>
                <a:latin typeface="Arial Black"/>
              </a:rPr>
              <a:t>3 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523744"/>
            <a:ext cx="350215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LECTURA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PREVIA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27264" y="1901952"/>
            <a:ext cx="9144" cy="9875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6992" y="1920240"/>
            <a:ext cx="350215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0">
                <a:solidFill>
                  <a:srgbClr val="F36406"/>
                </a:solidFill>
                <a:latin typeface="Arial Black"/>
              </a:rPr>
              <a:t>6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6992" y="2523744"/>
            <a:ext cx="350215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ENTREGA 3 E INFORME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30" b="1" spc="130">
                <a:solidFill>
                  <a:srgbClr val="3A3A3A"/>
                </a:solidFill>
                <a:latin typeface="Consolas"/>
              </a:rPr>
              <a:t>DEL LABORATORIO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962656"/>
            <a:ext cx="11055096" cy="274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191256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Arial"/>
              </a:rPr>
              <a:t>Lectura previa · 3 horas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520439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RFC 2104 y RFC 5869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01568" y="3520439"/>
            <a:ext cx="81838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2A2A2A"/>
                </a:solidFill>
                <a:latin typeface="Arial"/>
              </a:rPr>
              <a:t>HMAC y HKDF: los dos documentos cortos que definen cómo se autentica un mensaje y cómo se derivan llaves. Una hora.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014215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4105655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Katz y Lindell (2020)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1568" y="4105655"/>
            <a:ext cx="81838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2A2A2A"/>
                </a:solidFill>
                <a:latin typeface="Arial"/>
              </a:rPr>
              <a:t>El capítulo de gestión de llaves y la revolución de la llave pública: Diffie-Hellman y el problema que resuelve. 1,5 horas.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599431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4690871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Ley 527 de 1999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01568" y="4690871"/>
            <a:ext cx="81838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2A2A2A"/>
                </a:solidFill>
                <a:latin typeface="Arial"/>
              </a:rPr>
              <a:t>Artículos 2, 5 a 13 y 28: mensaje de datos, firma y firma digital. Media hora. Se discute el jueves en el bloque 8.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5184647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5321808"/>
            <a:ext cx="45720" cy="786384"/>
          </a:xfrm>
          <a:prstGeom prst="rect">
            <a:avLst/>
          </a:prstGeom>
          <a:solidFill>
            <a:srgbClr val="F36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5340096"/>
            <a:ext cx="107807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F36406"/>
                </a:solidFill>
                <a:latin typeface="Consolas"/>
              </a:rPr>
              <a:t>// CONDICIÓN DE ENTRADA A LA SESIÓN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5577840"/>
            <a:ext cx="10780776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>
                <a:solidFill>
                  <a:srgbClr val="2A2A2A"/>
                </a:solidFill>
                <a:latin typeface="Arial"/>
              </a:rPr>
              <a:t>El jueves se asume leído el artículo 28 de la Ley 527: la discusión del bloque 8 parte de sus cinco atributos. Las 6 horas de elaboración son la entrega 3 (5 h, en equipo) y el informe del laboratorio (1 h).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48  ADELANTO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0">
                <a:solidFill>
                  <a:srgbClr val="000000"/>
                </a:solidFill>
                <a:latin typeface="Arial Black"/>
              </a:rPr>
              <a:t>LO QUE VIENE EL JUEVES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110550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2A2A2A"/>
                </a:solidFill>
                <a:latin typeface="Arial"/>
              </a:rPr>
              <a:t>Sesión 4: criptografía de llave pública y firma digital. Es la sesión que resuelve el problema que hoy solo diagnosticamos.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066543"/>
            <a:ext cx="5353812" cy="1874519"/>
          </a:xfrm>
          <a:prstGeom prst="rect">
            <a:avLst/>
          </a:prstGeom>
          <a:solidFill>
            <a:srgbClr val="FFFFFF"/>
          </a:solidFill>
          <a:ln w="177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176272"/>
            <a:ext cx="49149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000000"/>
                </a:solidFill>
                <a:latin typeface="Consolas"/>
              </a:rPr>
              <a:t>// BLOQUE 1 · DOS LLAVES EN LUGAR DE UNA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395727"/>
            <a:ext cx="4914900" cy="14173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El problema del intercambio de llaves y cómo lo resuelve la llave pública.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RSA y curvas elípticas: por qué las segundas desplazaron a la primera.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Firma digital: el único mecanismo que da no repudio, y por qué.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8212" y="2066543"/>
            <a:ext cx="5353812" cy="1874519"/>
          </a:xfrm>
          <a:prstGeom prst="rect">
            <a:avLst/>
          </a:prstGeom>
          <a:solidFill>
            <a:srgbClr val="FFFFFF"/>
          </a:solidFill>
          <a:ln w="177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176272"/>
            <a:ext cx="49149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000000"/>
                </a:solidFill>
                <a:latin typeface="Consolas"/>
              </a:rPr>
              <a:t>// BLOQUE 2 · EL VALOR PROBATORIO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7668" y="2395727"/>
            <a:ext cx="4914900" cy="14173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La Ley 527 y qué hace que una firma electrónica sea confiable ante un juez.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El hallazgo H7: veinte años de hipotecas firmadas con una imagen escaneada.</a:t>
            </a:r>
          </a:p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000000"/>
                </a:solidFill>
                <a:latin typeface="Arial"/>
              </a:rPr>
              <a:t>Laboratorio: firmar, verificar y comparar el costo de RSA frente a curvas elípticas.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49  GLOSARIO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0">
                <a:solidFill>
                  <a:srgbClr val="000000"/>
                </a:solidFill>
                <a:latin typeface="Arial Black"/>
              </a:rPr>
              <a:t>SIGLAS DE LA SESIÓN · 1 DE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56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481328"/>
            <a:ext cx="5349240" cy="768096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572768"/>
            <a:ext cx="49834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Arial Black"/>
              </a:rPr>
              <a:t>AES / ECB / CBC / GCM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828800"/>
            <a:ext cx="4983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2A2A2A"/>
                </a:solidFill>
                <a:latin typeface="Arial"/>
              </a:rPr>
              <a:t>Advanced Encryption Standard y sus modos: Electronic Codebook, Cipher Block Chaining, Galois/Counter Mode. Sesión 2.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40864"/>
            <a:ext cx="5349240" cy="768096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432304"/>
            <a:ext cx="49834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Arial Black"/>
              </a:rPr>
              <a:t>FIDO2 / WebAuthn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688336"/>
            <a:ext cx="4983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2A2A2A"/>
                </a:solidFill>
                <a:latin typeface="Arial"/>
              </a:rPr>
              <a:t>Fast IDentity Online 2 / Web Authentication — Estándares de las llaves de acceso: una pareja de llaves por sitio.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00400"/>
            <a:ext cx="5349240" cy="768096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291840"/>
            <a:ext cx="49834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Arial Black"/>
              </a:rPr>
              <a:t>FIPS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547872"/>
            <a:ext cx="4983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2A2A2A"/>
                </a:solidFill>
                <a:latin typeface="Arial"/>
              </a:rPr>
              <a:t>Federal Information Processing Standards — Normas federales de procesamiento de información de Estados Unidos, del NIST.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059935"/>
            <a:ext cx="5349240" cy="768096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151375"/>
            <a:ext cx="49834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Arial Black"/>
              </a:rPr>
              <a:t>HKDF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407407"/>
            <a:ext cx="4983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2A2A2A"/>
                </a:solidFill>
                <a:latin typeface="Arial"/>
              </a:rPr>
              <a:t>HMAC-based Key Derivation Function — Deriva varias llaves de un secreto de alta entropía. RFC 5869.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919472"/>
            <a:ext cx="5349240" cy="768096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010912"/>
            <a:ext cx="49834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Arial Black"/>
              </a:rPr>
              <a:t>HMAC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5266944"/>
            <a:ext cx="4983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2A2A2A"/>
                </a:solidFill>
                <a:latin typeface="Arial"/>
              </a:rPr>
              <a:t>Hash-based Message Authentication Code — Código de autenticación de mensajes basado en una función resumen. RFC 2104.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2784" y="1481328"/>
            <a:ext cx="5349240" cy="768096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5664" y="1572768"/>
            <a:ext cx="49834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Arial Black"/>
              </a:rPr>
              <a:t>IETF / RFC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5664" y="1828800"/>
            <a:ext cx="4983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2A2A2A"/>
                </a:solidFill>
                <a:latin typeface="Arial"/>
              </a:rPr>
              <a:t>Internet Engineering Task Force / Request for Comments — El organismo de estándares de internet y su serie de documentos.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72784" y="2340864"/>
            <a:ext cx="5349240" cy="768096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55664" y="2432304"/>
            <a:ext cx="49834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Arial Black"/>
              </a:rPr>
              <a:t>MD5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55664" y="2688336"/>
            <a:ext cx="4983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2A2A2A"/>
                </a:solidFill>
                <a:latin typeface="Arial"/>
              </a:rPr>
              <a:t>Message Digest 5 — Función resumen de 128 bits de 1992, rota por colisiones desde 2004.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2784" y="3200400"/>
            <a:ext cx="5349240" cy="768096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55664" y="3291840"/>
            <a:ext cx="49834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Arial Black"/>
              </a:rPr>
              <a:t>MiB / RAM / TB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55664" y="3547872"/>
            <a:ext cx="4983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2A2A2A"/>
                </a:solidFill>
                <a:latin typeface="Arial"/>
              </a:rPr>
              <a:t>Mebibyte, 2²⁰ bytes / Random Access Memory, memoria de trabajo / Terabyte. Argon2id se calibra en MiB de RAM.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72784" y="4059935"/>
            <a:ext cx="5349240" cy="768096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55664" y="4151375"/>
            <a:ext cx="49834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Arial Black"/>
              </a:rPr>
              <a:t>NIST / SP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5664" y="4407407"/>
            <a:ext cx="4983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2A2A2A"/>
                </a:solidFill>
                <a:latin typeface="Arial"/>
              </a:rPr>
              <a:t>National Institute of Standards and Technology / Special Publication — El instituto de normas de Estados Unidos y su serie técnica.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72784" y="4919472"/>
            <a:ext cx="5349240" cy="768096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55664" y="5010912"/>
            <a:ext cx="49834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Arial Black"/>
              </a:rPr>
              <a:t>OWASP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5266944"/>
            <a:ext cx="4983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2A2A2A"/>
                </a:solidFill>
                <a:latin typeface="Arial"/>
              </a:rPr>
              <a:t>Open Worldwide Application Security Project — Fundación que publica guías abiertas de seguridad de aplicaciones.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5815584"/>
            <a:ext cx="11055096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2A2A2A"/>
                </a:solidFill>
                <a:latin typeface="Arial"/>
              </a:rPr>
              <a:t>Toda sigla utilizada en la sesión aparece en el glosario con su forma completa en el idioma original y su equivalencia en español.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50  GLOSARIO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0">
                <a:solidFill>
                  <a:srgbClr val="000000"/>
                </a:solidFill>
                <a:latin typeface="Arial Black"/>
              </a:rPr>
              <a:t>SIGLAS DE LA SESIÓN · 2 DE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57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481328"/>
            <a:ext cx="5349240" cy="768096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572768"/>
            <a:ext cx="49834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Arial Black"/>
              </a:rPr>
              <a:t>PDF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828800"/>
            <a:ext cx="4983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2A2A2A"/>
                </a:solidFill>
                <a:latin typeface="Arial"/>
              </a:rPr>
              <a:t>Portable Document Format — Formato de documento. La colisión de SHA-1 de 2017 se demostró con dos PDF distintos.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40864"/>
            <a:ext cx="5349240" cy="768096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432304"/>
            <a:ext cx="49834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Arial Black"/>
              </a:rPr>
              <a:t>RSA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688336"/>
            <a:ext cx="4983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2A2A2A"/>
                </a:solidFill>
                <a:latin typeface="Arial"/>
              </a:rPr>
              <a:t>Rivest, Shamir y Adleman — Algoritmo de llave pública de 1977. Sesión 4.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00400"/>
            <a:ext cx="5349240" cy="768096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291840"/>
            <a:ext cx="49834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Arial Black"/>
              </a:rPr>
              <a:t>SHA-1 / SHA-2 / SHA-256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547872"/>
            <a:ext cx="4983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2A2A2A"/>
                </a:solidFill>
                <a:latin typeface="Arial"/>
              </a:rPr>
              <a:t>Secure Hash Algorithm — Funciones resumen del NIST. SHA-256 es la variante de 256 bits de la familia SHA-2.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059935"/>
            <a:ext cx="5349240" cy="768096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151375"/>
            <a:ext cx="49834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Arial Black"/>
              </a:rPr>
              <a:t>SHA-3 / SHAKE128 / SHAKE256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407407"/>
            <a:ext cx="4983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2A2A2A"/>
                </a:solidFill>
                <a:latin typeface="Arial"/>
              </a:rPr>
              <a:t>La familia de 2015 basada en la construcción de esponja. SHAKE entrega salidas de la longitud que se pida.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919472"/>
            <a:ext cx="5349240" cy="768096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010912"/>
            <a:ext cx="49834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Arial Black"/>
              </a:rPr>
              <a:t>SIM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5266944"/>
            <a:ext cx="4983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2A2A2A"/>
                </a:solidFill>
                <a:latin typeface="Arial"/>
              </a:rPr>
              <a:t>Subscriber Identity Module — La tarjeta que identifica una línea móvil. Su duplicado fraudulento permite recibir los códigos de otro.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2784" y="1481328"/>
            <a:ext cx="5349240" cy="768096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5664" y="1572768"/>
            <a:ext cx="49834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Arial Black"/>
              </a:rPr>
              <a:t>SQL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5664" y="1828800"/>
            <a:ext cx="4983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2A2A2A"/>
                </a:solidFill>
                <a:latin typeface="Arial"/>
              </a:rPr>
              <a:t>Structured Query Language — Lenguaje de bases de datos. Una inyección de SQL puede extraer la base completa.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72784" y="2340864"/>
            <a:ext cx="5349240" cy="768096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55664" y="2432304"/>
            <a:ext cx="49834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Arial Black"/>
              </a:rPr>
              <a:t>CRYPTO / LNCS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55664" y="2688336"/>
            <a:ext cx="4983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2A2A2A"/>
                </a:solidFill>
                <a:latin typeface="Arial"/>
              </a:rPr>
              <a:t>Conferencia internacional anual de criptografía / Lecture Notes in Computer Science, la serie donde se publican sus actas.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2784" y="3200400"/>
            <a:ext cx="5349240" cy="768096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55664" y="3291840"/>
            <a:ext cx="49834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Arial Black"/>
              </a:rPr>
              <a:t>JWT / HS256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55664" y="3547872"/>
            <a:ext cx="4983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2A2A2A"/>
                </a:solidFill>
                <a:latin typeface="Arial"/>
              </a:rPr>
              <a:t>JSON Web Token / HMAC con SHA-256 — Formato de token de sesión y su variante autenticada con llave compartida.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5815584"/>
            <a:ext cx="11055096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2A2A2A"/>
                </a:solidFill>
                <a:latin typeface="Arial"/>
              </a:rPr>
              <a:t>Toda sigla utilizada en la sesión aparece en el glosario con su forma completa en el idioma original y su equivalencia en español.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65760"/>
            <a:ext cx="11055096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12064"/>
            <a:ext cx="11055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spc="240">
                <a:solidFill>
                  <a:srgbClr val="5C5C5C"/>
                </a:solidFill>
                <a:latin typeface="Consolas"/>
              </a:rPr>
              <a:t>// 51  FUENTES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0">
                <a:solidFill>
                  <a:srgbClr val="000000"/>
                </a:solidFill>
                <a:latin typeface="Arial Black"/>
              </a:rPr>
              <a:t>REFERENCIAS DE LA SESIÓN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36792"/>
            <a:ext cx="566928" cy="246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634593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spc="150">
                <a:solidFill>
                  <a:srgbClr val="707070"/>
                </a:solidFill>
                <a:latin typeface="Consolas"/>
              </a:rPr>
              <a:t>SIO0010 · TÉCNICAS CRIPTOGRÁFICAS · SESIÓN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4744" y="627278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Black"/>
              </a:rPr>
              <a:t>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72768"/>
            <a:ext cx="2331720" cy="4180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NIST. (2015).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81528" y="1572768"/>
            <a:ext cx="5074920" cy="4180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FIPS 180-4: Secure Hash Standard y FIPS 202: SHA-3 Standard.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5048" y="1572768"/>
            <a:ext cx="3200400" cy="4180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2A2A2A"/>
                </a:solidFill>
                <a:latin typeface="Arial"/>
              </a:rPr>
              <a:t>Las familias SHA-2 y SHA-3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990779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082219"/>
            <a:ext cx="2331720" cy="4180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Krawczyk, H., Bellare, M. y Canetti, R. (1997).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81528" y="2082219"/>
            <a:ext cx="5074920" cy="4180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RFC 2104: HMAC: Keyed-hashing for message authentication. IETF.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5048" y="2082219"/>
            <a:ext cx="3200400" cy="4180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2A2A2A"/>
                </a:solidFill>
                <a:latin typeface="Arial"/>
              </a:rPr>
              <a:t>La construcción anidada · lectura previa de la sesión 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500230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591670"/>
            <a:ext cx="2331720" cy="4180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Krawczyk, H. y Eronen, P. (2010).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81528" y="2591670"/>
            <a:ext cx="5074920" cy="4180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RFC 5869: HMAC-based extract-and-expand key derivation function (HKDF). IETF.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2591670"/>
            <a:ext cx="3200400" cy="4180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2A2A2A"/>
                </a:solidFill>
                <a:latin typeface="Arial"/>
              </a:rPr>
              <a:t>Derivar varias llaves de un secreto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009682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3101122"/>
            <a:ext cx="2331720" cy="4180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Biryukov, A. et al. (2021).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1528" y="3101122"/>
            <a:ext cx="5074920" cy="4180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RFC 9106: Argon2 memory-hard function for password hashing and proof-of-work applications. IETF.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5048" y="3101122"/>
            <a:ext cx="3200400" cy="4180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2A2A2A"/>
                </a:solidFill>
                <a:latin typeface="Arial"/>
              </a:rPr>
              <a:t>Parámetros recomendados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519133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610573"/>
            <a:ext cx="2331720" cy="4180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Stevens, M. et al. (2017).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81528" y="3610573"/>
            <a:ext cx="5074920" cy="4180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The first collision for full SHA-1. CRYPTO 2017, LNCS 10401, 570–596.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5048" y="3610573"/>
            <a:ext cx="3200400" cy="4180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2A2A2A"/>
                </a:solidFill>
                <a:latin typeface="Arial"/>
              </a:rPr>
              <a:t>La colisión práctica de SHA-1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4028585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4120025"/>
            <a:ext cx="2331720" cy="4180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OWASP. (s. f.).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81528" y="4120025"/>
            <a:ext cx="5074920" cy="4180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Password Storage Cheat Sheet. OWASP Cheat Sheet Series.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5048" y="4120025"/>
            <a:ext cx="3200400" cy="4180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2A2A2A"/>
                </a:solidFill>
                <a:latin typeface="Arial"/>
              </a:rPr>
              <a:t>Argon2id, pimienta y migración de resúmenes heredados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4538036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4629476"/>
            <a:ext cx="2331720" cy="4180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NIST. (revisión vigente).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81528" y="4629476"/>
            <a:ext cx="5074920" cy="4180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SP 800-63B: Digital identity guidelines — Authentication.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5048" y="4629476"/>
            <a:ext cx="3200400" cy="4180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2A2A2A"/>
                </a:solidFill>
                <a:latin typeface="Arial"/>
              </a:rPr>
              <a:t>Verificadores memorizados: longitud, listas de bloqueo y rotación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5047488"/>
            <a:ext cx="11055096" cy="914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" y="5321808"/>
            <a:ext cx="45720" cy="786384"/>
          </a:xfrm>
          <a:prstGeom prst="rect">
            <a:avLst/>
          </a:prstGeom>
          <a:solidFill>
            <a:srgbClr val="F36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4672" y="5340096"/>
            <a:ext cx="107807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spc="190">
                <a:solidFill>
                  <a:srgbClr val="F36406"/>
                </a:solidFill>
                <a:latin typeface="Consolas"/>
              </a:rPr>
              <a:t>// ACCESO A LAS FUENTES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2" y="5577840"/>
            <a:ext cx="10780776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>
                <a:solidFill>
                  <a:srgbClr val="2A2A2A"/>
                </a:solidFill>
                <a:latin typeface="Arial"/>
              </a:rPr>
              <a:t>Las publicaciones del NIST, los RFC y la guía de OWASP son de acceso libre. El artículo de CRYPTO se consulta en las bases de datos de la Institución.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