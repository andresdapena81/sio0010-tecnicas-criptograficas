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1.png"/>
          <p:cNvPicPr>
            <a:picLocks noChangeAspect="1"/>
          </p:cNvPicPr>
          <p:nvPr/>
        </p:nvPicPr>
        <p:blipFill>
          <a:blip r:embed="rId2"/>
          <a:stretch>
            <a:fillRect/>
          </a:stretch>
        </p:blipFill>
        <p:spPr>
          <a:xfrm>
            <a:off x="566928" y="502920"/>
            <a:ext cx="1417320" cy="612648"/>
          </a:xfrm>
          <a:prstGeom prst="rect">
            <a:avLst/>
          </a:prstGeom>
        </p:spPr>
      </p:pic>
      <p:sp>
        <p:nvSpPr>
          <p:cNvPr id="3" name="Rectangle 2"/>
          <p:cNvSpPr/>
          <p:nvPr/>
        </p:nvSpPr>
        <p:spPr>
          <a:xfrm>
            <a:off x="566928" y="1783080"/>
            <a:ext cx="11055096"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75104"/>
            <a:ext cx="11055096" cy="237744"/>
          </a:xfrm>
          <a:prstGeom prst="rect">
            <a:avLst/>
          </a:prstGeom>
          <a:noFill/>
        </p:spPr>
        <p:txBody>
          <a:bodyPr wrap="square" lIns="0" rIns="0" tIns="0" bIns="0">
            <a:spAutoFit/>
          </a:bodyPr>
          <a:lstStyle/>
          <a:p>
            <a:pPr algn="l">
              <a:spcAft>
                <a:spcPts val="0"/>
              </a:spcAft>
            </a:pPr>
            <a:r>
              <a:rPr sz="850" b="1" spc="220">
                <a:solidFill>
                  <a:srgbClr val="5C5C5C"/>
                </a:solidFill>
                <a:latin typeface="Consolas"/>
              </a:rPr>
              <a:t>SESIÓN 4 DE 6 · 5 HORAS · BLOQUE 7: 2H15 · DESCANSO 30 MIN · BLOQUE 8: 2H15</a:t>
            </a:r>
          </a:p>
        </p:txBody>
      </p:sp>
      <p:sp>
        <p:nvSpPr>
          <p:cNvPr id="5" name="TextBox 4"/>
          <p:cNvSpPr txBox="1"/>
          <p:nvPr/>
        </p:nvSpPr>
        <p:spPr>
          <a:xfrm>
            <a:off x="566928" y="2286000"/>
            <a:ext cx="9601200" cy="2148840"/>
          </a:xfrm>
          <a:prstGeom prst="rect">
            <a:avLst/>
          </a:prstGeom>
          <a:noFill/>
        </p:spPr>
        <p:txBody>
          <a:bodyPr wrap="square" lIns="0" rIns="0" tIns="0" bIns="0">
            <a:spAutoFit/>
          </a:bodyPr>
          <a:lstStyle/>
          <a:p>
            <a:pPr algn="l">
              <a:lnSpc>
                <a:spcPct val="105000"/>
              </a:lnSpc>
              <a:spcAft>
                <a:spcPts val="0"/>
              </a:spcAft>
            </a:pPr>
            <a:r>
              <a:rPr sz="4000" b="0">
                <a:solidFill>
                  <a:srgbClr val="000000"/>
                </a:solidFill>
                <a:latin typeface="Arial Black"/>
              </a:rPr>
              <a:t>LLAVE PÚBLICA</a:t>
            </a:r>
          </a:p>
          <a:p>
            <a:pPr algn="l">
              <a:lnSpc>
                <a:spcPct val="105000"/>
              </a:lnSpc>
              <a:spcAft>
                <a:spcPts val="0"/>
              </a:spcAft>
            </a:pPr>
            <a:r>
              <a:rPr sz="4000" b="0">
                <a:solidFill>
                  <a:srgbClr val="000000"/>
                </a:solidFill>
                <a:latin typeface="Arial Black"/>
              </a:rPr>
              <a:t>Y FIRMA DIGITAL</a:t>
            </a:r>
          </a:p>
        </p:txBody>
      </p:sp>
      <p:sp>
        <p:nvSpPr>
          <p:cNvPr id="6" name="Rectangle 5"/>
          <p:cNvSpPr/>
          <p:nvPr/>
        </p:nvSpPr>
        <p:spPr>
          <a:xfrm>
            <a:off x="566928" y="4590288"/>
            <a:ext cx="1554480" cy="5486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10424160" cy="365760"/>
          </a:xfrm>
          <a:prstGeom prst="rect">
            <a:avLst/>
          </a:prstGeom>
          <a:noFill/>
        </p:spPr>
        <p:txBody>
          <a:bodyPr wrap="square" lIns="0" rIns="0" tIns="0" bIns="0">
            <a:spAutoFit/>
          </a:bodyPr>
          <a:lstStyle/>
          <a:p>
            <a:pPr algn="l">
              <a:spcAft>
                <a:spcPts val="0"/>
              </a:spcAft>
            </a:pPr>
            <a:r>
              <a:rPr sz="1400" b="1">
                <a:solidFill>
                  <a:srgbClr val="000000"/>
                </a:solidFill>
                <a:latin typeface="Arial"/>
              </a:rPr>
              <a:t>¿CÓMO SE PRUEBA, ANTE UN JUEZ, QUE UNA OPERACIÓN LA AUTORIZÓ SU TITULAR?</a:t>
            </a:r>
          </a:p>
        </p:txBody>
      </p:sp>
      <p:sp>
        <p:nvSpPr>
          <p:cNvPr id="8" name="TextBox 7"/>
          <p:cNvSpPr txBox="1"/>
          <p:nvPr/>
        </p:nvSpPr>
        <p:spPr>
          <a:xfrm>
            <a:off x="566928" y="5285232"/>
            <a:ext cx="10424160" cy="502920"/>
          </a:xfrm>
          <a:prstGeom prst="rect">
            <a:avLst/>
          </a:prstGeom>
          <a:noFill/>
        </p:spPr>
        <p:txBody>
          <a:bodyPr wrap="square" lIns="0" rIns="0" tIns="0" bIns="0">
            <a:spAutoFit/>
          </a:bodyPr>
          <a:lstStyle/>
          <a:p>
            <a:pPr algn="l">
              <a:lnSpc>
                <a:spcPct val="125000"/>
              </a:lnSpc>
              <a:spcAft>
                <a:spcPts val="0"/>
              </a:spcAft>
            </a:pPr>
            <a:r>
              <a:rPr sz="1100" b="0">
                <a:solidFill>
                  <a:srgbClr val="5C5C5C"/>
                </a:solidFill>
                <a:latin typeface="Arial"/>
              </a:rPr>
              <a:t>SIO0010 · Técnicas Criptográficas · Especialización en Seguridad de la Información de las Organizaciones · Facultad de Ingeniería · Institución Universitaria de Envigado</a:t>
            </a:r>
          </a:p>
        </p:txBody>
      </p:sp>
      <p:sp>
        <p:nvSpPr>
          <p:cNvPr id="9" name="Rectangle 8"/>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1.png"/>
          <p:cNvPicPr>
            <a:picLocks noChangeAspect="1"/>
          </p:cNvPicPr>
          <p:nvPr/>
        </p:nvPicPr>
        <p:blipFill>
          <a:blip r:embed="rId2"/>
          <a:stretch>
            <a:fillRect/>
          </a:stretch>
        </p:blipFill>
        <p:spPr>
          <a:xfrm>
            <a:off x="566928" y="6336792"/>
            <a:ext cx="566928" cy="246888"/>
          </a:xfrm>
          <a:prstGeom prst="rect">
            <a:avLst/>
          </a:prstGeom>
        </p:spPr>
      </p:pic>
      <p:sp>
        <p:nvSpPr>
          <p:cNvPr id="11" name="TextBox 10"/>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2" name="TextBox 11"/>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01</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DONDE QUEDAMOS</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La pregunta que quedó abierta el martes y que hoy se responde</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01  AGENDA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AGENDA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martes diagnosticamos por qué el mecanismo de Coopaburrá no puede dar no repudio. Hoy vemos el que sí puede, y lo que la ley colombiana exige para que valga como prueba.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3747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BLOQUE</a:t>
            </a:r>
          </a:p>
        </p:txBody>
      </p:sp>
      <p:sp>
        <p:nvSpPr>
          <p:cNvPr id="12" name="TextBox 11"/>
          <p:cNvSpPr txBox="1"/>
          <p:nvPr/>
        </p:nvSpPr>
        <p:spPr>
          <a:xfrm>
            <a:off x="2106245" y="2423159"/>
            <a:ext cx="12347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MINUTOS</a:t>
            </a:r>
          </a:p>
        </p:txBody>
      </p:sp>
      <p:sp>
        <p:nvSpPr>
          <p:cNvPr id="13" name="TextBox 12"/>
          <p:cNvSpPr txBox="1"/>
          <p:nvPr/>
        </p:nvSpPr>
        <p:spPr>
          <a:xfrm>
            <a:off x="3505624" y="2423159"/>
            <a:ext cx="5992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CONTENIDO</a:t>
            </a:r>
          </a:p>
        </p:txBody>
      </p:sp>
      <p:sp>
        <p:nvSpPr>
          <p:cNvPr id="14" name="TextBox 13"/>
          <p:cNvSpPr txBox="1"/>
          <p:nvPr/>
        </p:nvSpPr>
        <p:spPr>
          <a:xfrm>
            <a:off x="9662893" y="2423159"/>
            <a:ext cx="17945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MODALIDAD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7</a:t>
            </a:r>
          </a:p>
        </p:txBody>
      </p:sp>
      <p:sp>
        <p:nvSpPr>
          <p:cNvPr id="17" name="TextBox 16"/>
          <p:cNvSpPr txBox="1"/>
          <p:nvPr/>
        </p:nvSpPr>
        <p:spPr>
          <a:xfrm>
            <a:off x="2106245" y="282549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20</a:t>
            </a:r>
          </a:p>
        </p:txBody>
      </p:sp>
      <p:sp>
        <p:nvSpPr>
          <p:cNvPr id="18" name="TextBox 17"/>
          <p:cNvSpPr txBox="1"/>
          <p:nvPr/>
        </p:nvSpPr>
        <p:spPr>
          <a:xfrm>
            <a:off x="3505624" y="282549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Realimentación de la entrega 3</a:t>
            </a:r>
          </a:p>
        </p:txBody>
      </p:sp>
      <p:sp>
        <p:nvSpPr>
          <p:cNvPr id="19" name="TextBox 18"/>
          <p:cNvSpPr txBox="1"/>
          <p:nvPr/>
        </p:nvSpPr>
        <p:spPr>
          <a:xfrm>
            <a:off x="9662893" y="282549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2" name="TextBox 21"/>
          <p:cNvSpPr txBox="1"/>
          <p:nvPr/>
        </p:nvSpPr>
        <p:spPr>
          <a:xfrm>
            <a:off x="2106245" y="319125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 – 75</a:t>
            </a:r>
          </a:p>
        </p:txBody>
      </p:sp>
      <p:sp>
        <p:nvSpPr>
          <p:cNvPr id="23" name="TextBox 22"/>
          <p:cNvSpPr txBox="1"/>
          <p:nvPr/>
        </p:nvSpPr>
        <p:spPr>
          <a:xfrm>
            <a:off x="3505624" y="319125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Intercambio de llaves, aritmética modular, RSA y curvas elípticas</a:t>
            </a:r>
          </a:p>
        </p:txBody>
      </p:sp>
      <p:sp>
        <p:nvSpPr>
          <p:cNvPr id="24" name="TextBox 23"/>
          <p:cNvSpPr txBox="1"/>
          <p:nvPr/>
        </p:nvSpPr>
        <p:spPr>
          <a:xfrm>
            <a:off x="9662893" y="319125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25" name="Rectangle 24"/>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5701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7" name="TextBox 26"/>
          <p:cNvSpPr txBox="1"/>
          <p:nvPr/>
        </p:nvSpPr>
        <p:spPr>
          <a:xfrm>
            <a:off x="2106245" y="355701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75 – 135</a:t>
            </a:r>
          </a:p>
        </p:txBody>
      </p:sp>
      <p:sp>
        <p:nvSpPr>
          <p:cNvPr id="28" name="TextBox 27"/>
          <p:cNvSpPr txBox="1"/>
          <p:nvPr/>
        </p:nvSpPr>
        <p:spPr>
          <a:xfrm>
            <a:off x="3505624" y="355701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mecanismo, errores, rediseño de H2 y firma de software</a:t>
            </a:r>
          </a:p>
        </p:txBody>
      </p:sp>
      <p:sp>
        <p:nvSpPr>
          <p:cNvPr id="29" name="TextBox 28"/>
          <p:cNvSpPr txBox="1"/>
          <p:nvPr/>
        </p:nvSpPr>
        <p:spPr>
          <a:xfrm>
            <a:off x="9662893" y="355701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30" name="Rectangle 29"/>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2277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Descanso</a:t>
            </a:r>
          </a:p>
        </p:txBody>
      </p:sp>
      <p:sp>
        <p:nvSpPr>
          <p:cNvPr id="32" name="TextBox 31"/>
          <p:cNvSpPr txBox="1"/>
          <p:nvPr/>
        </p:nvSpPr>
        <p:spPr>
          <a:xfrm>
            <a:off x="2106245" y="392277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a:t>
            </a:r>
          </a:p>
        </p:txBody>
      </p:sp>
      <p:sp>
        <p:nvSpPr>
          <p:cNvPr id="33" name="TextBox 32"/>
          <p:cNvSpPr txBox="1"/>
          <p:nvPr/>
        </p:nvSpPr>
        <p:spPr>
          <a:xfrm>
            <a:off x="3505624" y="392277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4" name="TextBox 33"/>
          <p:cNvSpPr txBox="1"/>
          <p:nvPr/>
        </p:nvSpPr>
        <p:spPr>
          <a:xfrm>
            <a:off x="9662893" y="392277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5" name="Rectangle 34"/>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288536"/>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8</a:t>
            </a:r>
          </a:p>
        </p:txBody>
      </p:sp>
      <p:sp>
        <p:nvSpPr>
          <p:cNvPr id="37" name="TextBox 36"/>
          <p:cNvSpPr txBox="1"/>
          <p:nvPr/>
        </p:nvSpPr>
        <p:spPr>
          <a:xfrm>
            <a:off x="2106245" y="428853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55</a:t>
            </a:r>
          </a:p>
        </p:txBody>
      </p:sp>
      <p:sp>
        <p:nvSpPr>
          <p:cNvPr id="38" name="TextBox 37"/>
          <p:cNvSpPr txBox="1"/>
          <p:nvPr/>
        </p:nvSpPr>
        <p:spPr>
          <a:xfrm>
            <a:off x="3505624" y="428853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Valor probatorio: artículos 11 y 28 de la Ley 527, Decreto 2364 y el hallazgo H7</a:t>
            </a:r>
          </a:p>
        </p:txBody>
      </p:sp>
      <p:sp>
        <p:nvSpPr>
          <p:cNvPr id="39" name="TextBox 38"/>
          <p:cNvSpPr txBox="1"/>
          <p:nvPr/>
        </p:nvSpPr>
        <p:spPr>
          <a:xfrm>
            <a:off x="9662893" y="428853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40" name="Rectangle 39"/>
          <p:cNvSpPr/>
          <p:nvPr/>
        </p:nvSpPr>
        <p:spPr>
          <a:xfrm>
            <a:off x="566928" y="45628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65429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2" name="TextBox 41"/>
          <p:cNvSpPr txBox="1"/>
          <p:nvPr/>
        </p:nvSpPr>
        <p:spPr>
          <a:xfrm>
            <a:off x="2106245" y="465429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55 – 110</a:t>
            </a:r>
          </a:p>
        </p:txBody>
      </p:sp>
      <p:sp>
        <p:nvSpPr>
          <p:cNvPr id="43" name="TextBox 42"/>
          <p:cNvSpPr txBox="1"/>
          <p:nvPr/>
        </p:nvSpPr>
        <p:spPr>
          <a:xfrm>
            <a:off x="3505624" y="465429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 4, con el ejercicio en Python</a:t>
            </a:r>
          </a:p>
        </p:txBody>
      </p:sp>
      <p:sp>
        <p:nvSpPr>
          <p:cNvPr id="44" name="TextBox 43"/>
          <p:cNvSpPr txBox="1"/>
          <p:nvPr/>
        </p:nvSpPr>
        <p:spPr>
          <a:xfrm>
            <a:off x="9662893" y="465429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a:t>
            </a:r>
          </a:p>
        </p:txBody>
      </p:sp>
      <p:sp>
        <p:nvSpPr>
          <p:cNvPr id="45" name="Rectangle 44"/>
          <p:cNvSpPr/>
          <p:nvPr/>
        </p:nvSpPr>
        <p:spPr>
          <a:xfrm>
            <a:off x="566928" y="492861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02005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7" name="TextBox 46"/>
          <p:cNvSpPr txBox="1"/>
          <p:nvPr/>
        </p:nvSpPr>
        <p:spPr>
          <a:xfrm>
            <a:off x="2106245" y="502005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110 – 135</a:t>
            </a:r>
          </a:p>
        </p:txBody>
      </p:sp>
      <p:sp>
        <p:nvSpPr>
          <p:cNvPr id="48" name="TextBox 47"/>
          <p:cNvSpPr txBox="1"/>
          <p:nvPr/>
        </p:nvSpPr>
        <p:spPr>
          <a:xfrm>
            <a:off x="3505624" y="502005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Entrega 4, trabajo independiente y cierre</a:t>
            </a:r>
          </a:p>
        </p:txBody>
      </p:sp>
      <p:sp>
        <p:nvSpPr>
          <p:cNvPr id="49" name="TextBox 48"/>
          <p:cNvSpPr txBox="1"/>
          <p:nvPr/>
        </p:nvSpPr>
        <p:spPr>
          <a:xfrm>
            <a:off x="9662893" y="502005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50" name="Rectangle 49"/>
          <p:cNvSpPr/>
          <p:nvPr/>
        </p:nvSpPr>
        <p:spPr>
          <a:xfrm>
            <a:off x="566928" y="52943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66928" y="534924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02  REPASO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DONDE NOS QUEDAMOS EL MARTES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04</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conclusión del martes fue negativa: sabemos qué no sirve y por qué. Hoy toca la parte constructiva.</a:t>
            </a:r>
          </a:p>
        </p:txBody>
      </p:sp>
      <p:sp>
        <p:nvSpPr>
          <p:cNvPr id="10" name="TextBox 9"/>
          <p:cNvSpPr txBox="1"/>
          <p:nvPr/>
        </p:nvSpPr>
        <p:spPr>
          <a:xfrm>
            <a:off x="566928"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YA SABEMOS QUE NO FUNCIONA</a:t>
            </a:r>
          </a:p>
        </p:txBody>
      </p:sp>
      <p:sp>
        <p:nvSpPr>
          <p:cNvPr id="11" name="TextBox 10"/>
          <p:cNvSpPr txBox="1"/>
          <p:nvPr/>
        </p:nvSpPr>
        <p:spPr>
          <a:xfrm>
            <a:off x="566928" y="2340863"/>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resumen no autentica: cualquiera lo recalcula.</a:t>
            </a:r>
          </a:p>
          <a:p>
            <a:pPr algn="l">
              <a:lnSpc>
                <a:spcPct val="128000"/>
              </a:lnSpc>
              <a:spcAft>
                <a:spcPts val="700"/>
              </a:spcAft>
            </a:pPr>
            <a:r>
              <a:rPr sz="1150" b="0">
                <a:solidFill>
                  <a:srgbClr val="000000"/>
                </a:solidFill>
                <a:latin typeface="Arial"/>
              </a:rPr>
              <a:t>Un código de autenticación con llave compartida sí autentica, pero nunca da no repudio, porque ambas partes pueden generarlo.</a:t>
            </a:r>
          </a:p>
          <a:p>
            <a:pPr algn="l">
              <a:lnSpc>
                <a:spcPct val="128000"/>
              </a:lnSpc>
              <a:spcAft>
                <a:spcPts val="700"/>
              </a:spcAft>
            </a:pPr>
            <a:r>
              <a:rPr sz="1150" b="0">
                <a:solidFill>
                  <a:srgbClr val="000000"/>
                </a:solidFill>
                <a:latin typeface="Arial"/>
              </a:rPr>
              <a:t>Ningún ajuste de configuración arregla eso: es una propiedad del mecanismo.</a:t>
            </a:r>
          </a:p>
        </p:txBody>
      </p:sp>
      <p:sp>
        <p:nvSpPr>
          <p:cNvPr id="12" name="TextBox 11"/>
          <p:cNvSpPr txBox="1"/>
          <p:nvPr/>
        </p:nvSpPr>
        <p:spPr>
          <a:xfrm>
            <a:off x="6368796"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HACE FALTA</a:t>
            </a:r>
          </a:p>
        </p:txBody>
      </p:sp>
      <p:sp>
        <p:nvSpPr>
          <p:cNvPr id="13" name="TextBox 12"/>
          <p:cNvSpPr txBox="1"/>
          <p:nvPr/>
        </p:nvSpPr>
        <p:spPr>
          <a:xfrm>
            <a:off x="6368796" y="2340863"/>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mecanismo donde el secreto lo tenga </a:t>
            </a:r>
            <a:r>
              <a:rPr sz="1150" b="1">
                <a:solidFill>
                  <a:srgbClr val="000000"/>
                </a:solidFill>
                <a:latin typeface="Arial"/>
              </a:rPr>
              <a:t>una sola parte</a:t>
            </a:r>
            <a:r>
              <a:rPr sz="1150" b="0">
                <a:solidFill>
                  <a:srgbClr val="000000"/>
                </a:solidFill>
                <a:latin typeface="Arial"/>
              </a:rPr>
              <a:t>, y donde la verificación la pueda hacer </a:t>
            </a:r>
            <a:r>
              <a:rPr sz="1150" b="1">
                <a:solidFill>
                  <a:srgbClr val="000000"/>
                </a:solidFill>
                <a:latin typeface="Arial"/>
              </a:rPr>
              <a:t>cualquiera</a:t>
            </a:r>
            <a:r>
              <a:rPr sz="1150" b="0">
                <a:solidFill>
                  <a:srgbClr val="000000"/>
                </a:solidFill>
                <a:latin typeface="Arial"/>
              </a:rPr>
              <a:t>.</a:t>
            </a:r>
          </a:p>
          <a:p>
            <a:pPr algn="l">
              <a:lnSpc>
                <a:spcPct val="128000"/>
              </a:lnSpc>
              <a:spcAft>
                <a:spcPts val="700"/>
              </a:spcAft>
            </a:pPr>
            <a:r>
              <a:rPr sz="1150" b="0">
                <a:solidFill>
                  <a:srgbClr val="000000"/>
                </a:solidFill>
                <a:latin typeface="Arial"/>
              </a:rPr>
              <a:t>Eso es exactamente lo que resuelve la criptografía de llave pública, y es lo único que produce una prueba oponible ante un tercero.</a:t>
            </a:r>
          </a:p>
        </p:txBody>
      </p:sp>
      <p:sp>
        <p:nvSpPr>
          <p:cNvPr id="14" name="Rectangle 13"/>
          <p:cNvSpPr/>
          <p:nvPr/>
        </p:nvSpPr>
        <p:spPr>
          <a:xfrm>
            <a:off x="6085332" y="2066543"/>
            <a:ext cx="9144"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03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REALIMENTACIÓN DE LA ENTREGA 3</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Veinte minutos sobre el rediseño de contraseñas y el diagnóstico de la firma. Tres observaciones generales antes de pasar al tema de hoy.</a:t>
            </a:r>
          </a:p>
        </p:txBody>
      </p:sp>
      <p:sp>
        <p:nvSpPr>
          <p:cNvPr id="10" name="Rectangle 9"/>
          <p:cNvSpPr/>
          <p:nvPr/>
        </p:nvSpPr>
        <p:spPr>
          <a:xfrm>
            <a:off x="566928" y="2304287"/>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SAL DECLARADA Y LA SAL APLICADA</a:t>
            </a:r>
          </a:p>
        </p:txBody>
      </p:sp>
      <p:sp>
        <p:nvSpPr>
          <p:cNvPr id="12" name="TextBox 11"/>
          <p:cNvSpPr txBox="1"/>
          <p:nvPr/>
        </p:nvSpPr>
        <p:spPr>
          <a:xfrm>
            <a:off x="786384" y="2633471"/>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Los equipos que hicieron el laboratorio con cuidado encontraron que los resúmenes de la evidencia B corresponden a la contraseña sola, sin la sal que la documentación afirma.</a:t>
            </a:r>
          </a:p>
          <a:p>
            <a:pPr algn="l">
              <a:lnSpc>
                <a:spcPct val="128000"/>
              </a:lnSpc>
              <a:spcAft>
                <a:spcPts val="700"/>
              </a:spcAft>
            </a:pPr>
            <a:r>
              <a:rPr sz="1150" b="0">
                <a:solidFill>
                  <a:srgbClr val="000000"/>
                </a:solidFill>
                <a:latin typeface="Arial"/>
              </a:rPr>
              <a:t>Documentar esa discrepancia vale más que cualquier recomendación: es la diferencia entre auditar y leer manuales.</a:t>
            </a:r>
          </a:p>
        </p:txBody>
      </p:sp>
      <p:sp>
        <p:nvSpPr>
          <p:cNvPr id="13" name="Rectangle 12"/>
          <p:cNvSpPr/>
          <p:nvPr/>
        </p:nvSpPr>
        <p:spPr>
          <a:xfrm>
            <a:off x="6268212" y="2304287"/>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MIGRACIÓN</a:t>
            </a:r>
          </a:p>
        </p:txBody>
      </p:sp>
      <p:sp>
        <p:nvSpPr>
          <p:cNvPr id="15" name="TextBox 14"/>
          <p:cNvSpPr txBox="1"/>
          <p:nvPr/>
        </p:nvSpPr>
        <p:spPr>
          <a:xfrm>
            <a:off x="6487668" y="2633471"/>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solución estándar es envolver: aplicar la función nueva sobre el resumen que ya está almacenado, y sustituirlo por el esquema definitivo la próxima vez que el usuario entre.</a:t>
            </a:r>
          </a:p>
          <a:p>
            <a:pPr algn="l">
              <a:lnSpc>
                <a:spcPct val="128000"/>
              </a:lnSpc>
              <a:spcAft>
                <a:spcPts val="700"/>
              </a:spcAft>
            </a:pPr>
            <a:r>
              <a:rPr sz="1150" b="0">
                <a:solidFill>
                  <a:srgbClr val="000000"/>
                </a:solidFill>
                <a:latin typeface="Arial"/>
              </a:rPr>
              <a:t>Lo que casi nadie resolvió: qué se hace con las cuentas que nunca vuelven a entrar.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02</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EL PROBLEMA QUE NADIE PODÍA RESOLVER</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Cómo se ponen de acuerdo en una llave dos partes que nunca se han visto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04  PROBLEMA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PROBLEMA DEL INTERCAMBIO DE LLAVES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Durante más de dos mil años, toda la criptografía tuvo el mismo talón de Aquiles: para hablar en secreto había que haber compartido antes un secreto. Y compartirlo exigía un canal seguro, que es justamente lo que no se tiene.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45343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ESCENARIO</a:t>
            </a:r>
          </a:p>
        </p:txBody>
      </p:sp>
      <p:sp>
        <p:nvSpPr>
          <p:cNvPr id="12" name="TextBox 11"/>
          <p:cNvSpPr txBox="1"/>
          <p:nvPr/>
        </p:nvSpPr>
        <p:spPr>
          <a:xfrm>
            <a:off x="4184959" y="2423159"/>
            <a:ext cx="26494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LLAVES NECESARIAS</a:t>
            </a:r>
          </a:p>
        </p:txBody>
      </p:sp>
      <p:sp>
        <p:nvSpPr>
          <p:cNvPr id="13" name="TextBox 12"/>
          <p:cNvSpPr txBox="1"/>
          <p:nvPr/>
        </p:nvSpPr>
        <p:spPr>
          <a:xfrm>
            <a:off x="6998983" y="2423159"/>
            <a:ext cx="44584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OBSERVACIÓN</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453439"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Dos personas</a:t>
            </a:r>
          </a:p>
        </p:txBody>
      </p:sp>
      <p:sp>
        <p:nvSpPr>
          <p:cNvPr id="16" name="TextBox 15"/>
          <p:cNvSpPr txBox="1"/>
          <p:nvPr/>
        </p:nvSpPr>
        <p:spPr>
          <a:xfrm>
            <a:off x="4184959" y="2825495"/>
            <a:ext cx="264943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a:t>
            </a:r>
          </a:p>
        </p:txBody>
      </p:sp>
      <p:sp>
        <p:nvSpPr>
          <p:cNvPr id="17" name="TextBox 16"/>
          <p:cNvSpPr txBox="1"/>
          <p:nvPr/>
        </p:nvSpPr>
        <p:spPr>
          <a:xfrm>
            <a:off x="6998983" y="2825495"/>
            <a:ext cx="4458448"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Trivial</a:t>
            </a:r>
          </a:p>
        </p:txBody>
      </p:sp>
      <p:sp>
        <p:nvSpPr>
          <p:cNvPr id="18" name="Rectangle 17"/>
          <p:cNvSpPr/>
          <p:nvPr/>
        </p:nvSpPr>
        <p:spPr>
          <a:xfrm>
            <a:off x="566928" y="31912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82695"/>
            <a:ext cx="3453439"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Diez personas, todas con todas</a:t>
            </a:r>
          </a:p>
        </p:txBody>
      </p:sp>
      <p:sp>
        <p:nvSpPr>
          <p:cNvPr id="20" name="TextBox 19"/>
          <p:cNvSpPr txBox="1"/>
          <p:nvPr/>
        </p:nvSpPr>
        <p:spPr>
          <a:xfrm>
            <a:off x="4184959" y="3282695"/>
            <a:ext cx="264943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45</a:t>
            </a:r>
          </a:p>
        </p:txBody>
      </p:sp>
      <p:sp>
        <p:nvSpPr>
          <p:cNvPr id="21" name="TextBox 20"/>
          <p:cNvSpPr txBox="1"/>
          <p:nvPr/>
        </p:nvSpPr>
        <p:spPr>
          <a:xfrm>
            <a:off x="6998983" y="3282695"/>
            <a:ext cx="4458448"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Ya es incómodo</a:t>
            </a:r>
          </a:p>
        </p:txBody>
      </p:sp>
      <p:sp>
        <p:nvSpPr>
          <p:cNvPr id="22" name="Rectangle 21"/>
          <p:cNvSpPr/>
          <p:nvPr/>
        </p:nvSpPr>
        <p:spPr>
          <a:xfrm>
            <a:off x="566928" y="36484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39895"/>
            <a:ext cx="3453439"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Cien personas</a:t>
            </a:r>
          </a:p>
        </p:txBody>
      </p:sp>
      <p:sp>
        <p:nvSpPr>
          <p:cNvPr id="24" name="TextBox 23"/>
          <p:cNvSpPr txBox="1"/>
          <p:nvPr/>
        </p:nvSpPr>
        <p:spPr>
          <a:xfrm>
            <a:off x="4184959" y="3739895"/>
            <a:ext cx="264943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4.950</a:t>
            </a:r>
          </a:p>
        </p:txBody>
      </p:sp>
      <p:sp>
        <p:nvSpPr>
          <p:cNvPr id="25" name="TextBox 24"/>
          <p:cNvSpPr txBox="1"/>
          <p:nvPr/>
        </p:nvSpPr>
        <p:spPr>
          <a:xfrm>
            <a:off x="6998983" y="3739895"/>
            <a:ext cx="4458448"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Inmanejable a mano</a:t>
            </a:r>
          </a:p>
        </p:txBody>
      </p:sp>
      <p:sp>
        <p:nvSpPr>
          <p:cNvPr id="26" name="Rectangle 25"/>
          <p:cNvSpPr/>
          <p:nvPr/>
        </p:nvSpPr>
        <p:spPr>
          <a:xfrm>
            <a:off x="566928" y="41056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197095"/>
            <a:ext cx="345343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Los 142.000 asociados de Coopaburrá</a:t>
            </a:r>
          </a:p>
        </p:txBody>
      </p:sp>
      <p:sp>
        <p:nvSpPr>
          <p:cNvPr id="28" name="TextBox 27"/>
          <p:cNvSpPr txBox="1"/>
          <p:nvPr/>
        </p:nvSpPr>
        <p:spPr>
          <a:xfrm>
            <a:off x="4184959" y="4197095"/>
            <a:ext cx="264943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más de diez mil millones</a:t>
            </a:r>
          </a:p>
        </p:txBody>
      </p:sp>
      <p:sp>
        <p:nvSpPr>
          <p:cNvPr id="29" name="TextBox 28"/>
          <p:cNvSpPr txBox="1"/>
          <p:nvPr/>
        </p:nvSpPr>
        <p:spPr>
          <a:xfrm>
            <a:off x="6998983" y="4197095"/>
            <a:ext cx="44584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Imposible. Y hay que distribuirlas por un canal seguro que no existe</a:t>
            </a:r>
          </a:p>
        </p:txBody>
      </p:sp>
      <p:sp>
        <p:nvSpPr>
          <p:cNvPr id="30" name="Rectangle 29"/>
          <p:cNvSpPr/>
          <p:nvPr/>
        </p:nvSpPr>
        <p:spPr>
          <a:xfrm>
            <a:off x="566928" y="46455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70038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002133"/>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0204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ESTO EXPLICA LA DECISIÓN DE COOPABURRÁ</a:t>
            </a:r>
          </a:p>
        </p:txBody>
      </p:sp>
      <p:sp>
        <p:nvSpPr>
          <p:cNvPr id="34" name="TextBox 33"/>
          <p:cNvSpPr txBox="1"/>
          <p:nvPr/>
        </p:nvSpPr>
        <p:spPr>
          <a:xfrm>
            <a:off x="804672" y="5258165"/>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fábrica de software puso </a:t>
            </a:r>
            <a:r>
              <a:rPr sz="1150" b="1">
                <a:solidFill>
                  <a:srgbClr val="2A2A2A"/>
                </a:solidFill>
                <a:latin typeface="Arial"/>
              </a:rPr>
              <a:t>una sola llave para todos</a:t>
            </a:r>
            <a:r>
              <a:rPr sz="1150" b="0">
                <a:solidFill>
                  <a:srgbClr val="2A2A2A"/>
                </a:solidFill>
                <a:latin typeface="Arial"/>
              </a:rPr>
              <a:t> precisamente para no enfrentar este problema. La decisión es comprensible y es exactamente la equivocada: el problema tiene solución desde 1976, y la solución es el tema de hoy.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05  IDEA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1976: LA IDEA QUE CAMBIÓ TODO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Diffie, Hellman y Merkle publican un método para que dos partes que nunca se han visto acuerden un secreto común hablando por un canal que cualquiera puede escuchar. Suena imposible y no lo es.</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ACUERDO DE LLAVE SOBRE UN CANAL PÚBLICO</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Ana y Beto quieren un secreto común. Todo lo que envían es público.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1. Acuerdan en público un punto de partida común.</a:t>
            </a:r>
          </a:p>
          <a:p>
            <a:pPr algn="l">
              <a:lnSpc>
                <a:spcPct val="130000"/>
              </a:lnSpc>
              <a:spcAft>
                <a:spcPts val="0"/>
              </a:spcAft>
            </a:pPr>
            <a:r>
              <a:rPr sz="950" b="0">
                <a:solidFill>
                  <a:srgbClr val="000000"/>
                </a:solidFill>
                <a:latin typeface="Consolas"/>
              </a:rPr>
              <a:t>  2. Cada uno elige un número secreto y no lo dice nunca.</a:t>
            </a:r>
          </a:p>
          <a:p>
            <a:pPr algn="l">
              <a:lnSpc>
                <a:spcPct val="130000"/>
              </a:lnSpc>
              <a:spcAft>
                <a:spcPts val="0"/>
              </a:spcAft>
            </a:pPr>
            <a:r>
              <a:rPr sz="950" b="0">
                <a:solidFill>
                  <a:srgbClr val="000000"/>
                </a:solidFill>
                <a:latin typeface="Consolas"/>
              </a:rPr>
              <a:t>  3. Cada uno combina el punto común con su secreto y envía el resultado.</a:t>
            </a:r>
          </a:p>
          <a:p>
            <a:pPr algn="l">
              <a:lnSpc>
                <a:spcPct val="130000"/>
              </a:lnSpc>
              <a:spcAft>
                <a:spcPts val="0"/>
              </a:spcAft>
            </a:pPr>
            <a:r>
              <a:rPr sz="950" b="0">
                <a:solidFill>
                  <a:srgbClr val="000000"/>
                </a:solidFill>
                <a:latin typeface="Consolas"/>
              </a:rPr>
              <a:t>  4. Cada uno combina lo que recibió con su propio secreto.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Los dos llegan al mismo valor. Quien escuchó todo no puede llegar a él,</a:t>
            </a:r>
          </a:p>
          <a:p>
            <a:pPr algn="l">
              <a:lnSpc>
                <a:spcPct val="130000"/>
              </a:lnSpc>
              <a:spcAft>
                <a:spcPts val="0"/>
              </a:spcAft>
            </a:pPr>
            <a:r>
              <a:rPr sz="950" b="0">
                <a:solidFill>
                  <a:srgbClr val="000000"/>
                </a:solidFill>
                <a:latin typeface="Consolas"/>
              </a:rPr>
              <a:t>porque le faltan los dos números secretos y deshacer la combinación es</a:t>
            </a:r>
          </a:p>
          <a:p>
            <a:pPr algn="l">
              <a:lnSpc>
                <a:spcPct val="130000"/>
              </a:lnSpc>
              <a:spcAft>
                <a:spcPts val="0"/>
              </a:spcAft>
            </a:pPr>
            <a:r>
              <a:rPr sz="950" b="0">
                <a:solidFill>
                  <a:srgbClr val="000000"/>
                </a:solidFill>
                <a:latin typeface="Consolas"/>
              </a:rPr>
              <a:t>computacionalmente inviable.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06  MATEMÁTICA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ARITMÉTICA MODULAR: LA MATEMÁTICA DEL RELOJ</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Toda la criptografía de llave pública se apoya en una aritmética que todos conocen sin saberlo: la del reloj, donde después de las 12 viene la 1. Es lo mínimo para que lo que sigue no parezca magia.</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ARITMÉTICA DEL RELOJ</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Módulo n: se trabaja solo con el resto de dividir por 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15 mod 12 = 3                       ← las 15 horas son las 3</a:t>
            </a:r>
          </a:p>
          <a:p>
            <a:pPr algn="l">
              <a:lnSpc>
                <a:spcPct val="130000"/>
              </a:lnSpc>
              <a:spcAft>
                <a:spcPts val="0"/>
              </a:spcAft>
            </a:pPr>
            <a:r>
              <a:rPr sz="950" b="0">
                <a:solidFill>
                  <a:srgbClr val="000000"/>
                </a:solidFill>
                <a:latin typeface="Consolas"/>
              </a:rPr>
              <a:t>   5³ mod 23 = 125 mod 23 = 10</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Potencia modular: fácil de calcular, incluso con números de 600 dígitos.</a:t>
            </a:r>
          </a:p>
          <a:p>
            <a:pPr algn="l">
              <a:lnSpc>
                <a:spcPct val="130000"/>
              </a:lnSpc>
              <a:spcAft>
                <a:spcPts val="0"/>
              </a:spcAft>
            </a:pPr>
            <a:r>
              <a:rPr sz="950" b="0">
                <a:solidFill>
                  <a:srgbClr val="000000"/>
                </a:solidFill>
                <a:latin typeface="Consolas"/>
              </a:rPr>
              <a:t>   5^x mod 23 = 10   →   ¿cuánto vale x?      (es 3)</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Con números pequeños se prueba a mano. Con números de 2048 bits no se conoce</a:t>
            </a:r>
          </a:p>
          <a:p>
            <a:pPr algn="l">
              <a:lnSpc>
                <a:spcPct val="130000"/>
              </a:lnSpc>
              <a:spcAft>
                <a:spcPts val="0"/>
              </a:spcAft>
            </a:pPr>
            <a:r>
              <a:rPr sz="950" b="0">
                <a:solidFill>
                  <a:srgbClr val="000000"/>
                </a:solidFill>
                <a:latin typeface="Consolas"/>
              </a:rPr>
              <a:t>ninguna forma eficiente de encontrar x: es el problema del logaritmo discreto.</a:t>
            </a:r>
          </a:p>
        </p:txBody>
      </p:sp>
      <p:sp>
        <p:nvSpPr>
          <p:cNvPr id="13" name="Rectangle 12"/>
          <p:cNvSpPr/>
          <p:nvPr/>
        </p:nvSpPr>
        <p:spPr>
          <a:xfrm>
            <a:off x="566928" y="5029200"/>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IDEA QUE HAY QUE LLEVARSE</a:t>
            </a:r>
          </a:p>
        </p:txBody>
      </p:sp>
      <p:sp>
        <p:nvSpPr>
          <p:cNvPr id="15" name="TextBox 14"/>
          <p:cNvSpPr txBox="1"/>
          <p:nvPr/>
        </p:nvSpPr>
        <p:spPr>
          <a:xfrm>
            <a:off x="804672" y="5285232"/>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Hay operaciones que se calculan en milisegundos en un sentido y que en el sentido contrario no terminarían antes del fin del universo. </a:t>
            </a:r>
            <a:r>
              <a:rPr sz="1150" b="1">
                <a:solidFill>
                  <a:srgbClr val="2A2A2A"/>
                </a:solidFill>
                <a:latin typeface="Arial"/>
              </a:rPr>
              <a:t>Toda la llave pública consiste en encontrar una de esas operaciones</a:t>
            </a:r>
            <a:r>
              <a:rPr sz="1150" b="0">
                <a:solidFill>
                  <a:srgbClr val="2A2A2A"/>
                </a:solidFill>
                <a:latin typeface="Arial"/>
              </a:rPr>
              <a:t> y darle al dueño de la llave el atajo para recorrerla al revés.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07  EJEMPLO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DIFFIE-HELLMAN CON NÚMEROS PEQUEÑOS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método de 1976, con números que se pueden seguir a mano. Todo lo que aparece en la columna del medio viaja por un canal que cualquiera puede escuchar.</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44957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ANA</a:t>
            </a:r>
          </a:p>
        </p:txBody>
      </p:sp>
      <p:sp>
        <p:nvSpPr>
          <p:cNvPr id="12" name="TextBox 11"/>
          <p:cNvSpPr txBox="1"/>
          <p:nvPr/>
        </p:nvSpPr>
        <p:spPr>
          <a:xfrm>
            <a:off x="4181094" y="2423159"/>
            <a:ext cx="366217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CANAL PÚBLICO</a:t>
            </a:r>
          </a:p>
        </p:txBody>
      </p:sp>
      <p:sp>
        <p:nvSpPr>
          <p:cNvPr id="13" name="TextBox 12"/>
          <p:cNvSpPr txBox="1"/>
          <p:nvPr/>
        </p:nvSpPr>
        <p:spPr>
          <a:xfrm>
            <a:off x="8007858" y="2423159"/>
            <a:ext cx="344957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BETO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44957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16" name="TextBox 15"/>
          <p:cNvSpPr txBox="1"/>
          <p:nvPr/>
        </p:nvSpPr>
        <p:spPr>
          <a:xfrm>
            <a:off x="4181094" y="2825495"/>
            <a:ext cx="3662172"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Acuerdan en público: primo p = 23 y base g = 5</a:t>
            </a:r>
          </a:p>
        </p:txBody>
      </p:sp>
      <p:sp>
        <p:nvSpPr>
          <p:cNvPr id="17" name="TextBox 16"/>
          <p:cNvSpPr txBox="1"/>
          <p:nvPr/>
        </p:nvSpPr>
        <p:spPr>
          <a:xfrm>
            <a:off x="8007858" y="2825495"/>
            <a:ext cx="344957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18" name="Rectangle 17"/>
          <p:cNvSpPr/>
          <p:nvPr/>
        </p:nvSpPr>
        <p:spPr>
          <a:xfrm>
            <a:off x="566928" y="31912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82695"/>
            <a:ext cx="344957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Escoge en secreto a = 6</a:t>
            </a:r>
          </a:p>
        </p:txBody>
      </p:sp>
      <p:sp>
        <p:nvSpPr>
          <p:cNvPr id="20" name="TextBox 19"/>
          <p:cNvSpPr txBox="1"/>
          <p:nvPr/>
        </p:nvSpPr>
        <p:spPr>
          <a:xfrm>
            <a:off x="4181094" y="3282695"/>
            <a:ext cx="366217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21" name="TextBox 20"/>
          <p:cNvSpPr txBox="1"/>
          <p:nvPr/>
        </p:nvSpPr>
        <p:spPr>
          <a:xfrm>
            <a:off x="8007858" y="3282695"/>
            <a:ext cx="344957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Escoge en secreto b = 15</a:t>
            </a:r>
          </a:p>
        </p:txBody>
      </p:sp>
      <p:sp>
        <p:nvSpPr>
          <p:cNvPr id="22" name="Rectangle 21"/>
          <p:cNvSpPr/>
          <p:nvPr/>
        </p:nvSpPr>
        <p:spPr>
          <a:xfrm>
            <a:off x="566928" y="36484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39895"/>
            <a:ext cx="344957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Calcula A = 5⁶ mod 23 = 8</a:t>
            </a:r>
          </a:p>
        </p:txBody>
      </p:sp>
      <p:sp>
        <p:nvSpPr>
          <p:cNvPr id="24" name="TextBox 23"/>
          <p:cNvSpPr txBox="1"/>
          <p:nvPr/>
        </p:nvSpPr>
        <p:spPr>
          <a:xfrm>
            <a:off x="4181094" y="3739895"/>
            <a:ext cx="3662172"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Viajan A = 8 y B = 19</a:t>
            </a:r>
          </a:p>
        </p:txBody>
      </p:sp>
      <p:sp>
        <p:nvSpPr>
          <p:cNvPr id="25" name="TextBox 24"/>
          <p:cNvSpPr txBox="1"/>
          <p:nvPr/>
        </p:nvSpPr>
        <p:spPr>
          <a:xfrm>
            <a:off x="8007858" y="3739895"/>
            <a:ext cx="344957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Calcula B = 5¹⁵ mod 23 = 19</a:t>
            </a:r>
          </a:p>
        </p:txBody>
      </p:sp>
      <p:sp>
        <p:nvSpPr>
          <p:cNvPr id="26" name="Rectangle 25"/>
          <p:cNvSpPr/>
          <p:nvPr/>
        </p:nvSpPr>
        <p:spPr>
          <a:xfrm>
            <a:off x="566928" y="41056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197095"/>
            <a:ext cx="3449574" cy="40233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Calcula 19⁶ mod 23 = 2</a:t>
            </a:r>
          </a:p>
        </p:txBody>
      </p:sp>
      <p:sp>
        <p:nvSpPr>
          <p:cNvPr id="28" name="TextBox 27"/>
          <p:cNvSpPr txBox="1"/>
          <p:nvPr/>
        </p:nvSpPr>
        <p:spPr>
          <a:xfrm>
            <a:off x="4181094" y="4197095"/>
            <a:ext cx="366217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Nadie más puede calcular el 2</a:t>
            </a:r>
          </a:p>
        </p:txBody>
      </p:sp>
      <p:sp>
        <p:nvSpPr>
          <p:cNvPr id="29" name="TextBox 28"/>
          <p:cNvSpPr txBox="1"/>
          <p:nvPr/>
        </p:nvSpPr>
        <p:spPr>
          <a:xfrm>
            <a:off x="8007858" y="4197095"/>
            <a:ext cx="3449574" cy="40233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Calcula 8¹⁵ mod 23 = 2</a:t>
            </a:r>
          </a:p>
        </p:txBody>
      </p:sp>
      <p:sp>
        <p:nvSpPr>
          <p:cNvPr id="30" name="Rectangle 29"/>
          <p:cNvSpPr/>
          <p:nvPr/>
        </p:nvSpPr>
        <p:spPr>
          <a:xfrm>
            <a:off x="566928" y="45628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61771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919471"/>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9377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QUÉ TENDRÍA QUE HACER UN ESPÍA</a:t>
            </a:r>
          </a:p>
        </p:txBody>
      </p:sp>
      <p:sp>
        <p:nvSpPr>
          <p:cNvPr id="34" name="TextBox 33"/>
          <p:cNvSpPr txBox="1"/>
          <p:nvPr/>
        </p:nvSpPr>
        <p:spPr>
          <a:xfrm>
            <a:off x="804672" y="5175503"/>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Ve pasar 23, 5, 8 y 19. Para llegar al secreto común necesita el 6 o el 15, es decir, resolver 5^x mod 23 = 8. Con 23 se prueba a mano; </a:t>
            </a:r>
            <a:r>
              <a:rPr sz="1150" b="1">
                <a:solidFill>
                  <a:srgbClr val="2A2A2A"/>
                </a:solidFill>
                <a:latin typeface="Arial"/>
              </a:rPr>
              <a:t>con un primo de 2048 bits, o con una curva elíptica de 256, no hay forma conocida de hacerlo</a:t>
            </a:r>
            <a:r>
              <a:rPr sz="1150" b="0">
                <a:solidFill>
                  <a:srgbClr val="2A2A2A"/>
                </a:solidFill>
                <a:latin typeface="Arial"/>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08  LÍMITE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ESE MÉTODO NO RESUELVE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Resuelve el acuerdo de llave, pero no dice con quién se está acordando. Y esa omisión abre un ataque que hay que conocer porque reaparece en la sesión 5.</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ATAQUE DEL INTERMEDIARIO</a:t>
            </a:r>
          </a:p>
        </p:txBody>
      </p:sp>
      <p:sp>
        <p:nvSpPr>
          <p:cNvPr id="11" name="TextBox 10"/>
          <p:cNvSpPr txBox="1"/>
          <p:nvPr/>
        </p:nvSpPr>
        <p:spPr>
          <a:xfrm>
            <a:off x="566928"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Alguien situado en medio acuerda una llave con Ana haciéndose pasar por Beto, y otra con Beto haciéndose pasar por Ana.</a:t>
            </a:r>
          </a:p>
          <a:p>
            <a:pPr algn="l">
              <a:lnSpc>
                <a:spcPct val="128000"/>
              </a:lnSpc>
              <a:spcAft>
                <a:spcPts val="700"/>
              </a:spcAft>
            </a:pPr>
            <a:r>
              <a:rPr sz="1150" b="0">
                <a:solidFill>
                  <a:srgbClr val="000000"/>
                </a:solidFill>
                <a:latin typeface="Arial"/>
              </a:rPr>
              <a:t>Descifra, lee, vuelve a cifrar y reenvía. Las dos partes creen que hablan en secreto y así es: en secreto con el atacante.</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PIEZA QUE FALTA</a:t>
            </a:r>
          </a:p>
        </p:txBody>
      </p:sp>
      <p:sp>
        <p:nvSpPr>
          <p:cNvPr id="13" name="TextBox 12"/>
          <p:cNvSpPr txBox="1"/>
          <p:nvPr/>
        </p:nvSpPr>
        <p:spPr>
          <a:xfrm>
            <a:off x="6368796"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Hace falta poder verificar la identidad de la otra parte antes de confiar en la llave acordada.</a:t>
            </a:r>
          </a:p>
          <a:p>
            <a:pPr algn="l">
              <a:lnSpc>
                <a:spcPct val="128000"/>
              </a:lnSpc>
              <a:spcAft>
                <a:spcPts val="700"/>
              </a:spcAft>
            </a:pPr>
            <a:r>
              <a:rPr sz="1150" b="0">
                <a:solidFill>
                  <a:srgbClr val="000000"/>
                </a:solidFill>
                <a:latin typeface="Arial"/>
              </a:rPr>
              <a:t>Esa verificación es el trabajo de los certificados y de la infraestructura de llave pública, que es la sesión del martes.</a:t>
            </a:r>
          </a:p>
          <a:p>
            <a:pPr algn="l">
              <a:lnSpc>
                <a:spcPct val="128000"/>
              </a:lnSpc>
              <a:spcAft>
                <a:spcPts val="700"/>
              </a:spcAft>
            </a:pPr>
            <a:r>
              <a:rPr sz="1150" b="0">
                <a:solidFill>
                  <a:srgbClr val="000000"/>
                </a:solidFill>
                <a:latin typeface="Arial"/>
              </a:rPr>
              <a:t>Por ahora quédense con esto: </a:t>
            </a:r>
            <a:r>
              <a:rPr sz="1150" b="1">
                <a:solidFill>
                  <a:srgbClr val="000000"/>
                </a:solidFill>
                <a:latin typeface="Arial"/>
              </a:rPr>
              <a:t>acordar una llave no es lo mismo que saber con quién</a:t>
            </a:r>
            <a:r>
              <a:rPr sz="1150" b="0">
                <a:solidFill>
                  <a:srgbClr val="000000"/>
                </a:solidFill>
                <a:latin typeface="Arial"/>
              </a:rPr>
              <a:t>.</a:t>
            </a:r>
          </a:p>
        </p:txBody>
      </p:sp>
      <p:sp>
        <p:nvSpPr>
          <p:cNvPr id="14" name="Rectangle 13"/>
          <p:cNvSpPr/>
          <p:nvPr/>
        </p:nvSpPr>
        <p:spPr>
          <a:xfrm>
            <a:off x="6085332" y="2304287"/>
            <a:ext cx="9144"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03</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DOS LLAVES EN LUGAR DE UNA</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Cómo funciona la criptografía asimétrica y por qué las curvas desplazaron a RSA</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09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UNA PAREJA, DOS USOS OPUESTOS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 generan dos llaves relacionadas matemáticamente. Lo que una hace, solo la otra lo deshace. Una se publica sin reservas; la otra no sale nunca de su dueño.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3067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OPERACIÓN</a:t>
            </a:r>
          </a:p>
        </p:txBody>
      </p:sp>
      <p:sp>
        <p:nvSpPr>
          <p:cNvPr id="12" name="TextBox 11"/>
          <p:cNvSpPr txBox="1"/>
          <p:nvPr/>
        </p:nvSpPr>
        <p:spPr>
          <a:xfrm>
            <a:off x="2962198" y="2423159"/>
            <a:ext cx="241493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 USA LA LLAVE…</a:t>
            </a:r>
          </a:p>
        </p:txBody>
      </p:sp>
      <p:sp>
        <p:nvSpPr>
          <p:cNvPr id="13" name="TextBox 12"/>
          <p:cNvSpPr txBox="1"/>
          <p:nvPr/>
        </p:nvSpPr>
        <p:spPr>
          <a:xfrm>
            <a:off x="5541721" y="2423159"/>
            <a:ext cx="278343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PARA VERIFICAR O DESCIFRAR…</a:t>
            </a:r>
          </a:p>
        </p:txBody>
      </p:sp>
      <p:sp>
        <p:nvSpPr>
          <p:cNvPr id="14" name="TextBox 13"/>
          <p:cNvSpPr txBox="1"/>
          <p:nvPr/>
        </p:nvSpPr>
        <p:spPr>
          <a:xfrm>
            <a:off x="8489746" y="2423159"/>
            <a:ext cx="29676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SIRVE PARA</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2230678"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Cifrar para alguien</a:t>
            </a:r>
          </a:p>
        </p:txBody>
      </p:sp>
      <p:sp>
        <p:nvSpPr>
          <p:cNvPr id="17" name="TextBox 16"/>
          <p:cNvSpPr txBox="1"/>
          <p:nvPr/>
        </p:nvSpPr>
        <p:spPr>
          <a:xfrm>
            <a:off x="2962198" y="2825495"/>
            <a:ext cx="2414930"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pública del destinatario</a:t>
            </a:r>
          </a:p>
        </p:txBody>
      </p:sp>
      <p:sp>
        <p:nvSpPr>
          <p:cNvPr id="18" name="TextBox 17"/>
          <p:cNvSpPr txBox="1"/>
          <p:nvPr/>
        </p:nvSpPr>
        <p:spPr>
          <a:xfrm>
            <a:off x="5541721" y="2825495"/>
            <a:ext cx="2783433"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 llave privada</a:t>
            </a:r>
          </a:p>
        </p:txBody>
      </p:sp>
      <p:sp>
        <p:nvSpPr>
          <p:cNvPr id="19" name="TextBox 18"/>
          <p:cNvSpPr txBox="1"/>
          <p:nvPr/>
        </p:nvSpPr>
        <p:spPr>
          <a:xfrm>
            <a:off x="8489746" y="2825495"/>
            <a:ext cx="2967685"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 solo él puede leerlo</a:t>
            </a:r>
          </a:p>
        </p:txBody>
      </p:sp>
      <p:sp>
        <p:nvSpPr>
          <p:cNvPr id="20" name="Rectangle 19"/>
          <p:cNvSpPr/>
          <p:nvPr/>
        </p:nvSpPr>
        <p:spPr>
          <a:xfrm>
            <a:off x="566928" y="33009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92423"/>
            <a:ext cx="2230678" cy="51206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Firmar un documento</a:t>
            </a:r>
          </a:p>
        </p:txBody>
      </p:sp>
      <p:sp>
        <p:nvSpPr>
          <p:cNvPr id="22" name="TextBox 21"/>
          <p:cNvSpPr txBox="1"/>
          <p:nvPr/>
        </p:nvSpPr>
        <p:spPr>
          <a:xfrm>
            <a:off x="2962198" y="3392423"/>
            <a:ext cx="2414930"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privada del firmante</a:t>
            </a:r>
          </a:p>
        </p:txBody>
      </p:sp>
      <p:sp>
        <p:nvSpPr>
          <p:cNvPr id="23" name="TextBox 22"/>
          <p:cNvSpPr txBox="1"/>
          <p:nvPr/>
        </p:nvSpPr>
        <p:spPr>
          <a:xfrm>
            <a:off x="5541721" y="3392423"/>
            <a:ext cx="2783433"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 llave pública, que tiene cualquiera</a:t>
            </a:r>
          </a:p>
        </p:txBody>
      </p:sp>
      <p:sp>
        <p:nvSpPr>
          <p:cNvPr id="24" name="TextBox 23"/>
          <p:cNvSpPr txBox="1"/>
          <p:nvPr/>
        </p:nvSpPr>
        <p:spPr>
          <a:xfrm>
            <a:off x="8489746" y="3392423"/>
            <a:ext cx="2967685"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Autenticidad y no repudio</a:t>
            </a:r>
          </a:p>
        </p:txBody>
      </p:sp>
      <p:sp>
        <p:nvSpPr>
          <p:cNvPr id="25" name="Rectangle 24"/>
          <p:cNvSpPr/>
          <p:nvPr/>
        </p:nvSpPr>
        <p:spPr>
          <a:xfrm>
            <a:off x="566928" y="38679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92277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224527"/>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24281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INVERSIÓN QUE HAY QUE ENTENDER HOY</a:t>
            </a:r>
          </a:p>
        </p:txBody>
      </p:sp>
      <p:sp>
        <p:nvSpPr>
          <p:cNvPr id="29" name="TextBox 28"/>
          <p:cNvSpPr txBox="1"/>
          <p:nvPr/>
        </p:nvSpPr>
        <p:spPr>
          <a:xfrm>
            <a:off x="804672" y="4480559"/>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Para cifrar se usa la llave </a:t>
            </a:r>
            <a:r>
              <a:rPr sz="1150" b="1">
                <a:solidFill>
                  <a:srgbClr val="2A2A2A"/>
                </a:solidFill>
                <a:latin typeface="Arial"/>
              </a:rPr>
              <a:t>del otro</a:t>
            </a:r>
            <a:r>
              <a:rPr sz="1150" b="0">
                <a:solidFill>
                  <a:srgbClr val="2A2A2A"/>
                </a:solidFill>
                <a:latin typeface="Arial"/>
              </a:rPr>
              <a:t>. Para firmar se usa la </a:t>
            </a:r>
            <a:r>
              <a:rPr sz="1150" b="1">
                <a:solidFill>
                  <a:srgbClr val="2A2A2A"/>
                </a:solidFill>
                <a:latin typeface="Arial"/>
              </a:rPr>
              <a:t>propia</a:t>
            </a:r>
            <a:r>
              <a:rPr sz="1150" b="0">
                <a:solidFill>
                  <a:srgbClr val="2A2A2A"/>
                </a:solidFill>
                <a:latin typeface="Arial"/>
              </a:rPr>
              <a:t>. Son operaciones opuestas y confundirlas es el error conceptual más común del tema. Y la segunda es la que resuelve el caso: como la privada la tiene una sola persona, solo esa persona pudo firmar.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10  EJEMPLO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RSA CON NÚMEROS PEQUEÑOS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ejemplo clásico de los libros de texto, con números que caben en una calculadora. Los números reales tienen más de 600 dígitos, pero el procedimiento es exactamente este.</a:t>
            </a:r>
          </a:p>
        </p:txBody>
      </p:sp>
      <p:sp>
        <p:nvSpPr>
          <p:cNvPr id="10" name="Rectangle 9"/>
          <p:cNvSpPr/>
          <p:nvPr/>
        </p:nvSpPr>
        <p:spPr>
          <a:xfrm>
            <a:off x="566928" y="2304287"/>
            <a:ext cx="11055096" cy="22603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PAREJA DE LLAVES, PASO A PASO</a:t>
            </a:r>
          </a:p>
        </p:txBody>
      </p:sp>
      <p:sp>
        <p:nvSpPr>
          <p:cNvPr id="12" name="TextBox 11"/>
          <p:cNvSpPr txBox="1"/>
          <p:nvPr/>
        </p:nvSpPr>
        <p:spPr>
          <a:xfrm>
            <a:off x="768096" y="2633471"/>
            <a:ext cx="10652760" cy="183977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Generar la pareja:</a:t>
            </a:r>
          </a:p>
          <a:p>
            <a:pPr algn="l">
              <a:lnSpc>
                <a:spcPct val="130000"/>
              </a:lnSpc>
              <a:spcAft>
                <a:spcPts val="0"/>
              </a:spcAft>
            </a:pPr>
            <a:r>
              <a:rPr sz="950" b="0">
                <a:solidFill>
                  <a:srgbClr val="000000"/>
                </a:solidFill>
                <a:latin typeface="Consolas"/>
              </a:rPr>
              <a:t>   dos primos secretos        p = 61,  q = 53</a:t>
            </a:r>
          </a:p>
          <a:p>
            <a:pPr algn="l">
              <a:lnSpc>
                <a:spcPct val="130000"/>
              </a:lnSpc>
              <a:spcAft>
                <a:spcPts val="0"/>
              </a:spcAft>
            </a:pPr>
            <a:r>
              <a:rPr sz="950" b="0">
                <a:solidFill>
                  <a:srgbClr val="000000"/>
                </a:solidFill>
                <a:latin typeface="Consolas"/>
              </a:rPr>
              <a:t>   módulo público             n = p × q = 3233</a:t>
            </a:r>
          </a:p>
          <a:p>
            <a:pPr algn="l">
              <a:lnSpc>
                <a:spcPct val="130000"/>
              </a:lnSpc>
              <a:spcAft>
                <a:spcPts val="0"/>
              </a:spcAft>
            </a:pPr>
            <a:r>
              <a:rPr sz="950" b="0">
                <a:solidFill>
                  <a:srgbClr val="000000"/>
                </a:solidFill>
                <a:latin typeface="Consolas"/>
              </a:rPr>
              <a:t>   φ(n) = (p-1)(q-1)          = 3120                      ← solo lo conoce el dueño</a:t>
            </a:r>
          </a:p>
          <a:p>
            <a:pPr algn="l">
              <a:lnSpc>
                <a:spcPct val="130000"/>
              </a:lnSpc>
              <a:spcAft>
                <a:spcPts val="0"/>
              </a:spcAft>
            </a:pPr>
            <a:r>
              <a:rPr sz="950" b="0">
                <a:solidFill>
                  <a:srgbClr val="000000"/>
                </a:solidFill>
                <a:latin typeface="Consolas"/>
              </a:rPr>
              <a:t>   exponente público          e = 17</a:t>
            </a:r>
          </a:p>
          <a:p>
            <a:pPr algn="l">
              <a:lnSpc>
                <a:spcPct val="130000"/>
              </a:lnSpc>
              <a:spcAft>
                <a:spcPts val="0"/>
              </a:spcAft>
            </a:pPr>
            <a:r>
              <a:rPr sz="950" b="0">
                <a:solidFill>
                  <a:srgbClr val="000000"/>
                </a:solidFill>
                <a:latin typeface="Consolas"/>
              </a:rPr>
              <a:t>   exponente privado          d = 2753     porque 17 × 2753 = 1 + 15 × 3120</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Cifrar m = 65 con la llave pública:     c = 65¹⁷ mod 3233     = 2790</a:t>
            </a:r>
          </a:p>
          <a:p>
            <a:pPr algn="l">
              <a:lnSpc>
                <a:spcPct val="130000"/>
              </a:lnSpc>
              <a:spcAft>
                <a:spcPts val="0"/>
              </a:spcAft>
            </a:pPr>
            <a:r>
              <a:rPr sz="950" b="0">
                <a:solidFill>
                  <a:srgbClr val="000000"/>
                </a:solidFill>
                <a:latin typeface="Consolas"/>
              </a:rPr>
              <a:t>Descifrar con la llave privada:         m = 2790²⁷⁵³ mod 3233 = 65</a:t>
            </a:r>
          </a:p>
        </p:txBody>
      </p:sp>
      <p:sp>
        <p:nvSpPr>
          <p:cNvPr id="13" name="Rectangle 12"/>
          <p:cNvSpPr/>
          <p:nvPr/>
        </p:nvSpPr>
        <p:spPr>
          <a:xfrm>
            <a:off x="566928" y="4820716"/>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3900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DÓNDE ESTÁ LA SEGURIDAD</a:t>
            </a:r>
          </a:p>
        </p:txBody>
      </p:sp>
      <p:sp>
        <p:nvSpPr>
          <p:cNvPr id="15" name="TextBox 14"/>
          <p:cNvSpPr txBox="1"/>
          <p:nvPr/>
        </p:nvSpPr>
        <p:spPr>
          <a:xfrm>
            <a:off x="804672" y="5076748"/>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Todo es público salvo p, q y d. Quien logre factorizar 3233 en 61 × 53 calcula φ(n) y de ahí d, la llave privada. </a:t>
            </a:r>
            <a:r>
              <a:rPr sz="1150" b="1">
                <a:solidFill>
                  <a:srgbClr val="2A2A2A"/>
                </a:solidFill>
                <a:latin typeface="Arial"/>
              </a:rPr>
              <a:t>Con 3233 eso toma un segundo; con un módulo de 2048 bits, nadie sabe hacerlo.</a:t>
            </a:r>
            <a:r>
              <a:rPr sz="1150" b="0">
                <a:solidFill>
                  <a:srgbClr val="2A2A2A"/>
                </a:solidFill>
                <a:latin typeface="Arial"/>
              </a:rPr>
              <a:t> La seguridad de RSA es, exactamente, la dificultad de factorizar.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11  LÍMITE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POR QUÉ ES DIFÍCIL, Y HASTA CUÁNDO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Las familias de llave pública se apoyan en problemas distintos, y todos resisten lo que se les ha lanzado con computadores clásicos. Pero un solo algoritmo, publicado por Peter Shor en 1994, los resuelve a todos.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6494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PROBLEMA</a:t>
            </a:r>
          </a:p>
        </p:txBody>
      </p:sp>
      <p:sp>
        <p:nvSpPr>
          <p:cNvPr id="12" name="TextBox 11"/>
          <p:cNvSpPr txBox="1"/>
          <p:nvPr/>
        </p:nvSpPr>
        <p:spPr>
          <a:xfrm>
            <a:off x="3380952" y="2423159"/>
            <a:ext cx="224742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QUIÉN SE APOYA EN ÉL</a:t>
            </a:r>
          </a:p>
        </p:txBody>
      </p:sp>
      <p:sp>
        <p:nvSpPr>
          <p:cNvPr id="13" name="TextBox 12"/>
          <p:cNvSpPr txBox="1"/>
          <p:nvPr/>
        </p:nvSpPr>
        <p:spPr>
          <a:xfrm>
            <a:off x="5792973" y="2423159"/>
            <a:ext cx="28504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RÉCORD PÚBLICO CLÁSICO</a:t>
            </a:r>
          </a:p>
        </p:txBody>
      </p:sp>
      <p:sp>
        <p:nvSpPr>
          <p:cNvPr id="14" name="TextBox 13"/>
          <p:cNvSpPr txBox="1"/>
          <p:nvPr/>
        </p:nvSpPr>
        <p:spPr>
          <a:xfrm>
            <a:off x="8807999" y="2423159"/>
            <a:ext cx="26494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 UN COMPUTADOR CUÁNTICO</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Factorizar</a:t>
            </a:r>
          </a:p>
        </p:txBody>
      </p:sp>
      <p:sp>
        <p:nvSpPr>
          <p:cNvPr id="17" name="TextBox 16"/>
          <p:cNvSpPr txBox="1"/>
          <p:nvPr/>
        </p:nvSpPr>
        <p:spPr>
          <a:xfrm>
            <a:off x="3380952" y="2825495"/>
            <a:ext cx="224742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RSA</a:t>
            </a:r>
          </a:p>
        </p:txBody>
      </p:sp>
      <p:sp>
        <p:nvSpPr>
          <p:cNvPr id="18" name="TextBox 17"/>
          <p:cNvSpPr txBox="1"/>
          <p:nvPr/>
        </p:nvSpPr>
        <p:spPr>
          <a:xfrm>
            <a:off x="5792973" y="2825495"/>
            <a:ext cx="28504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829 bits, en 2020, con unos 2.700 años-núcleo de cómputo</a:t>
            </a:r>
          </a:p>
        </p:txBody>
      </p:sp>
      <p:sp>
        <p:nvSpPr>
          <p:cNvPr id="19" name="TextBox 18"/>
          <p:cNvSpPr txBox="1"/>
          <p:nvPr/>
        </p:nvSpPr>
        <p:spPr>
          <a:xfrm>
            <a:off x="8807999" y="2825495"/>
            <a:ext cx="264943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resuelve el algoritmo de Shor</a:t>
            </a:r>
          </a:p>
        </p:txBody>
      </p:sp>
      <p:sp>
        <p:nvSpPr>
          <p:cNvPr id="20" name="Rectangle 19"/>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65357"/>
            <a:ext cx="264943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Logaritmo discreto en enteros</a:t>
            </a:r>
          </a:p>
        </p:txBody>
      </p:sp>
      <p:sp>
        <p:nvSpPr>
          <p:cNvPr id="22" name="TextBox 21"/>
          <p:cNvSpPr txBox="1"/>
          <p:nvPr/>
        </p:nvSpPr>
        <p:spPr>
          <a:xfrm>
            <a:off x="3380952" y="3365357"/>
            <a:ext cx="224742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Diffie-Hellman clásico</a:t>
            </a:r>
          </a:p>
        </p:txBody>
      </p:sp>
      <p:sp>
        <p:nvSpPr>
          <p:cNvPr id="23" name="TextBox 22"/>
          <p:cNvSpPr txBox="1"/>
          <p:nvPr/>
        </p:nvSpPr>
        <p:spPr>
          <a:xfrm>
            <a:off x="5792973" y="3365357"/>
            <a:ext cx="2850434"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795 bits, en 2019</a:t>
            </a:r>
          </a:p>
        </p:txBody>
      </p:sp>
      <p:sp>
        <p:nvSpPr>
          <p:cNvPr id="24" name="TextBox 23"/>
          <p:cNvSpPr txBox="1"/>
          <p:nvPr/>
        </p:nvSpPr>
        <p:spPr>
          <a:xfrm>
            <a:off x="8807999" y="3365357"/>
            <a:ext cx="2649432"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resuelve el mismo algoritmo</a:t>
            </a:r>
          </a:p>
        </p:txBody>
      </p:sp>
      <p:sp>
        <p:nvSpPr>
          <p:cNvPr id="25" name="Rectangle 24"/>
          <p:cNvSpPr/>
          <p:nvPr/>
        </p:nvSpPr>
        <p:spPr>
          <a:xfrm>
            <a:off x="566928" y="37859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877421"/>
            <a:ext cx="2649432" cy="45720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Logaritmo discreto en curvas</a:t>
            </a:r>
          </a:p>
        </p:txBody>
      </p:sp>
      <p:sp>
        <p:nvSpPr>
          <p:cNvPr id="27" name="TextBox 26"/>
          <p:cNvSpPr txBox="1"/>
          <p:nvPr/>
        </p:nvSpPr>
        <p:spPr>
          <a:xfrm>
            <a:off x="3380952" y="3877421"/>
            <a:ext cx="224742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Curvas elípticas y sus firmas</a:t>
            </a:r>
          </a:p>
        </p:txBody>
      </p:sp>
      <p:sp>
        <p:nvSpPr>
          <p:cNvPr id="28" name="TextBox 27"/>
          <p:cNvSpPr txBox="1"/>
          <p:nvPr/>
        </p:nvSpPr>
        <p:spPr>
          <a:xfrm>
            <a:off x="5792973" y="3877421"/>
            <a:ext cx="2850434"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Alrededor de 112 bits</a:t>
            </a:r>
          </a:p>
        </p:txBody>
      </p:sp>
      <p:sp>
        <p:nvSpPr>
          <p:cNvPr id="29" name="TextBox 28"/>
          <p:cNvSpPr txBox="1"/>
          <p:nvPr/>
        </p:nvSpPr>
        <p:spPr>
          <a:xfrm>
            <a:off x="8807999" y="3877421"/>
            <a:ext cx="2649432"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También, y con menos recursos que RSA</a:t>
            </a:r>
          </a:p>
        </p:txBody>
      </p:sp>
      <p:sp>
        <p:nvSpPr>
          <p:cNvPr id="30" name="Rectangle 29"/>
          <p:cNvSpPr/>
          <p:nvPr/>
        </p:nvSpPr>
        <p:spPr>
          <a:xfrm>
            <a:off x="566928" y="429804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5290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654661"/>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67294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CONSECUENCIA</a:t>
            </a:r>
          </a:p>
        </p:txBody>
      </p:sp>
      <p:sp>
        <p:nvSpPr>
          <p:cNvPr id="34" name="TextBox 33"/>
          <p:cNvSpPr txBox="1"/>
          <p:nvPr/>
        </p:nvSpPr>
        <p:spPr>
          <a:xfrm>
            <a:off x="804672" y="4910693"/>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Duplicar el tamaño de la llave no protege contra Shor: apenas lo retrasa. </a:t>
            </a:r>
            <a:r>
              <a:rPr sz="1150" b="1">
                <a:solidFill>
                  <a:srgbClr val="2A2A2A"/>
                </a:solidFill>
                <a:latin typeface="Arial"/>
              </a:rPr>
              <a:t>Por eso la respuesta no son llaves más grandes sino problemas matemáticos distintos</a:t>
            </a:r>
            <a:r>
              <a:rPr sz="1150" b="0">
                <a:solidFill>
                  <a:srgbClr val="2A2A2A"/>
                </a:solidFill>
                <a:latin typeface="Arial"/>
              </a:rPr>
              <a:t>, que es exactamente lo que el NIST estandarizó en 2024. Es la sesión 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12  ALGORITMO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RSA Y LAS CURVAS ELÍPTICAS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Dos familias que resuelven lo mismo apoyándose en problemas matemáticos distintos. La diferencia práctica no está en la seguridad, sino en el tamaño y en el costo.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3067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NIVEL DE SEGURIDAD</a:t>
            </a:r>
          </a:p>
        </p:txBody>
      </p:sp>
      <p:sp>
        <p:nvSpPr>
          <p:cNvPr id="12" name="TextBox 11"/>
          <p:cNvSpPr txBox="1"/>
          <p:nvPr/>
        </p:nvSpPr>
        <p:spPr>
          <a:xfrm>
            <a:off x="2962198" y="2423159"/>
            <a:ext cx="204642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LLAVE RSA</a:t>
            </a:r>
          </a:p>
        </p:txBody>
      </p:sp>
      <p:sp>
        <p:nvSpPr>
          <p:cNvPr id="13" name="TextBox 12"/>
          <p:cNvSpPr txBox="1"/>
          <p:nvPr/>
        </p:nvSpPr>
        <p:spPr>
          <a:xfrm>
            <a:off x="5173218" y="2423159"/>
            <a:ext cx="259918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LLAVE DE CURVA ELÍPTICA</a:t>
            </a:r>
          </a:p>
        </p:txBody>
      </p:sp>
      <p:sp>
        <p:nvSpPr>
          <p:cNvPr id="14" name="TextBox 13"/>
          <p:cNvSpPr txBox="1"/>
          <p:nvPr/>
        </p:nvSpPr>
        <p:spPr>
          <a:xfrm>
            <a:off x="7936992" y="2423159"/>
            <a:ext cx="35204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OBSERVACIÓN</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223067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112 bits</a:t>
            </a:r>
          </a:p>
        </p:txBody>
      </p:sp>
      <p:sp>
        <p:nvSpPr>
          <p:cNvPr id="17" name="TextBox 16"/>
          <p:cNvSpPr txBox="1"/>
          <p:nvPr/>
        </p:nvSpPr>
        <p:spPr>
          <a:xfrm>
            <a:off x="2962198" y="2825495"/>
            <a:ext cx="2046427"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2048 bits</a:t>
            </a:r>
          </a:p>
        </p:txBody>
      </p:sp>
      <p:sp>
        <p:nvSpPr>
          <p:cNvPr id="18" name="TextBox 17"/>
          <p:cNvSpPr txBox="1"/>
          <p:nvPr/>
        </p:nvSpPr>
        <p:spPr>
          <a:xfrm>
            <a:off x="5173218" y="2825495"/>
            <a:ext cx="2599181"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224 bits</a:t>
            </a:r>
          </a:p>
        </p:txBody>
      </p:sp>
      <p:sp>
        <p:nvSpPr>
          <p:cNvPr id="19" name="TextBox 18"/>
          <p:cNvSpPr txBox="1"/>
          <p:nvPr/>
        </p:nvSpPr>
        <p:spPr>
          <a:xfrm>
            <a:off x="7936992" y="2825495"/>
            <a:ext cx="35204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Mínimo aceptable hoy; en retirada</a:t>
            </a:r>
          </a:p>
        </p:txBody>
      </p:sp>
      <p:sp>
        <p:nvSpPr>
          <p:cNvPr id="20" name="Rectangle 19"/>
          <p:cNvSpPr/>
          <p:nvPr/>
        </p:nvSpPr>
        <p:spPr>
          <a:xfrm>
            <a:off x="566928" y="31729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64407"/>
            <a:ext cx="2230678"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128 bits</a:t>
            </a:r>
          </a:p>
        </p:txBody>
      </p:sp>
      <p:sp>
        <p:nvSpPr>
          <p:cNvPr id="22" name="TextBox 21"/>
          <p:cNvSpPr txBox="1"/>
          <p:nvPr/>
        </p:nvSpPr>
        <p:spPr>
          <a:xfrm>
            <a:off x="2962198" y="3264407"/>
            <a:ext cx="204642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3072 bits</a:t>
            </a:r>
          </a:p>
        </p:txBody>
      </p:sp>
      <p:sp>
        <p:nvSpPr>
          <p:cNvPr id="23" name="TextBox 22"/>
          <p:cNvSpPr txBox="1"/>
          <p:nvPr/>
        </p:nvSpPr>
        <p:spPr>
          <a:xfrm>
            <a:off x="5173218" y="3264407"/>
            <a:ext cx="259918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256 bits</a:t>
            </a:r>
          </a:p>
        </p:txBody>
      </p:sp>
      <p:sp>
        <p:nvSpPr>
          <p:cNvPr id="24" name="TextBox 23"/>
          <p:cNvSpPr txBox="1"/>
          <p:nvPr/>
        </p:nvSpPr>
        <p:spPr>
          <a:xfrm>
            <a:off x="7936992" y="3264407"/>
            <a:ext cx="35204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punto de comparación habitual. Doce veces más pequeña</a:t>
            </a:r>
          </a:p>
        </p:txBody>
      </p:sp>
      <p:sp>
        <p:nvSpPr>
          <p:cNvPr id="25" name="Rectangle 24"/>
          <p:cNvSpPr/>
          <p:nvPr/>
        </p:nvSpPr>
        <p:spPr>
          <a:xfrm>
            <a:off x="566928" y="371282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804269"/>
            <a:ext cx="223067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192 bits</a:t>
            </a:r>
          </a:p>
        </p:txBody>
      </p:sp>
      <p:sp>
        <p:nvSpPr>
          <p:cNvPr id="27" name="TextBox 26"/>
          <p:cNvSpPr txBox="1"/>
          <p:nvPr/>
        </p:nvSpPr>
        <p:spPr>
          <a:xfrm>
            <a:off x="2962198" y="3804269"/>
            <a:ext cx="2046427"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7680 bits</a:t>
            </a:r>
          </a:p>
        </p:txBody>
      </p:sp>
      <p:sp>
        <p:nvSpPr>
          <p:cNvPr id="28" name="TextBox 27"/>
          <p:cNvSpPr txBox="1"/>
          <p:nvPr/>
        </p:nvSpPr>
        <p:spPr>
          <a:xfrm>
            <a:off x="5173218" y="3804269"/>
            <a:ext cx="2599181"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384 bits</a:t>
            </a:r>
          </a:p>
        </p:txBody>
      </p:sp>
      <p:sp>
        <p:nvSpPr>
          <p:cNvPr id="29" name="TextBox 28"/>
          <p:cNvSpPr txBox="1"/>
          <p:nvPr/>
        </p:nvSpPr>
        <p:spPr>
          <a:xfrm>
            <a:off x="7936992" y="3804269"/>
            <a:ext cx="35204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Entornos de alta exigencia</a:t>
            </a:r>
          </a:p>
        </p:txBody>
      </p:sp>
      <p:sp>
        <p:nvSpPr>
          <p:cNvPr id="30" name="Rectangle 29"/>
          <p:cNvSpPr/>
          <p:nvPr/>
        </p:nvSpPr>
        <p:spPr>
          <a:xfrm>
            <a:off x="566928" y="41517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243181"/>
            <a:ext cx="223067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256 bits</a:t>
            </a:r>
          </a:p>
        </p:txBody>
      </p:sp>
      <p:sp>
        <p:nvSpPr>
          <p:cNvPr id="32" name="TextBox 31"/>
          <p:cNvSpPr txBox="1"/>
          <p:nvPr/>
        </p:nvSpPr>
        <p:spPr>
          <a:xfrm>
            <a:off x="2962198" y="4243181"/>
            <a:ext cx="2046427"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15360 bits</a:t>
            </a:r>
          </a:p>
        </p:txBody>
      </p:sp>
      <p:sp>
        <p:nvSpPr>
          <p:cNvPr id="33" name="TextBox 32"/>
          <p:cNvSpPr txBox="1"/>
          <p:nvPr/>
        </p:nvSpPr>
        <p:spPr>
          <a:xfrm>
            <a:off x="5173218" y="4243181"/>
            <a:ext cx="2599181"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512 bits</a:t>
            </a:r>
          </a:p>
        </p:txBody>
      </p:sp>
      <p:sp>
        <p:nvSpPr>
          <p:cNvPr id="34" name="TextBox 33"/>
          <p:cNvSpPr txBox="1"/>
          <p:nvPr/>
        </p:nvSpPr>
        <p:spPr>
          <a:xfrm>
            <a:off x="7936992" y="4243181"/>
            <a:ext cx="35204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RSA se vuelve impracticable a este nivel</a:t>
            </a:r>
          </a:p>
        </p:txBody>
      </p:sp>
      <p:sp>
        <p:nvSpPr>
          <p:cNvPr id="35" name="Rectangle 34"/>
          <p:cNvSpPr/>
          <p:nvPr/>
        </p:nvSpPr>
        <p:spPr>
          <a:xfrm>
            <a:off x="566928" y="45906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4551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4947269"/>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496555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LA TABLA IMPORTA EN UNA APLICACIÓN MÓVIL</a:t>
            </a:r>
          </a:p>
        </p:txBody>
      </p:sp>
      <p:sp>
        <p:nvSpPr>
          <p:cNvPr id="39" name="TextBox 38"/>
          <p:cNvSpPr txBox="1"/>
          <p:nvPr/>
        </p:nvSpPr>
        <p:spPr>
          <a:xfrm>
            <a:off x="804672" y="5203301"/>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llave RSA de 3072 bits y una de curva elíptica de 256 ofrecen la misma resistencia, pero la segunda ocupa doce veces menos, se genera mucho más rápido y firma en una fracción del tiempo. </a:t>
            </a:r>
            <a:r>
              <a:rPr sz="1150" b="1">
                <a:solidFill>
                  <a:srgbClr val="2A2A2A"/>
                </a:solidFill>
                <a:latin typeface="Arial"/>
              </a:rPr>
              <a:t>En un teléfono, con batería y datos limitados, esa diferencia decide el diseño.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13  PRÁCTICA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TODO SISTEMA REAL ES HÍBRIDO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llave pública es entre cientos y miles de veces más lenta que la simétrica. Nadie cifra volúmenes con ella. Se usa para lo que la simétrica no puede: acordar la llave y firmar.</a:t>
            </a:r>
          </a:p>
        </p:txBody>
      </p:sp>
      <p:sp>
        <p:nvSpPr>
          <p:cNvPr id="10" name="Rectangle 9"/>
          <p:cNvSpPr/>
          <p:nvPr/>
        </p:nvSpPr>
        <p:spPr>
          <a:xfrm>
            <a:off x="566928" y="2304287"/>
            <a:ext cx="11055096" cy="184343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EL ESQUEMA HÍBRIDO, QUE ES EL ÚNICO QUE SE USA</a:t>
            </a:r>
          </a:p>
        </p:txBody>
      </p:sp>
      <p:sp>
        <p:nvSpPr>
          <p:cNvPr id="12" name="TextBox 11"/>
          <p:cNvSpPr txBox="1"/>
          <p:nvPr/>
        </p:nvSpPr>
        <p:spPr>
          <a:xfrm>
            <a:off x="768096" y="2633471"/>
            <a:ext cx="10652760" cy="142280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Lo que hace cualquier conexión segura, cada vez que alguien abre el portal:</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1. Llave pública  →  acordar una llave simétrica para esta sesión</a:t>
            </a:r>
          </a:p>
          <a:p>
            <a:pPr algn="l">
              <a:lnSpc>
                <a:spcPct val="130000"/>
              </a:lnSpc>
              <a:spcAft>
                <a:spcPts val="0"/>
              </a:spcAft>
            </a:pPr>
            <a:r>
              <a:rPr sz="950" b="0">
                <a:solidFill>
                  <a:srgbClr val="000000"/>
                </a:solidFill>
                <a:latin typeface="Consolas"/>
              </a:rPr>
              <a:t>  2. Firma digital  →  verificar que el servidor es quien dice ser</a:t>
            </a:r>
          </a:p>
          <a:p>
            <a:pPr algn="l">
              <a:lnSpc>
                <a:spcPct val="130000"/>
              </a:lnSpc>
              <a:spcAft>
                <a:spcPts val="0"/>
              </a:spcAft>
            </a:pPr>
            <a:r>
              <a:rPr sz="950" b="0">
                <a:solidFill>
                  <a:srgbClr val="000000"/>
                </a:solidFill>
                <a:latin typeface="Consolas"/>
              </a:rPr>
              <a:t>  3. AES en modo autenticado  →  cifrar todo el tráfico de la sesión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La parte lenta se usa una vez; la rápida hace el trabajo de verdad.</a:t>
            </a:r>
          </a:p>
        </p:txBody>
      </p:sp>
      <p:sp>
        <p:nvSpPr>
          <p:cNvPr id="13" name="Rectangle 12"/>
          <p:cNvSpPr/>
          <p:nvPr/>
        </p:nvSpPr>
        <p:spPr>
          <a:xfrm>
            <a:off x="566928" y="4403750"/>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42203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CONEXIÓN CON LA SESIÓN 2</a:t>
            </a:r>
          </a:p>
        </p:txBody>
      </p:sp>
      <p:sp>
        <p:nvSpPr>
          <p:cNvPr id="15" name="TextBox 14"/>
          <p:cNvSpPr txBox="1"/>
          <p:nvPr/>
        </p:nvSpPr>
        <p:spPr>
          <a:xfrm>
            <a:off x="804672" y="4659782"/>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punto 3 es exactamente lo que vimos el jueves pasado. Hoy estamos añadiendo los puntos 1 y 2, que son los que faltaban para que el esquema completo tenga sentido.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14  DETALLE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RSA A SECAS NO ES SEGURO: HACE FALTA EL RELLENO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Aplicar la operación matemática de RSA directamente sobre el mensaje, tal como aparece en los libros, es inseguro por dos razones que no son teóricas.</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LOS DOS PROBLEMAS</a:t>
            </a:r>
          </a:p>
        </p:txBody>
      </p:sp>
      <p:sp>
        <p:nvSpPr>
          <p:cNvPr id="11" name="TextBox 10"/>
          <p:cNvSpPr txBox="1"/>
          <p:nvPr/>
        </p:nvSpPr>
        <p:spPr>
          <a:xfrm>
            <a:off x="566928"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Es </a:t>
            </a:r>
            <a:r>
              <a:rPr sz="1150" b="1">
                <a:solidFill>
                  <a:srgbClr val="000000"/>
                </a:solidFill>
                <a:latin typeface="Arial"/>
              </a:rPr>
              <a:t>determinista</a:t>
            </a:r>
            <a:r>
              <a:rPr sz="1150" b="0">
                <a:solidFill>
                  <a:srgbClr val="000000"/>
                </a:solidFill>
                <a:latin typeface="Arial"/>
              </a:rPr>
              <a:t>: el mismo mensaje produce siempre el mismo criptograma, así que se puede adivinar por comparación cuando el espacio de mensajes es pequeño.</a:t>
            </a:r>
          </a:p>
          <a:p>
            <a:pPr algn="l">
              <a:lnSpc>
                <a:spcPct val="128000"/>
              </a:lnSpc>
              <a:spcAft>
                <a:spcPts val="700"/>
              </a:spcAft>
            </a:pPr>
            <a:r>
              <a:rPr sz="1150" b="0">
                <a:solidFill>
                  <a:srgbClr val="000000"/>
                </a:solidFill>
                <a:latin typeface="Arial"/>
              </a:rPr>
              <a:t>Es </a:t>
            </a:r>
            <a:r>
              <a:rPr sz="1150" b="1">
                <a:solidFill>
                  <a:srgbClr val="000000"/>
                </a:solidFill>
                <a:latin typeface="Arial"/>
              </a:rPr>
              <a:t>maleable</a:t>
            </a:r>
            <a:r>
              <a:rPr sz="1150" b="0">
                <a:solidFill>
                  <a:srgbClr val="000000"/>
                </a:solidFill>
                <a:latin typeface="Arial"/>
              </a:rPr>
              <a:t>: se puede transformar el criptograma para que el resultado descifrado cambie de forma predecible, sin conocer la llave.</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SOLUCIÓN Y SU HISTORIA</a:t>
            </a:r>
          </a:p>
        </p:txBody>
      </p:sp>
      <p:sp>
        <p:nvSpPr>
          <p:cNvPr id="13" name="TextBox 12"/>
          <p:cNvSpPr txBox="1"/>
          <p:nvPr/>
        </p:nvSpPr>
        <p:spPr>
          <a:xfrm>
            <a:off x="6368796"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Antes de operar se añade un relleno con aleatoriedad y estructura verificable.</a:t>
            </a:r>
          </a:p>
          <a:p>
            <a:pPr algn="l">
              <a:lnSpc>
                <a:spcPct val="128000"/>
              </a:lnSpc>
              <a:spcAft>
                <a:spcPts val="700"/>
              </a:spcAft>
            </a:pPr>
            <a:r>
              <a:rPr sz="1150" b="0">
                <a:solidFill>
                  <a:srgbClr val="000000"/>
                </a:solidFill>
                <a:latin typeface="Arial"/>
              </a:rPr>
              <a:t>Para cifrar, el relleno moderno se llama OAEP. Para firmar, PSS.</a:t>
            </a:r>
          </a:p>
          <a:p>
            <a:pPr algn="l">
              <a:lnSpc>
                <a:spcPct val="128000"/>
              </a:lnSpc>
              <a:spcAft>
                <a:spcPts val="700"/>
              </a:spcAft>
            </a:pPr>
            <a:r>
              <a:rPr sz="1150" b="0">
                <a:solidFill>
                  <a:srgbClr val="000000"/>
                </a:solidFill>
                <a:latin typeface="Arial"/>
              </a:rPr>
              <a:t>El relleno antiguo, todavía muy presente, permitió el ataque de Bleichenbacher de 1998, que reapareció en 2017 afectando a productos de varios fabricantes.</a:t>
            </a:r>
          </a:p>
        </p:txBody>
      </p:sp>
      <p:sp>
        <p:nvSpPr>
          <p:cNvPr id="14" name="Rectangle 13"/>
          <p:cNvSpPr/>
          <p:nvPr/>
        </p:nvSpPr>
        <p:spPr>
          <a:xfrm>
            <a:off x="6085332" y="2304287"/>
            <a:ext cx="9144"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434840"/>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4531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QUE SE REPITE EN TODO EL MÓDULO</a:t>
            </a:r>
          </a:p>
        </p:txBody>
      </p:sp>
      <p:sp>
        <p:nvSpPr>
          <p:cNvPr id="17" name="TextBox 16"/>
          <p:cNvSpPr txBox="1"/>
          <p:nvPr/>
        </p:nvSpPr>
        <p:spPr>
          <a:xfrm>
            <a:off x="804672" y="4690872"/>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algoritmo era correcto; </a:t>
            </a:r>
            <a:r>
              <a:rPr sz="1150" b="1">
                <a:solidFill>
                  <a:srgbClr val="2A2A2A"/>
                </a:solidFill>
                <a:latin typeface="Arial"/>
              </a:rPr>
              <a:t>lo que estaba mal era cómo se usaba</a:t>
            </a:r>
            <a:r>
              <a:rPr sz="1150" b="0">
                <a:solidFill>
                  <a:srgbClr val="2A2A2A"/>
                </a:solidFill>
                <a:latin typeface="Arial"/>
              </a:rPr>
              <a:t>. Es exactamente lo mismo que vimos con el modo del cifrado en la sesión 2 y con la sal en la sesión 3. Nunca se implementa criptografía a mano: se usa una biblioteca que ya tomó estas decisiones.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15  FUNDAMENTO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QUÉ ES UNA CURVA ELÍPTICA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hay que saber operarla para decidir sobre ella, pero sí entender de dónde sale su fortaleza, porque es la misma idea que sostiene casi toda la criptografía moderna.</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PUERTA DE UN SOLO SENTIDO</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La curva: los puntos (x, y) que cumplen  y² = x³ + a·x + b,  con aritmética módulo un primo.</a:t>
            </a:r>
          </a:p>
          <a:p>
            <a:pPr algn="l">
              <a:lnSpc>
                <a:spcPct val="130000"/>
              </a:lnSpc>
              <a:spcAft>
                <a:spcPts val="0"/>
              </a:spcAft>
            </a:pPr>
            <a:r>
              <a:rPr sz="950" b="0">
                <a:solidFill>
                  <a:srgbClr val="000000"/>
                </a:solidFill>
                <a:latin typeface="Consolas"/>
              </a:rPr>
              <a:t>Sobre la curva se define una operación de SUMA entre dos puntos.</a:t>
            </a:r>
          </a:p>
          <a:p>
            <a:pPr algn="l">
              <a:lnSpc>
                <a:spcPct val="130000"/>
              </a:lnSpc>
              <a:spcAft>
                <a:spcPts val="0"/>
              </a:spcAft>
            </a:pPr>
            <a:r>
              <a:rPr sz="950" b="0">
                <a:solidFill>
                  <a:srgbClr val="000000"/>
                </a:solidFill>
                <a:latin typeface="Consolas"/>
              </a:rPr>
              <a:t>Sumar un punto consigo mismo n veces se llama multiplicarlo por 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Llave privada  =  el número n, secreto</a:t>
            </a:r>
          </a:p>
          <a:p>
            <a:pPr algn="l">
              <a:lnSpc>
                <a:spcPct val="130000"/>
              </a:lnSpc>
              <a:spcAft>
                <a:spcPts val="0"/>
              </a:spcAft>
            </a:pPr>
            <a:r>
              <a:rPr sz="950" b="0">
                <a:solidFill>
                  <a:srgbClr val="000000"/>
                </a:solidFill>
                <a:latin typeface="Consolas"/>
              </a:rPr>
              <a:t>  Llave pública  =  el punto que resulta de multiplicar el punto base por 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Multiplicar es barato. Recuperar n conociendo los dos puntos es el</a:t>
            </a:r>
          </a:p>
          <a:p>
            <a:pPr algn="l">
              <a:lnSpc>
                <a:spcPct val="130000"/>
              </a:lnSpc>
              <a:spcAft>
                <a:spcPts val="0"/>
              </a:spcAft>
            </a:pPr>
            <a:r>
              <a:rPr sz="950" b="0">
                <a:solidFill>
                  <a:srgbClr val="000000"/>
                </a:solidFill>
                <a:latin typeface="Consolas"/>
              </a:rPr>
              <a:t>problema del logaritmo discreto sobre la curva, y no se conoce ninguna</a:t>
            </a:r>
          </a:p>
          <a:p>
            <a:pPr algn="l">
              <a:lnSpc>
                <a:spcPct val="130000"/>
              </a:lnSpc>
              <a:spcAft>
                <a:spcPts val="0"/>
              </a:spcAft>
            </a:pPr>
            <a:r>
              <a:rPr sz="950" b="0">
                <a:solidFill>
                  <a:srgbClr val="000000"/>
                </a:solidFill>
                <a:latin typeface="Consolas"/>
              </a:rPr>
              <a:t>forma eficiente de resolverlo con un computador clásico.</a:t>
            </a:r>
          </a:p>
        </p:txBody>
      </p:sp>
      <p:sp>
        <p:nvSpPr>
          <p:cNvPr id="13" name="Rectangle 12"/>
          <p:cNvSpPr/>
          <p:nvPr/>
        </p:nvSpPr>
        <p:spPr>
          <a:xfrm>
            <a:off x="566928" y="502920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IMPORTA EL ADJETIVO CLÁSICO</a:t>
            </a:r>
          </a:p>
        </p:txBody>
      </p:sp>
      <p:sp>
        <p:nvSpPr>
          <p:cNvPr id="15" name="TextBox 14"/>
          <p:cNvSpPr txBox="1"/>
          <p:nvPr/>
        </p:nvSpPr>
        <p:spPr>
          <a:xfrm>
            <a:off x="804672" y="528523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Esa última palabra es la que abre la sesión 6. Un computador cuántico de escala suficiente sí sabría resolver ese problema, y también el de RSA. </a:t>
            </a:r>
            <a:r>
              <a:rPr sz="1150" b="1">
                <a:solidFill>
                  <a:srgbClr val="2A2A2A"/>
                </a:solidFill>
                <a:latin typeface="Arial"/>
              </a:rPr>
              <a:t>Todo lo de hoy tiene fecha de caducidad conocida.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16  DECISIÓN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CURVA ESCOGER Y CUÁLES EVITAR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20</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30413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CURVA</a:t>
            </a:r>
          </a:p>
        </p:txBody>
      </p:sp>
      <p:sp>
        <p:nvSpPr>
          <p:cNvPr id="11" name="TextBox 10"/>
          <p:cNvSpPr txBox="1"/>
          <p:nvPr/>
        </p:nvSpPr>
        <p:spPr>
          <a:xfrm>
            <a:off x="3772905" y="1673352"/>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ORIGEN Y USO</a:t>
            </a:r>
          </a:p>
        </p:txBody>
      </p:sp>
      <p:sp>
        <p:nvSpPr>
          <p:cNvPr id="12" name="TextBox 11"/>
          <p:cNvSpPr txBox="1"/>
          <p:nvPr/>
        </p:nvSpPr>
        <p:spPr>
          <a:xfrm>
            <a:off x="8194944" y="1673352"/>
            <a:ext cx="32624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RECOMENDACIÓN</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P-256 y P-384</a:t>
            </a:r>
          </a:p>
        </p:txBody>
      </p:sp>
      <p:sp>
        <p:nvSpPr>
          <p:cNvPr id="15" name="TextBox 14"/>
          <p:cNvSpPr txBox="1"/>
          <p:nvPr/>
        </p:nvSpPr>
        <p:spPr>
          <a:xfrm>
            <a:off x="3772905" y="2075688"/>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Estándar del NIST. Las exige la mayoría de normas sectoriales y de proveedores de certificados</a:t>
            </a:r>
          </a:p>
        </p:txBody>
      </p:sp>
      <p:sp>
        <p:nvSpPr>
          <p:cNvPr id="16" name="TextBox 15"/>
          <p:cNvSpPr txBox="1"/>
          <p:nvPr/>
        </p:nvSpPr>
        <p:spPr>
          <a:xfrm>
            <a:off x="8194944" y="2075688"/>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Opción segura y con el respaldo normativo que una entidad vigilada necesita</a:t>
            </a:r>
          </a:p>
        </p:txBody>
      </p:sp>
      <p:sp>
        <p:nvSpPr>
          <p:cNvPr id="17" name="Rectangle 16"/>
          <p:cNvSpPr/>
          <p:nvPr/>
        </p:nvSpPr>
        <p:spPr>
          <a:xfrm>
            <a:off x="566928" y="2524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615549"/>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Curve25519 · Ed25519</a:t>
            </a:r>
          </a:p>
        </p:txBody>
      </p:sp>
      <p:sp>
        <p:nvSpPr>
          <p:cNvPr id="19" name="TextBox 18"/>
          <p:cNvSpPr txBox="1"/>
          <p:nvPr/>
        </p:nvSpPr>
        <p:spPr>
          <a:xfrm>
            <a:off x="3772905" y="2615549"/>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Diseño abierto, parámetros justificados públicamente, firma determinista</a:t>
            </a:r>
          </a:p>
        </p:txBody>
      </p:sp>
      <p:sp>
        <p:nvSpPr>
          <p:cNvPr id="20" name="TextBox 19"/>
          <p:cNvSpPr txBox="1"/>
          <p:nvPr/>
        </p:nvSpPr>
        <p:spPr>
          <a:xfrm>
            <a:off x="8194944" y="2615549"/>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Preferible cuando se puede escoger: menos formas de implementarla mal</a:t>
            </a:r>
          </a:p>
        </p:txBody>
      </p:sp>
      <p:sp>
        <p:nvSpPr>
          <p:cNvPr id="21" name="Rectangle 20"/>
          <p:cNvSpPr/>
          <p:nvPr/>
        </p:nvSpPr>
        <p:spPr>
          <a:xfrm>
            <a:off x="566928" y="30639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155411"/>
            <a:ext cx="3041385"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Curvas por debajo de 224 bits</a:t>
            </a:r>
          </a:p>
        </p:txBody>
      </p:sp>
      <p:sp>
        <p:nvSpPr>
          <p:cNvPr id="23" name="TextBox 22"/>
          <p:cNvSpPr txBox="1"/>
          <p:nvPr/>
        </p:nvSpPr>
        <p:spPr>
          <a:xfrm>
            <a:off x="3772905" y="3155411"/>
            <a:ext cx="4257446"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Equipos antiguos y dispositivos limitados</a:t>
            </a:r>
          </a:p>
        </p:txBody>
      </p:sp>
      <p:sp>
        <p:nvSpPr>
          <p:cNvPr id="24" name="TextBox 23"/>
          <p:cNvSpPr txBox="1"/>
          <p:nvPr/>
        </p:nvSpPr>
        <p:spPr>
          <a:xfrm>
            <a:off x="8194944" y="3155411"/>
            <a:ext cx="3262487"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Retirar. Ya no ofrecen margen suficiente</a:t>
            </a:r>
          </a:p>
        </p:txBody>
      </p:sp>
      <p:sp>
        <p:nvSpPr>
          <p:cNvPr id="25" name="Rectangle 24"/>
          <p:cNvSpPr/>
          <p:nvPr/>
        </p:nvSpPr>
        <p:spPr>
          <a:xfrm>
            <a:off x="566928" y="359432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85763"/>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Curvas de parámetros sin justificar</a:t>
            </a:r>
          </a:p>
        </p:txBody>
      </p:sp>
      <p:sp>
        <p:nvSpPr>
          <p:cNvPr id="27" name="TextBox 26"/>
          <p:cNvSpPr txBox="1"/>
          <p:nvPr/>
        </p:nvSpPr>
        <p:spPr>
          <a:xfrm>
            <a:off x="3772905" y="3685763"/>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Propuestas de fabricante o curvas propias</a:t>
            </a:r>
          </a:p>
        </p:txBody>
      </p:sp>
      <p:sp>
        <p:nvSpPr>
          <p:cNvPr id="28" name="TextBox 27"/>
          <p:cNvSpPr txBox="1"/>
          <p:nvPr/>
        </p:nvSpPr>
        <p:spPr>
          <a:xfrm>
            <a:off x="8194944" y="3685763"/>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Evitar. Si nadie puede explicar de dónde salieron los números, no se usa</a:t>
            </a:r>
          </a:p>
        </p:txBody>
      </p:sp>
      <p:sp>
        <p:nvSpPr>
          <p:cNvPr id="29" name="Rectangle 28"/>
          <p:cNvSpPr/>
          <p:nvPr/>
        </p:nvSpPr>
        <p:spPr>
          <a:xfrm>
            <a:off x="566928" y="41341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8904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90801"/>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50908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ANTECEDENTE QUE EXPLICA LA ÚLTIMA FILA</a:t>
            </a:r>
          </a:p>
        </p:txBody>
      </p:sp>
      <p:sp>
        <p:nvSpPr>
          <p:cNvPr id="33" name="TextBox 32"/>
          <p:cNvSpPr txBox="1"/>
          <p:nvPr/>
        </p:nvSpPr>
        <p:spPr>
          <a:xfrm>
            <a:off x="804672" y="4746833"/>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2014 el NIST retiró un generador de números aleatorios basado en curvas elípticas después de años de sospechas de que sus constantes escondían una puerta trasera. </a:t>
            </a:r>
            <a:r>
              <a:rPr sz="1150" b="1">
                <a:solidFill>
                  <a:srgbClr val="2A2A2A"/>
                </a:solidFill>
                <a:latin typeface="Arial"/>
              </a:rPr>
              <a:t>Desde entonces, no poder explicar de dónde salió un parámetro es motivo suficiente para descartarlo.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17  PROPIEDAD</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CONFIDENCIALIDAD PERSISTENTE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Una propiedad que no se ve, que no cuesta nada activar y que decide qué pasa con todo el tráfico grabado si algún día se roban la llave del servidor.</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SIN ELLA</a:t>
            </a:r>
          </a:p>
        </p:txBody>
      </p:sp>
      <p:sp>
        <p:nvSpPr>
          <p:cNvPr id="11" name="TextBox 10"/>
          <p:cNvSpPr txBox="1"/>
          <p:nvPr/>
        </p:nvSpPr>
        <p:spPr>
          <a:xfrm>
            <a:off x="566928"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llave de sesión se protege con la llave privada permanente del servidor.</a:t>
            </a:r>
          </a:p>
          <a:p>
            <a:pPr algn="l">
              <a:lnSpc>
                <a:spcPct val="128000"/>
              </a:lnSpc>
              <a:spcAft>
                <a:spcPts val="700"/>
              </a:spcAft>
            </a:pPr>
            <a:r>
              <a:rPr sz="1150" b="0">
                <a:solidFill>
                  <a:srgbClr val="000000"/>
                </a:solidFill>
                <a:latin typeface="Arial"/>
              </a:rPr>
              <a:t>Quien grabe el tráfico cifrado hoy y consiga esa llave privada dentro de cinco años puede descifrar, de golpe, </a:t>
            </a:r>
            <a:r>
              <a:rPr sz="1150" b="1">
                <a:solidFill>
                  <a:srgbClr val="000000"/>
                </a:solidFill>
                <a:latin typeface="Arial"/>
              </a:rPr>
              <a:t>todo lo que grabó</a:t>
            </a:r>
            <a:r>
              <a:rPr sz="1150" b="0">
                <a:solidFill>
                  <a:srgbClr val="000000"/>
                </a:solidFill>
                <a:latin typeface="Arial"/>
              </a:rPr>
              <a:t>.</a:t>
            </a:r>
          </a:p>
          <a:p>
            <a:pPr algn="l">
              <a:lnSpc>
                <a:spcPct val="128000"/>
              </a:lnSpc>
              <a:spcAft>
                <a:spcPts val="700"/>
              </a:spcAft>
            </a:pPr>
            <a:r>
              <a:rPr sz="1150" b="0">
                <a:solidFill>
                  <a:srgbClr val="000000"/>
                </a:solidFill>
                <a:latin typeface="Arial"/>
              </a:rPr>
              <a:t>Grabar hoy para descifrar mañana es una estrategia real, no una hipótesis.</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CON ELLA</a:t>
            </a:r>
          </a:p>
        </p:txBody>
      </p:sp>
      <p:sp>
        <p:nvSpPr>
          <p:cNvPr id="13" name="TextBox 12"/>
          <p:cNvSpPr txBox="1"/>
          <p:nvPr/>
        </p:nvSpPr>
        <p:spPr>
          <a:xfrm>
            <a:off x="6368796"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En cada conexión se genera una pareja de llaves efímera, que se usa para acordar la llave de sesión y se descarta.</a:t>
            </a:r>
          </a:p>
          <a:p>
            <a:pPr algn="l">
              <a:lnSpc>
                <a:spcPct val="128000"/>
              </a:lnSpc>
              <a:spcAft>
                <a:spcPts val="700"/>
              </a:spcAft>
            </a:pPr>
            <a:r>
              <a:rPr sz="1150" b="0">
                <a:solidFill>
                  <a:srgbClr val="000000"/>
                </a:solidFill>
                <a:latin typeface="Arial"/>
              </a:rPr>
              <a:t>La llave permanente solo se usa para firmar, es decir, para demostrar identidad.</a:t>
            </a:r>
          </a:p>
          <a:p>
            <a:pPr algn="l">
              <a:lnSpc>
                <a:spcPct val="128000"/>
              </a:lnSpc>
              <a:spcAft>
                <a:spcPts val="700"/>
              </a:spcAft>
            </a:pPr>
            <a:r>
              <a:rPr sz="1150" b="0">
                <a:solidFill>
                  <a:srgbClr val="000000"/>
                </a:solidFill>
                <a:latin typeface="Arial"/>
              </a:rPr>
              <a:t>Si mañana se roban la llave del servidor, el tráfico de ayer sigue siendo ilegible.</a:t>
            </a:r>
          </a:p>
        </p:txBody>
      </p:sp>
      <p:sp>
        <p:nvSpPr>
          <p:cNvPr id="14" name="Rectangle 13"/>
          <p:cNvSpPr/>
          <p:nvPr/>
        </p:nvSpPr>
        <p:spPr>
          <a:xfrm>
            <a:off x="6085332" y="2304287"/>
            <a:ext cx="9144"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434840"/>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4531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ESTO SIGNIFICA PARA COOPABURRÁ</a:t>
            </a:r>
          </a:p>
        </p:txBody>
      </p:sp>
      <p:sp>
        <p:nvSpPr>
          <p:cNvPr id="17" name="TextBox 16"/>
          <p:cNvSpPr txBox="1"/>
          <p:nvPr/>
        </p:nvSpPr>
        <p:spPr>
          <a:xfrm>
            <a:off x="804672" y="4690872"/>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portal admite todavía protocolos antiguos, según la evidencia A. Algunos de sus acuerdos de llave no tienen esta propiedad. </a:t>
            </a:r>
            <a:r>
              <a:rPr sz="1150" b="1">
                <a:solidFill>
                  <a:srgbClr val="2A2A2A"/>
                </a:solidFill>
                <a:latin typeface="Arial"/>
              </a:rPr>
              <a:t>Cada sesión de banca en línea grabada por alguien en estos años quedaría expuesta el día que se comprometa la llave del servidor</a:t>
            </a:r>
            <a:r>
              <a:rPr sz="1150" b="0">
                <a:solidFill>
                  <a:srgbClr val="2A2A2A"/>
                </a:solidFill>
                <a:latin typeface="Arial"/>
              </a:rPr>
              <a:t>, que está en un equipo sin custodia desde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18  CUSTODIA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DÓNDE VIVE LA LLAVE PRIVADA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Toda la seguridad del esquema descansa en una sola suposición: que la llave privada la tiene una sola parte. Dónde se guarde es, por lo tanto, la decisión de diseño más importante.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a:t>
            </a:r>
          </a:p>
        </p:txBody>
      </p:sp>
      <p:sp>
        <p:nvSpPr>
          <p:cNvPr id="12" name="TextBox 11"/>
          <p:cNvSpPr txBox="1"/>
          <p:nvPr/>
        </p:nvSpPr>
        <p:spPr>
          <a:xfrm>
            <a:off x="4215109"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GARANTIZA</a:t>
            </a:r>
          </a:p>
        </p:txBody>
      </p:sp>
      <p:sp>
        <p:nvSpPr>
          <p:cNvPr id="13" name="TextBox 12"/>
          <p:cNvSpPr txBox="1"/>
          <p:nvPr/>
        </p:nvSpPr>
        <p:spPr>
          <a:xfrm>
            <a:off x="8416046" y="2423159"/>
            <a:ext cx="30413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USO TÍPICO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48358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Archivo protegido con contraseña</a:t>
            </a:r>
          </a:p>
        </p:txBody>
      </p:sp>
      <p:sp>
        <p:nvSpPr>
          <p:cNvPr id="16" name="TextBox 15"/>
          <p:cNvSpPr txBox="1"/>
          <p:nvPr/>
        </p:nvSpPr>
        <p:spPr>
          <a:xfrm>
            <a:off x="4215109" y="2825495"/>
            <a:ext cx="4036344"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Casi nada: se copia con el archivo</a:t>
            </a:r>
          </a:p>
        </p:txBody>
      </p:sp>
      <p:sp>
        <p:nvSpPr>
          <p:cNvPr id="17" name="TextBox 16"/>
          <p:cNvSpPr txBox="1"/>
          <p:nvPr/>
        </p:nvSpPr>
        <p:spPr>
          <a:xfrm>
            <a:off x="8416046" y="2825495"/>
            <a:ext cx="3041385"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Pruebas y desarrollo, nunca producción</a:t>
            </a:r>
          </a:p>
        </p:txBody>
      </p:sp>
      <p:sp>
        <p:nvSpPr>
          <p:cNvPr id="18" name="Rectangle 17"/>
          <p:cNvSpPr/>
          <p:nvPr/>
        </p:nvSpPr>
        <p:spPr>
          <a:xfrm>
            <a:off x="566928" y="31729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64407"/>
            <a:ext cx="348358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Almacén de llaves del sistema operativo</a:t>
            </a:r>
          </a:p>
        </p:txBody>
      </p:sp>
      <p:sp>
        <p:nvSpPr>
          <p:cNvPr id="20" name="TextBox 19"/>
          <p:cNvSpPr txBox="1"/>
          <p:nvPr/>
        </p:nvSpPr>
        <p:spPr>
          <a:xfrm>
            <a:off x="4215109" y="3264407"/>
            <a:ext cx="4036344"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Queda atada a la cuenta del usuario</a:t>
            </a:r>
          </a:p>
        </p:txBody>
      </p:sp>
      <p:sp>
        <p:nvSpPr>
          <p:cNvPr id="21" name="TextBox 20"/>
          <p:cNvSpPr txBox="1"/>
          <p:nvPr/>
        </p:nvSpPr>
        <p:spPr>
          <a:xfrm>
            <a:off x="8416046" y="3264407"/>
            <a:ext cx="3041385"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Estaciones de trabajo</a:t>
            </a:r>
          </a:p>
        </p:txBody>
      </p:sp>
      <p:sp>
        <p:nvSpPr>
          <p:cNvPr id="22" name="Rectangle 21"/>
          <p:cNvSpPr/>
          <p:nvPr/>
        </p:nvSpPr>
        <p:spPr>
          <a:xfrm>
            <a:off x="566928" y="36118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03319"/>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Enclave seguro del teléfono</a:t>
            </a:r>
          </a:p>
        </p:txBody>
      </p:sp>
      <p:sp>
        <p:nvSpPr>
          <p:cNvPr id="24" name="TextBox 23"/>
          <p:cNvSpPr txBox="1"/>
          <p:nvPr/>
        </p:nvSpPr>
        <p:spPr>
          <a:xfrm>
            <a:off x="4215109" y="3703319"/>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se genera dentro y no sale nunca; el uso exige biometría</a:t>
            </a:r>
          </a:p>
        </p:txBody>
      </p:sp>
      <p:sp>
        <p:nvSpPr>
          <p:cNvPr id="25" name="TextBox 24"/>
          <p:cNvSpPr txBox="1"/>
          <p:nvPr/>
        </p:nvSpPr>
        <p:spPr>
          <a:xfrm>
            <a:off x="8416046" y="3703319"/>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Banca móvil. Es la pieza que Coopaburrá no está usando</a:t>
            </a:r>
          </a:p>
        </p:txBody>
      </p:sp>
      <p:sp>
        <p:nvSpPr>
          <p:cNvPr id="26" name="Rectangle 25"/>
          <p:cNvSpPr/>
          <p:nvPr/>
        </p:nvSpPr>
        <p:spPr>
          <a:xfrm>
            <a:off x="566928" y="41517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43181"/>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Token criptográfico o tarjeta</a:t>
            </a:r>
          </a:p>
        </p:txBody>
      </p:sp>
      <p:sp>
        <p:nvSpPr>
          <p:cNvPr id="28" name="TextBox 27"/>
          <p:cNvSpPr txBox="1"/>
          <p:nvPr/>
        </p:nvSpPr>
        <p:spPr>
          <a:xfrm>
            <a:off x="4215109" y="4243181"/>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Portátil, protegida por PIN, no extraíble</a:t>
            </a:r>
          </a:p>
        </p:txBody>
      </p:sp>
      <p:sp>
        <p:nvSpPr>
          <p:cNvPr id="29" name="TextBox 28"/>
          <p:cNvSpPr txBox="1"/>
          <p:nvPr/>
        </p:nvSpPr>
        <p:spPr>
          <a:xfrm>
            <a:off x="8416046" y="4243181"/>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de personas: representante legal, revisor fiscal</a:t>
            </a:r>
          </a:p>
        </p:txBody>
      </p:sp>
      <p:sp>
        <p:nvSpPr>
          <p:cNvPr id="30" name="Rectangle 29"/>
          <p:cNvSpPr/>
          <p:nvPr/>
        </p:nvSpPr>
        <p:spPr>
          <a:xfrm>
            <a:off x="566928" y="46916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783043"/>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Módulo de hardware dedicado</a:t>
            </a:r>
          </a:p>
        </p:txBody>
      </p:sp>
      <p:sp>
        <p:nvSpPr>
          <p:cNvPr id="32" name="TextBox 31"/>
          <p:cNvSpPr txBox="1"/>
          <p:nvPr/>
        </p:nvSpPr>
        <p:spPr>
          <a:xfrm>
            <a:off x="4215109" y="4783043"/>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Doble control, ceremonia registrada, resistencia física certificada</a:t>
            </a:r>
          </a:p>
        </p:txBody>
      </p:sp>
      <p:sp>
        <p:nvSpPr>
          <p:cNvPr id="33" name="TextBox 32"/>
          <p:cNvSpPr txBox="1"/>
          <p:nvPr/>
        </p:nvSpPr>
        <p:spPr>
          <a:xfrm>
            <a:off x="8416046" y="4783043"/>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Llaves de la organización y de los cajeros: el hallazgo H6</a:t>
            </a:r>
          </a:p>
        </p:txBody>
      </p:sp>
      <p:sp>
        <p:nvSpPr>
          <p:cNvPr id="34" name="Rectangle 33"/>
          <p:cNvSpPr/>
          <p:nvPr/>
        </p:nvSpPr>
        <p:spPr>
          <a:xfrm>
            <a:off x="566928" y="52314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28632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04</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FIRMA DIGITAL</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El único mecanismo que produce una prueba oponible ante un tercero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19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PASA REALMENTE AL FIRMAR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Firmar no es cifrar el documento con la llave privada, aunque muchos manuales lo expliquen así. Son dos pasos y el primero es una función resumen, que ya conocemos.</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LOS DOS PASOS DE CADA LADO</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FIRMAR</a:t>
            </a:r>
          </a:p>
          <a:p>
            <a:pPr algn="l">
              <a:lnSpc>
                <a:spcPct val="130000"/>
              </a:lnSpc>
              <a:spcAft>
                <a:spcPts val="0"/>
              </a:spcAft>
            </a:pPr>
            <a:r>
              <a:rPr sz="950" b="0">
                <a:solidFill>
                  <a:srgbClr val="000000"/>
                </a:solidFill>
                <a:latin typeface="Consolas"/>
              </a:rPr>
              <a:t>  1. Se calcula el resumen del documento              SHA-256(documento)</a:t>
            </a:r>
          </a:p>
          <a:p>
            <a:pPr algn="l">
              <a:lnSpc>
                <a:spcPct val="130000"/>
              </a:lnSpc>
              <a:spcAft>
                <a:spcPts val="0"/>
              </a:spcAft>
            </a:pPr>
            <a:r>
              <a:rPr sz="950" b="0">
                <a:solidFill>
                  <a:srgbClr val="000000"/>
                </a:solidFill>
                <a:latin typeface="Consolas"/>
              </a:rPr>
              <a:t>  2. Se opera ese resumen con la llave privada        →  firma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VERIFICAR</a:t>
            </a:r>
          </a:p>
          <a:p>
            <a:pPr algn="l">
              <a:lnSpc>
                <a:spcPct val="130000"/>
              </a:lnSpc>
              <a:spcAft>
                <a:spcPts val="0"/>
              </a:spcAft>
            </a:pPr>
            <a:r>
              <a:rPr sz="950" b="0">
                <a:solidFill>
                  <a:srgbClr val="000000"/>
                </a:solidFill>
                <a:latin typeface="Consolas"/>
              </a:rPr>
              <a:t>  1. Se calcula de nuevo el resumen del documento recibido</a:t>
            </a:r>
          </a:p>
          <a:p>
            <a:pPr algn="l">
              <a:lnSpc>
                <a:spcPct val="130000"/>
              </a:lnSpc>
              <a:spcAft>
                <a:spcPts val="0"/>
              </a:spcAft>
            </a:pPr>
            <a:r>
              <a:rPr sz="950" b="0">
                <a:solidFill>
                  <a:srgbClr val="000000"/>
                </a:solidFill>
                <a:latin typeface="Consolas"/>
              </a:rPr>
              <a:t>  2. Se opera la firma con la llave pública del firmante</a:t>
            </a:r>
          </a:p>
          <a:p>
            <a:pPr algn="l">
              <a:lnSpc>
                <a:spcPct val="130000"/>
              </a:lnSpc>
              <a:spcAft>
                <a:spcPts val="0"/>
              </a:spcAft>
            </a:pPr>
            <a:r>
              <a:rPr sz="950" b="0">
                <a:solidFill>
                  <a:srgbClr val="000000"/>
                </a:solidFill>
                <a:latin typeface="Consolas"/>
              </a:rPr>
              <a:t>  3. Si ambos coinciden: el documento no cambió y lo firmó el titular</a:t>
            </a:r>
          </a:p>
        </p:txBody>
      </p:sp>
      <p:sp>
        <p:nvSpPr>
          <p:cNvPr id="13" name="Rectangle 12"/>
          <p:cNvSpPr/>
          <p:nvPr/>
        </p:nvSpPr>
        <p:spPr>
          <a:xfrm>
            <a:off x="566928" y="4612233"/>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SE FIRMA EL RESUMEN Y NO EL DOCUMENTO</a:t>
            </a:r>
          </a:p>
        </p:txBody>
      </p:sp>
      <p:sp>
        <p:nvSpPr>
          <p:cNvPr id="15" name="TextBox 14"/>
          <p:cNvSpPr txBox="1"/>
          <p:nvPr/>
        </p:nvSpPr>
        <p:spPr>
          <a:xfrm>
            <a:off x="804672" y="4868265"/>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Por velocidad, porque la operación asimétrica es lenta y el resumen siempre mide lo mismo. Pero también por esto: </a:t>
            </a:r>
            <a:r>
              <a:rPr sz="1150" b="1">
                <a:solidFill>
                  <a:srgbClr val="2A2A2A"/>
                </a:solidFill>
                <a:latin typeface="Arial"/>
              </a:rPr>
              <a:t>si la función resumen tiene colisiones, la firma sobre un documento vale para otro</a:t>
            </a:r>
            <a:r>
              <a:rPr sz="1150" b="0">
                <a:solidFill>
                  <a:srgbClr val="2A2A2A"/>
                </a:solidFill>
                <a:latin typeface="Arial"/>
              </a:rPr>
              <a:t>. Por eso firmar con SHA-1 dejó de ser aceptable, y por eso la sesión del martes viene antes que esta.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20  ALCANCE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PRUEBA UNA FIRMA Y QUÉ NO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25</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536295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LA FIRMA PRUEBA</a:t>
            </a:r>
          </a:p>
        </p:txBody>
      </p:sp>
      <p:sp>
        <p:nvSpPr>
          <p:cNvPr id="11" name="TextBox 10"/>
          <p:cNvSpPr txBox="1"/>
          <p:nvPr/>
        </p:nvSpPr>
        <p:spPr>
          <a:xfrm>
            <a:off x="6094476" y="1673352"/>
            <a:ext cx="536295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LA FIRMA NO PRUEBA</a:t>
            </a:r>
          </a:p>
        </p:txBody>
      </p:sp>
      <p:sp>
        <p:nvSpPr>
          <p:cNvPr id="12" name="Rectangle 11"/>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5362956"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el documento no fue alterado después de firmarlo</a:t>
            </a:r>
          </a:p>
        </p:txBody>
      </p:sp>
      <p:sp>
        <p:nvSpPr>
          <p:cNvPr id="14" name="TextBox 13"/>
          <p:cNvSpPr txBox="1"/>
          <p:nvPr/>
        </p:nvSpPr>
        <p:spPr>
          <a:xfrm>
            <a:off x="6094476" y="2075688"/>
            <a:ext cx="5362956" cy="475488"/>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Cuándo se firmó. La fecha del sistema la pone quien firma y se puede cambiar</a:t>
            </a:r>
          </a:p>
        </p:txBody>
      </p:sp>
      <p:sp>
        <p:nvSpPr>
          <p:cNvPr id="15" name="Rectangle 14"/>
          <p:cNvSpPr/>
          <p:nvPr/>
        </p:nvSpPr>
        <p:spPr>
          <a:xfrm>
            <a:off x="566928" y="251460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06040"/>
            <a:ext cx="5362956"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quien firmó tenía la llave privada en ese momento</a:t>
            </a:r>
          </a:p>
        </p:txBody>
      </p:sp>
      <p:sp>
        <p:nvSpPr>
          <p:cNvPr id="17" name="TextBox 16"/>
          <p:cNvSpPr txBox="1"/>
          <p:nvPr/>
        </p:nvSpPr>
        <p:spPr>
          <a:xfrm>
            <a:off x="6094476" y="2606040"/>
            <a:ext cx="5362956" cy="475488"/>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Que quien firmó fuera el titular legítimo, si la llave estaba comprometida</a:t>
            </a:r>
          </a:p>
        </p:txBody>
      </p:sp>
      <p:sp>
        <p:nvSpPr>
          <p:cNvPr id="18" name="Rectangle 17"/>
          <p:cNvSpPr/>
          <p:nvPr/>
        </p:nvSpPr>
        <p:spPr>
          <a:xfrm>
            <a:off x="566928" y="304495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36392"/>
            <a:ext cx="5362956"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cualquiera puede verificarlo sin secretos compartidos</a:t>
            </a:r>
          </a:p>
        </p:txBody>
      </p:sp>
      <p:sp>
        <p:nvSpPr>
          <p:cNvPr id="20" name="TextBox 19"/>
          <p:cNvSpPr txBox="1"/>
          <p:nvPr/>
        </p:nvSpPr>
        <p:spPr>
          <a:xfrm>
            <a:off x="6094476" y="3136392"/>
            <a:ext cx="5362956" cy="475488"/>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A quién pertenece la llave pública: eso lo dice el certificado, no la firma</a:t>
            </a:r>
          </a:p>
        </p:txBody>
      </p:sp>
      <p:sp>
        <p:nvSpPr>
          <p:cNvPr id="21" name="Rectangle 20"/>
          <p:cNvSpPr/>
          <p:nvPr/>
        </p:nvSpPr>
        <p:spPr>
          <a:xfrm>
            <a:off x="566928" y="357530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666744"/>
            <a:ext cx="5362956"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el firmante no puede negarlo de forma creíble</a:t>
            </a:r>
          </a:p>
        </p:txBody>
      </p:sp>
      <p:sp>
        <p:nvSpPr>
          <p:cNvPr id="23" name="TextBox 22"/>
          <p:cNvSpPr txBox="1"/>
          <p:nvPr/>
        </p:nvSpPr>
        <p:spPr>
          <a:xfrm>
            <a:off x="6094476" y="3666744"/>
            <a:ext cx="5362956" cy="475488"/>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Que el firmante entendiera o aceptara el contenido</a:t>
            </a:r>
          </a:p>
        </p:txBody>
      </p:sp>
      <p:sp>
        <p:nvSpPr>
          <p:cNvPr id="24" name="Rectangle 23"/>
          <p:cNvSpPr/>
          <p:nvPr/>
        </p:nvSpPr>
        <p:spPr>
          <a:xfrm>
            <a:off x="566928" y="41056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416052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62272"/>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4805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LAS DOS CARENCIAS QUE SE CUBREN DESPUÉS</a:t>
            </a:r>
          </a:p>
        </p:txBody>
      </p:sp>
      <p:sp>
        <p:nvSpPr>
          <p:cNvPr id="28" name="TextBox 27"/>
          <p:cNvSpPr txBox="1"/>
          <p:nvPr/>
        </p:nvSpPr>
        <p:spPr>
          <a:xfrm>
            <a:off x="804672" y="4718304"/>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fecha se resuelve con un sello de tiempo de un tercero, que vemos en la sesión 6. La pertenencia de la llave pública se resuelve con certificados, que es la sesión del martes. </a:t>
            </a:r>
            <a:r>
              <a:rPr sz="1150" b="1">
                <a:solidFill>
                  <a:srgbClr val="2A2A2A"/>
                </a:solidFill>
                <a:latin typeface="Arial"/>
              </a:rPr>
              <a:t>Una firma sola no basta: es una pieza de un sistema.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21  RIESGO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NÚMERO QUE DEBE SER ÚNICO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esquemas de firma más usados necesitan, en cada firma, un número aleatorio irrepetible. Es el mismo requisito que ya vimos dos veces, y su incumplimiento es catastrófico de una forma particular.</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PASA SI SE REPITE</a:t>
            </a:r>
          </a:p>
        </p:txBody>
      </p:sp>
      <p:sp>
        <p:nvSpPr>
          <p:cNvPr id="11" name="TextBox 10"/>
          <p:cNvSpPr txBox="1"/>
          <p:nvPr/>
        </p:nvSpPr>
        <p:spPr>
          <a:xfrm>
            <a:off x="566928" y="2578607"/>
            <a:ext cx="5253228" cy="16459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Con dos firmas hechas con el mismo número, la matemática permite despejar la llave privada.</a:t>
            </a:r>
          </a:p>
          <a:p>
            <a:pPr algn="l">
              <a:lnSpc>
                <a:spcPct val="128000"/>
              </a:lnSpc>
              <a:spcAft>
                <a:spcPts val="700"/>
              </a:spcAft>
            </a:pPr>
            <a:r>
              <a:rPr sz="1150" b="0">
                <a:solidFill>
                  <a:srgbClr val="000000"/>
                </a:solidFill>
                <a:latin typeface="Arial"/>
              </a:rPr>
              <a:t>No se filtra el documento: se filtra la llave. El atacante puede firmar en nombre del titular desde ese momento y hacia atrás.</a:t>
            </a:r>
          </a:p>
          <a:p>
            <a:pPr algn="l">
              <a:lnSpc>
                <a:spcPct val="128000"/>
              </a:lnSpc>
              <a:spcAft>
                <a:spcPts val="700"/>
              </a:spcAft>
            </a:pPr>
            <a:r>
              <a:rPr sz="1150" b="0">
                <a:solidFill>
                  <a:srgbClr val="000000"/>
                </a:solidFill>
                <a:latin typeface="Arial"/>
              </a:rPr>
              <a:t>Es lo que ocurrió en el caso de la consola de videojuegos que vimos en la sesión 1.</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SE EVITA HOY</a:t>
            </a:r>
          </a:p>
        </p:txBody>
      </p:sp>
      <p:sp>
        <p:nvSpPr>
          <p:cNvPr id="13" name="TextBox 12"/>
          <p:cNvSpPr txBox="1"/>
          <p:nvPr/>
        </p:nvSpPr>
        <p:spPr>
          <a:xfrm>
            <a:off x="6368796" y="2578607"/>
            <a:ext cx="5253228" cy="16459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Con un generador criptográfico correcto, como ya sabemos.</a:t>
            </a:r>
          </a:p>
          <a:p>
            <a:pPr algn="l">
              <a:lnSpc>
                <a:spcPct val="128000"/>
              </a:lnSpc>
              <a:spcAft>
                <a:spcPts val="700"/>
              </a:spcAft>
            </a:pPr>
            <a:r>
              <a:rPr sz="1150" b="0">
                <a:solidFill>
                  <a:srgbClr val="000000"/>
                </a:solidFill>
                <a:latin typeface="Arial"/>
              </a:rPr>
              <a:t>O mejor: con esquemas deterministas, que derivan ese número del propio mensaje y de la llave privada, de modo que no depende de la calidad del generador.</a:t>
            </a:r>
          </a:p>
          <a:p>
            <a:pPr algn="l">
              <a:lnSpc>
                <a:spcPct val="128000"/>
              </a:lnSpc>
              <a:spcAft>
                <a:spcPts val="700"/>
              </a:spcAft>
            </a:pPr>
            <a:r>
              <a:rPr sz="1150" b="0">
                <a:solidFill>
                  <a:srgbClr val="000000"/>
                </a:solidFill>
                <a:latin typeface="Arial"/>
              </a:rPr>
              <a:t>Es una de las razones por las que los esquemas modernos de curva elíptica son preferibles.</a:t>
            </a:r>
          </a:p>
        </p:txBody>
      </p:sp>
      <p:sp>
        <p:nvSpPr>
          <p:cNvPr id="14" name="Rectangle 13"/>
          <p:cNvSpPr/>
          <p:nvPr/>
        </p:nvSpPr>
        <p:spPr>
          <a:xfrm>
            <a:off x="6085332" y="2304287"/>
            <a:ext cx="9144" cy="1920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22  ESQUEMAS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ECDSA Y ED25519: LAS DOS FIRMAS DE CURVA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27</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Las dos firmas de curva más usadas difieren justo en lo de la diapositiva anterior: el número de cada firma.</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2" name="TextBox 11"/>
          <p:cNvSpPr txBox="1"/>
          <p:nvPr/>
        </p:nvSpPr>
        <p:spPr>
          <a:xfrm>
            <a:off x="3220151" y="2185415"/>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ECDSA</a:t>
            </a:r>
          </a:p>
        </p:txBody>
      </p:sp>
      <p:sp>
        <p:nvSpPr>
          <p:cNvPr id="13" name="TextBox 12"/>
          <p:cNvSpPr txBox="1"/>
          <p:nvPr/>
        </p:nvSpPr>
        <p:spPr>
          <a:xfrm>
            <a:off x="7421087" y="2185415"/>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ED25519</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2488631"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Origen</a:t>
            </a:r>
          </a:p>
        </p:txBody>
      </p:sp>
      <p:sp>
        <p:nvSpPr>
          <p:cNvPr id="16" name="TextBox 15"/>
          <p:cNvSpPr txBox="1"/>
          <p:nvPr/>
        </p:nvSpPr>
        <p:spPr>
          <a:xfrm>
            <a:off x="3220151" y="2587751"/>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Estándar del NIST desde 2000, curvas P-256 y P-384</a:t>
            </a:r>
          </a:p>
        </p:txBody>
      </p:sp>
      <p:sp>
        <p:nvSpPr>
          <p:cNvPr id="17" name="TextBox 16"/>
          <p:cNvSpPr txBox="1"/>
          <p:nvPr/>
        </p:nvSpPr>
        <p:spPr>
          <a:xfrm>
            <a:off x="7421087" y="2587751"/>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 2011; IETF en 2017; admitido por el NIST en 2023</a:t>
            </a:r>
          </a:p>
        </p:txBody>
      </p:sp>
      <p:sp>
        <p:nvSpPr>
          <p:cNvPr id="18" name="Rectangle 17"/>
          <p:cNvSpPr/>
          <p:nvPr/>
        </p:nvSpPr>
        <p:spPr>
          <a:xfrm>
            <a:off x="566928" y="29169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08375"/>
            <a:ext cx="2488631"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Número por firma</a:t>
            </a:r>
          </a:p>
        </p:txBody>
      </p:sp>
      <p:sp>
        <p:nvSpPr>
          <p:cNvPr id="20" name="TextBox 19"/>
          <p:cNvSpPr txBox="1"/>
          <p:nvPr/>
        </p:nvSpPr>
        <p:spPr>
          <a:xfrm>
            <a:off x="3220151" y="3008375"/>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Aleatorio: si el generador falla, se filtra la llave</a:t>
            </a:r>
          </a:p>
        </p:txBody>
      </p:sp>
      <p:sp>
        <p:nvSpPr>
          <p:cNvPr id="21" name="TextBox 20"/>
          <p:cNvSpPr txBox="1"/>
          <p:nvPr/>
        </p:nvSpPr>
        <p:spPr>
          <a:xfrm>
            <a:off x="7421087" y="3008375"/>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Determinista: sale del mensaje y de la llave</a:t>
            </a:r>
          </a:p>
        </p:txBody>
      </p:sp>
      <p:sp>
        <p:nvSpPr>
          <p:cNvPr id="22" name="Rectangle 21"/>
          <p:cNvSpPr/>
          <p:nvPr/>
        </p:nvSpPr>
        <p:spPr>
          <a:xfrm>
            <a:off x="566928" y="33375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428999"/>
            <a:ext cx="2488631"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Implementación</a:t>
            </a:r>
          </a:p>
        </p:txBody>
      </p:sp>
      <p:sp>
        <p:nvSpPr>
          <p:cNvPr id="24" name="TextBox 23"/>
          <p:cNvSpPr txBox="1"/>
          <p:nvPr/>
        </p:nvSpPr>
        <p:spPr>
          <a:xfrm>
            <a:off x="3220151" y="3428999"/>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varias trampas conocidas; exige cuidado</a:t>
            </a:r>
          </a:p>
        </p:txBody>
      </p:sp>
      <p:sp>
        <p:nvSpPr>
          <p:cNvPr id="25" name="TextBox 24"/>
          <p:cNvSpPr txBox="1"/>
          <p:nvPr/>
        </p:nvSpPr>
        <p:spPr>
          <a:xfrm>
            <a:off x="7421087" y="3428999"/>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Diseñada para dejar pocas formas de equivocarse</a:t>
            </a:r>
          </a:p>
        </p:txBody>
      </p:sp>
      <p:sp>
        <p:nvSpPr>
          <p:cNvPr id="26" name="Rectangle 25"/>
          <p:cNvSpPr/>
          <p:nvPr/>
        </p:nvSpPr>
        <p:spPr>
          <a:xfrm>
            <a:off x="566928" y="37581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849623"/>
            <a:ext cx="2488631"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Rendimiento</a:t>
            </a:r>
          </a:p>
        </p:txBody>
      </p:sp>
      <p:sp>
        <p:nvSpPr>
          <p:cNvPr id="28" name="TextBox 27"/>
          <p:cNvSpPr txBox="1"/>
          <p:nvPr/>
        </p:nvSpPr>
        <p:spPr>
          <a:xfrm>
            <a:off x="3220151" y="3849623"/>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Bueno</a:t>
            </a:r>
          </a:p>
        </p:txBody>
      </p:sp>
      <p:sp>
        <p:nvSpPr>
          <p:cNvPr id="29" name="TextBox 28"/>
          <p:cNvSpPr txBox="1"/>
          <p:nvPr/>
        </p:nvSpPr>
        <p:spPr>
          <a:xfrm>
            <a:off x="7421087" y="3849623"/>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Mejor, tanto al firmar como al verificar</a:t>
            </a:r>
          </a:p>
        </p:txBody>
      </p:sp>
      <p:sp>
        <p:nvSpPr>
          <p:cNvPr id="30" name="Rectangle 29"/>
          <p:cNvSpPr/>
          <p:nvPr/>
        </p:nvSpPr>
        <p:spPr>
          <a:xfrm>
            <a:off x="566928" y="417880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270247"/>
            <a:ext cx="2488631"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aparece</a:t>
            </a:r>
          </a:p>
        </p:txBody>
      </p:sp>
      <p:sp>
        <p:nvSpPr>
          <p:cNvPr id="32" name="TextBox 31"/>
          <p:cNvSpPr txBox="1"/>
          <p:nvPr/>
        </p:nvSpPr>
        <p:spPr>
          <a:xfrm>
            <a:off x="3220151" y="4270247"/>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Certificados, canal seguro, documentos firmados</a:t>
            </a:r>
          </a:p>
        </p:txBody>
      </p:sp>
      <p:sp>
        <p:nvSpPr>
          <p:cNvPr id="33" name="TextBox 32"/>
          <p:cNvSpPr txBox="1"/>
          <p:nvPr/>
        </p:nvSpPr>
        <p:spPr>
          <a:xfrm>
            <a:off x="7421087" y="4270247"/>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Acceso remoto, firma de software, sistemas nuevos</a:t>
            </a:r>
          </a:p>
        </p:txBody>
      </p:sp>
      <p:sp>
        <p:nvSpPr>
          <p:cNvPr id="34" name="Rectangle 33"/>
          <p:cNvSpPr/>
          <p:nvPr/>
        </p:nvSpPr>
        <p:spPr>
          <a:xfrm>
            <a:off x="566928" y="45994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65429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956047"/>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743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EL REDISEÑO DE H2</a:t>
            </a:r>
          </a:p>
        </p:txBody>
      </p:sp>
      <p:sp>
        <p:nvSpPr>
          <p:cNvPr id="38" name="TextBox 37"/>
          <p:cNvSpPr txBox="1"/>
          <p:nvPr/>
        </p:nvSpPr>
        <p:spPr>
          <a:xfrm>
            <a:off x="804672" y="5212079"/>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el teléfono y el servidor lo admiten, Ed25519 elimina de raíz el riesgo del número repetido. </a:t>
            </a:r>
            <a:r>
              <a:rPr sz="1150" b="1">
                <a:solidFill>
                  <a:srgbClr val="2A2A2A"/>
                </a:solidFill>
                <a:latin typeface="Arial"/>
              </a:rPr>
              <a:t>Si la normativa o el proveedor exigen curvas del NIST</a:t>
            </a:r>
            <a:r>
              <a:rPr sz="1150" b="0">
                <a:solidFill>
                  <a:srgbClr val="2A2A2A"/>
                </a:solidFill>
                <a:latin typeface="Arial"/>
              </a:rPr>
              <a:t>, ECDSA con número determinista, que también está estandarizado, es la alternativa.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23  DISEÑO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SE FIRMA EXACTAMENTE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pregunta parece trivial y no lo es. La mayoría de los fraudes sobre sistemas que sí firman no rompen la firma: aprovechan que se firmó lo que no era.</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EL CONTENIDO DE UNA OPERACIÓN FIRMADA</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MAL:  se firma  "transferencia aprobada"</a:t>
            </a:r>
          </a:p>
          <a:p>
            <a:pPr algn="l">
              <a:lnSpc>
                <a:spcPct val="130000"/>
              </a:lnSpc>
              <a:spcAft>
                <a:spcPts val="0"/>
              </a:spcAft>
            </a:pPr>
            <a:r>
              <a:rPr sz="950" b="0">
                <a:solidFill>
                  <a:srgbClr val="000000"/>
                </a:solidFill>
                <a:latin typeface="Consolas"/>
              </a:rPr>
              <a:t>      el servidor ejecuta la operación que tenga en sesión.</a:t>
            </a:r>
          </a:p>
          <a:p>
            <a:pPr algn="l">
              <a:lnSpc>
                <a:spcPct val="130000"/>
              </a:lnSpc>
              <a:spcAft>
                <a:spcPts val="0"/>
              </a:spcAft>
            </a:pPr>
            <a:r>
              <a:rPr sz="950" b="0">
                <a:solidFill>
                  <a:srgbClr val="000000"/>
                </a:solidFill>
                <a:latin typeface="Consolas"/>
              </a:rPr>
              <a:t>      El atacante cambia la operación y la firma sigue siendo válida.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BIEN: se firma el contenido completo y sin ambigüedad:</a:t>
            </a:r>
          </a:p>
          <a:p>
            <a:pPr algn="l">
              <a:lnSpc>
                <a:spcPct val="130000"/>
              </a:lnSpc>
              <a:spcAft>
                <a:spcPts val="0"/>
              </a:spcAft>
            </a:pPr>
            <a:r>
              <a:rPr sz="950" b="0">
                <a:solidFill>
                  <a:srgbClr val="000000"/>
                </a:solidFill>
                <a:latin typeface="Consolas"/>
              </a:rPr>
              <a:t>      asociado · dispositivo · cuenta destino · monto · moneda ·</a:t>
            </a:r>
          </a:p>
          <a:p>
            <a:pPr algn="l">
              <a:lnSpc>
                <a:spcPct val="130000"/>
              </a:lnSpc>
              <a:spcAft>
                <a:spcPts val="0"/>
              </a:spcAft>
            </a:pPr>
            <a:r>
              <a:rPr sz="950" b="0">
                <a:solidFill>
                  <a:srgbClr val="000000"/>
                </a:solidFill>
                <a:latin typeface="Consolas"/>
              </a:rPr>
              <a:t>      fecha y hora · número único de operación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El servidor verifica la firma Y comprueba que el contenido firmado sea</a:t>
            </a:r>
          </a:p>
          <a:p>
            <a:pPr algn="l">
              <a:lnSpc>
                <a:spcPct val="130000"/>
              </a:lnSpc>
              <a:spcAft>
                <a:spcPts val="0"/>
              </a:spcAft>
            </a:pPr>
            <a:r>
              <a:rPr sz="950" b="0">
                <a:solidFill>
                  <a:srgbClr val="000000"/>
                </a:solidFill>
                <a:latin typeface="Consolas"/>
              </a:rPr>
              <a:t>exactamente la operación que va a ejecutar. Las dos cosas, siempre.</a:t>
            </a:r>
          </a:p>
        </p:txBody>
      </p:sp>
      <p:sp>
        <p:nvSpPr>
          <p:cNvPr id="13" name="Rectangle 12"/>
          <p:cNvSpPr/>
          <p:nvPr/>
        </p:nvSpPr>
        <p:spPr>
          <a:xfrm>
            <a:off x="566928" y="502920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NÚMERO ÚNICO DE OPERACIÓN NO ES DECORACIÓN</a:t>
            </a:r>
          </a:p>
        </p:txBody>
      </p:sp>
      <p:sp>
        <p:nvSpPr>
          <p:cNvPr id="15" name="TextBox 14"/>
          <p:cNvSpPr txBox="1"/>
          <p:nvPr/>
        </p:nvSpPr>
        <p:spPr>
          <a:xfrm>
            <a:off x="804672" y="528523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Sin él, una operación firmada válida se puede reenviar diez veces y las diez son auténticas. </a:t>
            </a:r>
            <a:r>
              <a:rPr sz="1150" b="1">
                <a:solidFill>
                  <a:srgbClr val="2A2A2A"/>
                </a:solidFill>
                <a:latin typeface="Arial"/>
              </a:rPr>
              <a:t>Firmar bien no impide reproducir</a:t>
            </a:r>
            <a:r>
              <a:rPr sz="1150" b="0">
                <a:solidFill>
                  <a:srgbClr val="2A2A2A"/>
                </a:solidFill>
                <a:latin typeface="Arial"/>
              </a:rPr>
              <a:t>: hay que rechazar explícitamente lo ya visto.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24  PANTALLA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SE VE ES LO QUE SE FIRMA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Firmar el contenido completo resuelve la mitad del problema. La otra mitad es garantizar que lo que el asociado vio en la pantalla es lo mismo que el enclave firmó.</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ATAQUE</a:t>
            </a:r>
          </a:p>
        </p:txBody>
      </p:sp>
      <p:sp>
        <p:nvSpPr>
          <p:cNvPr id="11" name="TextBox 10"/>
          <p:cNvSpPr txBox="1"/>
          <p:nvPr/>
        </p:nvSpPr>
        <p:spPr>
          <a:xfrm>
            <a:off x="566928"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programa malicioso en el teléfono muestra «transferir 50.000 a mi hermana» y le entrega al enclave «transferir 5.000.000 a otra cuenta».</a:t>
            </a:r>
          </a:p>
          <a:p>
            <a:pPr algn="l">
              <a:lnSpc>
                <a:spcPct val="128000"/>
              </a:lnSpc>
              <a:spcAft>
                <a:spcPts val="700"/>
              </a:spcAft>
            </a:pPr>
            <a:r>
              <a:rPr sz="1150" b="0">
                <a:solidFill>
                  <a:srgbClr val="000000"/>
                </a:solidFill>
                <a:latin typeface="Arial"/>
              </a:rPr>
              <a:t>El asociado pone la huella convencido de lo que vio. La firma es válida, y el no repudio juega en su contra.</a:t>
            </a:r>
          </a:p>
          <a:p>
            <a:pPr algn="l">
              <a:lnSpc>
                <a:spcPct val="128000"/>
              </a:lnSpc>
              <a:spcAft>
                <a:spcPts val="700"/>
              </a:spcAft>
            </a:pPr>
            <a:r>
              <a:rPr sz="1150" b="0">
                <a:solidFill>
                  <a:srgbClr val="000000"/>
                </a:solidFill>
                <a:latin typeface="Arial"/>
              </a:rPr>
              <a:t>No hay criptografía rota: el engaño ocurre antes de firmar.</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LAS DEFENSAS</a:t>
            </a:r>
          </a:p>
        </p:txBody>
      </p:sp>
      <p:sp>
        <p:nvSpPr>
          <p:cNvPr id="13" name="TextBox 12"/>
          <p:cNvSpPr txBox="1"/>
          <p:nvPr/>
        </p:nvSpPr>
        <p:spPr>
          <a:xfrm>
            <a:off x="6368796"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Confirmación protegida del sistema operativo: el monto y el destino se muestran en una pantalla que la aplicación no puede dibujar.</a:t>
            </a:r>
          </a:p>
          <a:p>
            <a:pPr algn="l">
              <a:lnSpc>
                <a:spcPct val="128000"/>
              </a:lnSpc>
              <a:spcAft>
                <a:spcPts val="700"/>
              </a:spcAft>
            </a:pPr>
            <a:r>
              <a:rPr sz="1150" b="0">
                <a:solidFill>
                  <a:srgbClr val="000000"/>
                </a:solidFill>
                <a:latin typeface="Arial"/>
              </a:rPr>
              <a:t>Confirmación por un segundo canal para montos altos o destinos nuevos.</a:t>
            </a:r>
          </a:p>
          <a:p>
            <a:pPr algn="l">
              <a:lnSpc>
                <a:spcPct val="128000"/>
              </a:lnSpc>
              <a:spcAft>
                <a:spcPts val="700"/>
              </a:spcAft>
            </a:pPr>
            <a:r>
              <a:rPr sz="1150" b="0">
                <a:solidFill>
                  <a:srgbClr val="000000"/>
                </a:solidFill>
                <a:latin typeface="Arial"/>
              </a:rPr>
              <a:t>Límites y demoras para cuentas recién inscritas: el fraude suele ir a destinos nuevos.</a:t>
            </a:r>
          </a:p>
        </p:txBody>
      </p:sp>
      <p:sp>
        <p:nvSpPr>
          <p:cNvPr id="14" name="Rectangle 13"/>
          <p:cNvSpPr/>
          <p:nvPr/>
        </p:nvSpPr>
        <p:spPr>
          <a:xfrm>
            <a:off x="6085332" y="2304287"/>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663440"/>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6817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ESTO VA EN EL INFORME</a:t>
            </a:r>
          </a:p>
        </p:txBody>
      </p:sp>
      <p:sp>
        <p:nvSpPr>
          <p:cNvPr id="17" name="TextBox 16"/>
          <p:cNvSpPr txBox="1"/>
          <p:nvPr/>
        </p:nvSpPr>
        <p:spPr>
          <a:xfrm>
            <a:off x="804672" y="4919472"/>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no repudio es un arma de doble filo: </a:t>
            </a:r>
            <a:r>
              <a:rPr sz="1150" b="1">
                <a:solidFill>
                  <a:srgbClr val="2A2A2A"/>
                </a:solidFill>
                <a:latin typeface="Arial"/>
              </a:rPr>
              <a:t>si el esquema no garantiza lo que el asociado vio, la cooperativa termina probando contra su propio cliente una operación que él no quiso hacer</a:t>
            </a:r>
            <a:r>
              <a:rPr sz="1150" b="0">
                <a:solidFill>
                  <a:srgbClr val="2A2A2A"/>
                </a:solidFill>
                <a:latin typeface="Arial"/>
              </a:rPr>
              <a:t>. Un juez lo va a preguntar.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25  ERRORES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CINCO FORMAS DE IMPLEMENTAR MAL UNA FIRMA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30</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EL ERROR</a:t>
            </a:r>
          </a:p>
        </p:txBody>
      </p:sp>
      <p:sp>
        <p:nvSpPr>
          <p:cNvPr id="11" name="TextBox 10"/>
          <p:cNvSpPr txBox="1"/>
          <p:nvPr/>
        </p:nvSpPr>
        <p:spPr>
          <a:xfrm>
            <a:off x="5431170" y="1673352"/>
            <a:ext cx="602626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ROMPE TODO</a:t>
            </a:r>
          </a:p>
        </p:txBody>
      </p:sp>
      <p:sp>
        <p:nvSpPr>
          <p:cNvPr id="12" name="Rectangle 11"/>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Aceptar el algoritmo que el propio mensaje declara</a:t>
            </a:r>
          </a:p>
        </p:txBody>
      </p:sp>
      <p:sp>
        <p:nvSpPr>
          <p:cNvPr id="14" name="TextBox 13"/>
          <p:cNvSpPr txBox="1"/>
          <p:nvPr/>
        </p:nvSpPr>
        <p:spPr>
          <a:xfrm>
            <a:off x="5431170" y="2075688"/>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Hubo bibliotecas que aceptaban un mensaje que decía venir sin firma y lo daban por válido. El verificador debe fijar de antemano qué algoritmo espera</a:t>
            </a:r>
          </a:p>
        </p:txBody>
      </p:sp>
      <p:sp>
        <p:nvSpPr>
          <p:cNvPr id="15" name="Rectangle 14"/>
          <p:cNvSpPr/>
          <p:nvPr/>
        </p:nvSpPr>
        <p:spPr>
          <a:xfrm>
            <a:off x="566928" y="2524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15549"/>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Verificar la firma y no comparar el contenido</a:t>
            </a:r>
          </a:p>
        </p:txBody>
      </p:sp>
      <p:sp>
        <p:nvSpPr>
          <p:cNvPr id="17" name="TextBox 16"/>
          <p:cNvSpPr txBox="1"/>
          <p:nvPr/>
        </p:nvSpPr>
        <p:spPr>
          <a:xfrm>
            <a:off x="5431170" y="2615549"/>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es correcta, pero es la de otra operación. Es el error del que hablábamos en la diapositiva anterior</a:t>
            </a:r>
          </a:p>
        </p:txBody>
      </p:sp>
      <p:sp>
        <p:nvSpPr>
          <p:cNvPr id="18" name="Rectangle 17"/>
          <p:cNvSpPr/>
          <p:nvPr/>
        </p:nvSpPr>
        <p:spPr>
          <a:xfrm>
            <a:off x="566928" y="30639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55411"/>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No rechazar operaciones repetidas</a:t>
            </a:r>
          </a:p>
        </p:txBody>
      </p:sp>
      <p:sp>
        <p:nvSpPr>
          <p:cNvPr id="20" name="TextBox 19"/>
          <p:cNvSpPr txBox="1"/>
          <p:nvPr/>
        </p:nvSpPr>
        <p:spPr>
          <a:xfrm>
            <a:off x="5431170" y="3155411"/>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transferencia legítima reenviada sigue verificando. Hay que llevar registro de los números ya usados</a:t>
            </a:r>
          </a:p>
        </p:txBody>
      </p:sp>
      <p:sp>
        <p:nvSpPr>
          <p:cNvPr id="21" name="Rectangle 20"/>
          <p:cNvSpPr/>
          <p:nvPr/>
        </p:nvSpPr>
        <p:spPr>
          <a:xfrm>
            <a:off x="566928" y="360383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695273"/>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Confundir firma válida con identidad probada</a:t>
            </a:r>
          </a:p>
        </p:txBody>
      </p:sp>
      <p:sp>
        <p:nvSpPr>
          <p:cNvPr id="23" name="TextBox 22"/>
          <p:cNvSpPr txBox="1"/>
          <p:nvPr/>
        </p:nvSpPr>
        <p:spPr>
          <a:xfrm>
            <a:off x="5431170" y="3695273"/>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firma válida prueba que quien firmó tenía esa llave privada, no quién es. Eso lo dice el certificado</a:t>
            </a:r>
          </a:p>
        </p:txBody>
      </p:sp>
      <p:sp>
        <p:nvSpPr>
          <p:cNvPr id="24" name="Rectangle 23"/>
          <p:cNvSpPr/>
          <p:nvPr/>
        </p:nvSpPr>
        <p:spPr>
          <a:xfrm>
            <a:off x="566928" y="41436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235135"/>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Usar la misma pareja para cifrar y para firmar</a:t>
            </a:r>
          </a:p>
        </p:txBody>
      </p:sp>
      <p:sp>
        <p:nvSpPr>
          <p:cNvPr id="26" name="TextBox 25"/>
          <p:cNvSpPr txBox="1"/>
          <p:nvPr/>
        </p:nvSpPr>
        <p:spPr>
          <a:xfrm>
            <a:off x="5431170" y="4235135"/>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Mezcla dos usos con ciclos de vida distintos y, en algunos esquemas, permite ataques cruzados</a:t>
            </a:r>
          </a:p>
        </p:txBody>
      </p:sp>
      <p:sp>
        <p:nvSpPr>
          <p:cNvPr id="27" name="Rectangle 26"/>
          <p:cNvSpPr/>
          <p:nvPr/>
        </p:nvSpPr>
        <p:spPr>
          <a:xfrm>
            <a:off x="566928" y="46835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73842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26  COMPARACIÓN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CÓDIGO DE AUTENTICACIÓN O FIRMA: CUÁL Y CUÁNDO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es que uno sustituya al otro. Cada uno resuelve un problema distinto y confundirlos es justamente lo que hizo la fábrica de software de Coopaburrá.</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59918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2" name="TextBox 11"/>
          <p:cNvSpPr txBox="1"/>
          <p:nvPr/>
        </p:nvSpPr>
        <p:spPr>
          <a:xfrm>
            <a:off x="3330702"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CÓDIGO DE AUTENTICACIÓN</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FIRMA DIGITAL</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59918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a:t>
            </a:r>
          </a:p>
        </p:txBody>
      </p:sp>
      <p:sp>
        <p:nvSpPr>
          <p:cNvPr id="16" name="TextBox 15"/>
          <p:cNvSpPr txBox="1"/>
          <p:nvPr/>
        </p:nvSpPr>
        <p:spPr>
          <a:xfrm>
            <a:off x="3330702" y="2825495"/>
            <a:ext cx="414689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compartida entre las partes</a:t>
            </a:r>
          </a:p>
        </p:txBody>
      </p:sp>
      <p:sp>
        <p:nvSpPr>
          <p:cNvPr id="17" name="TextBox 16"/>
          <p:cNvSpPr txBox="1"/>
          <p:nvPr/>
        </p:nvSpPr>
        <p:spPr>
          <a:xfrm>
            <a:off x="7642189" y="2825495"/>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Pareja: privada del firmante, pública para todos</a:t>
            </a:r>
          </a:p>
        </p:txBody>
      </p:sp>
      <p:sp>
        <p:nvSpPr>
          <p:cNvPr id="18" name="Rectangle 17"/>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46119"/>
            <a:ext cx="259918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puede verificar</a:t>
            </a:r>
          </a:p>
        </p:txBody>
      </p:sp>
      <p:sp>
        <p:nvSpPr>
          <p:cNvPr id="20" name="TextBox 19"/>
          <p:cNvSpPr txBox="1"/>
          <p:nvPr/>
        </p:nvSpPr>
        <p:spPr>
          <a:xfrm>
            <a:off x="3330702" y="3246119"/>
            <a:ext cx="414689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quien tiene la misma llave</a:t>
            </a:r>
          </a:p>
        </p:txBody>
      </p:sp>
      <p:sp>
        <p:nvSpPr>
          <p:cNvPr id="21" name="TextBox 20"/>
          <p:cNvSpPr txBox="1"/>
          <p:nvPr/>
        </p:nvSpPr>
        <p:spPr>
          <a:xfrm>
            <a:off x="7642189" y="3246119"/>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incluido un juez</a:t>
            </a:r>
          </a:p>
        </p:txBody>
      </p:sp>
      <p:sp>
        <p:nvSpPr>
          <p:cNvPr id="22" name="Rectangle 21"/>
          <p:cNvSpPr/>
          <p:nvPr/>
        </p:nvSpPr>
        <p:spPr>
          <a:xfrm>
            <a:off x="566928" y="35753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6743"/>
            <a:ext cx="2599182"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 repudio</a:t>
            </a:r>
          </a:p>
        </p:txBody>
      </p:sp>
      <p:sp>
        <p:nvSpPr>
          <p:cNvPr id="24" name="TextBox 23"/>
          <p:cNvSpPr txBox="1"/>
          <p:nvPr/>
        </p:nvSpPr>
        <p:spPr>
          <a:xfrm>
            <a:off x="3330702" y="3666743"/>
            <a:ext cx="414689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Nunca. Ambas partes pudieron generarlo</a:t>
            </a:r>
          </a:p>
        </p:txBody>
      </p:sp>
      <p:sp>
        <p:nvSpPr>
          <p:cNvPr id="25" name="TextBox 24"/>
          <p:cNvSpPr txBox="1"/>
          <p:nvPr/>
        </p:nvSpPr>
        <p:spPr>
          <a:xfrm>
            <a:off x="7642189" y="3666743"/>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si la privada está bajo control exclusivo</a:t>
            </a:r>
          </a:p>
        </p:txBody>
      </p:sp>
      <p:sp>
        <p:nvSpPr>
          <p:cNvPr id="26" name="Rectangle 25"/>
          <p:cNvSpPr/>
          <p:nvPr/>
        </p:nvSpPr>
        <p:spPr>
          <a:xfrm>
            <a:off x="566928" y="39959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7367"/>
            <a:ext cx="259918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Costo por operación</a:t>
            </a:r>
          </a:p>
        </p:txBody>
      </p:sp>
      <p:sp>
        <p:nvSpPr>
          <p:cNvPr id="28" name="TextBox 27"/>
          <p:cNvSpPr txBox="1"/>
          <p:nvPr/>
        </p:nvSpPr>
        <p:spPr>
          <a:xfrm>
            <a:off x="3330702" y="4087367"/>
            <a:ext cx="414689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Muy bajo: microsegundos</a:t>
            </a:r>
          </a:p>
        </p:txBody>
      </p:sp>
      <p:sp>
        <p:nvSpPr>
          <p:cNvPr id="29" name="TextBox 28"/>
          <p:cNvSpPr txBox="1"/>
          <p:nvPr/>
        </p:nvSpPr>
        <p:spPr>
          <a:xfrm>
            <a:off x="7642189" y="4087367"/>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Entre cien y mil veces mayor</a:t>
            </a:r>
          </a:p>
        </p:txBody>
      </p:sp>
      <p:sp>
        <p:nvSpPr>
          <p:cNvPr id="30" name="Rectangle 29"/>
          <p:cNvSpPr/>
          <p:nvPr/>
        </p:nvSpPr>
        <p:spPr>
          <a:xfrm>
            <a:off x="566928" y="44165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07991"/>
            <a:ext cx="259918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sí conviene</a:t>
            </a:r>
          </a:p>
        </p:txBody>
      </p:sp>
      <p:sp>
        <p:nvSpPr>
          <p:cNvPr id="32" name="TextBox 31"/>
          <p:cNvSpPr txBox="1"/>
          <p:nvPr/>
        </p:nvSpPr>
        <p:spPr>
          <a:xfrm>
            <a:off x="3330702" y="4507991"/>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entre dos sistemas propios: respaldos, colas internas, sesiones</a:t>
            </a:r>
          </a:p>
        </p:txBody>
      </p:sp>
      <p:sp>
        <p:nvSpPr>
          <p:cNvPr id="33" name="TextBox 32"/>
          <p:cNvSpPr txBox="1"/>
          <p:nvPr/>
        </p:nvSpPr>
        <p:spPr>
          <a:xfrm>
            <a:off x="7642189" y="4507991"/>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Actos con consecuencia jurídica: transferencias, contratos, pagarés</a:t>
            </a:r>
          </a:p>
        </p:txBody>
      </p:sp>
      <p:sp>
        <p:nvSpPr>
          <p:cNvPr id="34" name="Rectangle 33"/>
          <p:cNvSpPr/>
          <p:nvPr/>
        </p:nvSpPr>
        <p:spPr>
          <a:xfrm>
            <a:off x="566928" y="495641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01127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27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REDISEÑO DE H2, PASO A PASO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32</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Al activar la aplicación, el teléfono genera la pareja dentro de su enclave seguro</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llave privada no sale del chip, ni siquiera la ve la aplicación. El servidor nunca la conoce.</a:t>
            </a:r>
          </a:p>
        </p:txBody>
      </p:sp>
      <p:sp>
        <p:nvSpPr>
          <p:cNvPr id="12" name="TextBox 11"/>
          <p:cNvSpPr txBox="1"/>
          <p:nvPr/>
        </p:nvSpPr>
        <p:spPr>
          <a:xfrm>
            <a:off x="566928" y="24414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4597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llave pública se registra atada al asociado y a ese dispositivo</a:t>
            </a:r>
          </a:p>
        </p:txBody>
      </p:sp>
      <p:sp>
        <p:nvSpPr>
          <p:cNvPr id="14" name="TextBox 13"/>
          <p:cNvSpPr txBox="1"/>
          <p:nvPr/>
        </p:nvSpPr>
        <p:spPr>
          <a:xfrm>
            <a:off x="1280160" y="26974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 verificación de identidad en el enrolamiento, que es el momento crítico de todo el esquema.</a:t>
            </a:r>
          </a:p>
        </p:txBody>
      </p:sp>
      <p:sp>
        <p:nvSpPr>
          <p:cNvPr id="15" name="TextBox 14"/>
          <p:cNvSpPr txBox="1"/>
          <p:nvPr/>
        </p:nvSpPr>
        <p:spPr>
          <a:xfrm>
            <a:off x="566928" y="32826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300984"/>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Cada operación se firma dentro del enclave, tras autenticación biométrica</a:t>
            </a:r>
          </a:p>
        </p:txBody>
      </p:sp>
      <p:sp>
        <p:nvSpPr>
          <p:cNvPr id="17" name="TextBox 16"/>
          <p:cNvSpPr txBox="1"/>
          <p:nvPr/>
        </p:nvSpPr>
        <p:spPr>
          <a:xfrm>
            <a:off x="1280160" y="35387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Lo firmado es el contenido completo: asociado, dispositivo, destino, monto, fecha y número único.</a:t>
            </a:r>
          </a:p>
        </p:txBody>
      </p:sp>
      <p:sp>
        <p:nvSpPr>
          <p:cNvPr id="18" name="TextBox 17"/>
          <p:cNvSpPr txBox="1"/>
          <p:nvPr/>
        </p:nvSpPr>
        <p:spPr>
          <a:xfrm>
            <a:off x="566928" y="412394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414223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servidor verifica con la llave pública registrada y archiva el conjunto</a:t>
            </a:r>
          </a:p>
        </p:txBody>
      </p:sp>
      <p:sp>
        <p:nvSpPr>
          <p:cNvPr id="20" name="TextBox 19"/>
          <p:cNvSpPr txBox="1"/>
          <p:nvPr/>
        </p:nvSpPr>
        <p:spPr>
          <a:xfrm>
            <a:off x="1280160" y="437997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Firma, contenido firmado y momento, en el registro encadenado que diseñaron en la sesión 3.</a:t>
            </a:r>
          </a:p>
        </p:txBody>
      </p:sp>
      <p:sp>
        <p:nvSpPr>
          <p:cNvPr id="21" name="Rectangle 20"/>
          <p:cNvSpPr/>
          <p:nvPr/>
        </p:nvSpPr>
        <p:spPr>
          <a:xfrm>
            <a:off x="566928" y="5148072"/>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1663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CAMBIA RESPECTO DEL ESQUEMA ACTUAL</a:t>
            </a:r>
          </a:p>
        </p:txBody>
      </p:sp>
      <p:sp>
        <p:nvSpPr>
          <p:cNvPr id="23" name="TextBox 22"/>
          <p:cNvSpPr txBox="1"/>
          <p:nvPr/>
        </p:nvSpPr>
        <p:spPr>
          <a:xfrm>
            <a:off x="804672" y="5404104"/>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Hoy existe </a:t>
            </a:r>
            <a:r>
              <a:rPr sz="1150" b="1">
                <a:solidFill>
                  <a:srgbClr val="2A2A2A"/>
                </a:solidFill>
                <a:latin typeface="Arial"/>
              </a:rPr>
              <a:t>una sola llave para 142.000 asociados y para todas las versiones desde 2023</a:t>
            </a:r>
            <a:r>
              <a:rPr sz="1150" b="0">
                <a:solidFill>
                  <a:srgbClr val="2A2A2A"/>
                </a:solidFill>
                <a:latin typeface="Arial"/>
              </a:rPr>
              <a:t>. Con el rediseño hay 142.000 llaves privadas y ninguna está en el servidor. Un atacante que comprometa el servidor ya no puede fabricar operaciones: solo puede leer llaves públicas.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28  CICLO DE VIDA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EL TELÉFONO SE PIERDE, SE CAMBIA Y SE VENDE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Aquí es donde se cae la mayoría de los diseños de esta clase. La criptografía es la parte fácil; el ciclo de vida es la que hay que resolver antes de proponerla al comité.</a:t>
            </a:r>
          </a:p>
        </p:txBody>
      </p:sp>
      <p:sp>
        <p:nvSpPr>
          <p:cNvPr id="10" name="Rectangle 9"/>
          <p:cNvSpPr/>
          <p:nvPr/>
        </p:nvSpPr>
        <p:spPr>
          <a:xfrm>
            <a:off x="566928"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LAS SITUACIONES QUE HAY QUE RESPONDER</a:t>
            </a:r>
          </a:p>
        </p:txBody>
      </p:sp>
      <p:sp>
        <p:nvSpPr>
          <p:cNvPr id="12" name="TextBox 11"/>
          <p:cNvSpPr txBox="1"/>
          <p:nvPr/>
        </p:nvSpPr>
        <p:spPr>
          <a:xfrm>
            <a:off x="786384"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Cambio de teléfono: hay que enrolar de nuevo, y eso exige volver a verificar identidad. ¿Por qué canal?</a:t>
            </a:r>
          </a:p>
          <a:p>
            <a:pPr algn="l">
              <a:lnSpc>
                <a:spcPct val="128000"/>
              </a:lnSpc>
              <a:spcAft>
                <a:spcPts val="700"/>
              </a:spcAft>
            </a:pPr>
            <a:r>
              <a:rPr sz="1150" b="0">
                <a:solidFill>
                  <a:srgbClr val="000000"/>
                </a:solidFill>
                <a:latin typeface="Arial"/>
              </a:rPr>
              <a:t>Pérdida o robo: hay que revocar esa llave pública de inmediato. ¿Quién puede pedirlo y con qué verificación?</a:t>
            </a:r>
          </a:p>
          <a:p>
            <a:pPr algn="l">
              <a:lnSpc>
                <a:spcPct val="128000"/>
              </a:lnSpc>
              <a:spcAft>
                <a:spcPts val="700"/>
              </a:spcAft>
            </a:pPr>
            <a:r>
              <a:rPr sz="1150" b="0">
                <a:solidFill>
                  <a:srgbClr val="000000"/>
                </a:solidFill>
                <a:latin typeface="Arial"/>
              </a:rPr>
              <a:t>Varios dispositivos por asociado: ¿se permite? ¿Cuántos? ¿Se ve la lista desde el portal?</a:t>
            </a:r>
          </a:p>
        </p:txBody>
      </p:sp>
      <p:sp>
        <p:nvSpPr>
          <p:cNvPr id="13" name="Rectangle 12"/>
          <p:cNvSpPr/>
          <p:nvPr/>
        </p:nvSpPr>
        <p:spPr>
          <a:xfrm>
            <a:off x="6268212"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PREGUNTA QUE CASI NADIE HACE</a:t>
            </a:r>
          </a:p>
        </p:txBody>
      </p:sp>
      <p:sp>
        <p:nvSpPr>
          <p:cNvPr id="15" name="TextBox 14"/>
          <p:cNvSpPr txBox="1"/>
          <p:nvPr/>
        </p:nvSpPr>
        <p:spPr>
          <a:xfrm>
            <a:off x="6487668"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¿Qué pasa con las operaciones que ese dispositivo firmó </a:t>
            </a:r>
            <a:r>
              <a:rPr sz="1150" b="1">
                <a:solidFill>
                  <a:srgbClr val="000000"/>
                </a:solidFill>
                <a:latin typeface="Arial"/>
              </a:rPr>
              <a:t>antes</a:t>
            </a:r>
            <a:r>
              <a:rPr sz="1150" b="0">
                <a:solidFill>
                  <a:srgbClr val="000000"/>
                </a:solidFill>
                <a:latin typeface="Arial"/>
              </a:rPr>
              <a:t> de ser revocado?</a:t>
            </a:r>
          </a:p>
          <a:p>
            <a:pPr algn="l">
              <a:lnSpc>
                <a:spcPct val="128000"/>
              </a:lnSpc>
              <a:spcAft>
                <a:spcPts val="700"/>
              </a:spcAft>
            </a:pPr>
            <a:r>
              <a:rPr sz="1150" b="0">
                <a:solidFill>
                  <a:srgbClr val="000000"/>
                </a:solidFill>
                <a:latin typeface="Arial"/>
              </a:rPr>
              <a:t>Siguen siendo válidas, porque la firma prueba el momento de la firma, no el de la verificación.</a:t>
            </a:r>
          </a:p>
          <a:p>
            <a:pPr algn="l">
              <a:lnSpc>
                <a:spcPct val="128000"/>
              </a:lnSpc>
              <a:spcAft>
                <a:spcPts val="700"/>
              </a:spcAft>
            </a:pPr>
            <a:r>
              <a:rPr sz="1150" b="0">
                <a:solidFill>
                  <a:srgbClr val="000000"/>
                </a:solidFill>
                <a:latin typeface="Arial"/>
              </a:rPr>
              <a:t>Por eso hace falta saber cuándo se firmó, y por eso el sello de tiempo no es opcional.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29  SOFTWARE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APLICACIÓN TAMBIÉN VA FIRMADA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firma no es solo para documentos y operaciones. Toda aplicación que se instala en un teléfono va firmada por quien la publica, y esa firma es la que garantiza que nadie la alteró en el camino.</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QUÉ GARANTIZA</a:t>
            </a:r>
          </a:p>
        </p:txBody>
      </p:sp>
      <p:sp>
        <p:nvSpPr>
          <p:cNvPr id="11" name="TextBox 10"/>
          <p:cNvSpPr txBox="1"/>
          <p:nvPr/>
        </p:nvSpPr>
        <p:spPr>
          <a:xfrm>
            <a:off x="566928"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el paquete que se instala es exactamente el que publicó la cooperativa, sin código añadido.</a:t>
            </a:r>
          </a:p>
          <a:p>
            <a:pPr algn="l">
              <a:lnSpc>
                <a:spcPct val="128000"/>
              </a:lnSpc>
              <a:spcAft>
                <a:spcPts val="700"/>
              </a:spcAft>
            </a:pPr>
            <a:r>
              <a:rPr sz="1150" b="0">
                <a:solidFill>
                  <a:srgbClr val="000000"/>
                </a:solidFill>
                <a:latin typeface="Arial"/>
              </a:rPr>
              <a:t>Que las actualizaciones vienen del mismo editor: el teléfono rechaza una versión firmada con otra llave.</a:t>
            </a:r>
          </a:p>
          <a:p>
            <a:pPr algn="l">
              <a:lnSpc>
                <a:spcPct val="128000"/>
              </a:lnSpc>
              <a:spcAft>
                <a:spcPts val="700"/>
              </a:spcAft>
            </a:pPr>
            <a:r>
              <a:rPr sz="1150" b="0">
                <a:solidFill>
                  <a:srgbClr val="000000"/>
                </a:solidFill>
                <a:latin typeface="Arial"/>
              </a:rPr>
              <a:t>Es la defensa contra aplicaciones clonadas que circulan fuera de la tienda oficial.</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HAY QUE CUSTODIAR</a:t>
            </a:r>
          </a:p>
        </p:txBody>
      </p:sp>
      <p:sp>
        <p:nvSpPr>
          <p:cNvPr id="13" name="TextBox 12"/>
          <p:cNvSpPr txBox="1"/>
          <p:nvPr/>
        </p:nvSpPr>
        <p:spPr>
          <a:xfrm>
            <a:off x="6368796"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llave de firma de la aplicación es probablemente la más valiosa de la organización: con ella se publica código a nombre de Coopaburrá en 142.000 teléfonos.</a:t>
            </a:r>
          </a:p>
          <a:p>
            <a:pPr algn="l">
              <a:lnSpc>
                <a:spcPct val="128000"/>
              </a:lnSpc>
              <a:spcAft>
                <a:spcPts val="700"/>
              </a:spcAft>
            </a:pPr>
            <a:r>
              <a:rPr sz="1150" b="0">
                <a:solidFill>
                  <a:srgbClr val="000000"/>
                </a:solidFill>
                <a:latin typeface="Arial"/>
              </a:rPr>
              <a:t>¿Quién la tiene, la fábrica de software o la cooperativa? El caso no lo dice, y es una pregunta obligatoria del informe.</a:t>
            </a:r>
          </a:p>
        </p:txBody>
      </p:sp>
      <p:sp>
        <p:nvSpPr>
          <p:cNvPr id="14" name="Rectangle 13"/>
          <p:cNvSpPr/>
          <p:nvPr/>
        </p:nvSpPr>
        <p:spPr>
          <a:xfrm>
            <a:off x="6085332" y="2304287"/>
            <a:ext cx="9144" cy="2011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572000"/>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5902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LOS GOBIERNOS LA PONEN PRIMERO</a:t>
            </a:r>
          </a:p>
        </p:txBody>
      </p:sp>
      <p:sp>
        <p:nvSpPr>
          <p:cNvPr id="17" name="TextBox 16"/>
          <p:cNvSpPr txBox="1"/>
          <p:nvPr/>
        </p:nvSpPr>
        <p:spPr>
          <a:xfrm>
            <a:off x="804672" y="4828032"/>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los calendarios de transición post-cuántica, </a:t>
            </a:r>
            <a:r>
              <a:rPr sz="1150" b="1">
                <a:solidFill>
                  <a:srgbClr val="2A2A2A"/>
                </a:solidFill>
                <a:latin typeface="Arial"/>
              </a:rPr>
              <a:t>la firma de software es la primera que debe migrar</a:t>
            </a:r>
            <a:r>
              <a:rPr sz="1150" b="0">
                <a:solidFill>
                  <a:srgbClr val="2A2A2A"/>
                </a:solidFill>
                <a:latin typeface="Arial"/>
              </a:rPr>
              <a:t>, hacia 2030, porque una firma de código falsificada compromete todos los dispositivos de una sola vez. Lo vemos en la sesión 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30  LECTURA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VE UNA FIRMA DIGITAL EN UN PDF</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Al abrir un PDF firmado, el lector muestra un panel de validación. Saber leerlo es una habilidad de auditor, porque «firma válida» puede significar cosas muy distintas.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MUESTRA EL PANEL</a:t>
            </a:r>
          </a:p>
        </p:txBody>
      </p:sp>
      <p:sp>
        <p:nvSpPr>
          <p:cNvPr id="12" name="TextBox 11"/>
          <p:cNvSpPr txBox="1"/>
          <p:nvPr/>
        </p:nvSpPr>
        <p:spPr>
          <a:xfrm>
            <a:off x="5652272"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SIGNIFICA EN REALIDAD</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92075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documento no se ha modificado desde que se firmó»</a:t>
            </a:r>
          </a:p>
        </p:txBody>
      </p:sp>
      <p:sp>
        <p:nvSpPr>
          <p:cNvPr id="15" name="TextBox 14"/>
          <p:cNvSpPr txBox="1"/>
          <p:nvPr/>
        </p:nvSpPr>
        <p:spPr>
          <a:xfrm>
            <a:off x="5652272" y="2825495"/>
            <a:ext cx="580515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resumen coincide: la integridad está bien. No dice nada sobre quién firmó</a:t>
            </a:r>
          </a:p>
        </p:txBody>
      </p:sp>
      <p:sp>
        <p:nvSpPr>
          <p:cNvPr id="16" name="Rectangle 15"/>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46119"/>
            <a:ext cx="492075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«La identidad del firmante es desconocida»</a:t>
            </a:r>
          </a:p>
        </p:txBody>
      </p:sp>
      <p:sp>
        <p:nvSpPr>
          <p:cNvPr id="18" name="TextBox 17"/>
          <p:cNvSpPr txBox="1"/>
          <p:nvPr/>
        </p:nvSpPr>
        <p:spPr>
          <a:xfrm>
            <a:off x="5652272" y="3246119"/>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es matemáticamente válida, pero el certificado no llega a una raíz en la que el lector confíe</a:t>
            </a:r>
          </a:p>
        </p:txBody>
      </p:sp>
      <p:sp>
        <p:nvSpPr>
          <p:cNvPr id="19" name="Rectangle 18"/>
          <p:cNvSpPr/>
          <p:nvPr/>
        </p:nvSpPr>
        <p:spPr>
          <a:xfrm>
            <a:off x="566928" y="36945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85981"/>
            <a:ext cx="492075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firma incluye un sello de tiempo incrustado»</a:t>
            </a:r>
          </a:p>
        </p:txBody>
      </p:sp>
      <p:sp>
        <p:nvSpPr>
          <p:cNvPr id="21" name="TextBox 20"/>
          <p:cNvSpPr txBox="1"/>
          <p:nvPr/>
        </p:nvSpPr>
        <p:spPr>
          <a:xfrm>
            <a:off x="5652272" y="3785981"/>
            <a:ext cx="580515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fecha la puso un tercero. Sin sello, la hora es la del equipo del firmante</a:t>
            </a:r>
          </a:p>
        </p:txBody>
      </p:sp>
      <p:sp>
        <p:nvSpPr>
          <p:cNvPr id="22" name="Rectangle 21"/>
          <p:cNvSpPr/>
          <p:nvPr/>
        </p:nvSpPr>
        <p:spPr>
          <a:xfrm>
            <a:off x="566928" y="41151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06605"/>
            <a:ext cx="492075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firma está habilitada para validación a largo plazo»</a:t>
            </a:r>
          </a:p>
        </p:txBody>
      </p:sp>
      <p:sp>
        <p:nvSpPr>
          <p:cNvPr id="24" name="TextBox 23"/>
          <p:cNvSpPr txBox="1"/>
          <p:nvPr/>
        </p:nvSpPr>
        <p:spPr>
          <a:xfrm>
            <a:off x="5652272" y="4206605"/>
            <a:ext cx="580515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evidencia de verificación se guardó con el documento: es la sesión 6</a:t>
            </a:r>
          </a:p>
        </p:txBody>
      </p:sp>
      <p:sp>
        <p:nvSpPr>
          <p:cNvPr id="25" name="Rectangle 24"/>
          <p:cNvSpPr/>
          <p:nvPr/>
        </p:nvSpPr>
        <p:spPr>
          <a:xfrm>
            <a:off x="566928" y="45357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27229"/>
            <a:ext cx="492075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«Hay cambios permitidos después de la firma»</a:t>
            </a:r>
          </a:p>
        </p:txBody>
      </p:sp>
      <p:sp>
        <p:nvSpPr>
          <p:cNvPr id="27" name="TextBox 26"/>
          <p:cNvSpPr txBox="1"/>
          <p:nvPr/>
        </p:nvSpPr>
        <p:spPr>
          <a:xfrm>
            <a:off x="5652272" y="4627229"/>
            <a:ext cx="580515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Formularios o firmas adicionales. Hay que revisar cuáles fueron</a:t>
            </a:r>
          </a:p>
        </p:txBody>
      </p:sp>
      <p:sp>
        <p:nvSpPr>
          <p:cNvPr id="28" name="Rectangle 27"/>
          <p:cNvSpPr/>
          <p:nvPr/>
        </p:nvSpPr>
        <p:spPr>
          <a:xfrm>
            <a:off x="566928" y="495641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01127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313029"/>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533131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EL HALLAZGO H7</a:t>
            </a:r>
          </a:p>
        </p:txBody>
      </p:sp>
      <p:sp>
        <p:nvSpPr>
          <p:cNvPr id="32" name="TextBox 31"/>
          <p:cNvSpPr txBox="1"/>
          <p:nvPr/>
        </p:nvSpPr>
        <p:spPr>
          <a:xfrm>
            <a:off x="804672" y="5569061"/>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Abran un pagaré de Coopaburrá en ese panel: no aparece ninguna firma, porque no hay ninguna. </a:t>
            </a:r>
            <a:r>
              <a:rPr sz="1150" b="1">
                <a:solidFill>
                  <a:srgbClr val="2A2A2A"/>
                </a:solidFill>
                <a:latin typeface="Arial"/>
              </a:rPr>
              <a:t>La imagen escaneada es parte del contenido, no una firma</a:t>
            </a:r>
            <a:r>
              <a:rPr sz="1150" b="0">
                <a:solidFill>
                  <a:srgbClr val="2A2A2A"/>
                </a:solidFill>
                <a:latin typeface="Arial"/>
              </a:rPr>
              <a:t>, y el lector no tiene nada que validar.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1887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LA TESIS DE LA SESIÓN</a:t>
            </a:r>
          </a:p>
        </p:txBody>
      </p:sp>
      <p:sp>
        <p:nvSpPr>
          <p:cNvPr id="3" name="TextBox 2"/>
          <p:cNvSpPr txBox="1"/>
          <p:nvPr/>
        </p:nvSpPr>
        <p:spPr>
          <a:xfrm>
            <a:off x="566928" y="1554480"/>
            <a:ext cx="10607040" cy="2743200"/>
          </a:xfrm>
          <a:prstGeom prst="rect">
            <a:avLst/>
          </a:prstGeom>
          <a:noFill/>
        </p:spPr>
        <p:txBody>
          <a:bodyPr wrap="square" lIns="0" rIns="0" tIns="0" bIns="0">
            <a:spAutoFit/>
          </a:bodyPr>
          <a:lstStyle/>
          <a:p>
            <a:pPr algn="l">
              <a:lnSpc>
                <a:spcPct val="112000"/>
              </a:lnSpc>
              <a:spcAft>
                <a:spcPts val="0"/>
              </a:spcAft>
            </a:pPr>
            <a:r>
              <a:rPr sz="3000" b="0">
                <a:solidFill>
                  <a:srgbClr val="000000"/>
                </a:solidFill>
                <a:latin typeface="Arial Black"/>
              </a:rPr>
              <a:t>EL NO REPUDIO NO SE</a:t>
            </a:r>
          </a:p>
          <a:p>
            <a:pPr algn="l">
              <a:lnSpc>
                <a:spcPct val="112000"/>
              </a:lnSpc>
              <a:spcAft>
                <a:spcPts val="0"/>
              </a:spcAft>
            </a:pPr>
            <a:r>
              <a:rPr sz="3000" b="0">
                <a:solidFill>
                  <a:srgbClr val="000000"/>
                </a:solidFill>
                <a:latin typeface="Arial Black"/>
              </a:rPr>
              <a:t>CONFIGURA: SE DISEÑA.</a:t>
            </a:r>
          </a:p>
          <a:p>
            <a:pPr algn="l">
              <a:lnSpc>
                <a:spcPct val="112000"/>
              </a:lnSpc>
              <a:spcAft>
                <a:spcPts val="0"/>
              </a:spcAft>
            </a:pPr>
            <a:r>
              <a:rPr sz="3000" b="0">
                <a:solidFill>
                  <a:srgbClr val="000000"/>
                </a:solidFill>
                <a:latin typeface="Arial Black"/>
              </a:rPr>
              <a:t>EXIGE UNA LLAVE PRIVADA</a:t>
            </a:r>
          </a:p>
          <a:p>
            <a:pPr algn="l">
              <a:lnSpc>
                <a:spcPct val="112000"/>
              </a:lnSpc>
              <a:spcAft>
                <a:spcPts val="0"/>
              </a:spcAft>
            </a:pPr>
            <a:r>
              <a:rPr sz="3000" b="0">
                <a:solidFill>
                  <a:srgbClr val="000000"/>
                </a:solidFill>
                <a:latin typeface="Arial Black"/>
              </a:rPr>
              <a:t>POR PERSONA.</a:t>
            </a:r>
          </a:p>
        </p:txBody>
      </p:sp>
      <p:sp>
        <p:nvSpPr>
          <p:cNvPr id="4" name="Rectangle 3"/>
          <p:cNvSpPr/>
          <p:nvPr/>
        </p:nvSpPr>
        <p:spPr>
          <a:xfrm>
            <a:off x="566928" y="4617720"/>
            <a:ext cx="1554480" cy="457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864608"/>
            <a:ext cx="10607040" cy="1005840"/>
          </a:xfrm>
          <a:prstGeom prst="rect">
            <a:avLst/>
          </a:prstGeom>
          <a:noFill/>
        </p:spPr>
        <p:txBody>
          <a:bodyPr wrap="square" lIns="0" rIns="0" tIns="0" bIns="0">
            <a:spAutoFit/>
          </a:bodyPr>
          <a:lstStyle/>
          <a:p>
            <a:pPr algn="l">
              <a:lnSpc>
                <a:spcPct val="135000"/>
              </a:lnSpc>
              <a:spcAft>
                <a:spcPts val="0"/>
              </a:spcAft>
            </a:pPr>
            <a:r>
              <a:rPr sz="1200" b="0">
                <a:solidFill>
                  <a:srgbClr val="2A2A2A"/>
                </a:solidFill>
                <a:latin typeface="Arial"/>
              </a:rPr>
              <a:t>Coopaburrá no necesita una llave mejor guardada ni un algoritmo más fuerte. Necesita que cada asociado tenga su propia llave privada, generada en su propio dispositivo, de la que el servidor solo conozca la parte pública. Solo así una operación queda atribuida a una persona y no a un programa. Eso cambia la arquitectura, no la configuración, y por eso es una decisión del comité y no del área de desarrollo.</a:t>
            </a:r>
          </a:p>
        </p:txBody>
      </p:sp>
      <p:sp>
        <p:nvSpPr>
          <p:cNvPr id="6" name="Rectangle 5"/>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1.png"/>
          <p:cNvPicPr>
            <a:picLocks noChangeAspect="1"/>
          </p:cNvPicPr>
          <p:nvPr/>
        </p:nvPicPr>
        <p:blipFill>
          <a:blip r:embed="rId2"/>
          <a:stretch>
            <a:fillRect/>
          </a:stretch>
        </p:blipFill>
        <p:spPr>
          <a:xfrm>
            <a:off x="566928" y="6336792"/>
            <a:ext cx="566928" cy="246888"/>
          </a:xfrm>
          <a:prstGeom prst="rect">
            <a:avLst/>
          </a:prstGeom>
        </p:spPr>
      </p:pic>
      <p:sp>
        <p:nvSpPr>
          <p:cNvPr id="8" name="TextBox 7"/>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9" name="TextBox 8"/>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05</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VALOR PROBATORIO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Bloque 8 · La Ley 527 y las hipotecas que deben durar veinte años</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31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DICE LA LEY 527 DE 1999</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Ustedes ya conocen el marco general de marco legal. Aquí está lo que aplica a este problema concreto: cuándo un documento electrónico y una firma electrónica tienen el mismo valor que el papel y la firma manuscrita.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59918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CONCEPTO</a:t>
            </a:r>
          </a:p>
        </p:txBody>
      </p:sp>
      <p:sp>
        <p:nvSpPr>
          <p:cNvPr id="12" name="TextBox 11"/>
          <p:cNvSpPr txBox="1"/>
          <p:nvPr/>
        </p:nvSpPr>
        <p:spPr>
          <a:xfrm>
            <a:off x="3330702" y="2423159"/>
            <a:ext cx="429996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ESTABLECE</a:t>
            </a:r>
          </a:p>
        </p:txBody>
      </p:sp>
      <p:sp>
        <p:nvSpPr>
          <p:cNvPr id="13" name="TextBox 12"/>
          <p:cNvSpPr txBox="1"/>
          <p:nvPr/>
        </p:nvSpPr>
        <p:spPr>
          <a:xfrm>
            <a:off x="7795259" y="2423159"/>
            <a:ext cx="366217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CONSECUENCIA PRÁCTICA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599182"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Mensaje de datos</a:t>
            </a:r>
          </a:p>
        </p:txBody>
      </p:sp>
      <p:sp>
        <p:nvSpPr>
          <p:cNvPr id="16" name="TextBox 15"/>
          <p:cNvSpPr txBox="1"/>
          <p:nvPr/>
        </p:nvSpPr>
        <p:spPr>
          <a:xfrm>
            <a:off x="3330702" y="2825495"/>
            <a:ext cx="429996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información electrónica no pierde valor probatorio por ser electrónica</a:t>
            </a:r>
          </a:p>
        </p:txBody>
      </p:sp>
      <p:sp>
        <p:nvSpPr>
          <p:cNvPr id="17" name="TextBox 16"/>
          <p:cNvSpPr txBox="1"/>
          <p:nvPr/>
        </p:nvSpPr>
        <p:spPr>
          <a:xfrm>
            <a:off x="7795259" y="2825495"/>
            <a:ext cx="3662172"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contrato en archivo digital puede valer lo mismo que uno en papel</a:t>
            </a:r>
          </a:p>
        </p:txBody>
      </p:sp>
      <p:sp>
        <p:nvSpPr>
          <p:cNvPr id="18" name="Rectangle 17"/>
          <p:cNvSpPr/>
          <p:nvPr/>
        </p:nvSpPr>
        <p:spPr>
          <a:xfrm>
            <a:off x="566928" y="33009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92423"/>
            <a:ext cx="2599182"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Equivalencia funcional</a:t>
            </a:r>
          </a:p>
        </p:txBody>
      </p:sp>
      <p:sp>
        <p:nvSpPr>
          <p:cNvPr id="20" name="TextBox 19"/>
          <p:cNvSpPr txBox="1"/>
          <p:nvPr/>
        </p:nvSpPr>
        <p:spPr>
          <a:xfrm>
            <a:off x="3330702" y="3392423"/>
            <a:ext cx="429996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requisito de escrito o de firma se cumple electrónicamente si se satisfacen ciertas condiciones</a:t>
            </a:r>
          </a:p>
        </p:txBody>
      </p:sp>
      <p:sp>
        <p:nvSpPr>
          <p:cNvPr id="21" name="TextBox 20"/>
          <p:cNvSpPr txBox="1"/>
          <p:nvPr/>
        </p:nvSpPr>
        <p:spPr>
          <a:xfrm>
            <a:off x="7795259" y="3392423"/>
            <a:ext cx="3662172"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que importa no es el formato, sino las garantías que ofrece</a:t>
            </a:r>
          </a:p>
        </p:txBody>
      </p:sp>
      <p:sp>
        <p:nvSpPr>
          <p:cNvPr id="22" name="Rectangle 21"/>
          <p:cNvSpPr/>
          <p:nvPr/>
        </p:nvSpPr>
        <p:spPr>
          <a:xfrm>
            <a:off x="566928" y="38679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59351"/>
            <a:ext cx="2599182" cy="6680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Firma confiable</a:t>
            </a:r>
          </a:p>
        </p:txBody>
      </p:sp>
      <p:sp>
        <p:nvSpPr>
          <p:cNvPr id="24" name="TextBox 23"/>
          <p:cNvSpPr txBox="1"/>
          <p:nvPr/>
        </p:nvSpPr>
        <p:spPr>
          <a:xfrm>
            <a:off x="3330702" y="3959351"/>
            <a:ext cx="4299966"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Debe permitir identificar al firmante y detectar cualquier alteración posterior, y estar bajo el control exclusivo de quien firma</a:t>
            </a:r>
          </a:p>
        </p:txBody>
      </p:sp>
      <p:sp>
        <p:nvSpPr>
          <p:cNvPr id="25" name="TextBox 24"/>
          <p:cNvSpPr txBox="1"/>
          <p:nvPr/>
        </p:nvSpPr>
        <p:spPr>
          <a:xfrm>
            <a:off x="7795259" y="3959351"/>
            <a:ext cx="3662172"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imagen escaneada no cumple ninguna de las tres</a:t>
            </a:r>
          </a:p>
        </p:txBody>
      </p:sp>
      <p:sp>
        <p:nvSpPr>
          <p:cNvPr id="26" name="Rectangle 25"/>
          <p:cNvSpPr/>
          <p:nvPr/>
        </p:nvSpPr>
        <p:spPr>
          <a:xfrm>
            <a:off x="566928" y="459083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682276"/>
            <a:ext cx="2599182"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Entidades de certificación</a:t>
            </a:r>
          </a:p>
        </p:txBody>
      </p:sp>
      <p:sp>
        <p:nvSpPr>
          <p:cNvPr id="28" name="TextBox 27"/>
          <p:cNvSpPr txBox="1"/>
          <p:nvPr/>
        </p:nvSpPr>
        <p:spPr>
          <a:xfrm>
            <a:off x="3330702" y="4682276"/>
            <a:ext cx="429996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Terceros acreditados que respaldan la correspondencia entre una llave y una persona</a:t>
            </a:r>
          </a:p>
        </p:txBody>
      </p:sp>
      <p:sp>
        <p:nvSpPr>
          <p:cNvPr id="29" name="TextBox 28"/>
          <p:cNvSpPr txBox="1"/>
          <p:nvPr/>
        </p:nvSpPr>
        <p:spPr>
          <a:xfrm>
            <a:off x="7795259" y="4682276"/>
            <a:ext cx="3662172"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Son quienes convierten una firma técnica en una prueba oponible</a:t>
            </a:r>
          </a:p>
        </p:txBody>
      </p:sp>
      <p:sp>
        <p:nvSpPr>
          <p:cNvPr id="30" name="Rectangle 29"/>
          <p:cNvSpPr/>
          <p:nvPr/>
        </p:nvSpPr>
        <p:spPr>
          <a:xfrm>
            <a:off x="566928" y="515776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212628"/>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32  DISTINCIÓN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FIRMA ELECTRÓNICA NO ES FIRMA DIGITAL</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confusión entre estos dos términos es la que produce el hallazgo H7, y es una confusión que cuesta dinero cuando llega un litigio.</a:t>
            </a:r>
          </a:p>
        </p:txBody>
      </p:sp>
      <p:sp>
        <p:nvSpPr>
          <p:cNvPr id="10" name="Rectangle 9"/>
          <p:cNvSpPr/>
          <p:nvPr/>
        </p:nvSpPr>
        <p:spPr>
          <a:xfrm>
            <a:off x="566928"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FIRMA ELECTRÓNICA</a:t>
            </a:r>
          </a:p>
        </p:txBody>
      </p:sp>
      <p:sp>
        <p:nvSpPr>
          <p:cNvPr id="12" name="TextBox 11"/>
          <p:cNvSpPr txBox="1"/>
          <p:nvPr/>
        </p:nvSpPr>
        <p:spPr>
          <a:xfrm>
            <a:off x="786384"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Categoría amplia: cualquier método electrónico que permita identificar a una persona y manifestar su aprobación.</a:t>
            </a:r>
          </a:p>
          <a:p>
            <a:pPr algn="l">
              <a:lnSpc>
                <a:spcPct val="128000"/>
              </a:lnSpc>
              <a:spcAft>
                <a:spcPts val="700"/>
              </a:spcAft>
            </a:pPr>
            <a:r>
              <a:rPr sz="1150" b="0">
                <a:solidFill>
                  <a:srgbClr val="000000"/>
                </a:solidFill>
                <a:latin typeface="Arial"/>
              </a:rPr>
              <a:t>Incluye una clave, un código enviado al teléfono, o una imagen trazada en una tableta.</a:t>
            </a:r>
          </a:p>
          <a:p>
            <a:pPr algn="l">
              <a:lnSpc>
                <a:spcPct val="128000"/>
              </a:lnSpc>
              <a:spcAft>
                <a:spcPts val="700"/>
              </a:spcAft>
            </a:pPr>
            <a:r>
              <a:rPr sz="1150" b="0">
                <a:solidFill>
                  <a:srgbClr val="000000"/>
                </a:solidFill>
                <a:latin typeface="Arial"/>
              </a:rPr>
              <a:t>Su fuerza probatoria depende de qué tan confiable sea el método, y hay que demostrarla caso por caso.</a:t>
            </a:r>
          </a:p>
        </p:txBody>
      </p:sp>
      <p:sp>
        <p:nvSpPr>
          <p:cNvPr id="13" name="Rectangle 12"/>
          <p:cNvSpPr/>
          <p:nvPr/>
        </p:nvSpPr>
        <p:spPr>
          <a:xfrm>
            <a:off x="6268212"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FIRMA DIGITAL</a:t>
            </a:r>
          </a:p>
        </p:txBody>
      </p:sp>
      <p:sp>
        <p:nvSpPr>
          <p:cNvPr id="15" name="TextBox 14"/>
          <p:cNvSpPr txBox="1"/>
          <p:nvPr/>
        </p:nvSpPr>
        <p:spPr>
          <a:xfrm>
            <a:off x="6487668"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tipo específico de firma electrónica basado en criptografía de llave pública y respaldado por un certificado.</a:t>
            </a:r>
          </a:p>
          <a:p>
            <a:pPr algn="l">
              <a:lnSpc>
                <a:spcPct val="128000"/>
              </a:lnSpc>
              <a:spcAft>
                <a:spcPts val="700"/>
              </a:spcAft>
            </a:pPr>
            <a:r>
              <a:rPr sz="1150" b="0">
                <a:solidFill>
                  <a:srgbClr val="000000"/>
                </a:solidFill>
                <a:latin typeface="Arial"/>
              </a:rPr>
              <a:t>La ley le reconoce presunciones que la firma electrónica genérica no tiene.</a:t>
            </a:r>
          </a:p>
          <a:p>
            <a:pPr algn="l">
              <a:lnSpc>
                <a:spcPct val="128000"/>
              </a:lnSpc>
              <a:spcAft>
                <a:spcPts val="700"/>
              </a:spcAft>
            </a:pPr>
            <a:r>
              <a:rPr sz="1150" b="0">
                <a:solidFill>
                  <a:srgbClr val="000000"/>
                </a:solidFill>
                <a:latin typeface="Arial"/>
              </a:rPr>
              <a:t>Quien la niega tiene que probar que no fue él, y no al revés. Esa inversión es toda la diferencia.</a:t>
            </a:r>
          </a:p>
        </p:txBody>
      </p:sp>
      <p:sp>
        <p:nvSpPr>
          <p:cNvPr id="16" name="Rectangle 15"/>
          <p:cNvSpPr/>
          <p:nvPr/>
        </p:nvSpPr>
        <p:spPr>
          <a:xfrm>
            <a:off x="566928" y="4590288"/>
            <a:ext cx="45720" cy="68580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60857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FRASE PARA EL INFORME</a:t>
            </a:r>
          </a:p>
        </p:txBody>
      </p:sp>
      <p:sp>
        <p:nvSpPr>
          <p:cNvPr id="18" name="TextBox 17"/>
          <p:cNvSpPr txBox="1"/>
          <p:nvPr/>
        </p:nvSpPr>
        <p:spPr>
          <a:xfrm>
            <a:off x="804672" y="4846320"/>
            <a:ext cx="10780776" cy="41148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Coopaburrá no tiene ni siquiera una firma electrónica defendible: tiene </a:t>
            </a:r>
            <a:r>
              <a:rPr sz="1150" b="1">
                <a:solidFill>
                  <a:srgbClr val="2A2A2A"/>
                </a:solidFill>
                <a:latin typeface="Arial"/>
              </a:rPr>
              <a:t>una imagen pegada a un PDF</a:t>
            </a:r>
            <a:r>
              <a:rPr sz="1150" b="0">
                <a:solidFill>
                  <a:srgbClr val="2A2A2A"/>
                </a:solidFill>
                <a:latin typeface="Arial"/>
              </a:rPr>
              <a:t>, que no está bajo control exclusivo del firmante y no detecta alteraciones posteriores.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33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CINCO ATRIBUTOS DEL ARTÍCULO 28</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artículo 28 de la Ley 527 dice cuándo una firma digital vale lo mismo que una manuscrita, y presume que quien la puso quiso obligarse. Son cinco condiciones, cada una con traducción técnica.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ATRIBUTO</a:t>
            </a:r>
          </a:p>
        </p:txBody>
      </p:sp>
      <p:sp>
        <p:nvSpPr>
          <p:cNvPr id="12" name="TextBox 11"/>
          <p:cNvSpPr txBox="1"/>
          <p:nvPr/>
        </p:nvSpPr>
        <p:spPr>
          <a:xfrm>
            <a:off x="4767864"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TRADUCCIÓN TÉCNICA</a:t>
            </a:r>
          </a:p>
        </p:txBody>
      </p:sp>
      <p:sp>
        <p:nvSpPr>
          <p:cNvPr id="13" name="TextBox 12"/>
          <p:cNvSpPr txBox="1"/>
          <p:nvPr/>
        </p:nvSpPr>
        <p:spPr>
          <a:xfrm>
            <a:off x="8305495"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¿LA IMAGEN DE COOPABURRÁ LO CUMPLE?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03634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 única a la persona que la usa</a:t>
            </a:r>
          </a:p>
        </p:txBody>
      </p:sp>
      <p:sp>
        <p:nvSpPr>
          <p:cNvPr id="16" name="TextBox 15"/>
          <p:cNvSpPr txBox="1"/>
          <p:nvPr/>
        </p:nvSpPr>
        <p:spPr>
          <a:xfrm>
            <a:off x="4767864" y="2825495"/>
            <a:ext cx="3373038"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llave privada por persona, no compartida</a:t>
            </a:r>
          </a:p>
        </p:txBody>
      </p:sp>
      <p:sp>
        <p:nvSpPr>
          <p:cNvPr id="17" name="TextBox 16"/>
          <p:cNvSpPr txBox="1"/>
          <p:nvPr/>
        </p:nvSpPr>
        <p:spPr>
          <a:xfrm>
            <a:off x="8305495" y="2825495"/>
            <a:ext cx="3151936" cy="347472"/>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la imagen se copia a cualquier documento</a:t>
            </a:r>
          </a:p>
        </p:txBody>
      </p:sp>
      <p:sp>
        <p:nvSpPr>
          <p:cNvPr id="18" name="Rectangle 17"/>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27831"/>
            <a:ext cx="403634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 susceptible de ser verificada</a:t>
            </a:r>
          </a:p>
        </p:txBody>
      </p:sp>
      <p:sp>
        <p:nvSpPr>
          <p:cNvPr id="20" name="TextBox 19"/>
          <p:cNvSpPr txBox="1"/>
          <p:nvPr/>
        </p:nvSpPr>
        <p:spPr>
          <a:xfrm>
            <a:off x="4767864" y="3227831"/>
            <a:ext cx="3373038"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llave pública certificada para verificarla</a:t>
            </a:r>
          </a:p>
        </p:txBody>
      </p:sp>
      <p:sp>
        <p:nvSpPr>
          <p:cNvPr id="21" name="TextBox 20"/>
          <p:cNvSpPr txBox="1"/>
          <p:nvPr/>
        </p:nvSpPr>
        <p:spPr>
          <a:xfrm>
            <a:off x="8305495" y="3227831"/>
            <a:ext cx="3151936" cy="347472"/>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no hay nada que verificar</a:t>
            </a:r>
          </a:p>
        </p:txBody>
      </p:sp>
      <p:sp>
        <p:nvSpPr>
          <p:cNvPr id="22" name="Rectangle 21"/>
          <p:cNvSpPr/>
          <p:nvPr/>
        </p:nvSpPr>
        <p:spPr>
          <a:xfrm>
            <a:off x="566928" y="35387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30167"/>
            <a:ext cx="403634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Está bajo el control exclusivo de quien la usa</a:t>
            </a:r>
          </a:p>
        </p:txBody>
      </p:sp>
      <p:sp>
        <p:nvSpPr>
          <p:cNvPr id="24" name="TextBox 23"/>
          <p:cNvSpPr txBox="1"/>
          <p:nvPr/>
        </p:nvSpPr>
        <p:spPr>
          <a:xfrm>
            <a:off x="4767864" y="3630167"/>
            <a:ext cx="3373038"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privada, en manos del firmante</a:t>
            </a:r>
          </a:p>
        </p:txBody>
      </p:sp>
      <p:sp>
        <p:nvSpPr>
          <p:cNvPr id="25" name="TextBox 24"/>
          <p:cNvSpPr txBox="1"/>
          <p:nvPr/>
        </p:nvSpPr>
        <p:spPr>
          <a:xfrm>
            <a:off x="8305495" y="3630167"/>
            <a:ext cx="3151936" cy="347472"/>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la imagen la custodia la cooperativa</a:t>
            </a:r>
          </a:p>
        </p:txBody>
      </p:sp>
      <p:sp>
        <p:nvSpPr>
          <p:cNvPr id="26" name="Rectangle 25"/>
          <p:cNvSpPr/>
          <p:nvPr/>
        </p:nvSpPr>
        <p:spPr>
          <a:xfrm>
            <a:off x="566928" y="39410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32503"/>
            <a:ext cx="403634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Está ligada al mensaje: si cambia, la firma se invalida</a:t>
            </a:r>
          </a:p>
        </p:txBody>
      </p:sp>
      <p:sp>
        <p:nvSpPr>
          <p:cNvPr id="28" name="TextBox 27"/>
          <p:cNvSpPr txBox="1"/>
          <p:nvPr/>
        </p:nvSpPr>
        <p:spPr>
          <a:xfrm>
            <a:off x="4767864" y="4032503"/>
            <a:ext cx="3373038"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recae sobre el resumen del documento</a:t>
            </a:r>
          </a:p>
        </p:txBody>
      </p:sp>
      <p:sp>
        <p:nvSpPr>
          <p:cNvPr id="29" name="TextBox 28"/>
          <p:cNvSpPr txBox="1"/>
          <p:nvPr/>
        </p:nvSpPr>
        <p:spPr>
          <a:xfrm>
            <a:off x="8305495" y="4032503"/>
            <a:ext cx="3151936" cy="347472"/>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se edita el PDF y la imagen sigue ahí</a:t>
            </a:r>
          </a:p>
        </p:txBody>
      </p:sp>
      <p:sp>
        <p:nvSpPr>
          <p:cNvPr id="30" name="Rectangle 29"/>
          <p:cNvSpPr/>
          <p:nvPr/>
        </p:nvSpPr>
        <p:spPr>
          <a:xfrm>
            <a:off x="566928" y="434340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34840"/>
            <a:ext cx="403634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Está conforme a la reglamentación</a:t>
            </a:r>
          </a:p>
        </p:txBody>
      </p:sp>
      <p:sp>
        <p:nvSpPr>
          <p:cNvPr id="32" name="TextBox 31"/>
          <p:cNvSpPr txBox="1"/>
          <p:nvPr/>
        </p:nvSpPr>
        <p:spPr>
          <a:xfrm>
            <a:off x="4767864" y="4434840"/>
            <a:ext cx="3373038"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 de una entidad acreditada</a:t>
            </a:r>
          </a:p>
        </p:txBody>
      </p:sp>
      <p:sp>
        <p:nvSpPr>
          <p:cNvPr id="33" name="TextBox 32"/>
          <p:cNvSpPr txBox="1"/>
          <p:nvPr/>
        </p:nvSpPr>
        <p:spPr>
          <a:xfrm>
            <a:off x="8305495" y="4434840"/>
            <a:ext cx="3151936" cy="347472"/>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a:t>
            </a:r>
          </a:p>
        </p:txBody>
      </p:sp>
      <p:sp>
        <p:nvSpPr>
          <p:cNvPr id="34" name="Rectangle 33"/>
          <p:cNvSpPr/>
          <p:nvPr/>
        </p:nvSpPr>
        <p:spPr>
          <a:xfrm>
            <a:off x="566928" y="474573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80060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102352"/>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120640"/>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PRESUNCIÓN QUE SE PIERDE</a:t>
            </a:r>
          </a:p>
        </p:txBody>
      </p:sp>
      <p:sp>
        <p:nvSpPr>
          <p:cNvPr id="38" name="TextBox 37"/>
          <p:cNvSpPr txBox="1"/>
          <p:nvPr/>
        </p:nvSpPr>
        <p:spPr>
          <a:xfrm>
            <a:off x="804672" y="5358384"/>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Cuando se cumplen los cinco, </a:t>
            </a:r>
            <a:r>
              <a:rPr sz="1150" b="1">
                <a:solidFill>
                  <a:srgbClr val="2A2A2A"/>
                </a:solidFill>
                <a:latin typeface="Arial"/>
              </a:rPr>
              <a:t>la ley presume que el suscriptor quiso obligarse</a:t>
            </a:r>
            <a:r>
              <a:rPr sz="1150" b="0">
                <a:solidFill>
                  <a:srgbClr val="2A2A2A"/>
                </a:solidFill>
                <a:latin typeface="Arial"/>
              </a:rPr>
              <a:t> y es él quien debe probar lo contrario. Con una imagen escaneada no hay presunción: es la cooperativa la que tiene que probarlo todo, veinte años después.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34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LA FIRMA ELECTRÓNICA CONFIABLE: DECRETO 2364 DE 2012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todo tiene que ser firma digital. El Decreto 2364 de 2012, hoy compilado en el Decreto 1074 de 2015, reglamenta la firma electrónica y dice cuándo es confiable.</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CUÁNDO ES CONFIABLE</a:t>
            </a:r>
          </a:p>
        </p:txBody>
      </p:sp>
      <p:sp>
        <p:nvSpPr>
          <p:cNvPr id="11" name="TextBox 10"/>
          <p:cNvSpPr txBox="1"/>
          <p:nvPr/>
        </p:nvSpPr>
        <p:spPr>
          <a:xfrm>
            <a:off x="566928"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Los datos de creación de la firma, en el contexto en que se usan, corresponden exclusivamente al firmante.</a:t>
            </a:r>
          </a:p>
          <a:p>
            <a:pPr algn="l">
              <a:lnSpc>
                <a:spcPct val="128000"/>
              </a:lnSpc>
              <a:spcAft>
                <a:spcPts val="700"/>
              </a:spcAft>
            </a:pPr>
            <a:r>
              <a:rPr sz="1150" b="0">
                <a:solidFill>
                  <a:srgbClr val="000000"/>
                </a:solidFill>
                <a:latin typeface="Arial"/>
              </a:rPr>
              <a:t>Es posible detectar cualquier alteración no autorizada del mensaje, hecha después de firmar.</a:t>
            </a:r>
          </a:p>
          <a:p>
            <a:pPr algn="l">
              <a:lnSpc>
                <a:spcPct val="128000"/>
              </a:lnSpc>
              <a:spcAft>
                <a:spcPts val="700"/>
              </a:spcAft>
            </a:pPr>
            <a:r>
              <a:rPr sz="1150" b="0">
                <a:solidFill>
                  <a:srgbClr val="000000"/>
                </a:solidFill>
                <a:latin typeface="Arial"/>
              </a:rPr>
              <a:t>Cumplidas las dos, tiene la misma validez y efectos que la firma manuscrita.</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QUÉ SIGNIFICA PARA EL CASO</a:t>
            </a:r>
          </a:p>
        </p:txBody>
      </p:sp>
      <p:sp>
        <p:nvSpPr>
          <p:cNvPr id="13" name="TextBox 12"/>
          <p:cNvSpPr txBox="1"/>
          <p:nvPr/>
        </p:nvSpPr>
        <p:spPr>
          <a:xfrm>
            <a:off x="6368796"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Para operaciones de la aplicación, una firma electrónica confiable puede bastar: el rediseño de H2 la cumple.</a:t>
            </a:r>
          </a:p>
          <a:p>
            <a:pPr algn="l">
              <a:lnSpc>
                <a:spcPct val="128000"/>
              </a:lnSpc>
              <a:spcAft>
                <a:spcPts val="700"/>
              </a:spcAft>
            </a:pPr>
            <a:r>
              <a:rPr sz="1150" b="0">
                <a:solidFill>
                  <a:srgbClr val="000000"/>
                </a:solidFill>
                <a:latin typeface="Arial"/>
              </a:rPr>
              <a:t>Para un pagaré hipotecario a veinte años, la firma digital acreditada da algo más: la presunción del artículo 28.</a:t>
            </a:r>
          </a:p>
          <a:p>
            <a:pPr algn="l">
              <a:lnSpc>
                <a:spcPct val="128000"/>
              </a:lnSpc>
              <a:spcAft>
                <a:spcPts val="700"/>
              </a:spcAft>
            </a:pPr>
            <a:r>
              <a:rPr sz="1150" b="0">
                <a:solidFill>
                  <a:srgbClr val="000000"/>
                </a:solidFill>
                <a:latin typeface="Arial"/>
              </a:rPr>
              <a:t>La decisión es de proporcionalidad, y hay que argumentarla en el informe.</a:t>
            </a:r>
          </a:p>
        </p:txBody>
      </p:sp>
      <p:sp>
        <p:nvSpPr>
          <p:cNvPr id="14" name="Rectangle 13"/>
          <p:cNvSpPr/>
          <p:nvPr/>
        </p:nvSpPr>
        <p:spPr>
          <a:xfrm>
            <a:off x="6085332" y="2304287"/>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663440"/>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6817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IMAGEN ESCANEADA NI SIQUIERA ES CONFIABLE</a:t>
            </a:r>
          </a:p>
        </p:txBody>
      </p:sp>
      <p:sp>
        <p:nvSpPr>
          <p:cNvPr id="17" name="TextBox 16"/>
          <p:cNvSpPr txBox="1"/>
          <p:nvPr/>
        </p:nvSpPr>
        <p:spPr>
          <a:xfrm>
            <a:off x="804672" y="4919472"/>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No corresponde exclusivamente al firmante, porque se copia, y no permite detectar alteraciones. </a:t>
            </a:r>
            <a:r>
              <a:rPr sz="1150" b="1">
                <a:solidFill>
                  <a:srgbClr val="2A2A2A"/>
                </a:solidFill>
                <a:latin typeface="Arial"/>
              </a:rPr>
              <a:t>No cumple ni la exigencia más baja de la norma.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35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HALLAZGO H7 EN DETALLE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créditos hipotecarios de Coopaburrá se firman capturando el trazo en una tableta, pegándolo como imagen en el PDF y archivando el archivo. Veamos qué pasa cuando eso llega a un juzgado.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PREGUNTA DEL JUEZ</a:t>
            </a:r>
          </a:p>
        </p:txBody>
      </p:sp>
      <p:sp>
        <p:nvSpPr>
          <p:cNvPr id="12" name="TextBox 11"/>
          <p:cNvSpPr txBox="1"/>
          <p:nvPr/>
        </p:nvSpPr>
        <p:spPr>
          <a:xfrm>
            <a:off x="5652272"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COOPABURRÁ PUEDE RESPONDER HOY</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92075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¿Cómo sabe que el documento no fue alterado después de firmarlo?</a:t>
            </a:r>
          </a:p>
        </p:txBody>
      </p:sp>
      <p:sp>
        <p:nvSpPr>
          <p:cNvPr id="15" name="TextBox 14"/>
          <p:cNvSpPr txBox="1"/>
          <p:nvPr/>
        </p:nvSpPr>
        <p:spPr>
          <a:xfrm>
            <a:off x="5652272" y="2825495"/>
            <a:ext cx="5805159" cy="457200"/>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puede saberlo. El PDF se puede editar y la imagen se mantiene igual</a:t>
            </a:r>
          </a:p>
        </p:txBody>
      </p:sp>
      <p:sp>
        <p:nvSpPr>
          <p:cNvPr id="16" name="Rectangle 15"/>
          <p:cNvSpPr/>
          <p:nvPr/>
        </p:nvSpPr>
        <p:spPr>
          <a:xfrm>
            <a:off x="566928" y="324611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37559"/>
            <a:ext cx="492075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¿Cómo sabe que esa firma la hizo el titular?</a:t>
            </a:r>
          </a:p>
        </p:txBody>
      </p:sp>
      <p:sp>
        <p:nvSpPr>
          <p:cNvPr id="18" name="TextBox 17"/>
          <p:cNvSpPr txBox="1"/>
          <p:nvPr/>
        </p:nvSpPr>
        <p:spPr>
          <a:xfrm>
            <a:off x="5652272" y="3337559"/>
            <a:ext cx="5805159" cy="457200"/>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puede. La imagen se puede copiar de otro documento firmado por la misma persona</a:t>
            </a:r>
          </a:p>
        </p:txBody>
      </p:sp>
      <p:sp>
        <p:nvSpPr>
          <p:cNvPr id="19" name="Rectangle 18"/>
          <p:cNvSpPr/>
          <p:nvPr/>
        </p:nvSpPr>
        <p:spPr>
          <a:xfrm>
            <a:off x="566928" y="37581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49623"/>
            <a:ext cx="492075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¿Cuándo se firmó?</a:t>
            </a:r>
          </a:p>
        </p:txBody>
      </p:sp>
      <p:sp>
        <p:nvSpPr>
          <p:cNvPr id="21" name="TextBox 20"/>
          <p:cNvSpPr txBox="1"/>
          <p:nvPr/>
        </p:nvSpPr>
        <p:spPr>
          <a:xfrm>
            <a:off x="5652272" y="3849623"/>
            <a:ext cx="5805159" cy="457200"/>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Solo tiene la fecha del sistema, que la cooperativa controla</a:t>
            </a:r>
          </a:p>
        </p:txBody>
      </p:sp>
      <p:sp>
        <p:nvSpPr>
          <p:cNvPr id="22" name="Rectangle 21"/>
          <p:cNvSpPr/>
          <p:nvPr/>
        </p:nvSpPr>
        <p:spPr>
          <a:xfrm>
            <a:off x="566928" y="42702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361687"/>
            <a:ext cx="492075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custodia el archivo?</a:t>
            </a:r>
          </a:p>
        </p:txBody>
      </p:sp>
      <p:sp>
        <p:nvSpPr>
          <p:cNvPr id="24" name="TextBox 23"/>
          <p:cNvSpPr txBox="1"/>
          <p:nvPr/>
        </p:nvSpPr>
        <p:spPr>
          <a:xfrm>
            <a:off x="5652272" y="4361687"/>
            <a:ext cx="5805159" cy="457200"/>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La propia cooperativa, que es parte interesada en el litigio</a:t>
            </a:r>
          </a:p>
        </p:txBody>
      </p:sp>
      <p:sp>
        <p:nvSpPr>
          <p:cNvPr id="25" name="Rectangle 24"/>
          <p:cNvSpPr/>
          <p:nvPr/>
        </p:nvSpPr>
        <p:spPr>
          <a:xfrm>
            <a:off x="566928" y="478231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83717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138927"/>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15721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MAGNITUD DEL PROBLEMA</a:t>
            </a:r>
          </a:p>
        </p:txBody>
      </p:sp>
      <p:sp>
        <p:nvSpPr>
          <p:cNvPr id="29" name="TextBox 28"/>
          <p:cNvSpPr txBox="1"/>
          <p:nvPr/>
        </p:nvSpPr>
        <p:spPr>
          <a:xfrm>
            <a:off x="804672" y="5394959"/>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No es un contrato: es la cartera hipotecaria completa, con documentos que deben conservar valor probatorio durante los veinte años de vigencia del crédito. Y cada mes que pasa se firman más con el mismo esquema.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36  PRUEBA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MIRA EL JUEZ: EL ARTÍCULO 11</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Cuando un mensaje de datos llega a un proceso, el artículo 11 de la Ley 527 le dice al juez qué valorar, según las reglas de la sana crítica. Es la lista que un buen informe debe poder responder punto por punto.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 DEL ARTÍCULO 11</a:t>
            </a:r>
          </a:p>
        </p:txBody>
      </p:sp>
      <p:sp>
        <p:nvSpPr>
          <p:cNvPr id="12" name="TextBox 11"/>
          <p:cNvSpPr txBox="1"/>
          <p:nvPr/>
        </p:nvSpPr>
        <p:spPr>
          <a:xfrm>
            <a:off x="4878415"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PREGUNTARÁ EL APODERADO</a:t>
            </a:r>
          </a:p>
        </p:txBody>
      </p:sp>
      <p:sp>
        <p:nvSpPr>
          <p:cNvPr id="13" name="TextBox 12"/>
          <p:cNvSpPr txBox="1"/>
          <p:nvPr/>
        </p:nvSpPr>
        <p:spPr>
          <a:xfrm>
            <a:off x="8416046" y="2423159"/>
            <a:ext cx="30413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 QUÉ SE RESPONDE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Confiabilidad en la forma como se generó, archivó o comunicó</a:t>
            </a:r>
          </a:p>
        </p:txBody>
      </p:sp>
      <p:sp>
        <p:nvSpPr>
          <p:cNvPr id="16" name="TextBox 15"/>
          <p:cNvSpPr txBox="1"/>
          <p:nvPr/>
        </p:nvSpPr>
        <p:spPr>
          <a:xfrm>
            <a:off x="4878415" y="282549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¿Cómo sabe que el sistema funcionaba bien ese día?</a:t>
            </a:r>
          </a:p>
        </p:txBody>
      </p:sp>
      <p:sp>
        <p:nvSpPr>
          <p:cNvPr id="17" name="TextBox 16"/>
          <p:cNvSpPr txBox="1"/>
          <p:nvPr/>
        </p:nvSpPr>
        <p:spPr>
          <a:xfrm>
            <a:off x="8416046" y="2825495"/>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Registro encadenado y controles documentados</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4146895"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Confiabilidad en la forma como se conservó la integridad</a:t>
            </a:r>
          </a:p>
        </p:txBody>
      </p:sp>
      <p:sp>
        <p:nvSpPr>
          <p:cNvPr id="20" name="TextBox 19"/>
          <p:cNvSpPr txBox="1"/>
          <p:nvPr/>
        </p:nvSpPr>
        <p:spPr>
          <a:xfrm>
            <a:off x="4878415" y="3365357"/>
            <a:ext cx="3373038"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¿Cómo sabe que nadie lo modificó después?</a:t>
            </a:r>
          </a:p>
        </p:txBody>
      </p:sp>
      <p:sp>
        <p:nvSpPr>
          <p:cNvPr id="21" name="TextBox 20"/>
          <p:cNvSpPr txBox="1"/>
          <p:nvPr/>
        </p:nvSpPr>
        <p:spPr>
          <a:xfrm>
            <a:off x="8416046" y="3365357"/>
            <a:ext cx="304138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Resúmenes, firma y sellos de tiempo</a:t>
            </a:r>
          </a:p>
        </p:txBody>
      </p:sp>
      <p:sp>
        <p:nvSpPr>
          <p:cNvPr id="22" name="Rectangle 21"/>
          <p:cNvSpPr/>
          <p:nvPr/>
        </p:nvSpPr>
        <p:spPr>
          <a:xfrm>
            <a:off x="566928" y="37311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22557"/>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La forma como se identifica a su iniciador</a:t>
            </a:r>
          </a:p>
        </p:txBody>
      </p:sp>
      <p:sp>
        <p:nvSpPr>
          <p:cNvPr id="24" name="TextBox 23"/>
          <p:cNvSpPr txBox="1"/>
          <p:nvPr/>
        </p:nvSpPr>
        <p:spPr>
          <a:xfrm>
            <a:off x="4878415" y="3822557"/>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¿Cómo sabe que fue el asociado y no otro?</a:t>
            </a:r>
          </a:p>
        </p:txBody>
      </p:sp>
      <p:sp>
        <p:nvSpPr>
          <p:cNvPr id="25" name="TextBox 24"/>
          <p:cNvSpPr txBox="1"/>
          <p:nvPr/>
        </p:nvSpPr>
        <p:spPr>
          <a:xfrm>
            <a:off x="8416046" y="3822557"/>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con llave privada individual y certificado</a:t>
            </a:r>
          </a:p>
        </p:txBody>
      </p:sp>
      <p:sp>
        <p:nvSpPr>
          <p:cNvPr id="26" name="Rectangle 25"/>
          <p:cNvSpPr/>
          <p:nvPr/>
        </p:nvSpPr>
        <p:spPr>
          <a:xfrm>
            <a:off x="566928" y="42709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62419"/>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Cualquier otro factor pertinente</a:t>
            </a:r>
          </a:p>
        </p:txBody>
      </p:sp>
      <p:sp>
        <p:nvSpPr>
          <p:cNvPr id="28" name="TextBox 27"/>
          <p:cNvSpPr txBox="1"/>
          <p:nvPr/>
        </p:nvSpPr>
        <p:spPr>
          <a:xfrm>
            <a:off x="4878415" y="4362419"/>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¿Quién custodió la evidencia?</a:t>
            </a:r>
          </a:p>
        </p:txBody>
      </p:sp>
      <p:sp>
        <p:nvSpPr>
          <p:cNvPr id="29" name="TextBox 28"/>
          <p:cNvSpPr txBox="1"/>
          <p:nvPr/>
        </p:nvSpPr>
        <p:spPr>
          <a:xfrm>
            <a:off x="8416046" y="4362419"/>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Custodia por un tercero o con integridad demostrable</a:t>
            </a:r>
          </a:p>
        </p:txBody>
      </p:sp>
      <p:sp>
        <p:nvSpPr>
          <p:cNvPr id="30" name="Rectangle 29"/>
          <p:cNvSpPr/>
          <p:nvPr/>
        </p:nvSpPr>
        <p:spPr>
          <a:xfrm>
            <a:off x="566928" y="48108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86570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167457"/>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18574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CONEXIÓN CON EL CÓDIGO GENERAL DEL PROCESO</a:t>
            </a:r>
          </a:p>
        </p:txBody>
      </p:sp>
      <p:sp>
        <p:nvSpPr>
          <p:cNvPr id="34" name="TextBox 33"/>
          <p:cNvSpPr txBox="1"/>
          <p:nvPr/>
        </p:nvSpPr>
        <p:spPr>
          <a:xfrm>
            <a:off x="804672" y="5423489"/>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Código General del Proceso reconoce los mensajes de datos como prueba y remite a la Ley 527 para valorarlos. </a:t>
            </a:r>
            <a:r>
              <a:rPr sz="1150" b="1">
                <a:solidFill>
                  <a:srgbClr val="2A2A2A"/>
                </a:solidFill>
                <a:latin typeface="Arial"/>
              </a:rPr>
              <a:t>Un informe que responde estas cuatro filas es, en la práctica, la defensa técnica de la cooperativa</a:t>
            </a:r>
            <a:r>
              <a:rPr sz="1150" b="0">
                <a:solidFill>
                  <a:srgbClr val="2A2A2A"/>
                </a:solidFill>
                <a:latin typeface="Arial"/>
              </a:rPr>
              <a:t> en cualquier reclamación.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37  DISEÑO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HARÍA FALTA PARA QUE FUERA OPONIBLE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44</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Firma digital con certificado de una entidad acreditada</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Que ate la llave privada a la identidad del asociado mediante un tercero independiente de la cooperativa.</a:t>
            </a:r>
          </a:p>
        </p:txBody>
      </p:sp>
      <p:sp>
        <p:nvSpPr>
          <p:cNvPr id="12" name="TextBox 11"/>
          <p:cNvSpPr txBox="1"/>
          <p:nvPr/>
        </p:nvSpPr>
        <p:spPr>
          <a:xfrm>
            <a:off x="566928" y="24414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4597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Sello de tiempo de un tercero</a:t>
            </a:r>
          </a:p>
        </p:txBody>
      </p:sp>
      <p:sp>
        <p:nvSpPr>
          <p:cNvPr id="14" name="TextBox 13"/>
          <p:cNvSpPr txBox="1"/>
          <p:nvPr/>
        </p:nvSpPr>
        <p:spPr>
          <a:xfrm>
            <a:off x="1280160" y="26974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Que certifique que el documento existía en ese momento, sin depender del reloj de un servidor de la cooperativa.</a:t>
            </a:r>
          </a:p>
        </p:txBody>
      </p:sp>
      <p:sp>
        <p:nvSpPr>
          <p:cNvPr id="15" name="TextBox 14"/>
          <p:cNvSpPr txBox="1"/>
          <p:nvPr/>
        </p:nvSpPr>
        <p:spPr>
          <a:xfrm>
            <a:off x="566928" y="32826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300984"/>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Formato de conservación a largo plazo</a:t>
            </a:r>
          </a:p>
        </p:txBody>
      </p:sp>
      <p:sp>
        <p:nvSpPr>
          <p:cNvPr id="17" name="TextBox 16"/>
          <p:cNvSpPr txBox="1"/>
          <p:nvPr/>
        </p:nvSpPr>
        <p:spPr>
          <a:xfrm>
            <a:off x="1280160" y="35387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Los certificados vencen y los algoritmos envejecen. Existen formatos de firma diseñados para que la verificación siga siendo posible décadas después, resellando periódicamente.</a:t>
            </a:r>
          </a:p>
        </p:txBody>
      </p:sp>
      <p:sp>
        <p:nvSpPr>
          <p:cNvPr id="18" name="TextBox 17"/>
          <p:cNvSpPr txBox="1"/>
          <p:nvPr/>
        </p:nvSpPr>
        <p:spPr>
          <a:xfrm>
            <a:off x="566928" y="412394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414223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Custodia del expediente por un tercero o con integridad demostrable</a:t>
            </a:r>
          </a:p>
        </p:txBody>
      </p:sp>
      <p:sp>
        <p:nvSpPr>
          <p:cNvPr id="20" name="TextBox 19"/>
          <p:cNvSpPr txBox="1"/>
          <p:nvPr/>
        </p:nvSpPr>
        <p:spPr>
          <a:xfrm>
            <a:off x="1280160" y="437997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Para que la parte interesada no sea la única que tiene el documento.</a:t>
            </a:r>
          </a:p>
        </p:txBody>
      </p:sp>
      <p:sp>
        <p:nvSpPr>
          <p:cNvPr id="21" name="Rectangle 20"/>
          <p:cNvSpPr/>
          <p:nvPr/>
        </p:nvSpPr>
        <p:spPr>
          <a:xfrm>
            <a:off x="566928" y="5148072"/>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1663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PUNTO TRES ES EL QUE SIEMPRE SE OLVIDA</a:t>
            </a:r>
          </a:p>
        </p:txBody>
      </p:sp>
      <p:sp>
        <p:nvSpPr>
          <p:cNvPr id="23" name="TextBox 22"/>
          <p:cNvSpPr txBox="1"/>
          <p:nvPr/>
        </p:nvSpPr>
        <p:spPr>
          <a:xfrm>
            <a:off x="804672" y="5404104"/>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firma perfectamente válida hoy puede volverse inverificable en quince años, cuando el certificado haya vencido y el algoritmo esté retirado. </a:t>
            </a:r>
            <a:r>
              <a:rPr sz="1150" b="1">
                <a:solidFill>
                  <a:srgbClr val="2A2A2A"/>
                </a:solidFill>
                <a:latin typeface="Arial"/>
              </a:rPr>
              <a:t>Conservar la prueba es un proceso, no un archivo.</a:t>
            </a:r>
            <a:r>
              <a:rPr sz="1150" b="0">
                <a:solidFill>
                  <a:srgbClr val="2A2A2A"/>
                </a:solidFill>
                <a:latin typeface="Arial"/>
              </a:rPr>
              <a:t> Es la puerta de entrada a la sesión 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38  ACREDITACIÓN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QUIÉN ACREDITA A LAS ENTIDADES DE CERTIFICACIÓN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 Colombia, una entidad de certificación digital necesita acreditación para que sus certificados den las presunciones de la ley. Saber cómo se verifica evita contratar a quien no la tiene.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PREGUNTA</a:t>
            </a:r>
          </a:p>
        </p:txBody>
      </p:sp>
      <p:sp>
        <p:nvSpPr>
          <p:cNvPr id="12" name="TextBox 11"/>
          <p:cNvSpPr txBox="1"/>
          <p:nvPr/>
        </p:nvSpPr>
        <p:spPr>
          <a:xfrm>
            <a:off x="3883456" y="2423159"/>
            <a:ext cx="757397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RESPUESTA</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3151936"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acredita?</a:t>
            </a:r>
          </a:p>
        </p:txBody>
      </p:sp>
      <p:sp>
        <p:nvSpPr>
          <p:cNvPr id="15" name="TextBox 14"/>
          <p:cNvSpPr txBox="1"/>
          <p:nvPr/>
        </p:nvSpPr>
        <p:spPr>
          <a:xfrm>
            <a:off x="3883456" y="2825495"/>
            <a:ext cx="757397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Organismo Nacional de Acreditación de Colombia, ONAC, según el Decreto 333 de 2014</a:t>
            </a:r>
          </a:p>
        </p:txBody>
      </p:sp>
      <p:sp>
        <p:nvSpPr>
          <p:cNvPr id="16" name="Rectangle 15"/>
          <p:cNvSpPr/>
          <p:nvPr/>
        </p:nvSpPr>
        <p:spPr>
          <a:xfrm>
            <a:off x="566928" y="31912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82695"/>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¿Qué se acredita?</a:t>
            </a:r>
          </a:p>
        </p:txBody>
      </p:sp>
      <p:sp>
        <p:nvSpPr>
          <p:cNvPr id="18" name="TextBox 17"/>
          <p:cNvSpPr txBox="1"/>
          <p:nvPr/>
        </p:nvSpPr>
        <p:spPr>
          <a:xfrm>
            <a:off x="3883456" y="3282695"/>
            <a:ext cx="757397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Servicios concretos: emisión de certificados, estampado cronológico, archivo y conservación. No la empresa en abstracto</a:t>
            </a:r>
          </a:p>
        </p:txBody>
      </p:sp>
      <p:sp>
        <p:nvSpPr>
          <p:cNvPr id="19" name="Rectangle 18"/>
          <p:cNvSpPr/>
          <p:nvPr/>
        </p:nvSpPr>
        <p:spPr>
          <a:xfrm>
            <a:off x="566928" y="37311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22557"/>
            <a:ext cx="3151936"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¿Cómo se verifica?</a:t>
            </a:r>
          </a:p>
        </p:txBody>
      </p:sp>
      <p:sp>
        <p:nvSpPr>
          <p:cNvPr id="21" name="TextBox 20"/>
          <p:cNvSpPr txBox="1"/>
          <p:nvPr/>
        </p:nvSpPr>
        <p:spPr>
          <a:xfrm>
            <a:off x="3883456" y="3822557"/>
            <a:ext cx="757397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el directorio público de organismos acreditados del ONAC, servicio por servicio y con su vigencia</a:t>
            </a:r>
          </a:p>
        </p:txBody>
      </p:sp>
      <p:sp>
        <p:nvSpPr>
          <p:cNvPr id="22" name="Rectangle 21"/>
          <p:cNvSpPr/>
          <p:nvPr/>
        </p:nvSpPr>
        <p:spPr>
          <a:xfrm>
            <a:off x="566928" y="41883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79757"/>
            <a:ext cx="3151936"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¿Y si no está acreditada?</a:t>
            </a:r>
          </a:p>
        </p:txBody>
      </p:sp>
      <p:sp>
        <p:nvSpPr>
          <p:cNvPr id="24" name="TextBox 23"/>
          <p:cNvSpPr txBox="1"/>
          <p:nvPr/>
        </p:nvSpPr>
        <p:spPr>
          <a:xfrm>
            <a:off x="3883456" y="4279757"/>
            <a:ext cx="757397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sigue siendo electrónica, y su confiabilidad hay que probarla caso por caso</a:t>
            </a:r>
          </a:p>
        </p:txBody>
      </p:sp>
      <p:sp>
        <p:nvSpPr>
          <p:cNvPr id="25" name="Rectangle 24"/>
          <p:cNvSpPr/>
          <p:nvPr/>
        </p:nvSpPr>
        <p:spPr>
          <a:xfrm>
            <a:off x="566928" y="46455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70038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02133"/>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0204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PRIMERA LÍNEA DEL CONTRATO</a:t>
            </a:r>
          </a:p>
        </p:txBody>
      </p:sp>
      <p:sp>
        <p:nvSpPr>
          <p:cNvPr id="29" name="TextBox 28"/>
          <p:cNvSpPr txBox="1"/>
          <p:nvPr/>
        </p:nvSpPr>
        <p:spPr>
          <a:xfrm>
            <a:off x="804672" y="5258165"/>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número de acreditación del servicio contratado, con su alcance y su vigencia. </a:t>
            </a:r>
            <a:r>
              <a:rPr sz="1150" b="1">
                <a:solidFill>
                  <a:srgbClr val="2A2A2A"/>
                </a:solidFill>
                <a:latin typeface="Arial"/>
              </a:rPr>
              <a:t>Y una cláusula para el día en que la entidad pierda la acreditación o deje de operar</a:t>
            </a:r>
            <a:r>
              <a:rPr sz="1150" b="0">
                <a:solidFill>
                  <a:srgbClr val="2A2A2A"/>
                </a:solidFill>
                <a:latin typeface="Arial"/>
              </a:rPr>
              <a:t>: los pagarés tienen que seguir siendo verificables durante veinte años.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39  PROVEEDOR</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QUÉ PREGUNTARLE A UNA ENTIDAD DE CERTIFICACIÓN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Este es el tipo de lista que se espera de un especialista, y la que nadie llevó a la reunión en la que Coopaburrá decidió montar su propia autoridad en 2019.</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PREGUNTAR</a:t>
            </a:r>
          </a:p>
        </p:txBody>
      </p:sp>
      <p:sp>
        <p:nvSpPr>
          <p:cNvPr id="12" name="TextBox 11"/>
          <p:cNvSpPr txBox="1"/>
          <p:nvPr/>
        </p:nvSpPr>
        <p:spPr>
          <a:xfrm>
            <a:off x="5431170" y="2423159"/>
            <a:ext cx="602626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IMPORTA</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¿Está acreditada y para qué alcance exactamente?</a:t>
            </a:r>
          </a:p>
        </p:txBody>
      </p:sp>
      <p:sp>
        <p:nvSpPr>
          <p:cNvPr id="15" name="TextBox 14"/>
          <p:cNvSpPr txBox="1"/>
          <p:nvPr/>
        </p:nvSpPr>
        <p:spPr>
          <a:xfrm>
            <a:off x="5431170" y="2825495"/>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acreditación es lo que convierte la firma en prueba con presunciones. Sin ella se firma igual, pero hay que demostrarlo todo</a:t>
            </a:r>
          </a:p>
        </p:txBody>
      </p:sp>
      <p:sp>
        <p:nvSpPr>
          <p:cNvPr id="16" name="Rectangle 15"/>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65357"/>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¿Dónde queda la llave privada del suscriptor?</a:t>
            </a:r>
          </a:p>
        </p:txBody>
      </p:sp>
      <p:sp>
        <p:nvSpPr>
          <p:cNvPr id="18" name="TextBox 17"/>
          <p:cNvSpPr txBox="1"/>
          <p:nvPr/>
        </p:nvSpPr>
        <p:spPr>
          <a:xfrm>
            <a:off x="5431170" y="3365357"/>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la custodia el proveedor, el control exclusivo del firmante se debilita, y con él el no repudio</a:t>
            </a:r>
          </a:p>
        </p:txBody>
      </p:sp>
      <p:sp>
        <p:nvSpPr>
          <p:cNvPr id="19" name="Rectangle 18"/>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905219"/>
            <a:ext cx="4699650"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¿Ofrece estampado cronológico y con qué fuente de tiempo?</a:t>
            </a:r>
          </a:p>
        </p:txBody>
      </p:sp>
      <p:sp>
        <p:nvSpPr>
          <p:cNvPr id="21" name="TextBox 20"/>
          <p:cNvSpPr txBox="1"/>
          <p:nvPr/>
        </p:nvSpPr>
        <p:spPr>
          <a:xfrm>
            <a:off x="5431170" y="3905219"/>
            <a:ext cx="602626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Sin sello de tiempo de un tercero no hay forma de probar cuándo se firmó</a:t>
            </a:r>
          </a:p>
        </p:txBody>
      </p:sp>
      <p:sp>
        <p:nvSpPr>
          <p:cNvPr id="22" name="Rectangle 21"/>
          <p:cNvSpPr/>
          <p:nvPr/>
        </p:nvSpPr>
        <p:spPr>
          <a:xfrm>
            <a:off x="566928" y="42344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325843"/>
            <a:ext cx="4699650"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formatos de firma de larga duración maneja?</a:t>
            </a:r>
          </a:p>
        </p:txBody>
      </p:sp>
      <p:sp>
        <p:nvSpPr>
          <p:cNvPr id="24" name="TextBox 23"/>
          <p:cNvSpPr txBox="1"/>
          <p:nvPr/>
        </p:nvSpPr>
        <p:spPr>
          <a:xfrm>
            <a:off x="5431170" y="4325843"/>
            <a:ext cx="602626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lo que permite que un pagaré firmado hoy siga siendo verificable en veinte años</a:t>
            </a:r>
          </a:p>
        </p:txBody>
      </p:sp>
      <p:sp>
        <p:nvSpPr>
          <p:cNvPr id="25" name="Rectangle 24"/>
          <p:cNvSpPr/>
          <p:nvPr/>
        </p:nvSpPr>
        <p:spPr>
          <a:xfrm>
            <a:off x="566928" y="46550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746467"/>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¿Cuánto cuesta por certificado y por estampado, y cuánto tarda la emisión?</a:t>
            </a:r>
          </a:p>
        </p:txBody>
      </p:sp>
      <p:sp>
        <p:nvSpPr>
          <p:cNvPr id="27" name="TextBox 26"/>
          <p:cNvSpPr txBox="1"/>
          <p:nvPr/>
        </p:nvSpPr>
        <p:spPr>
          <a:xfrm>
            <a:off x="5431170" y="4746467"/>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142.000 asociados y cartera hipotecaria, el costo unitario decide la arquitectura completa</a:t>
            </a:r>
          </a:p>
        </p:txBody>
      </p:sp>
      <p:sp>
        <p:nvSpPr>
          <p:cNvPr id="28" name="Rectangle 27"/>
          <p:cNvSpPr/>
          <p:nvPr/>
        </p:nvSpPr>
        <p:spPr>
          <a:xfrm>
            <a:off x="566928" y="51948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24975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40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PREGUNTA DEL ABOGADO, RESPONDIDA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 la sesión 1 abrimos el módulo con la pregunta que el comité no supo responder. Hoy ya se puede responder completa, y conviene ver la respuesta entera de una sola vez.</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7046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HAY QUE PROBAR</a:t>
            </a:r>
          </a:p>
        </p:txBody>
      </p:sp>
      <p:sp>
        <p:nvSpPr>
          <p:cNvPr id="12" name="TextBox 11"/>
          <p:cNvSpPr txBox="1"/>
          <p:nvPr/>
        </p:nvSpPr>
        <p:spPr>
          <a:xfrm>
            <a:off x="4436211" y="2423159"/>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 QUÉ SE PRUEBA</a:t>
            </a:r>
          </a:p>
        </p:txBody>
      </p:sp>
      <p:sp>
        <p:nvSpPr>
          <p:cNvPr id="13" name="TextBox 12"/>
          <p:cNvSpPr txBox="1"/>
          <p:nvPr/>
        </p:nvSpPr>
        <p:spPr>
          <a:xfrm>
            <a:off x="9189902"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DE QUÉ SESIÓN VIENE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70469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el contenido no cambió</a:t>
            </a:r>
          </a:p>
        </p:txBody>
      </p:sp>
      <p:sp>
        <p:nvSpPr>
          <p:cNvPr id="16" name="TextBox 15"/>
          <p:cNvSpPr txBox="1"/>
          <p:nvPr/>
        </p:nvSpPr>
        <p:spPr>
          <a:xfrm>
            <a:off x="4436211" y="2825495"/>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Función resumen moderna sobre el contenido completo</a:t>
            </a:r>
          </a:p>
        </p:txBody>
      </p:sp>
      <p:sp>
        <p:nvSpPr>
          <p:cNvPr id="17" name="TextBox 16"/>
          <p:cNvSpPr txBox="1"/>
          <p:nvPr/>
        </p:nvSpPr>
        <p:spPr>
          <a:xfrm>
            <a:off x="9189902" y="2825495"/>
            <a:ext cx="226752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3</a:t>
            </a:r>
          </a:p>
        </p:txBody>
      </p:sp>
      <p:sp>
        <p:nvSpPr>
          <p:cNvPr id="18" name="Rectangle 17"/>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09543"/>
            <a:ext cx="3704691" cy="32918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Que lo autorizó el titular y nadie más</a:t>
            </a:r>
          </a:p>
        </p:txBody>
      </p:sp>
      <p:sp>
        <p:nvSpPr>
          <p:cNvPr id="20" name="TextBox 19"/>
          <p:cNvSpPr txBox="1"/>
          <p:nvPr/>
        </p:nvSpPr>
        <p:spPr>
          <a:xfrm>
            <a:off x="4436211" y="3209543"/>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con llave privada en el enclave del dispositivo</a:t>
            </a:r>
          </a:p>
        </p:txBody>
      </p:sp>
      <p:sp>
        <p:nvSpPr>
          <p:cNvPr id="21" name="TextBox 20"/>
          <p:cNvSpPr txBox="1"/>
          <p:nvPr/>
        </p:nvSpPr>
        <p:spPr>
          <a:xfrm>
            <a:off x="9189902" y="3209543"/>
            <a:ext cx="226752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Hoy</a:t>
            </a:r>
          </a:p>
        </p:txBody>
      </p:sp>
      <p:sp>
        <p:nvSpPr>
          <p:cNvPr id="22" name="Rectangle 21"/>
          <p:cNvSpPr/>
          <p:nvPr/>
        </p:nvSpPr>
        <p:spPr>
          <a:xfrm>
            <a:off x="566928" y="35021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370469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la llave es de esa persona</a:t>
            </a:r>
          </a:p>
        </p:txBody>
      </p:sp>
      <p:sp>
        <p:nvSpPr>
          <p:cNvPr id="24" name="TextBox 23"/>
          <p:cNvSpPr txBox="1"/>
          <p:nvPr/>
        </p:nvSpPr>
        <p:spPr>
          <a:xfrm>
            <a:off x="4436211" y="3593591"/>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 de una entidad de certificación acreditada</a:t>
            </a:r>
          </a:p>
        </p:txBody>
      </p:sp>
      <p:sp>
        <p:nvSpPr>
          <p:cNvPr id="25" name="TextBox 24"/>
          <p:cNvSpPr txBox="1"/>
          <p:nvPr/>
        </p:nvSpPr>
        <p:spPr>
          <a:xfrm>
            <a:off x="9189902" y="3593591"/>
            <a:ext cx="226752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5</a:t>
            </a:r>
          </a:p>
        </p:txBody>
      </p:sp>
      <p:sp>
        <p:nvSpPr>
          <p:cNvPr id="26" name="Rectangle 25"/>
          <p:cNvSpPr/>
          <p:nvPr/>
        </p:nvSpPr>
        <p:spPr>
          <a:xfrm>
            <a:off x="566928" y="38861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977639"/>
            <a:ext cx="370469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ocurrió en ese momento</a:t>
            </a:r>
          </a:p>
        </p:txBody>
      </p:sp>
      <p:sp>
        <p:nvSpPr>
          <p:cNvPr id="28" name="TextBox 27"/>
          <p:cNvSpPr txBox="1"/>
          <p:nvPr/>
        </p:nvSpPr>
        <p:spPr>
          <a:xfrm>
            <a:off x="4436211" y="3977639"/>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Sello de tiempo de un tercero, no el reloj propio</a:t>
            </a:r>
          </a:p>
        </p:txBody>
      </p:sp>
      <p:sp>
        <p:nvSpPr>
          <p:cNvPr id="29" name="TextBox 28"/>
          <p:cNvSpPr txBox="1"/>
          <p:nvPr/>
        </p:nvSpPr>
        <p:spPr>
          <a:xfrm>
            <a:off x="9189902" y="3977639"/>
            <a:ext cx="226752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6</a:t>
            </a:r>
          </a:p>
        </p:txBody>
      </p:sp>
      <p:sp>
        <p:nvSpPr>
          <p:cNvPr id="30" name="Rectangle 29"/>
          <p:cNvSpPr/>
          <p:nvPr/>
        </p:nvSpPr>
        <p:spPr>
          <a:xfrm>
            <a:off x="566928" y="42702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61687"/>
            <a:ext cx="370469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el expediente no se manipuló después</a:t>
            </a:r>
          </a:p>
        </p:txBody>
      </p:sp>
      <p:sp>
        <p:nvSpPr>
          <p:cNvPr id="32" name="TextBox 31"/>
          <p:cNvSpPr txBox="1"/>
          <p:nvPr/>
        </p:nvSpPr>
        <p:spPr>
          <a:xfrm>
            <a:off x="4436211" y="4361687"/>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Registro encadenado y custodia con integridad demostrable</a:t>
            </a:r>
          </a:p>
        </p:txBody>
      </p:sp>
      <p:sp>
        <p:nvSpPr>
          <p:cNvPr id="33" name="TextBox 32"/>
          <p:cNvSpPr txBox="1"/>
          <p:nvPr/>
        </p:nvSpPr>
        <p:spPr>
          <a:xfrm>
            <a:off x="9189902" y="4361687"/>
            <a:ext cx="226752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3 y hoy</a:t>
            </a:r>
          </a:p>
        </p:txBody>
      </p:sp>
      <p:sp>
        <p:nvSpPr>
          <p:cNvPr id="34" name="Rectangle 33"/>
          <p:cNvSpPr/>
          <p:nvPr/>
        </p:nvSpPr>
        <p:spPr>
          <a:xfrm>
            <a:off x="566928" y="46542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745735"/>
            <a:ext cx="370469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Que seguirá siendo verificable en veinte años</a:t>
            </a:r>
          </a:p>
        </p:txBody>
      </p:sp>
      <p:sp>
        <p:nvSpPr>
          <p:cNvPr id="36" name="TextBox 35"/>
          <p:cNvSpPr txBox="1"/>
          <p:nvPr/>
        </p:nvSpPr>
        <p:spPr>
          <a:xfrm>
            <a:off x="4436211" y="4745735"/>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Formato de conservación de larga duración y resellado periódico</a:t>
            </a:r>
          </a:p>
        </p:txBody>
      </p:sp>
      <p:sp>
        <p:nvSpPr>
          <p:cNvPr id="37" name="TextBox 36"/>
          <p:cNvSpPr txBox="1"/>
          <p:nvPr/>
        </p:nvSpPr>
        <p:spPr>
          <a:xfrm>
            <a:off x="9189902" y="4745735"/>
            <a:ext cx="226752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6</a:t>
            </a:r>
          </a:p>
        </p:txBody>
      </p:sp>
      <p:sp>
        <p:nvSpPr>
          <p:cNvPr id="38" name="Rectangle 37"/>
          <p:cNvSpPr/>
          <p:nvPr/>
        </p:nvSpPr>
        <p:spPr>
          <a:xfrm>
            <a:off x="566928" y="50383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09320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394959"/>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541324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CONCLUSIÓN PARA EL INFORME</a:t>
            </a:r>
          </a:p>
        </p:txBody>
      </p:sp>
      <p:sp>
        <p:nvSpPr>
          <p:cNvPr id="42" name="TextBox 41"/>
          <p:cNvSpPr txBox="1"/>
          <p:nvPr/>
        </p:nvSpPr>
        <p:spPr>
          <a:xfrm>
            <a:off x="804672" y="5650991"/>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Ninguna de las seis filas se resuelve sola, y </a:t>
            </a:r>
            <a:r>
              <a:rPr sz="1150" b="1">
                <a:solidFill>
                  <a:srgbClr val="2A2A2A"/>
                </a:solidFill>
                <a:latin typeface="Arial"/>
              </a:rPr>
              <a:t>ninguna se resuelve comprando un producto</a:t>
            </a:r>
            <a:r>
              <a:rPr sz="1150" b="0">
                <a:solidFill>
                  <a:srgbClr val="2A2A2A"/>
                </a:solidFill>
                <a:latin typeface="Arial"/>
              </a:rPr>
              <a:t>. El comité no necesita que le recomienden un algoritmo: necesita saber quién responde por cada fila.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06</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LABORATORIO 4</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Cincuenta y cinco minutos · Firmar, verificar y medir, con Python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41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TRES EJERCICIOS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49</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1 · Generar, firmar y verificar</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Generen una pareja de llaves, firmen un documento, verifíquenlo. Después cambien un solo carácter del documento y vuelvan a verificar. Documenten qué ocurre.</a:t>
            </a:r>
          </a:p>
        </p:txBody>
      </p:sp>
      <p:sp>
        <p:nvSpPr>
          <p:cNvPr id="12" name="TextBox 11"/>
          <p:cNvSpPr txBox="1"/>
          <p:nvPr/>
        </p:nvSpPr>
        <p:spPr>
          <a:xfrm>
            <a:off x="566928" y="24414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4597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2 · Medir la diferencia</a:t>
            </a:r>
          </a:p>
        </p:txBody>
      </p:sp>
      <p:sp>
        <p:nvSpPr>
          <p:cNvPr id="14" name="TextBox 13"/>
          <p:cNvSpPr txBox="1"/>
          <p:nvPr/>
        </p:nvSpPr>
        <p:spPr>
          <a:xfrm>
            <a:off x="1280160" y="26974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Comparen tiempo de generación, tiempo de firma y tamaño de llave entre RSA y curva elíptica al mismo nivel de seguridad. Lleven los números a una tabla.</a:t>
            </a:r>
          </a:p>
        </p:txBody>
      </p:sp>
      <p:sp>
        <p:nvSpPr>
          <p:cNvPr id="15" name="TextBox 14"/>
          <p:cNvSpPr txBox="1"/>
          <p:nvPr/>
        </p:nvSpPr>
        <p:spPr>
          <a:xfrm>
            <a:off x="566928" y="32826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300984"/>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3 · Verificar con la llave equivocada</a:t>
            </a:r>
          </a:p>
        </p:txBody>
      </p:sp>
      <p:sp>
        <p:nvSpPr>
          <p:cNvPr id="17" name="TextBox 16"/>
          <p:cNvSpPr txBox="1"/>
          <p:nvPr/>
        </p:nvSpPr>
        <p:spPr>
          <a:xfrm>
            <a:off x="1280160" y="35387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Intenten verificar una firma válida con la llave pública de otra pareja. Expliquen qué garantiza exactamente el resultado y qué no.</a:t>
            </a:r>
          </a:p>
        </p:txBody>
      </p:sp>
      <p:sp>
        <p:nvSpPr>
          <p:cNvPr id="18" name="Rectangle 17"/>
          <p:cNvSpPr/>
          <p:nvPr/>
        </p:nvSpPr>
        <p:spPr>
          <a:xfrm>
            <a:off x="566928" y="4306824"/>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32511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SE ENTREGA</a:t>
            </a:r>
          </a:p>
        </p:txBody>
      </p:sp>
      <p:sp>
        <p:nvSpPr>
          <p:cNvPr id="20" name="TextBox 19"/>
          <p:cNvSpPr txBox="1"/>
          <p:nvPr/>
        </p:nvSpPr>
        <p:spPr>
          <a:xfrm>
            <a:off x="804672" y="4562856"/>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página por equipo con la tabla del ejercicio 2 y, sobre todo, la respuesta del ejercicio 3: </a:t>
            </a:r>
            <a:r>
              <a:rPr sz="1150" b="1">
                <a:solidFill>
                  <a:srgbClr val="2A2A2A"/>
                </a:solidFill>
                <a:latin typeface="Arial"/>
              </a:rPr>
              <a:t>qué quedaría todavía sin resolver aunque la firma verifique correctamente.</a:t>
            </a:r>
            <a:r>
              <a:rPr sz="1150" b="0">
                <a:solidFill>
                  <a:srgbClr val="2A2A2A"/>
                </a:solidFill>
                <a:latin typeface="Arial"/>
              </a:rPr>
              <a:t> Esa pregunta es el puente a la sesión del martes.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42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COMANDOS DE ARRANQUE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50</a:t>
            </a:r>
          </a:p>
        </p:txBody>
      </p:sp>
      <p:sp>
        <p:nvSpPr>
          <p:cNvPr id="9" name="Rectangle 8"/>
          <p:cNvSpPr/>
          <p:nvPr/>
        </p:nvSpPr>
        <p:spPr>
          <a:xfrm>
            <a:off x="566928" y="1554480"/>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645920"/>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4 · PUNTO DE PARTIDA</a:t>
            </a:r>
          </a:p>
        </p:txBody>
      </p:sp>
      <p:sp>
        <p:nvSpPr>
          <p:cNvPr id="11" name="TextBox 10"/>
          <p:cNvSpPr txBox="1"/>
          <p:nvPr/>
        </p:nvSpPr>
        <p:spPr>
          <a:xfrm>
            <a:off x="768096" y="1883664"/>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Generar parejas de llaves</a:t>
            </a:r>
          </a:p>
          <a:p>
            <a:pPr algn="l">
              <a:lnSpc>
                <a:spcPct val="130000"/>
              </a:lnSpc>
              <a:spcAft>
                <a:spcPts val="0"/>
              </a:spcAft>
            </a:pPr>
            <a:r>
              <a:rPr sz="950" b="0">
                <a:solidFill>
                  <a:srgbClr val="000000"/>
                </a:solidFill>
                <a:latin typeface="Consolas"/>
              </a:rPr>
              <a:t>openssl genpkey -algorithm RSA -pkeyopt rsa_keygen_bits:3072 -out rsa.key</a:t>
            </a:r>
          </a:p>
          <a:p>
            <a:pPr algn="l">
              <a:lnSpc>
                <a:spcPct val="130000"/>
              </a:lnSpc>
              <a:spcAft>
                <a:spcPts val="0"/>
              </a:spcAft>
            </a:pPr>
            <a:r>
              <a:rPr sz="950" b="0">
                <a:solidFill>
                  <a:srgbClr val="000000"/>
                </a:solidFill>
                <a:latin typeface="Consolas"/>
              </a:rPr>
              <a:t>openssl genpkey -algorithm EC  -pkeyopt ec_paramgen_curve:P-256 -out ec.key</a:t>
            </a:r>
          </a:p>
          <a:p>
            <a:pPr algn="l">
              <a:lnSpc>
                <a:spcPct val="130000"/>
              </a:lnSpc>
              <a:spcAft>
                <a:spcPts val="0"/>
              </a:spcAft>
            </a:pPr>
            <a:r>
              <a:rPr sz="950" b="0">
                <a:solidFill>
                  <a:srgbClr val="000000"/>
                </a:solidFill>
                <a:latin typeface="Consolas"/>
              </a:rPr>
              <a:t>openssl pkey -in ec.key -pubout -out ec.pub</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Firmar y verificar</a:t>
            </a:r>
          </a:p>
          <a:p>
            <a:pPr algn="l">
              <a:lnSpc>
                <a:spcPct val="130000"/>
              </a:lnSpc>
              <a:spcAft>
                <a:spcPts val="0"/>
              </a:spcAft>
            </a:pPr>
            <a:r>
              <a:rPr sz="950" b="0">
                <a:solidFill>
                  <a:srgbClr val="000000"/>
                </a:solidFill>
                <a:latin typeface="Consolas"/>
              </a:rPr>
              <a:t>openssl dgst -sha256 -sign ec.key -out doc.sig documento.pdf</a:t>
            </a:r>
          </a:p>
          <a:p>
            <a:pPr algn="l">
              <a:lnSpc>
                <a:spcPct val="130000"/>
              </a:lnSpc>
              <a:spcAft>
                <a:spcPts val="0"/>
              </a:spcAft>
            </a:pPr>
            <a:r>
              <a:rPr sz="950" b="0">
                <a:solidFill>
                  <a:srgbClr val="000000"/>
                </a:solidFill>
                <a:latin typeface="Consolas"/>
              </a:rPr>
              <a:t>openssl dgst -sha256 -verify ec.pub -signature doc.sig documento.pdf</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Comparar costos</a:t>
            </a:r>
          </a:p>
          <a:p>
            <a:pPr algn="l">
              <a:lnSpc>
                <a:spcPct val="130000"/>
              </a:lnSpc>
              <a:spcAft>
                <a:spcPts val="0"/>
              </a:spcAft>
            </a:pPr>
            <a:r>
              <a:rPr sz="950" b="0">
                <a:solidFill>
                  <a:srgbClr val="000000"/>
                </a:solidFill>
                <a:latin typeface="Consolas"/>
              </a:rPr>
              <a:t>openssl speed rsa3072 ecdsap256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43  PYTHON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LABORATORIO 4 · EL EJERCICIO EN PYTHON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51</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ejercicios 1 y 2 con la librería cryptography: firmar con Ed25519, alterar el documento y comparar el costo con RSA.</a:t>
            </a:r>
          </a:p>
        </p:txBody>
      </p:sp>
      <p:sp>
        <p:nvSpPr>
          <p:cNvPr id="10" name="Rectangle 9"/>
          <p:cNvSpPr/>
          <p:nvPr/>
        </p:nvSpPr>
        <p:spPr>
          <a:xfrm>
            <a:off x="566928" y="2066543"/>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57984"/>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4 · PYTHON 3 + CRYPTOGRAPHY</a:t>
            </a:r>
          </a:p>
        </p:txBody>
      </p:sp>
      <p:sp>
        <p:nvSpPr>
          <p:cNvPr id="12" name="TextBox 11"/>
          <p:cNvSpPr txBox="1"/>
          <p:nvPr/>
        </p:nvSpPr>
        <p:spPr>
          <a:xfrm>
            <a:off x="768096" y="2395727"/>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from cryptography.hazmat.primitives.asymmetric import ed25519, rsa</a:t>
            </a:r>
          </a:p>
          <a:p>
            <a:pPr algn="l">
              <a:lnSpc>
                <a:spcPct val="130000"/>
              </a:lnSpc>
              <a:spcAft>
                <a:spcPts val="0"/>
              </a:spcAft>
            </a:pPr>
            <a:r>
              <a:rPr sz="950" b="0">
                <a:solidFill>
                  <a:srgbClr val="000000"/>
                </a:solidFill>
                <a:latin typeface="Consolas"/>
              </a:rPr>
              <a:t>import time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privada = ed25519.Ed25519PrivateKey.generate()</a:t>
            </a:r>
          </a:p>
          <a:p>
            <a:pPr algn="l">
              <a:lnSpc>
                <a:spcPct val="130000"/>
              </a:lnSpc>
              <a:spcAft>
                <a:spcPts val="0"/>
              </a:spcAft>
            </a:pPr>
            <a:r>
              <a:rPr sz="950" b="0">
                <a:solidFill>
                  <a:srgbClr val="000000"/>
                </a:solidFill>
                <a:latin typeface="Consolas"/>
              </a:rPr>
              <a:t>firma = privada.sign(b"pagare 2026-0415 por 180.000.000")</a:t>
            </a:r>
          </a:p>
          <a:p>
            <a:pPr algn="l">
              <a:lnSpc>
                <a:spcPct val="130000"/>
              </a:lnSpc>
              <a:spcAft>
                <a:spcPts val="0"/>
              </a:spcAft>
            </a:pPr>
            <a:r>
              <a:rPr sz="950" b="0">
                <a:solidFill>
                  <a:srgbClr val="000000"/>
                </a:solidFill>
                <a:latin typeface="Consolas"/>
              </a:rPr>
              <a:t>privada.public_key().verify(firma, b"pagare 2026-0415 por 180.000.000")   # correcto</a:t>
            </a:r>
          </a:p>
          <a:p>
            <a:pPr algn="l">
              <a:lnSpc>
                <a:spcPct val="130000"/>
              </a:lnSpc>
              <a:spcAft>
                <a:spcPts val="0"/>
              </a:spcAft>
            </a:pPr>
            <a:r>
              <a:rPr sz="950" b="0">
                <a:solidFill>
                  <a:srgbClr val="000000"/>
                </a:solidFill>
                <a:latin typeface="Consolas"/>
              </a:rPr>
              <a:t>privada.public_key().verify(firma, b"pagare 2026-0415 por 980.000.000")   # InvalidSignature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t = time.perf_counter()</a:t>
            </a:r>
          </a:p>
          <a:p>
            <a:pPr algn="l">
              <a:lnSpc>
                <a:spcPct val="130000"/>
              </a:lnSpc>
              <a:spcAft>
                <a:spcPts val="0"/>
              </a:spcAft>
            </a:pPr>
            <a:r>
              <a:rPr sz="950" b="0">
                <a:solidFill>
                  <a:srgbClr val="000000"/>
                </a:solidFill>
                <a:latin typeface="Consolas"/>
              </a:rPr>
              <a:t>rsa.generate_private_key(public_exponent=65537, key_size=3072)</a:t>
            </a:r>
          </a:p>
          <a:p>
            <a:pPr algn="l">
              <a:lnSpc>
                <a:spcPct val="130000"/>
              </a:lnSpc>
              <a:spcAft>
                <a:spcPts val="0"/>
              </a:spcAft>
            </a:pPr>
            <a:r>
              <a:rPr sz="950" b="0">
                <a:solidFill>
                  <a:srgbClr val="000000"/>
                </a:solidFill>
                <a:latin typeface="Consolas"/>
              </a:rPr>
              <a:t>print("RSA-3072, generar:", round(time.perf_counter() - t, 2), "s")</a:t>
            </a:r>
          </a:p>
        </p:txBody>
      </p:sp>
      <p:sp>
        <p:nvSpPr>
          <p:cNvPr id="13" name="Rectangle 12"/>
          <p:cNvSpPr/>
          <p:nvPr/>
        </p:nvSpPr>
        <p:spPr>
          <a:xfrm>
            <a:off x="566928" y="4999939"/>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182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VA EN EL INFORME</a:t>
            </a:r>
          </a:p>
        </p:txBody>
      </p:sp>
      <p:sp>
        <p:nvSpPr>
          <p:cNvPr id="15" name="TextBox 14"/>
          <p:cNvSpPr txBox="1"/>
          <p:nvPr/>
        </p:nvSpPr>
        <p:spPr>
          <a:xfrm>
            <a:off x="804672" y="5255971"/>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Midan también cuánto tarda generar una llave Ed25519 y firmar mil veces con cada esquema. </a:t>
            </a:r>
            <a:r>
              <a:rPr sz="1150" b="1">
                <a:solidFill>
                  <a:srgbClr val="2A2A2A"/>
                </a:solidFill>
                <a:latin typeface="Arial"/>
              </a:rPr>
              <a:t>La tabla de tiempos es el argumento técnico para el teléfono del asociado</a:t>
            </a:r>
            <a:r>
              <a:rPr sz="1150" b="0">
                <a:solidFill>
                  <a:srgbClr val="2A2A2A"/>
                </a:solidFill>
                <a:latin typeface="Arial"/>
              </a:rPr>
              <a:t>, y la línea que falla demuestra qué significa «ligada al mensaje» en el artículo 28.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44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LLEVAMOS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52</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llave pública resolvió un problema de dos mil años</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Acordar un secreto por un canal público, sin haberse visto antes.</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Cifrar usa la llave del otro; firmar usa la propia</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Son operaciones opuestas y confundirlas es el error conceptual más común.</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Solo la firma digital da no repudio</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Porque la llave privada la tiene una sola parte y la verificación la puede hacer cualquiera.</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Una firma sola no basta</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No prueba la fecha ni de quién es la llave. Hace falta sello de tiempo y certificado.</a:t>
            </a:r>
          </a:p>
        </p:txBody>
      </p:sp>
      <p:sp>
        <p:nvSpPr>
          <p:cNvPr id="21" name="TextBox 20"/>
          <p:cNvSpPr txBox="1"/>
          <p:nvPr/>
        </p:nvSpPr>
        <p:spPr>
          <a:xfrm>
            <a:off x="566928" y="445312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2" name="TextBox 21"/>
          <p:cNvSpPr txBox="1"/>
          <p:nvPr/>
        </p:nvSpPr>
        <p:spPr>
          <a:xfrm>
            <a:off x="1280160" y="447141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En Colombia la distinción firma electrónica y digital tiene consecuencias</a:t>
            </a:r>
          </a:p>
        </p:txBody>
      </p:sp>
      <p:sp>
        <p:nvSpPr>
          <p:cNvPr id="23" name="TextBox 22"/>
          <p:cNvSpPr txBox="1"/>
          <p:nvPr/>
        </p:nvSpPr>
        <p:spPr>
          <a:xfrm>
            <a:off x="1280160" y="470916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Determina quién tiene que probar qué cuando hay litigio.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45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CUARTA PARTE DEL PRODUCTO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 entrega al inicio de la sesión 5. En el mapa del módulo es la parte de certificados y llaves; se le añade el cierre del rediseño de la firma, que es lo que acabamos de ver.</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SECCIÓN</a:t>
            </a:r>
          </a:p>
        </p:txBody>
      </p:sp>
      <p:sp>
        <p:nvSpPr>
          <p:cNvPr id="12" name="TextBox 11"/>
          <p:cNvSpPr txBox="1"/>
          <p:nvPr/>
        </p:nvSpPr>
        <p:spPr>
          <a:xfrm>
            <a:off x="4325660" y="2423159"/>
            <a:ext cx="713177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DEBE CONTENER</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Cierre del rediseño de la firma · H2</a:t>
            </a:r>
          </a:p>
        </p:txBody>
      </p:sp>
      <p:sp>
        <p:nvSpPr>
          <p:cNvPr id="15" name="TextBox 14"/>
          <p:cNvSpPr txBox="1"/>
          <p:nvPr/>
        </p:nvSpPr>
        <p:spPr>
          <a:xfrm>
            <a:off x="4325660" y="2825495"/>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Esquema con llave privada por dispositivo: cómo se genera, dónde vive, qué conoce el servidor, qué se firma exactamente y qué pasa cuando el asociado cambia de teléfono</a:t>
            </a:r>
          </a:p>
        </p:txBody>
      </p:sp>
      <p:sp>
        <p:nvSpPr>
          <p:cNvPr id="16" name="Rectangle 15"/>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65357"/>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se conserva del esquema actual</a:t>
            </a:r>
          </a:p>
        </p:txBody>
      </p:sp>
      <p:sp>
        <p:nvSpPr>
          <p:cNvPr id="18" name="TextBox 17"/>
          <p:cNvSpPr txBox="1"/>
          <p:nvPr/>
        </p:nvSpPr>
        <p:spPr>
          <a:xfrm>
            <a:off x="4325660" y="3365357"/>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todo se bota. Hay usos donde un código de autenticación con llave compartida sigue siendo adecuado; digan cuáles y por qué</a:t>
            </a:r>
          </a:p>
        </p:txBody>
      </p:sp>
      <p:sp>
        <p:nvSpPr>
          <p:cNvPr id="19" name="Rectangle 18"/>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905219"/>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Plan de choque de certificados · H5</a:t>
            </a:r>
          </a:p>
        </p:txBody>
      </p:sp>
      <p:sp>
        <p:nvSpPr>
          <p:cNvPr id="21" name="TextBox 20"/>
          <p:cNvSpPr txBox="1"/>
          <p:nvPr/>
        </p:nvSpPr>
        <p:spPr>
          <a:xfrm>
            <a:off x="4325660" y="3905219"/>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la evidencia del caso: qué certificados existen, quién responde por cada uno, qué se hace antes del 14 de junio y qué se hace con la autoridad interna. El martes se corrige y se afina</a:t>
            </a:r>
          </a:p>
        </p:txBody>
      </p:sp>
      <p:sp>
        <p:nvSpPr>
          <p:cNvPr id="22" name="Rectangle 21"/>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445081"/>
            <a:ext cx="3594140" cy="6680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Custodia de las llaves de los cajeros · H6</a:t>
            </a:r>
          </a:p>
        </p:txBody>
      </p:sp>
      <p:sp>
        <p:nvSpPr>
          <p:cNvPr id="24" name="TextBox 23"/>
          <p:cNvSpPr txBox="1"/>
          <p:nvPr/>
        </p:nvSpPr>
        <p:spPr>
          <a:xfrm>
            <a:off x="4325660" y="4445081"/>
            <a:ext cx="7131771"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anexo técnico las identifica como 3DES cargadas a mano en 2019, sin rotación. Definan quién custodia, con qué doble control y con qué registro de ceremonia. Es el punto de partida de la política que se cierra en la sesión 6</a:t>
            </a:r>
          </a:p>
        </p:txBody>
      </p:sp>
      <p:sp>
        <p:nvSpPr>
          <p:cNvPr id="25" name="Rectangle 24"/>
          <p:cNvSpPr/>
          <p:nvPr/>
        </p:nvSpPr>
        <p:spPr>
          <a:xfrm>
            <a:off x="566928" y="50765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513142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433181"/>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45146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DE LAS HIPOTECAS NO VA EN ESTA ENTREGA</a:t>
            </a:r>
          </a:p>
        </p:txBody>
      </p:sp>
      <p:sp>
        <p:nvSpPr>
          <p:cNvPr id="29" name="TextBox 28"/>
          <p:cNvSpPr txBox="1"/>
          <p:nvPr/>
        </p:nvSpPr>
        <p:spPr>
          <a:xfrm>
            <a:off x="804672" y="5689213"/>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H7 quedó planteado hoy con todo lo necesario para entenderlo, pero se cierra en la parte 5, cuando tengan sello de tiempo y conservación de larga duración. </a:t>
            </a:r>
            <a:r>
              <a:rPr sz="1150" b="1">
                <a:solidFill>
                  <a:srgbClr val="2A2A2A"/>
                </a:solidFill>
                <a:latin typeface="Arial"/>
              </a:rPr>
              <a:t>Lo que sí conviene hoy es tomar nota de la decisión difícil</a:t>
            </a:r>
            <a:r>
              <a:rPr sz="1150" b="0">
                <a:solidFill>
                  <a:srgbClr val="2A2A2A"/>
                </a:solidFill>
                <a:latin typeface="Arial"/>
              </a:rPr>
              <a:t>: qué se hace con la cartera ya firmada con una imagen.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46  CIERRE</a:t>
            </a:r>
          </a:p>
        </p:txBody>
      </p:sp>
      <p:sp>
        <p:nvSpPr>
          <p:cNvPr id="4" name="TextBox 3"/>
          <p:cNvSpPr txBox="1"/>
          <p:nvPr/>
        </p:nvSpPr>
        <p:spPr>
          <a:xfrm>
            <a:off x="566928" y="731520"/>
            <a:ext cx="11055096" cy="868680"/>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TRABAJO INDEPENDIENTE</a:t>
            </a:r>
          </a:p>
          <a:p>
            <a:pPr algn="l">
              <a:lnSpc>
                <a:spcPct val="108000"/>
              </a:lnSpc>
              <a:spcAft>
                <a:spcPts val="0"/>
              </a:spcAft>
            </a:pPr>
            <a:r>
              <a:rPr sz="2300" b="0">
                <a:solidFill>
                  <a:srgbClr val="000000"/>
                </a:solidFill>
                <a:latin typeface="Arial Black"/>
              </a:rPr>
              <a:t>HASTA LA SESIÓN 5</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54</a:t>
            </a:r>
          </a:p>
        </p:txBody>
      </p:sp>
      <p:sp>
        <p:nvSpPr>
          <p:cNvPr id="9" name="Rectangle 8"/>
          <p:cNvSpPr/>
          <p:nvPr/>
        </p:nvSpPr>
        <p:spPr>
          <a:xfrm>
            <a:off x="566928" y="179222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12 h</a:t>
            </a:r>
          </a:p>
        </p:txBody>
      </p:sp>
      <p:sp>
        <p:nvSpPr>
          <p:cNvPr id="11" name="TextBox 10"/>
          <p:cNvSpPr txBox="1"/>
          <p:nvPr/>
        </p:nvSpPr>
        <p:spPr>
          <a:xfrm>
            <a:off x="566928"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TOTAL ENTRE</a:t>
            </a:r>
          </a:p>
          <a:p>
            <a:pPr algn="l">
              <a:lnSpc>
                <a:spcPct val="125000"/>
              </a:lnSpc>
              <a:spcAft>
                <a:spcPts val="0"/>
              </a:spcAft>
            </a:pPr>
            <a:r>
              <a:rPr sz="730" b="1" spc="130">
                <a:solidFill>
                  <a:srgbClr val="3A3A3A"/>
                </a:solidFill>
                <a:latin typeface="Consolas"/>
              </a:rPr>
              <a:t>JUEVES Y MARTES</a:t>
            </a:r>
          </a:p>
        </p:txBody>
      </p:sp>
      <p:sp>
        <p:nvSpPr>
          <p:cNvPr id="12" name="Rectangle 11"/>
          <p:cNvSpPr/>
          <p:nvPr/>
        </p:nvSpPr>
        <p:spPr>
          <a:xfrm>
            <a:off x="4142232"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4 h</a:t>
            </a:r>
          </a:p>
        </p:txBody>
      </p:sp>
      <p:sp>
        <p:nvSpPr>
          <p:cNvPr id="14" name="TextBox 13"/>
          <p:cNvSpPr txBox="1"/>
          <p:nvPr/>
        </p:nvSpPr>
        <p:spPr>
          <a:xfrm>
            <a:off x="4251960"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LECTURA</a:t>
            </a:r>
          </a:p>
          <a:p>
            <a:pPr algn="l">
              <a:lnSpc>
                <a:spcPct val="125000"/>
              </a:lnSpc>
              <a:spcAft>
                <a:spcPts val="0"/>
              </a:spcAft>
            </a:pPr>
            <a:r>
              <a:rPr sz="730" b="1" spc="130">
                <a:solidFill>
                  <a:srgbClr val="3A3A3A"/>
                </a:solidFill>
                <a:latin typeface="Consolas"/>
              </a:rPr>
              <a:t>PREVIA</a:t>
            </a:r>
          </a:p>
        </p:txBody>
      </p:sp>
      <p:sp>
        <p:nvSpPr>
          <p:cNvPr id="15" name="Rectangle 14"/>
          <p:cNvSpPr/>
          <p:nvPr/>
        </p:nvSpPr>
        <p:spPr>
          <a:xfrm>
            <a:off x="7827264"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920240"/>
            <a:ext cx="3502152"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8 h</a:t>
            </a:r>
          </a:p>
        </p:txBody>
      </p:sp>
      <p:sp>
        <p:nvSpPr>
          <p:cNvPr id="17" name="TextBox 16"/>
          <p:cNvSpPr txBox="1"/>
          <p:nvPr/>
        </p:nvSpPr>
        <p:spPr>
          <a:xfrm>
            <a:off x="7936992"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ENTREGA 4 E INFORME</a:t>
            </a:r>
          </a:p>
          <a:p>
            <a:pPr algn="l">
              <a:lnSpc>
                <a:spcPct val="125000"/>
              </a:lnSpc>
              <a:spcAft>
                <a:spcPts val="0"/>
              </a:spcAft>
            </a:pPr>
            <a:r>
              <a:rPr sz="730" b="1" spc="130">
                <a:solidFill>
                  <a:srgbClr val="3A3A3A"/>
                </a:solidFill>
                <a:latin typeface="Consolas"/>
              </a:rPr>
              <a:t>DEL LABORATORIO 4</a:t>
            </a:r>
          </a:p>
        </p:txBody>
      </p:sp>
      <p:sp>
        <p:nvSpPr>
          <p:cNvPr id="18" name="Rectangle 17"/>
          <p:cNvSpPr/>
          <p:nvPr/>
        </p:nvSpPr>
        <p:spPr>
          <a:xfrm>
            <a:off x="566928" y="29626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6"/>
            <a:ext cx="11055096" cy="274320"/>
          </a:xfrm>
          <a:prstGeom prst="rect">
            <a:avLst/>
          </a:prstGeom>
          <a:noFill/>
        </p:spPr>
        <p:txBody>
          <a:bodyPr wrap="square" lIns="0" rIns="0" tIns="0" bIns="0">
            <a:spAutoFit/>
          </a:bodyPr>
          <a:lstStyle/>
          <a:p>
            <a:pPr algn="l">
              <a:spcAft>
                <a:spcPts val="0"/>
              </a:spcAft>
            </a:pPr>
            <a:r>
              <a:rPr sz="1350" b="1">
                <a:solidFill>
                  <a:srgbClr val="000000"/>
                </a:solidFill>
                <a:latin typeface="Arial"/>
              </a:rPr>
              <a:t>Lectura previa · 4 horas</a:t>
            </a:r>
          </a:p>
        </p:txBody>
      </p:sp>
      <p:sp>
        <p:nvSpPr>
          <p:cNvPr id="20" name="TextBox 19"/>
          <p:cNvSpPr txBox="1"/>
          <p:nvPr/>
        </p:nvSpPr>
        <p:spPr>
          <a:xfrm>
            <a:off x="566928" y="3520439"/>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RFC 5280</a:t>
            </a:r>
          </a:p>
        </p:txBody>
      </p:sp>
      <p:sp>
        <p:nvSpPr>
          <p:cNvPr id="21" name="TextBox 20"/>
          <p:cNvSpPr txBox="1"/>
          <p:nvPr/>
        </p:nvSpPr>
        <p:spPr>
          <a:xfrm>
            <a:off x="3401568" y="3520439"/>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Internet X.509 PKI Certificate and CRL Profile, secciones 4.1 y 4.2: los campos del certificado y sus extensiones. 1,5 horas.</a:t>
            </a:r>
          </a:p>
        </p:txBody>
      </p:sp>
      <p:sp>
        <p:nvSpPr>
          <p:cNvPr id="22" name="Rectangle 21"/>
          <p:cNvSpPr/>
          <p:nvPr/>
        </p:nvSpPr>
        <p:spPr>
          <a:xfrm>
            <a:off x="566928" y="401421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05655"/>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RFC 8446</a:t>
            </a:r>
          </a:p>
        </p:txBody>
      </p:sp>
      <p:sp>
        <p:nvSpPr>
          <p:cNvPr id="24" name="TextBox 23"/>
          <p:cNvSpPr txBox="1"/>
          <p:nvPr/>
        </p:nvSpPr>
        <p:spPr>
          <a:xfrm>
            <a:off x="3401568" y="4105655"/>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TLS 1.3, sección 2: visión general del protocolo y del apretón de manos. 1,5 horas.</a:t>
            </a:r>
          </a:p>
        </p:txBody>
      </p:sp>
      <p:sp>
        <p:nvSpPr>
          <p:cNvPr id="25" name="Rectangle 24"/>
          <p:cNvSpPr/>
          <p:nvPr/>
        </p:nvSpPr>
        <p:spPr>
          <a:xfrm>
            <a:off x="566928" y="45994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90871"/>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Decreto 333 de 2014</a:t>
            </a:r>
          </a:p>
        </p:txBody>
      </p:sp>
      <p:sp>
        <p:nvSpPr>
          <p:cNvPr id="27" name="TextBox 26"/>
          <p:cNvSpPr txBox="1"/>
          <p:nvPr/>
        </p:nvSpPr>
        <p:spPr>
          <a:xfrm>
            <a:off x="3401568" y="4690871"/>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Entidades de certificación y su acreditación, junto con el directorio público del ONAC. Una hora.</a:t>
            </a:r>
          </a:p>
        </p:txBody>
      </p:sp>
      <p:sp>
        <p:nvSpPr>
          <p:cNvPr id="28" name="Rectangle 27"/>
          <p:cNvSpPr/>
          <p:nvPr/>
        </p:nvSpPr>
        <p:spPr>
          <a:xfrm>
            <a:off x="566928" y="5184647"/>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CONDICIÓN DE ENTRADA A LA SESIÓN 5</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martes se lee un certificado real campo por campo: se asume conocida la estructura de la sección 4.1 del RFC 5280. Las 8 horas de elaboración son la entrega 4 (7 h, en equipo) y el informe del laboratorio (1 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47  ADELANTO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VIENE EL MARTES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Sesión 5: certificados e infraestructura de llave pública. Es la sesión que responde la pregunta que hoy dejamos abierta dos veces.</a:t>
            </a:r>
          </a:p>
        </p:txBody>
      </p:sp>
      <p:sp>
        <p:nvSpPr>
          <p:cNvPr id="10" name="Rectangle 9"/>
          <p:cNvSpPr/>
          <p:nvPr/>
        </p:nvSpPr>
        <p:spPr>
          <a:xfrm>
            <a:off x="566928" y="2066543"/>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PREGUNTA QUE QUEDA ABIERTA</a:t>
            </a:r>
          </a:p>
        </p:txBody>
      </p:sp>
      <p:sp>
        <p:nvSpPr>
          <p:cNvPr id="12" name="TextBox 11"/>
          <p:cNvSpPr txBox="1"/>
          <p:nvPr/>
        </p:nvSpPr>
        <p:spPr>
          <a:xfrm>
            <a:off x="786384" y="2395727"/>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Una firma verifica correctamente con una llave pública. Perfecto. ¿Pero de quién es esa llave pública?</a:t>
            </a:r>
          </a:p>
          <a:p>
            <a:pPr algn="l">
              <a:lnSpc>
                <a:spcPct val="128000"/>
              </a:lnSpc>
              <a:spcAft>
                <a:spcPts val="700"/>
              </a:spcAft>
            </a:pPr>
            <a:r>
              <a:rPr sz="1150" b="0">
                <a:solidFill>
                  <a:srgbClr val="000000"/>
                </a:solidFill>
                <a:latin typeface="Arial"/>
              </a:rPr>
              <a:t>Hoy respondimos cómo se firma. El martes respondemos cómo se sabe de quién es la llave, que es el otro medio problema.</a:t>
            </a:r>
          </a:p>
        </p:txBody>
      </p:sp>
      <p:sp>
        <p:nvSpPr>
          <p:cNvPr id="13" name="Rectangle 12"/>
          <p:cNvSpPr/>
          <p:nvPr/>
        </p:nvSpPr>
        <p:spPr>
          <a:xfrm>
            <a:off x="6268212" y="2066543"/>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Y EL HALLAZGO H5</a:t>
            </a:r>
          </a:p>
        </p:txBody>
      </p:sp>
      <p:sp>
        <p:nvSpPr>
          <p:cNvPr id="15" name="TextBox 14"/>
          <p:cNvSpPr txBox="1"/>
          <p:nvPr/>
        </p:nvSpPr>
        <p:spPr>
          <a:xfrm>
            <a:off x="6487668" y="2395727"/>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autoridad certificadora que Coopaburrá montó en 2019 para ahorrarse unos certificados.</a:t>
            </a:r>
          </a:p>
          <a:p>
            <a:pPr algn="l">
              <a:lnSpc>
                <a:spcPct val="128000"/>
              </a:lnSpc>
              <a:spcAft>
                <a:spcPts val="700"/>
              </a:spcAft>
            </a:pPr>
            <a:r>
              <a:rPr sz="1150" b="0">
                <a:solidFill>
                  <a:srgbClr val="000000"/>
                </a:solidFill>
                <a:latin typeface="Arial"/>
              </a:rPr>
              <a:t>Su llave privada está en el computador de un contratista que se fue en 2022, encendido en un rincón del centro de datos.</a:t>
            </a:r>
          </a:p>
          <a:p>
            <a:pPr algn="l">
              <a:lnSpc>
                <a:spcPct val="128000"/>
              </a:lnSpc>
              <a:spcAft>
                <a:spcPts val="700"/>
              </a:spcAft>
            </a:pPr>
            <a:r>
              <a:rPr sz="1150" b="0">
                <a:solidFill>
                  <a:srgbClr val="000000"/>
                </a:solidFill>
                <a:latin typeface="Arial"/>
              </a:rPr>
              <a:t>Y el certificado del portal vence el 14 de junio.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48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56</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ACM / IEEE</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Association for Computing Machinery / Institute of Electrical and Electronics Engineers — Publicaron los artículos fundacionales de la llave pública.</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AES</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Advanced Encryption Standard — Cifrado simétrico; en un sistema híbrido cifra el volumen de los datos. Sesión 2.</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ECDSA / EC</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Elliptic Curve Digital Signature Algorithm — Firma digital sobre curvas elípticas. EC abrevia Elliptic Curve.</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Ed25519</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Firma de Edwards sobre la curva 25519. Determinista; estandarizada en el RFC 8032 y en FIPS 186-5.</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FIPS / DSS</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Federal Information Processing Standards / Digital Signature Standard — FIPS 186-5 es el estándar de firma del NIST.</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IETF / RFC</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Internet Engineering Task Force / Request for Comments — El organismo de estándares de internet y su serie de documentos.</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NIST</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Institute of Standards and Technology — Instituto Nacional de Estándares y Tecnología de Estados Unidos.</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OAEP / PSS</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Optimal Asymmetric Encryption Padding / Probabilistic Signature Scheme — Los rellenos seguros de RSA, para cifrar y para firmar.</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ONAC</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Organismo Nacional de Acreditación de Colombia — Acredita a las entidades de certificación digital desde el Decreto 333 de 2014.</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PDF</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Portable Document Format — El formato en que se generan el contrato y el pagaré de las hipotecas de Coopaburrá.</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49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57</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PIN</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Personal Identification Number — Número de identificación personal.</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PKCS</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Public-Key Cryptography Standards — Serie de estándares de llave pública; PKCS #1 define RSA y sus rellenos.</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PKI / CRL</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Public Key Infrastructure / Certificate Revocation List — Infraestructura de llave pública y lista de revocación. Sesión 5.</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RSA</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Rivest, Shamir y Adleman — Algoritmo de llave pública de 1977, basado en la dificultad de factorizar.</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SHA-1 / SHA-256</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Secure Hash Algorithm — Funciones resumen: la firma recae sobre el resumen del documento. Sesión 3.</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TLS</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Transport Layer Security — El protocolo del canal seguro. Sesión 5.</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X.509</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Norma de la Unión Internacional de Telecomunicaciones que define el formato de los certificados. Sesión 5.</a:t>
            </a:r>
          </a:p>
        </p:txBody>
      </p:sp>
      <p:sp>
        <p:nvSpPr>
          <p:cNvPr id="30" name="TextBox 29"/>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50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4</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58</a:t>
            </a:r>
          </a:p>
        </p:txBody>
      </p:sp>
      <p:sp>
        <p:nvSpPr>
          <p:cNvPr id="9" name="TextBox 8"/>
          <p:cNvSpPr txBox="1"/>
          <p:nvPr/>
        </p:nvSpPr>
        <p:spPr>
          <a:xfrm>
            <a:off x="566928" y="1572768"/>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Diffie, W. y Hellman, M. (1976).</a:t>
            </a:r>
          </a:p>
        </p:txBody>
      </p:sp>
      <p:sp>
        <p:nvSpPr>
          <p:cNvPr id="10" name="TextBox 9"/>
          <p:cNvSpPr txBox="1"/>
          <p:nvPr/>
        </p:nvSpPr>
        <p:spPr>
          <a:xfrm>
            <a:off x="3081528" y="1572768"/>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New directions in cryptography. IEEE Transactions on Information Theory, 22(6), 644–654.</a:t>
            </a:r>
          </a:p>
        </p:txBody>
      </p:sp>
      <p:sp>
        <p:nvSpPr>
          <p:cNvPr id="11" name="TextBox 10"/>
          <p:cNvSpPr txBox="1"/>
          <p:nvPr/>
        </p:nvSpPr>
        <p:spPr>
          <a:xfrm>
            <a:off x="8385048" y="1572768"/>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El acuerdo de llave sobre canal público</a:t>
            </a:r>
          </a:p>
        </p:txBody>
      </p:sp>
      <p:sp>
        <p:nvSpPr>
          <p:cNvPr id="12" name="Rectangle 11"/>
          <p:cNvSpPr/>
          <p:nvPr/>
        </p:nvSpPr>
        <p:spPr>
          <a:xfrm>
            <a:off x="566928" y="1990779"/>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82219"/>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Rivest, R., Shamir, A. y Adleman, L. (1978).</a:t>
            </a:r>
          </a:p>
        </p:txBody>
      </p:sp>
      <p:sp>
        <p:nvSpPr>
          <p:cNvPr id="14" name="TextBox 13"/>
          <p:cNvSpPr txBox="1"/>
          <p:nvPr/>
        </p:nvSpPr>
        <p:spPr>
          <a:xfrm>
            <a:off x="3081528" y="2082219"/>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A method for obtaining digital signatures and public-key cryptosystems. Communications of the ACM, 21(2), 120–126.</a:t>
            </a:r>
          </a:p>
        </p:txBody>
      </p:sp>
      <p:sp>
        <p:nvSpPr>
          <p:cNvPr id="15" name="TextBox 14"/>
          <p:cNvSpPr txBox="1"/>
          <p:nvPr/>
        </p:nvSpPr>
        <p:spPr>
          <a:xfrm>
            <a:off x="8385048" y="2082219"/>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RSA</a:t>
            </a:r>
          </a:p>
        </p:txBody>
      </p:sp>
      <p:sp>
        <p:nvSpPr>
          <p:cNvPr id="16" name="Rectangle 15"/>
          <p:cNvSpPr/>
          <p:nvPr/>
        </p:nvSpPr>
        <p:spPr>
          <a:xfrm>
            <a:off x="566928" y="250023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591670"/>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(2023).</a:t>
            </a:r>
          </a:p>
        </p:txBody>
      </p:sp>
      <p:sp>
        <p:nvSpPr>
          <p:cNvPr id="18" name="TextBox 17"/>
          <p:cNvSpPr txBox="1"/>
          <p:nvPr/>
        </p:nvSpPr>
        <p:spPr>
          <a:xfrm>
            <a:off x="3081528" y="2591670"/>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FIPS 186-5: Digital Signature Standard (DSS).</a:t>
            </a:r>
          </a:p>
        </p:txBody>
      </p:sp>
      <p:sp>
        <p:nvSpPr>
          <p:cNvPr id="19" name="TextBox 18"/>
          <p:cNvSpPr txBox="1"/>
          <p:nvPr/>
        </p:nvSpPr>
        <p:spPr>
          <a:xfrm>
            <a:off x="8385048" y="2591670"/>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RSA, ECDSA y EdDSA</a:t>
            </a:r>
          </a:p>
        </p:txBody>
      </p:sp>
      <p:sp>
        <p:nvSpPr>
          <p:cNvPr id="20" name="Rectangle 19"/>
          <p:cNvSpPr/>
          <p:nvPr/>
        </p:nvSpPr>
        <p:spPr>
          <a:xfrm>
            <a:off x="566928" y="3009682"/>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01122"/>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IETF. (2016 y 2017).</a:t>
            </a:r>
          </a:p>
        </p:txBody>
      </p:sp>
      <p:sp>
        <p:nvSpPr>
          <p:cNvPr id="22" name="TextBox 21"/>
          <p:cNvSpPr txBox="1"/>
          <p:nvPr/>
        </p:nvSpPr>
        <p:spPr>
          <a:xfrm>
            <a:off x="3081528" y="3101122"/>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8017: PKCS #1 v2.2 y RFC 8032: Edwards-curve digital signature algorithm (EdDSA).</a:t>
            </a:r>
          </a:p>
        </p:txBody>
      </p:sp>
      <p:sp>
        <p:nvSpPr>
          <p:cNvPr id="23" name="TextBox 22"/>
          <p:cNvSpPr txBox="1"/>
          <p:nvPr/>
        </p:nvSpPr>
        <p:spPr>
          <a:xfrm>
            <a:off x="8385048" y="3101122"/>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Rellenos OAEP y PSS; Ed25519</a:t>
            </a:r>
          </a:p>
        </p:txBody>
      </p:sp>
      <p:sp>
        <p:nvSpPr>
          <p:cNvPr id="24" name="Rectangle 23"/>
          <p:cNvSpPr/>
          <p:nvPr/>
        </p:nvSpPr>
        <p:spPr>
          <a:xfrm>
            <a:off x="566928" y="3519133"/>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10573"/>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Congreso de la República. (1999).</a:t>
            </a:r>
          </a:p>
        </p:txBody>
      </p:sp>
      <p:sp>
        <p:nvSpPr>
          <p:cNvPr id="26" name="TextBox 25"/>
          <p:cNvSpPr txBox="1"/>
          <p:nvPr/>
        </p:nvSpPr>
        <p:spPr>
          <a:xfrm>
            <a:off x="3081528" y="3610573"/>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Ley 527 de 1999: mensajes de datos, comercio electrónico y firmas digitales.</a:t>
            </a:r>
          </a:p>
        </p:txBody>
      </p:sp>
      <p:sp>
        <p:nvSpPr>
          <p:cNvPr id="27" name="TextBox 26"/>
          <p:cNvSpPr txBox="1"/>
          <p:nvPr/>
        </p:nvSpPr>
        <p:spPr>
          <a:xfrm>
            <a:off x="8385048" y="3610573"/>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Artículos 2, 5 a 13 y 28</a:t>
            </a:r>
          </a:p>
        </p:txBody>
      </p:sp>
      <p:sp>
        <p:nvSpPr>
          <p:cNvPr id="28" name="Rectangle 27"/>
          <p:cNvSpPr/>
          <p:nvPr/>
        </p:nvSpPr>
        <p:spPr>
          <a:xfrm>
            <a:off x="566928" y="402858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120025"/>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Presidencia de la República. (2012 y 2014).</a:t>
            </a:r>
          </a:p>
        </p:txBody>
      </p:sp>
      <p:sp>
        <p:nvSpPr>
          <p:cNvPr id="30" name="TextBox 29"/>
          <p:cNvSpPr txBox="1"/>
          <p:nvPr/>
        </p:nvSpPr>
        <p:spPr>
          <a:xfrm>
            <a:off x="3081528" y="4120025"/>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Decreto 2364 de 2012, firma electrónica, y Decreto 333 de 2014, entidades de certificación.</a:t>
            </a:r>
          </a:p>
        </p:txBody>
      </p:sp>
      <p:sp>
        <p:nvSpPr>
          <p:cNvPr id="31" name="TextBox 30"/>
          <p:cNvSpPr txBox="1"/>
          <p:nvPr/>
        </p:nvSpPr>
        <p:spPr>
          <a:xfrm>
            <a:off x="8385048" y="4120025"/>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Firma electrónica confiable y acreditación ante el ONAC</a:t>
            </a:r>
          </a:p>
        </p:txBody>
      </p:sp>
      <p:sp>
        <p:nvSpPr>
          <p:cNvPr id="32" name="Rectangle 31"/>
          <p:cNvSpPr/>
          <p:nvPr/>
        </p:nvSpPr>
        <p:spPr>
          <a:xfrm>
            <a:off x="566928" y="45380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29476"/>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Katz, J. y Lindell, Y. (2020).</a:t>
            </a:r>
          </a:p>
        </p:txBody>
      </p:sp>
      <p:sp>
        <p:nvSpPr>
          <p:cNvPr id="34" name="TextBox 33"/>
          <p:cNvSpPr txBox="1"/>
          <p:nvPr/>
        </p:nvSpPr>
        <p:spPr>
          <a:xfrm>
            <a:off x="3081528" y="4629476"/>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Introduction to modern cryptography (3.ª ed.). CRC Press.</a:t>
            </a:r>
          </a:p>
        </p:txBody>
      </p:sp>
      <p:sp>
        <p:nvSpPr>
          <p:cNvPr id="35" name="TextBox 34"/>
          <p:cNvSpPr txBox="1"/>
          <p:nvPr/>
        </p:nvSpPr>
        <p:spPr>
          <a:xfrm>
            <a:off x="8385048" y="4629476"/>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Teoría de números, llave pública y firmas digitales</a:t>
            </a:r>
          </a:p>
        </p:txBody>
      </p:sp>
      <p:sp>
        <p:nvSpPr>
          <p:cNvPr id="36" name="Rectangle 35"/>
          <p:cNvSpPr/>
          <p:nvPr/>
        </p:nvSpPr>
        <p:spPr>
          <a:xfrm>
            <a:off x="566928" y="504748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ACCESO A LAS FUENTES</a:t>
            </a:r>
          </a:p>
        </p:txBody>
      </p:sp>
      <p:sp>
        <p:nvSpPr>
          <p:cNvPr id="39" name="TextBox 38"/>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normas colombianas se consultan en el Sistema Único de Información Normativa. Los RFC y las publicaciones del NIST son de acceso libre; los artículos, en las bases de datos de la Institución.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